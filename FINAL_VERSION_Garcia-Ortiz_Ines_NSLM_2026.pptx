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5" r:id="rId4"/>
    <p:sldId id="258" r:id="rId5"/>
    <p:sldId id="267" r:id="rId6"/>
    <p:sldId id="274" r:id="rId7"/>
    <p:sldId id="282" r:id="rId8"/>
    <p:sldId id="260" r:id="rId9"/>
    <p:sldId id="259" r:id="rId10"/>
    <p:sldId id="270" r:id="rId11"/>
    <p:sldId id="261" r:id="rId12"/>
    <p:sldId id="262" r:id="rId13"/>
    <p:sldId id="278" r:id="rId14"/>
    <p:sldId id="277" r:id="rId15"/>
    <p:sldId id="263" r:id="rId16"/>
    <p:sldId id="276" r:id="rId17"/>
    <p:sldId id="264" r:id="rId18"/>
    <p:sldId id="280" r:id="rId19"/>
    <p:sldId id="281" r:id="rId20"/>
    <p:sldId id="265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999"/>
    <a:srgbClr val="99E3AF"/>
    <a:srgbClr val="C397F3"/>
    <a:srgbClr val="FCC8C4"/>
    <a:srgbClr val="CCCCFF"/>
    <a:srgbClr val="E7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82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044DC8-4BE0-48E9-9BF1-0D4BA5FD387B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s-ES"/>
        </a:p>
      </dgm:t>
    </dgm:pt>
    <dgm:pt modelId="{D059F33C-C222-4895-864A-97EBF784062D}">
      <dgm:prSet phldrT="[Texto]" phldr="0" custT="1"/>
      <dgm:spPr>
        <a:ln>
          <a:solidFill>
            <a:schemeClr val="bg2">
              <a:lumMod val="90000"/>
            </a:schemeClr>
          </a:solidFill>
        </a:ln>
      </dgm:spPr>
      <dgm:t>
        <a:bodyPr/>
        <a:lstStyle/>
        <a:p>
          <a:r>
            <a:rPr lang="es-ES" sz="4400">
              <a:solidFill>
                <a:schemeClr val="tx1"/>
              </a:solidFill>
            </a:rPr>
            <a:t>Prevalence of atypical handedness patterns in BD</a:t>
          </a:r>
          <a:endParaRPr lang="es-ES" sz="4400" dirty="0">
            <a:solidFill>
              <a:schemeClr val="tx1"/>
            </a:solidFill>
          </a:endParaRPr>
        </a:p>
      </dgm:t>
    </dgm:pt>
    <dgm:pt modelId="{F15468FD-4859-4199-9C7E-73E52B31097D}" type="parTrans" cxnId="{D9B9AA3C-83F9-48A1-8E7A-7B6A07621D53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2D895C4A-5AE1-4262-B3C4-0824CDDBE8F4}" type="sibTrans" cxnId="{D9B9AA3C-83F9-48A1-8E7A-7B6A07621D53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1A75923F-58CE-4566-AAD7-7CC08141B619}">
      <dgm:prSet phldrT="[Texto]" phldr="0" custT="1"/>
      <dgm:spPr>
        <a:ln>
          <a:solidFill>
            <a:schemeClr val="bg2">
              <a:lumMod val="90000"/>
            </a:schemeClr>
          </a:solidFill>
        </a:ln>
      </dgm:spPr>
      <dgm:t>
        <a:bodyPr/>
        <a:lstStyle/>
        <a:p>
          <a:r>
            <a:rPr lang="es-ES" sz="4400" dirty="0" err="1">
              <a:solidFill>
                <a:schemeClr val="tx1"/>
              </a:solidFill>
            </a:rPr>
            <a:t>Potential</a:t>
          </a:r>
          <a:r>
            <a:rPr lang="es-ES" sz="4400" dirty="0">
              <a:solidFill>
                <a:schemeClr val="tx1"/>
              </a:solidFill>
            </a:rPr>
            <a:t> </a:t>
          </a:r>
          <a:r>
            <a:rPr lang="es-ES" sz="4400" dirty="0" err="1">
              <a:solidFill>
                <a:schemeClr val="tx1"/>
              </a:solidFill>
            </a:rPr>
            <a:t>common</a:t>
          </a:r>
          <a:r>
            <a:rPr lang="es-ES" sz="4400" dirty="0">
              <a:solidFill>
                <a:schemeClr val="tx1"/>
              </a:solidFill>
            </a:rPr>
            <a:t> </a:t>
          </a:r>
          <a:r>
            <a:rPr lang="es-ES" sz="4400" dirty="0" err="1">
              <a:solidFill>
                <a:schemeClr val="tx1"/>
              </a:solidFill>
            </a:rPr>
            <a:t>genetic</a:t>
          </a:r>
          <a:r>
            <a:rPr lang="es-ES" sz="4400" dirty="0">
              <a:solidFill>
                <a:schemeClr val="tx1"/>
              </a:solidFill>
            </a:rPr>
            <a:t> factor </a:t>
          </a:r>
          <a:r>
            <a:rPr lang="es-ES" sz="4400" dirty="0" err="1">
              <a:solidFill>
                <a:schemeClr val="tx1"/>
              </a:solidFill>
            </a:rPr>
            <a:t>between</a:t>
          </a:r>
          <a:r>
            <a:rPr lang="es-ES" sz="4400" dirty="0">
              <a:solidFill>
                <a:schemeClr val="tx1"/>
              </a:solidFill>
            </a:rPr>
            <a:t> BD and </a:t>
          </a:r>
          <a:r>
            <a:rPr lang="es-ES" sz="4400" dirty="0" err="1">
              <a:solidFill>
                <a:schemeClr val="tx1"/>
              </a:solidFill>
            </a:rPr>
            <a:t>handedness</a:t>
          </a:r>
          <a:endParaRPr lang="es-ES" sz="4400" dirty="0">
            <a:solidFill>
              <a:schemeClr val="tx1"/>
            </a:solidFill>
          </a:endParaRPr>
        </a:p>
      </dgm:t>
    </dgm:pt>
    <dgm:pt modelId="{43ED0871-896C-43E1-93EB-258C34B4DFA8}" type="sibTrans" cxnId="{36449571-E396-4FF7-BFF9-239537A3CFD7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925BB044-C107-4CF8-BA1A-966B2B63FA59}" type="parTrans" cxnId="{36449571-E396-4FF7-BFF9-239537A3CFD7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42EF0136-4BAC-4DED-9593-B9BD406C654C}" type="pres">
      <dgm:prSet presAssocID="{EC044DC8-4BE0-48E9-9BF1-0D4BA5FD387B}" presName="linear" presStyleCnt="0">
        <dgm:presLayoutVars>
          <dgm:animLvl val="lvl"/>
          <dgm:resizeHandles val="exact"/>
        </dgm:presLayoutVars>
      </dgm:prSet>
      <dgm:spPr/>
    </dgm:pt>
    <dgm:pt modelId="{F3779D1E-9B56-486C-9110-FE0223D5A5F0}" type="pres">
      <dgm:prSet presAssocID="{D059F33C-C222-4895-864A-97EBF784062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E691ABC-86D8-4EE0-ACCC-28C43CEEFB88}" type="pres">
      <dgm:prSet presAssocID="{2D895C4A-5AE1-4262-B3C4-0824CDDBE8F4}" presName="spacer" presStyleCnt="0"/>
      <dgm:spPr/>
    </dgm:pt>
    <dgm:pt modelId="{3B0F0F65-5D11-4152-8BDA-1823BB28DACD}" type="pres">
      <dgm:prSet presAssocID="{1A75923F-58CE-4566-AAD7-7CC08141B61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6705B06-DE86-444F-BD23-20A6CD8F8156}" type="presOf" srcId="{EC044DC8-4BE0-48E9-9BF1-0D4BA5FD387B}" destId="{42EF0136-4BAC-4DED-9593-B9BD406C654C}" srcOrd="0" destOrd="0" presId="urn:microsoft.com/office/officeart/2005/8/layout/vList2"/>
    <dgm:cxn modelId="{D9B9AA3C-83F9-48A1-8E7A-7B6A07621D53}" srcId="{EC044DC8-4BE0-48E9-9BF1-0D4BA5FD387B}" destId="{D059F33C-C222-4895-864A-97EBF784062D}" srcOrd="0" destOrd="0" parTransId="{F15468FD-4859-4199-9C7E-73E52B31097D}" sibTransId="{2D895C4A-5AE1-4262-B3C4-0824CDDBE8F4}"/>
    <dgm:cxn modelId="{36449571-E396-4FF7-BFF9-239537A3CFD7}" srcId="{EC044DC8-4BE0-48E9-9BF1-0D4BA5FD387B}" destId="{1A75923F-58CE-4566-AAD7-7CC08141B619}" srcOrd="1" destOrd="0" parTransId="{925BB044-C107-4CF8-BA1A-966B2B63FA59}" sibTransId="{43ED0871-896C-43E1-93EB-258C34B4DFA8}"/>
    <dgm:cxn modelId="{0CB3E9AB-60EC-4733-864D-35429C783240}" type="presOf" srcId="{D059F33C-C222-4895-864A-97EBF784062D}" destId="{F3779D1E-9B56-486C-9110-FE0223D5A5F0}" srcOrd="0" destOrd="0" presId="urn:microsoft.com/office/officeart/2005/8/layout/vList2"/>
    <dgm:cxn modelId="{ACB55DDF-9495-46A8-AAF1-D5432323779C}" type="presOf" srcId="{1A75923F-58CE-4566-AAD7-7CC08141B619}" destId="{3B0F0F65-5D11-4152-8BDA-1823BB28DACD}" srcOrd="0" destOrd="0" presId="urn:microsoft.com/office/officeart/2005/8/layout/vList2"/>
    <dgm:cxn modelId="{04050820-16B5-4DA3-B522-B0F738D6C35C}" type="presParOf" srcId="{42EF0136-4BAC-4DED-9593-B9BD406C654C}" destId="{F3779D1E-9B56-486C-9110-FE0223D5A5F0}" srcOrd="0" destOrd="0" presId="urn:microsoft.com/office/officeart/2005/8/layout/vList2"/>
    <dgm:cxn modelId="{97CC16BC-F5B9-447F-BA5A-35E29FF2224E}" type="presParOf" srcId="{42EF0136-4BAC-4DED-9593-B9BD406C654C}" destId="{EE691ABC-86D8-4EE0-ACCC-28C43CEEFB88}" srcOrd="1" destOrd="0" presId="urn:microsoft.com/office/officeart/2005/8/layout/vList2"/>
    <dgm:cxn modelId="{E771C73E-5C5E-446C-A1F6-42E60863D294}" type="presParOf" srcId="{42EF0136-4BAC-4DED-9593-B9BD406C654C}" destId="{3B0F0F65-5D11-4152-8BDA-1823BB28DACD}" srcOrd="2" destOrd="0" presId="urn:microsoft.com/office/officeart/2005/8/layout/vList2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CCF0CF-D9EE-4002-865B-7B47988BC41D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s-ES"/>
        </a:p>
      </dgm:t>
    </dgm:pt>
    <dgm:pt modelId="{038A4985-DD4B-4EFF-97CD-D00D3F71F521}">
      <dgm:prSet phldrT="[Texto]"/>
      <dgm:spPr>
        <a:ln w="57150">
          <a:solidFill>
            <a:srgbClr val="FF0000"/>
          </a:solidFill>
        </a:ln>
      </dgm:spPr>
      <dgm:t>
        <a:bodyPr/>
        <a:lstStyle/>
        <a:p>
          <a:r>
            <a:rPr lang="es-ES" b="1" dirty="0"/>
            <a:t>Handedness differences between BD and controls are subtle</a:t>
          </a:r>
        </a:p>
      </dgm:t>
    </dgm:pt>
    <dgm:pt modelId="{2701FAE0-6720-4899-AD99-6E9BED6C7995}" type="parTrans" cxnId="{E6CCB7F3-64D6-432F-A8E6-055488814BA0}">
      <dgm:prSet/>
      <dgm:spPr/>
      <dgm:t>
        <a:bodyPr/>
        <a:lstStyle/>
        <a:p>
          <a:endParaRPr lang="es-ES" b="1">
            <a:solidFill>
              <a:schemeClr val="tx1"/>
            </a:solidFill>
          </a:endParaRPr>
        </a:p>
      </dgm:t>
    </dgm:pt>
    <dgm:pt modelId="{98584E70-9FF9-4D48-B9E8-ED0A48E9B74E}" type="sibTrans" cxnId="{E6CCB7F3-64D6-432F-A8E6-055488814BA0}">
      <dgm:prSet/>
      <dgm:spPr/>
      <dgm:t>
        <a:bodyPr/>
        <a:lstStyle/>
        <a:p>
          <a:endParaRPr lang="es-ES" b="1">
            <a:solidFill>
              <a:schemeClr val="tx1"/>
            </a:solidFill>
          </a:endParaRPr>
        </a:p>
      </dgm:t>
    </dgm:pt>
    <dgm:pt modelId="{44E94AFD-8536-4967-9B47-CF008682C1B6}">
      <dgm:prSet phldrT="[Texto]"/>
      <dgm:spPr>
        <a:ln w="57150">
          <a:solidFill>
            <a:srgbClr val="FF0000"/>
          </a:solidFill>
        </a:ln>
      </dgm:spPr>
      <dgm:t>
        <a:bodyPr/>
        <a:lstStyle/>
        <a:p>
          <a:r>
            <a:rPr lang="es-ES" b="1" dirty="0"/>
            <a:t>Mixed-hand BD patients present higher severity</a:t>
          </a:r>
        </a:p>
      </dgm:t>
    </dgm:pt>
    <dgm:pt modelId="{01B79F96-F2BD-49D2-8BD5-D9D98659AD9F}" type="parTrans" cxnId="{143AF04C-3D81-42C2-9E04-B0B57A32C30B}">
      <dgm:prSet/>
      <dgm:spPr/>
      <dgm:t>
        <a:bodyPr/>
        <a:lstStyle/>
        <a:p>
          <a:endParaRPr lang="es-ES" b="1">
            <a:solidFill>
              <a:schemeClr val="tx1"/>
            </a:solidFill>
          </a:endParaRPr>
        </a:p>
      </dgm:t>
    </dgm:pt>
    <dgm:pt modelId="{F2777B79-4CC5-4907-B713-3746EDE642E7}" type="sibTrans" cxnId="{143AF04C-3D81-42C2-9E04-B0B57A32C30B}">
      <dgm:prSet/>
      <dgm:spPr/>
      <dgm:t>
        <a:bodyPr/>
        <a:lstStyle/>
        <a:p>
          <a:endParaRPr lang="es-ES" b="1">
            <a:solidFill>
              <a:schemeClr val="tx1"/>
            </a:solidFill>
          </a:endParaRPr>
        </a:p>
      </dgm:t>
    </dgm:pt>
    <dgm:pt modelId="{0C2C703D-9702-4200-9F0E-7EB0B757BBFD}">
      <dgm:prSet phldrT="[Texto]"/>
      <dgm:spPr>
        <a:ln w="57150">
          <a:solidFill>
            <a:srgbClr val="FF0000"/>
          </a:solidFill>
        </a:ln>
      </dgm:spPr>
      <dgm:t>
        <a:bodyPr/>
        <a:lstStyle/>
        <a:p>
          <a:r>
            <a:rPr lang="es-ES" b="1" dirty="0"/>
            <a:t>Left-handed BD patients present lower polygenic liability for BD</a:t>
          </a:r>
        </a:p>
      </dgm:t>
    </dgm:pt>
    <dgm:pt modelId="{9354A89E-BD41-45C7-B01C-E6CFDAA00054}" type="parTrans" cxnId="{67BA2FA5-6585-43F2-A5D7-CF05DC89D6CA}">
      <dgm:prSet/>
      <dgm:spPr/>
      <dgm:t>
        <a:bodyPr/>
        <a:lstStyle/>
        <a:p>
          <a:endParaRPr lang="es-ES" b="1">
            <a:solidFill>
              <a:schemeClr val="tx1"/>
            </a:solidFill>
          </a:endParaRPr>
        </a:p>
      </dgm:t>
    </dgm:pt>
    <dgm:pt modelId="{4D588980-41C0-4591-B844-E38C975EC639}" type="sibTrans" cxnId="{67BA2FA5-6585-43F2-A5D7-CF05DC89D6CA}">
      <dgm:prSet/>
      <dgm:spPr/>
      <dgm:t>
        <a:bodyPr/>
        <a:lstStyle/>
        <a:p>
          <a:endParaRPr lang="es-ES" b="1">
            <a:solidFill>
              <a:schemeClr val="tx1"/>
            </a:solidFill>
          </a:endParaRPr>
        </a:p>
      </dgm:t>
    </dgm:pt>
    <dgm:pt modelId="{B4B1D5F2-292C-4B3E-8F85-CC41B41C12E4}" type="pres">
      <dgm:prSet presAssocID="{26CCF0CF-D9EE-4002-865B-7B47988BC41D}" presName="linear" presStyleCnt="0">
        <dgm:presLayoutVars>
          <dgm:animLvl val="lvl"/>
          <dgm:resizeHandles val="exact"/>
        </dgm:presLayoutVars>
      </dgm:prSet>
      <dgm:spPr/>
    </dgm:pt>
    <dgm:pt modelId="{23A9201D-7A39-424E-9F89-76D306C379D9}" type="pres">
      <dgm:prSet presAssocID="{038A4985-DD4B-4EFF-97CD-D00D3F71F5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5E9B594-253F-476C-9710-DA98BFCF895C}" type="pres">
      <dgm:prSet presAssocID="{98584E70-9FF9-4D48-B9E8-ED0A48E9B74E}" presName="spacer" presStyleCnt="0"/>
      <dgm:spPr/>
    </dgm:pt>
    <dgm:pt modelId="{4551E88F-15DD-4F15-8CC7-6380587AD5D7}" type="pres">
      <dgm:prSet presAssocID="{44E94AFD-8536-4967-9B47-CF008682C1B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A7896E7-DCD7-4BBB-8F4C-C96ED20C64C7}" type="pres">
      <dgm:prSet presAssocID="{F2777B79-4CC5-4907-B713-3746EDE642E7}" presName="spacer" presStyleCnt="0"/>
      <dgm:spPr/>
    </dgm:pt>
    <dgm:pt modelId="{3D86D8CC-FC8B-46CF-BEC6-0D0CA33849DD}" type="pres">
      <dgm:prSet presAssocID="{0C2C703D-9702-4200-9F0E-7EB0B757BBFD}" presName="parentText" presStyleLbl="node1" presStyleIdx="2" presStyleCnt="3" custLinFactNeighborX="-84" custLinFactNeighborY="11416">
        <dgm:presLayoutVars>
          <dgm:chMax val="0"/>
          <dgm:bulletEnabled val="1"/>
        </dgm:presLayoutVars>
      </dgm:prSet>
      <dgm:spPr/>
    </dgm:pt>
  </dgm:ptLst>
  <dgm:cxnLst>
    <dgm:cxn modelId="{7893E806-FA6F-459D-8960-AC8BFA8A3FEC}" type="presOf" srcId="{26CCF0CF-D9EE-4002-865B-7B47988BC41D}" destId="{B4B1D5F2-292C-4B3E-8F85-CC41B41C12E4}" srcOrd="0" destOrd="0" presId="urn:microsoft.com/office/officeart/2005/8/layout/vList2"/>
    <dgm:cxn modelId="{143AF04C-3D81-42C2-9E04-B0B57A32C30B}" srcId="{26CCF0CF-D9EE-4002-865B-7B47988BC41D}" destId="{44E94AFD-8536-4967-9B47-CF008682C1B6}" srcOrd="1" destOrd="0" parTransId="{01B79F96-F2BD-49D2-8BD5-D9D98659AD9F}" sibTransId="{F2777B79-4CC5-4907-B713-3746EDE642E7}"/>
    <dgm:cxn modelId="{5A612E8D-ACB5-468C-BFB5-49B71D70367B}" type="presOf" srcId="{038A4985-DD4B-4EFF-97CD-D00D3F71F521}" destId="{23A9201D-7A39-424E-9F89-76D306C379D9}" srcOrd="0" destOrd="0" presId="urn:microsoft.com/office/officeart/2005/8/layout/vList2"/>
    <dgm:cxn modelId="{67BA2FA5-6585-43F2-A5D7-CF05DC89D6CA}" srcId="{26CCF0CF-D9EE-4002-865B-7B47988BC41D}" destId="{0C2C703D-9702-4200-9F0E-7EB0B757BBFD}" srcOrd="2" destOrd="0" parTransId="{9354A89E-BD41-45C7-B01C-E6CFDAA00054}" sibTransId="{4D588980-41C0-4591-B844-E38C975EC639}"/>
    <dgm:cxn modelId="{5CF592BB-88BA-4AE6-882A-5B932A850575}" type="presOf" srcId="{44E94AFD-8536-4967-9B47-CF008682C1B6}" destId="{4551E88F-15DD-4F15-8CC7-6380587AD5D7}" srcOrd="0" destOrd="0" presId="urn:microsoft.com/office/officeart/2005/8/layout/vList2"/>
    <dgm:cxn modelId="{C507E4F2-E9FD-4DC3-A78B-B6DD7B1100D9}" type="presOf" srcId="{0C2C703D-9702-4200-9F0E-7EB0B757BBFD}" destId="{3D86D8CC-FC8B-46CF-BEC6-0D0CA33849DD}" srcOrd="0" destOrd="0" presId="urn:microsoft.com/office/officeart/2005/8/layout/vList2"/>
    <dgm:cxn modelId="{E6CCB7F3-64D6-432F-A8E6-055488814BA0}" srcId="{26CCF0CF-D9EE-4002-865B-7B47988BC41D}" destId="{038A4985-DD4B-4EFF-97CD-D00D3F71F521}" srcOrd="0" destOrd="0" parTransId="{2701FAE0-6720-4899-AD99-6E9BED6C7995}" sibTransId="{98584E70-9FF9-4D48-B9E8-ED0A48E9B74E}"/>
    <dgm:cxn modelId="{9ABAC53B-1BDC-40F0-8E8D-B090F4D009E7}" type="presParOf" srcId="{B4B1D5F2-292C-4B3E-8F85-CC41B41C12E4}" destId="{23A9201D-7A39-424E-9F89-76D306C379D9}" srcOrd="0" destOrd="0" presId="urn:microsoft.com/office/officeart/2005/8/layout/vList2"/>
    <dgm:cxn modelId="{8832E19E-AAAA-4A68-A017-82AAB67A9DB7}" type="presParOf" srcId="{B4B1D5F2-292C-4B3E-8F85-CC41B41C12E4}" destId="{75E9B594-253F-476C-9710-DA98BFCF895C}" srcOrd="1" destOrd="0" presId="urn:microsoft.com/office/officeart/2005/8/layout/vList2"/>
    <dgm:cxn modelId="{FDDED71F-73B7-4B4C-A2A2-12A6189ED660}" type="presParOf" srcId="{B4B1D5F2-292C-4B3E-8F85-CC41B41C12E4}" destId="{4551E88F-15DD-4F15-8CC7-6380587AD5D7}" srcOrd="2" destOrd="0" presId="urn:microsoft.com/office/officeart/2005/8/layout/vList2"/>
    <dgm:cxn modelId="{1F54793E-D173-42B6-84F0-6624A888D22F}" type="presParOf" srcId="{B4B1D5F2-292C-4B3E-8F85-CC41B41C12E4}" destId="{9A7896E7-DCD7-4BBB-8F4C-C96ED20C64C7}" srcOrd="3" destOrd="0" presId="urn:microsoft.com/office/officeart/2005/8/layout/vList2"/>
    <dgm:cxn modelId="{D7343277-A600-4741-B610-9F509562F465}" type="presParOf" srcId="{B4B1D5F2-292C-4B3E-8F85-CC41B41C12E4}" destId="{3D86D8CC-FC8B-46CF-BEC6-0D0CA33849DD}" srcOrd="4" destOrd="0" presId="urn:microsoft.com/office/officeart/2005/8/layout/vList2"/>
  </dgm:cxnLst>
  <dgm:bg/>
  <dgm:whole>
    <a:ln w="7620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779D1E-9B56-486C-9110-FE0223D5A5F0}">
      <dsp:nvSpPr>
        <dsp:cNvPr id="0" name=""/>
        <dsp:cNvSpPr/>
      </dsp:nvSpPr>
      <dsp:spPr>
        <a:xfrm>
          <a:off x="0" y="332919"/>
          <a:ext cx="10515600" cy="17491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>
              <a:solidFill>
                <a:schemeClr val="tx1"/>
              </a:solidFill>
            </a:rPr>
            <a:t>Prevalence of atypical handedness patterns in BD</a:t>
          </a:r>
          <a:endParaRPr lang="es-ES" sz="4400" kern="1200" dirty="0">
            <a:solidFill>
              <a:schemeClr val="tx1"/>
            </a:solidFill>
          </a:endParaRPr>
        </a:p>
      </dsp:txBody>
      <dsp:txXfrm>
        <a:off x="85386" y="418305"/>
        <a:ext cx="10344828" cy="1578378"/>
      </dsp:txXfrm>
    </dsp:sp>
    <dsp:sp modelId="{3B0F0F65-5D11-4152-8BDA-1823BB28DACD}">
      <dsp:nvSpPr>
        <dsp:cNvPr id="0" name=""/>
        <dsp:cNvSpPr/>
      </dsp:nvSpPr>
      <dsp:spPr>
        <a:xfrm>
          <a:off x="0" y="2269269"/>
          <a:ext cx="10515600" cy="17491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 dirty="0" err="1">
              <a:solidFill>
                <a:schemeClr val="tx1"/>
              </a:solidFill>
            </a:rPr>
            <a:t>Potential</a:t>
          </a:r>
          <a:r>
            <a:rPr lang="es-ES" sz="4400" kern="1200" dirty="0">
              <a:solidFill>
                <a:schemeClr val="tx1"/>
              </a:solidFill>
            </a:rPr>
            <a:t> </a:t>
          </a:r>
          <a:r>
            <a:rPr lang="es-ES" sz="4400" kern="1200" dirty="0" err="1">
              <a:solidFill>
                <a:schemeClr val="tx1"/>
              </a:solidFill>
            </a:rPr>
            <a:t>common</a:t>
          </a:r>
          <a:r>
            <a:rPr lang="es-ES" sz="4400" kern="1200" dirty="0">
              <a:solidFill>
                <a:schemeClr val="tx1"/>
              </a:solidFill>
            </a:rPr>
            <a:t> </a:t>
          </a:r>
          <a:r>
            <a:rPr lang="es-ES" sz="4400" kern="1200" dirty="0" err="1">
              <a:solidFill>
                <a:schemeClr val="tx1"/>
              </a:solidFill>
            </a:rPr>
            <a:t>genetic</a:t>
          </a:r>
          <a:r>
            <a:rPr lang="es-ES" sz="4400" kern="1200" dirty="0">
              <a:solidFill>
                <a:schemeClr val="tx1"/>
              </a:solidFill>
            </a:rPr>
            <a:t> factor </a:t>
          </a:r>
          <a:r>
            <a:rPr lang="es-ES" sz="4400" kern="1200" dirty="0" err="1">
              <a:solidFill>
                <a:schemeClr val="tx1"/>
              </a:solidFill>
            </a:rPr>
            <a:t>between</a:t>
          </a:r>
          <a:r>
            <a:rPr lang="es-ES" sz="4400" kern="1200" dirty="0">
              <a:solidFill>
                <a:schemeClr val="tx1"/>
              </a:solidFill>
            </a:rPr>
            <a:t> BD and </a:t>
          </a:r>
          <a:r>
            <a:rPr lang="es-ES" sz="4400" kern="1200" dirty="0" err="1">
              <a:solidFill>
                <a:schemeClr val="tx1"/>
              </a:solidFill>
            </a:rPr>
            <a:t>handedness</a:t>
          </a:r>
          <a:endParaRPr lang="es-ES" sz="4400" kern="1200" dirty="0">
            <a:solidFill>
              <a:schemeClr val="tx1"/>
            </a:solidFill>
          </a:endParaRPr>
        </a:p>
      </dsp:txBody>
      <dsp:txXfrm>
        <a:off x="85386" y="2354655"/>
        <a:ext cx="10344828" cy="1578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A9201D-7A39-424E-9F89-76D306C379D9}">
      <dsp:nvSpPr>
        <dsp:cNvPr id="0" name=""/>
        <dsp:cNvSpPr/>
      </dsp:nvSpPr>
      <dsp:spPr>
        <a:xfrm>
          <a:off x="0" y="17257"/>
          <a:ext cx="10515600" cy="1352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715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b="1" kern="1200" dirty="0"/>
            <a:t>Handedness differences between BD and controls are subtle</a:t>
          </a:r>
        </a:p>
      </dsp:txBody>
      <dsp:txXfrm>
        <a:off x="66025" y="83282"/>
        <a:ext cx="10383550" cy="1220470"/>
      </dsp:txXfrm>
    </dsp:sp>
    <dsp:sp modelId="{4551E88F-15DD-4F15-8CC7-6380587AD5D7}">
      <dsp:nvSpPr>
        <dsp:cNvPr id="0" name=""/>
        <dsp:cNvSpPr/>
      </dsp:nvSpPr>
      <dsp:spPr>
        <a:xfrm>
          <a:off x="0" y="1467697"/>
          <a:ext cx="10515600" cy="1352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715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b="1" kern="1200" dirty="0"/>
            <a:t>Mixed-hand BD patients present higher severity</a:t>
          </a:r>
        </a:p>
      </dsp:txBody>
      <dsp:txXfrm>
        <a:off x="66025" y="1533722"/>
        <a:ext cx="10383550" cy="1220470"/>
      </dsp:txXfrm>
    </dsp:sp>
    <dsp:sp modelId="{3D86D8CC-FC8B-46CF-BEC6-0D0CA33849DD}">
      <dsp:nvSpPr>
        <dsp:cNvPr id="0" name=""/>
        <dsp:cNvSpPr/>
      </dsp:nvSpPr>
      <dsp:spPr>
        <a:xfrm>
          <a:off x="0" y="2929316"/>
          <a:ext cx="10515600" cy="1352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715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b="1" kern="1200" dirty="0"/>
            <a:t>Left-handed BD patients present lower polygenic liability for BD</a:t>
          </a:r>
        </a:p>
      </dsp:txBody>
      <dsp:txXfrm>
        <a:off x="66025" y="2995341"/>
        <a:ext cx="10383550" cy="1220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29232-80D2-4D0C-9CF8-9240E390AFC1}" type="datetimeFigureOut">
              <a:rPr lang="en-GB" smtClean="0"/>
              <a:t>18/08/2026</a:t>
            </a:fld>
            <a:endParaRPr lang="en-GB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45F14-0841-498C-8B3E-B08368038B08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623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****For this presentation im going to use this terminology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045F14-0841-498C-8B3E-B08368038B08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6569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045F14-0841-498C-8B3E-B08368038B08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8656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Reference EUR estimates: </a:t>
            </a:r>
            <a:r>
              <a:rPr lang="en-GB" dirty="0"/>
              <a:t>Papadatou-Pastou M, Ntolka E, Schmitz J, et al. Human handedness: A meta-analysis. Psychological Bulletin. 2020;146(6):481–524. doi:10.1037/bul0000229.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045F14-0841-498C-8B3E-B08368038B08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9888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045F14-0841-498C-8B3E-B08368038B08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7106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045F14-0841-498C-8B3E-B08368038B08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5496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08CE70-8464-4F5E-93AD-97151A563D6A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264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36C88-14FE-4590-910E-32AC315C0871}" type="datetime1">
              <a:rPr lang="en-GB" smtClean="0"/>
              <a:t>18/08/2026</a:t>
            </a:fld>
            <a:endParaRPr lang="en-GB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4474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4AB07-332F-4C67-9A40-A71119FA40B7}" type="datetime1">
              <a:rPr lang="en-GB" smtClean="0"/>
              <a:t>18/08/2026</a:t>
            </a:fld>
            <a:endParaRPr lang="en-GB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311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0D09-73B1-400B-A0DA-B631939D8320}" type="datetime1">
              <a:rPr lang="en-GB" smtClean="0"/>
              <a:t>18/08/2026</a:t>
            </a:fld>
            <a:endParaRPr lang="en-GB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2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5E0C4-90D1-4C45-B93A-37A9F8691C8C}" type="datetime1">
              <a:rPr lang="en-GB" smtClean="0"/>
              <a:t>18/08/2026</a:t>
            </a:fld>
            <a:endParaRPr lang="en-GB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356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8916-976E-40AF-A205-991F683BA890}" type="datetime1">
              <a:rPr lang="en-GB" smtClean="0"/>
              <a:t>18/08/2026</a:t>
            </a:fld>
            <a:endParaRPr lang="en-GB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837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C085C-5C81-434F-A8EA-484D4E830405}" type="datetime1">
              <a:rPr lang="en-GB" smtClean="0"/>
              <a:t>18/08/2026</a:t>
            </a:fld>
            <a:endParaRPr lang="en-GB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4721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B8FDE-2A06-4D71-883A-19F73AC6C873}" type="datetime1">
              <a:rPr lang="en-GB" smtClean="0"/>
              <a:t>18/08/2026</a:t>
            </a:fld>
            <a:endParaRPr lang="en-GB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859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5FD4E-E365-42B4-AE08-6A8E1AD1A30A}" type="datetime1">
              <a:rPr lang="en-GB" smtClean="0"/>
              <a:t>18/08/2026</a:t>
            </a:fld>
            <a:endParaRPr lang="en-GB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9754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468E-F943-4648-BCAE-49E38DE2B555}" type="datetime1">
              <a:rPr lang="en-GB" smtClean="0"/>
              <a:t>18/08/2026</a:t>
            </a:fld>
            <a:endParaRPr lang="en-GB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1966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253D-D11D-4844-A5FF-334ED5277ADF}" type="datetime1">
              <a:rPr lang="en-GB" smtClean="0"/>
              <a:t>18/08/2026</a:t>
            </a:fld>
            <a:endParaRPr lang="en-GB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9472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AC705-0EF9-43F8-BB56-2CFB25D1B083}" type="datetime1">
              <a:rPr lang="en-GB" smtClean="0"/>
              <a:t>18/08/2026</a:t>
            </a:fld>
            <a:endParaRPr lang="en-GB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0900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8D115-CA30-41FC-9559-69B0665B674A}" type="datetime1">
              <a:rPr lang="en-GB" smtClean="0"/>
              <a:t>18/08/2026</a:t>
            </a:fld>
            <a:endParaRPr lang="en-GB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E948B-A4EA-4562-B7E6-FE17413622D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3982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13" Type="http://schemas.microsoft.com/office/2007/relationships/hdphoto" Target="../media/hdphoto5.wdp"/><Relationship Id="rId3" Type="http://schemas.openxmlformats.org/officeDocument/2006/relationships/image" Target="../media/image34.png"/><Relationship Id="rId7" Type="http://schemas.openxmlformats.org/officeDocument/2006/relationships/image" Target="../media/image38.jp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11" Type="http://schemas.openxmlformats.org/officeDocument/2006/relationships/image" Target="../media/image42.jpeg"/><Relationship Id="rId5" Type="http://schemas.openxmlformats.org/officeDocument/2006/relationships/image" Target="../media/image36.jpeg"/><Relationship Id="rId10" Type="http://schemas.openxmlformats.org/officeDocument/2006/relationships/image" Target="../media/image41.png"/><Relationship Id="rId4" Type="http://schemas.openxmlformats.org/officeDocument/2006/relationships/image" Target="../media/image35.jpeg"/><Relationship Id="rId9" Type="http://schemas.openxmlformats.org/officeDocument/2006/relationships/image" Target="../media/image4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491" y="1328382"/>
            <a:ext cx="10834254" cy="3630035"/>
          </a:xfrm>
        </p:spPr>
        <p:txBody>
          <a:bodyPr>
            <a:noAutofit/>
          </a:bodyPr>
          <a:lstStyle/>
          <a:p>
            <a:r>
              <a:rPr lang="en-AU" b="1" dirty="0"/>
              <a:t>Atypical handedness as a marker of altered brain lateralization</a:t>
            </a:r>
            <a:r>
              <a:rPr lang="en-GB" b="1" dirty="0"/>
              <a:t>: genetic and clinical study in bipolar disorder</a:t>
            </a:r>
            <a:endParaRPr lang="en-GB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24067" y="5015802"/>
            <a:ext cx="5753101" cy="1433489"/>
          </a:xfrm>
        </p:spPr>
        <p:txBody>
          <a:bodyPr/>
          <a:lstStyle/>
          <a:p>
            <a:r>
              <a:rPr lang="es-ES" dirty="0"/>
              <a:t>Inés García-Ortiz</a:t>
            </a:r>
          </a:p>
          <a:p>
            <a:r>
              <a:rPr lang="en-GB" sz="2000" dirty="0"/>
              <a:t>10</a:t>
            </a:r>
            <a:r>
              <a:rPr lang="en-GB" sz="2000" baseline="30000" dirty="0"/>
              <a:t>th</a:t>
            </a:r>
            <a:r>
              <a:rPr lang="en-GB" sz="2000" dirty="0"/>
              <a:t> North Sea Meeting on Laterality</a:t>
            </a:r>
          </a:p>
          <a:p>
            <a:r>
              <a:rPr lang="en-GB" sz="2000" dirty="0"/>
              <a:t>19</a:t>
            </a:r>
            <a:r>
              <a:rPr lang="en-GB" sz="2000" baseline="30000" dirty="0"/>
              <a:t>th</a:t>
            </a:r>
            <a:r>
              <a:rPr lang="en-GB" sz="2000" dirty="0"/>
              <a:t> – 22</a:t>
            </a:r>
            <a:r>
              <a:rPr lang="en-GB" sz="2000" baseline="30000" dirty="0"/>
              <a:t>nd</a:t>
            </a:r>
            <a:r>
              <a:rPr lang="en-GB" sz="2000" dirty="0"/>
              <a:t> August 2026, Brighton</a:t>
            </a:r>
          </a:p>
        </p:txBody>
      </p:sp>
      <p:pic>
        <p:nvPicPr>
          <p:cNvPr id="4" name="Google Shape;5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8"/>
            <a:ext cx="1808213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1452" y="109417"/>
            <a:ext cx="1342150" cy="573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229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s-ES" b="1" dirty="0"/>
              <a:t>Handedness in general population</a:t>
            </a:r>
            <a:endParaRPr lang="en-GB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E9EBB2-6024-EEF2-F9E0-9D00E45D3E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2" t="1546" r="3501"/>
          <a:stretch>
            <a:fillRect/>
          </a:stretch>
        </p:blipFill>
        <p:spPr>
          <a:xfrm>
            <a:off x="5676219" y="1492577"/>
            <a:ext cx="6442671" cy="3378319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63989" y="2124345"/>
            <a:ext cx="55454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Left-handed (LH)</a:t>
            </a:r>
            <a:r>
              <a:rPr lang="en-GB" sz="2800" dirty="0"/>
              <a:t>:  ~ 10%</a:t>
            </a:r>
          </a:p>
          <a:p>
            <a:r>
              <a:rPr lang="en-GB" sz="2800" b="1" dirty="0"/>
              <a:t>Sex differences</a:t>
            </a:r>
            <a:r>
              <a:rPr lang="en-GB" sz="2800" dirty="0"/>
              <a:t>: 12% men, 8% women</a:t>
            </a:r>
          </a:p>
          <a:p>
            <a:r>
              <a:rPr lang="en-GB" sz="2800" b="1" dirty="0"/>
              <a:t>Non-right-handedness (NRH)</a:t>
            </a:r>
            <a:r>
              <a:rPr lang="en-GB" sz="2800" dirty="0"/>
              <a:t>: ~18% 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599402" y="5672632"/>
            <a:ext cx="102911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Different brain assymetry patterns in NRH individuals</a:t>
            </a:r>
            <a:endParaRPr lang="en-GB" sz="3200" b="1" dirty="0"/>
          </a:p>
        </p:txBody>
      </p:sp>
      <p:sp>
        <p:nvSpPr>
          <p:cNvPr id="3" name="Rectángulo 2"/>
          <p:cNvSpPr/>
          <p:nvPr/>
        </p:nvSpPr>
        <p:spPr>
          <a:xfrm>
            <a:off x="1313895" y="4422366"/>
            <a:ext cx="3639845" cy="7065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Twin-based </a:t>
            </a:r>
            <a:r>
              <a:rPr lang="es-ES" sz="2800" b="1" i="1" dirty="0">
                <a:solidFill>
                  <a:schemeClr val="tx1"/>
                </a:solidFill>
              </a:rPr>
              <a:t>H</a:t>
            </a:r>
            <a:r>
              <a:rPr lang="es-ES" sz="2800" b="1" i="1" baseline="30000" dirty="0">
                <a:solidFill>
                  <a:schemeClr val="tx1"/>
                </a:solidFill>
              </a:rPr>
              <a:t>2</a:t>
            </a:r>
            <a:r>
              <a:rPr lang="es-ES" sz="2800" b="1" dirty="0">
                <a:solidFill>
                  <a:schemeClr val="tx1"/>
                </a:solidFill>
              </a:rPr>
              <a:t> = 25%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890558" y="6356350"/>
            <a:ext cx="463242" cy="365125"/>
          </a:xfrm>
        </p:spPr>
        <p:txBody>
          <a:bodyPr/>
          <a:lstStyle/>
          <a:p>
            <a:fld id="{0F5E948B-A4EA-4562-B7E6-FE17413622D9}" type="slidenum">
              <a:rPr lang="en-GB" smtClean="0"/>
              <a:t>2</a:t>
            </a:fld>
            <a:endParaRPr lang="en-GB" dirty="0"/>
          </a:p>
        </p:txBody>
      </p:sp>
      <p:sp>
        <p:nvSpPr>
          <p:cNvPr id="8" name="CuadroTexto 7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0102788" y="4870896"/>
            <a:ext cx="1934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/>
              <a:t>Fernandez-Velasco et al. 2023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2394819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47547"/>
            <a:ext cx="12192000" cy="1325563"/>
          </a:xfrm>
        </p:spPr>
        <p:txBody>
          <a:bodyPr/>
          <a:lstStyle/>
          <a:p>
            <a:pPr algn="ctr"/>
            <a:r>
              <a:rPr lang="es-ES" b="1" dirty="0"/>
              <a:t>GWAS of handedness: </a:t>
            </a:r>
            <a:r>
              <a:rPr lang="en-GB" b="1" dirty="0"/>
              <a:t>194K left-handers, 1.5 M controls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0963922" y="6356350"/>
            <a:ext cx="389878" cy="365125"/>
          </a:xfrm>
        </p:spPr>
        <p:txBody>
          <a:bodyPr/>
          <a:lstStyle/>
          <a:p>
            <a:fld id="{0F5E948B-A4EA-4562-B7E6-FE17413622D9}" type="slidenum">
              <a:rPr lang="en-GB" smtClean="0"/>
              <a:t>3</a:t>
            </a:fld>
            <a:endParaRPr lang="en-GB" dirty="0"/>
          </a:p>
        </p:txBody>
      </p:sp>
      <p:pic>
        <p:nvPicPr>
          <p:cNvPr id="1026" name="Picture 2" descr="Fig.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225" y="1562474"/>
            <a:ext cx="8734887" cy="529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099612" y="1946765"/>
            <a:ext cx="2513621" cy="134601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sz="2400" b="1" dirty="0">
                <a:cs typeface="Arial"/>
              </a:rPr>
              <a:t>48 loci</a:t>
            </a:r>
            <a:endParaRPr lang="en-GB" sz="2400" b="1" dirty="0">
              <a:cs typeface="Arial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sz="2400" b="1" dirty="0">
                <a:cs typeface="Arial"/>
              </a:rPr>
              <a:t>3.45% SNP-based heritability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7759083" y="6596390"/>
            <a:ext cx="1934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/>
              <a:t>Cuellar-Partida et al. 2020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414269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ES" sz="4000" b="1" dirty="0"/>
              <a:t>Handedness in neurodevelopmental/psychiatric disorders</a:t>
            </a:r>
            <a:endParaRPr lang="en-GB" sz="4000" b="1" dirty="0"/>
          </a:p>
        </p:txBody>
      </p:sp>
      <p:pic>
        <p:nvPicPr>
          <p:cNvPr id="4" name="Google Shape;76;p15"/>
          <p:cNvPicPr preferRelativeResize="0"/>
          <p:nvPr/>
        </p:nvPicPr>
        <p:blipFill rotWithShape="1">
          <a:blip r:embed="rId2">
            <a:alphaModFix/>
          </a:blip>
          <a:srcRect l="25345" t="5525" b="11274"/>
          <a:stretch/>
        </p:blipFill>
        <p:spPr>
          <a:xfrm>
            <a:off x="1173018" y="1148139"/>
            <a:ext cx="4922982" cy="448362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/>
          <p:cNvSpPr txBox="1"/>
          <p:nvPr/>
        </p:nvSpPr>
        <p:spPr>
          <a:xfrm>
            <a:off x="1169141" y="5652847"/>
            <a:ext cx="46181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High </a:t>
            </a:r>
            <a:r>
              <a:rPr lang="es-ES" sz="2800" b="1" u="sng" dirty="0">
                <a:uFill>
                  <a:solidFill>
                    <a:srgbClr val="FF0000"/>
                  </a:solidFill>
                </a:uFill>
              </a:rPr>
              <a:t>genetic</a:t>
            </a:r>
            <a:r>
              <a:rPr lang="es-ES" sz="2800" b="1" dirty="0"/>
              <a:t> + </a:t>
            </a:r>
            <a:r>
              <a:rPr lang="es-ES" sz="2800" b="1" u="sng" dirty="0" err="1">
                <a:uFill>
                  <a:solidFill>
                    <a:schemeClr val="accent1"/>
                  </a:solidFill>
                </a:uFill>
              </a:rPr>
              <a:t>clinical</a:t>
            </a:r>
            <a:r>
              <a:rPr lang="es-ES" sz="2800" b="1" dirty="0"/>
              <a:t> overlap in mental disorders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893496" y="6356350"/>
            <a:ext cx="460303" cy="365125"/>
          </a:xfrm>
        </p:spPr>
        <p:txBody>
          <a:bodyPr/>
          <a:lstStyle/>
          <a:p>
            <a:fld id="{0F5E948B-A4EA-4562-B7E6-FE17413622D9}" type="slidenum">
              <a:rPr lang="en-GB" smtClean="0"/>
              <a:t>4</a:t>
            </a:fld>
            <a:endParaRPr lang="en-GB" dirty="0"/>
          </a:p>
        </p:txBody>
      </p:sp>
      <p:sp>
        <p:nvSpPr>
          <p:cNvPr id="29" name="CuadroTexto 28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7F7974-D189-5E3B-3511-1044205A7774}"/>
              </a:ext>
            </a:extLst>
          </p:cNvPr>
          <p:cNvSpPr txBox="1"/>
          <p:nvPr/>
        </p:nvSpPr>
        <p:spPr>
          <a:xfrm>
            <a:off x="8993029" y="1148139"/>
            <a:ext cx="19004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400" b="1" dirty="0"/>
              <a:t>NRH</a:t>
            </a:r>
          </a:p>
          <a:p>
            <a:pPr algn="ctr">
              <a:lnSpc>
                <a:spcPct val="150000"/>
              </a:lnSpc>
            </a:pPr>
            <a:r>
              <a:rPr lang="es-ES" sz="2400" dirty="0"/>
              <a:t>18%</a:t>
            </a:r>
          </a:p>
          <a:p>
            <a:pPr algn="ctr">
              <a:lnSpc>
                <a:spcPct val="150000"/>
              </a:lnSpc>
            </a:pPr>
            <a:r>
              <a:rPr lang="es-ES" sz="2400" dirty="0"/>
              <a:t>25%*</a:t>
            </a:r>
          </a:p>
          <a:p>
            <a:pPr algn="ctr">
              <a:lnSpc>
                <a:spcPct val="150000"/>
              </a:lnSpc>
            </a:pPr>
            <a:r>
              <a:rPr lang="es-ES" sz="2400" dirty="0"/>
              <a:t>35% **</a:t>
            </a:r>
          </a:p>
          <a:p>
            <a:pPr algn="ctr">
              <a:lnSpc>
                <a:spcPct val="150000"/>
              </a:lnSpc>
            </a:pPr>
            <a:r>
              <a:rPr lang="es-ES" sz="2400" dirty="0"/>
              <a:t>18%</a:t>
            </a:r>
          </a:p>
          <a:p>
            <a:pPr algn="ctr">
              <a:lnSpc>
                <a:spcPct val="150000"/>
              </a:lnSpc>
            </a:pPr>
            <a:r>
              <a:rPr lang="es-ES" sz="2400" b="1" dirty="0"/>
              <a:t>35%**</a:t>
            </a:r>
          </a:p>
          <a:p>
            <a:pPr algn="ctr">
              <a:lnSpc>
                <a:spcPct val="150000"/>
              </a:lnSpc>
            </a:pPr>
            <a:r>
              <a:rPr lang="es-ES" sz="2400" b="1" dirty="0"/>
              <a:t>???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D7F7974-D189-5E3B-3511-1044205A7774}"/>
              </a:ext>
            </a:extLst>
          </p:cNvPr>
          <p:cNvSpPr txBox="1"/>
          <p:nvPr/>
        </p:nvSpPr>
        <p:spPr>
          <a:xfrm>
            <a:off x="6353427" y="1132565"/>
            <a:ext cx="29482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endParaRPr lang="es-ES" sz="2400" b="1" dirty="0"/>
          </a:p>
          <a:p>
            <a:pPr algn="r">
              <a:lnSpc>
                <a:spcPct val="150000"/>
              </a:lnSpc>
            </a:pPr>
            <a:r>
              <a:rPr lang="es-ES" sz="2400" dirty="0"/>
              <a:t>Controls</a:t>
            </a:r>
          </a:p>
          <a:p>
            <a:pPr algn="r">
              <a:lnSpc>
                <a:spcPct val="150000"/>
              </a:lnSpc>
            </a:pPr>
            <a:r>
              <a:rPr lang="es-ES" sz="2400" dirty="0"/>
              <a:t>ADHD</a:t>
            </a:r>
          </a:p>
          <a:p>
            <a:pPr algn="r">
              <a:lnSpc>
                <a:spcPct val="150000"/>
              </a:lnSpc>
            </a:pPr>
            <a:r>
              <a:rPr lang="es-ES" sz="2400" dirty="0"/>
              <a:t>Autism (ASD)</a:t>
            </a:r>
          </a:p>
          <a:p>
            <a:pPr algn="r">
              <a:lnSpc>
                <a:spcPct val="150000"/>
              </a:lnSpc>
            </a:pPr>
            <a:r>
              <a:rPr lang="es-ES" sz="2400" dirty="0"/>
              <a:t>Depression (DEP)</a:t>
            </a:r>
          </a:p>
          <a:p>
            <a:pPr algn="r">
              <a:lnSpc>
                <a:spcPct val="150000"/>
              </a:lnSpc>
            </a:pPr>
            <a:r>
              <a:rPr lang="es-ES" sz="2400" b="1" dirty="0"/>
              <a:t>Schizophrenia (SCZ)</a:t>
            </a:r>
          </a:p>
          <a:p>
            <a:pPr algn="r">
              <a:lnSpc>
                <a:spcPct val="150000"/>
              </a:lnSpc>
            </a:pPr>
            <a:r>
              <a:rPr lang="es-ES" sz="2400" b="1" dirty="0"/>
              <a:t>BD</a:t>
            </a:r>
          </a:p>
        </p:txBody>
      </p:sp>
      <p:sp>
        <p:nvSpPr>
          <p:cNvPr id="3" name="Elipse 2"/>
          <p:cNvSpPr/>
          <p:nvPr/>
        </p:nvSpPr>
        <p:spPr>
          <a:xfrm>
            <a:off x="2441360" y="1148139"/>
            <a:ext cx="1562469" cy="15684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Elipse 15"/>
          <p:cNvSpPr/>
          <p:nvPr/>
        </p:nvSpPr>
        <p:spPr>
          <a:xfrm>
            <a:off x="4490936" y="2543413"/>
            <a:ext cx="1562469" cy="15684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D0DFF0B-E50B-06BF-66F5-31A1A2654E16}"/>
              </a:ext>
            </a:extLst>
          </p:cNvPr>
          <p:cNvSpPr txBox="1"/>
          <p:nvPr/>
        </p:nvSpPr>
        <p:spPr>
          <a:xfrm>
            <a:off x="7679781" y="5037294"/>
            <a:ext cx="3213716" cy="15696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u="sng" dirty="0"/>
              <a:t>No clear pattern</a:t>
            </a:r>
            <a:r>
              <a:rPr lang="es-ES" sz="2400" u="sng" dirty="0"/>
              <a:t>:</a:t>
            </a:r>
          </a:p>
          <a:p>
            <a:pPr algn="ctr"/>
            <a:r>
              <a:rPr lang="es-ES" sz="2400" dirty="0"/>
              <a:t>Small sample sizes</a:t>
            </a:r>
          </a:p>
          <a:p>
            <a:pPr algn="ctr"/>
            <a:r>
              <a:rPr lang="es-ES" sz="2400" dirty="0"/>
              <a:t>Lack of </a:t>
            </a:r>
            <a:r>
              <a:rPr lang="es-ES" sz="2400" dirty="0" err="1"/>
              <a:t>clinical</a:t>
            </a:r>
            <a:r>
              <a:rPr lang="es-ES" sz="2400" dirty="0"/>
              <a:t> data</a:t>
            </a:r>
          </a:p>
          <a:p>
            <a:pPr algn="ctr"/>
            <a:r>
              <a:rPr lang="es-ES" sz="2400" dirty="0"/>
              <a:t>Diverse measurements</a:t>
            </a:r>
          </a:p>
        </p:txBody>
      </p:sp>
    </p:spTree>
    <p:extLst>
      <p:ext uri="{BB962C8B-B14F-4D97-AF65-F5344CB8AC3E}">
        <p14:creationId xmlns:p14="http://schemas.microsoft.com/office/powerpoint/2010/main" val="389937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3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7077" y="109048"/>
            <a:ext cx="10515600" cy="986714"/>
          </a:xfrm>
        </p:spPr>
        <p:txBody>
          <a:bodyPr>
            <a:normAutofit/>
          </a:bodyPr>
          <a:lstStyle/>
          <a:p>
            <a:pPr algn="ctr"/>
            <a:r>
              <a:rPr lang="es-ES" sz="4000" b="1" dirty="0"/>
              <a:t>Bipolar disorder</a:t>
            </a:r>
            <a:endParaRPr lang="en-GB" sz="4000" b="1" dirty="0"/>
          </a:p>
        </p:txBody>
      </p:sp>
      <p:cxnSp>
        <p:nvCxnSpPr>
          <p:cNvPr id="4" name="Straight Connector 4"/>
          <p:cNvCxnSpPr/>
          <p:nvPr/>
        </p:nvCxnSpPr>
        <p:spPr>
          <a:xfrm flipH="1">
            <a:off x="932055" y="1448421"/>
            <a:ext cx="4665" cy="44557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6"/>
          <p:cNvCxnSpPr/>
          <p:nvPr/>
        </p:nvCxnSpPr>
        <p:spPr>
          <a:xfrm>
            <a:off x="932055" y="3689817"/>
            <a:ext cx="74271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7"/>
          <p:cNvSpPr txBox="1"/>
          <p:nvPr/>
        </p:nvSpPr>
        <p:spPr>
          <a:xfrm>
            <a:off x="956565" y="2802615"/>
            <a:ext cx="918855" cy="4308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200" b="1" dirty="0"/>
              <a:t>Mood</a:t>
            </a:r>
          </a:p>
        </p:txBody>
      </p:sp>
      <p:sp>
        <p:nvSpPr>
          <p:cNvPr id="7" name="TextBox 8"/>
          <p:cNvSpPr txBox="1"/>
          <p:nvPr/>
        </p:nvSpPr>
        <p:spPr>
          <a:xfrm>
            <a:off x="956565" y="6256822"/>
            <a:ext cx="1858719" cy="430887"/>
          </a:xfrm>
          <a:prstGeom prst="rect">
            <a:avLst/>
          </a:prstGeom>
          <a:solidFill>
            <a:schemeClr val="tx1"/>
          </a:solidFill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sz="22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Depression</a:t>
            </a:r>
          </a:p>
        </p:txBody>
      </p:sp>
      <p:sp>
        <p:nvSpPr>
          <p:cNvPr id="8" name="TextBox 9"/>
          <p:cNvSpPr txBox="1"/>
          <p:nvPr/>
        </p:nvSpPr>
        <p:spPr>
          <a:xfrm>
            <a:off x="956565" y="835546"/>
            <a:ext cx="1715864" cy="430887"/>
          </a:xfrm>
          <a:prstGeom prst="rect">
            <a:avLst/>
          </a:prstGeom>
          <a:solidFill>
            <a:srgbClr val="FFC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Mania</a:t>
            </a:r>
          </a:p>
        </p:txBody>
      </p:sp>
      <p:sp>
        <p:nvSpPr>
          <p:cNvPr id="9" name="Freeform 22"/>
          <p:cNvSpPr/>
          <p:nvPr/>
        </p:nvSpPr>
        <p:spPr>
          <a:xfrm>
            <a:off x="932055" y="1327373"/>
            <a:ext cx="7152435" cy="4697838"/>
          </a:xfrm>
          <a:custGeom>
            <a:avLst/>
            <a:gdLst>
              <a:gd name="connsiteX0" fmla="*/ 0 w 7124700"/>
              <a:gd name="connsiteY0" fmla="*/ 2007845 h 3964665"/>
              <a:gd name="connsiteX1" fmla="*/ 472440 w 7124700"/>
              <a:gd name="connsiteY1" fmla="*/ 2099285 h 3964665"/>
              <a:gd name="connsiteX2" fmla="*/ 853440 w 7124700"/>
              <a:gd name="connsiteY2" fmla="*/ 3211805 h 3964665"/>
              <a:gd name="connsiteX3" fmla="*/ 1196340 w 7124700"/>
              <a:gd name="connsiteY3" fmla="*/ 3785 h 3964665"/>
              <a:gd name="connsiteX4" fmla="*/ 1645920 w 7124700"/>
              <a:gd name="connsiteY4" fmla="*/ 3958565 h 3964665"/>
              <a:gd name="connsiteX5" fmla="*/ 1950720 w 7124700"/>
              <a:gd name="connsiteY5" fmla="*/ 956285 h 3964665"/>
              <a:gd name="connsiteX6" fmla="*/ 2247900 w 7124700"/>
              <a:gd name="connsiteY6" fmla="*/ 2937485 h 3964665"/>
              <a:gd name="connsiteX7" fmla="*/ 2674620 w 7124700"/>
              <a:gd name="connsiteY7" fmla="*/ 41885 h 3964665"/>
              <a:gd name="connsiteX8" fmla="*/ 2910840 w 7124700"/>
              <a:gd name="connsiteY8" fmla="*/ 3950945 h 3964665"/>
              <a:gd name="connsiteX9" fmla="*/ 3268980 w 7124700"/>
              <a:gd name="connsiteY9" fmla="*/ 941045 h 3964665"/>
              <a:gd name="connsiteX10" fmla="*/ 3703320 w 7124700"/>
              <a:gd name="connsiteY10" fmla="*/ 3851885 h 3964665"/>
              <a:gd name="connsiteX11" fmla="*/ 3947160 w 7124700"/>
              <a:gd name="connsiteY11" fmla="*/ 133325 h 3964665"/>
              <a:gd name="connsiteX12" fmla="*/ 4038600 w 7124700"/>
              <a:gd name="connsiteY12" fmla="*/ 3783305 h 3964665"/>
              <a:gd name="connsiteX13" fmla="*/ 4274820 w 7124700"/>
              <a:gd name="connsiteY13" fmla="*/ 194285 h 3964665"/>
              <a:gd name="connsiteX14" fmla="*/ 4358640 w 7124700"/>
              <a:gd name="connsiteY14" fmla="*/ 3798545 h 3964665"/>
              <a:gd name="connsiteX15" fmla="*/ 4579620 w 7124700"/>
              <a:gd name="connsiteY15" fmla="*/ 232385 h 3964665"/>
              <a:gd name="connsiteX16" fmla="*/ 4648200 w 7124700"/>
              <a:gd name="connsiteY16" fmla="*/ 3783305 h 3964665"/>
              <a:gd name="connsiteX17" fmla="*/ 4899660 w 7124700"/>
              <a:gd name="connsiteY17" fmla="*/ 1322045 h 3964665"/>
              <a:gd name="connsiteX18" fmla="*/ 5273040 w 7124700"/>
              <a:gd name="connsiteY18" fmla="*/ 2228825 h 3964665"/>
              <a:gd name="connsiteX19" fmla="*/ 5905500 w 7124700"/>
              <a:gd name="connsiteY19" fmla="*/ 2007845 h 3964665"/>
              <a:gd name="connsiteX20" fmla="*/ 7124700 w 7124700"/>
              <a:gd name="connsiteY20" fmla="*/ 1977365 h 3964665"/>
              <a:gd name="connsiteX21" fmla="*/ 7124700 w 7124700"/>
              <a:gd name="connsiteY21" fmla="*/ 1977365 h 396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124700" h="3964665">
                <a:moveTo>
                  <a:pt x="0" y="2007845"/>
                </a:moveTo>
                <a:cubicBezTo>
                  <a:pt x="165100" y="1953235"/>
                  <a:pt x="330200" y="1898625"/>
                  <a:pt x="472440" y="2099285"/>
                </a:cubicBezTo>
                <a:cubicBezTo>
                  <a:pt x="614680" y="2299945"/>
                  <a:pt x="732790" y="3561055"/>
                  <a:pt x="853440" y="3211805"/>
                </a:cubicBezTo>
                <a:cubicBezTo>
                  <a:pt x="974090" y="2862555"/>
                  <a:pt x="1064260" y="-120675"/>
                  <a:pt x="1196340" y="3785"/>
                </a:cubicBezTo>
                <a:cubicBezTo>
                  <a:pt x="1328420" y="128245"/>
                  <a:pt x="1520190" y="3799815"/>
                  <a:pt x="1645920" y="3958565"/>
                </a:cubicBezTo>
                <a:cubicBezTo>
                  <a:pt x="1771650" y="4117315"/>
                  <a:pt x="1850390" y="1126465"/>
                  <a:pt x="1950720" y="956285"/>
                </a:cubicBezTo>
                <a:cubicBezTo>
                  <a:pt x="2051050" y="786105"/>
                  <a:pt x="2127250" y="3089885"/>
                  <a:pt x="2247900" y="2937485"/>
                </a:cubicBezTo>
                <a:cubicBezTo>
                  <a:pt x="2368550" y="2785085"/>
                  <a:pt x="2564130" y="-127025"/>
                  <a:pt x="2674620" y="41885"/>
                </a:cubicBezTo>
                <a:cubicBezTo>
                  <a:pt x="2785110" y="210795"/>
                  <a:pt x="2811780" y="3801085"/>
                  <a:pt x="2910840" y="3950945"/>
                </a:cubicBezTo>
                <a:cubicBezTo>
                  <a:pt x="3009900" y="4100805"/>
                  <a:pt x="3136900" y="957555"/>
                  <a:pt x="3268980" y="941045"/>
                </a:cubicBezTo>
                <a:cubicBezTo>
                  <a:pt x="3401060" y="924535"/>
                  <a:pt x="3590290" y="3986505"/>
                  <a:pt x="3703320" y="3851885"/>
                </a:cubicBezTo>
                <a:cubicBezTo>
                  <a:pt x="3816350" y="3717265"/>
                  <a:pt x="3891280" y="144755"/>
                  <a:pt x="3947160" y="133325"/>
                </a:cubicBezTo>
                <a:cubicBezTo>
                  <a:pt x="4003040" y="121895"/>
                  <a:pt x="3983990" y="3773145"/>
                  <a:pt x="4038600" y="3783305"/>
                </a:cubicBezTo>
                <a:cubicBezTo>
                  <a:pt x="4093210" y="3793465"/>
                  <a:pt x="4221480" y="191745"/>
                  <a:pt x="4274820" y="194285"/>
                </a:cubicBezTo>
                <a:cubicBezTo>
                  <a:pt x="4328160" y="196825"/>
                  <a:pt x="4307840" y="3792195"/>
                  <a:pt x="4358640" y="3798545"/>
                </a:cubicBezTo>
                <a:cubicBezTo>
                  <a:pt x="4409440" y="3804895"/>
                  <a:pt x="4531360" y="234925"/>
                  <a:pt x="4579620" y="232385"/>
                </a:cubicBezTo>
                <a:cubicBezTo>
                  <a:pt x="4627880" y="229845"/>
                  <a:pt x="4594860" y="3601695"/>
                  <a:pt x="4648200" y="3783305"/>
                </a:cubicBezTo>
                <a:cubicBezTo>
                  <a:pt x="4701540" y="3964915"/>
                  <a:pt x="4795520" y="1581125"/>
                  <a:pt x="4899660" y="1322045"/>
                </a:cubicBezTo>
                <a:cubicBezTo>
                  <a:pt x="5003800" y="1062965"/>
                  <a:pt x="5105400" y="2114525"/>
                  <a:pt x="5273040" y="2228825"/>
                </a:cubicBezTo>
                <a:cubicBezTo>
                  <a:pt x="5440680" y="2343125"/>
                  <a:pt x="5596890" y="2049755"/>
                  <a:pt x="5905500" y="2007845"/>
                </a:cubicBezTo>
                <a:cubicBezTo>
                  <a:pt x="6214110" y="1965935"/>
                  <a:pt x="7124700" y="1977365"/>
                  <a:pt x="7124700" y="1977365"/>
                </a:cubicBezTo>
                <a:lnTo>
                  <a:pt x="7124700" y="1977365"/>
                </a:lnTo>
              </a:path>
            </a:pathLst>
          </a:cu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0" name="Straight Connector 25"/>
          <p:cNvCxnSpPr/>
          <p:nvPr/>
        </p:nvCxnSpPr>
        <p:spPr>
          <a:xfrm flipH="1">
            <a:off x="936255" y="1972244"/>
            <a:ext cx="2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67"/>
          <p:cNvSpPr txBox="1"/>
          <p:nvPr/>
        </p:nvSpPr>
        <p:spPr>
          <a:xfrm>
            <a:off x="3936869" y="1061126"/>
            <a:ext cx="1142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C00000"/>
                </a:solidFill>
              </a:rPr>
              <a:t>Psychosis</a:t>
            </a:r>
          </a:p>
        </p:txBody>
      </p:sp>
      <p:sp>
        <p:nvSpPr>
          <p:cNvPr id="14" name="Rectángulo: esquinas redondeadas 1">
            <a:extLst>
              <a:ext uri="{FF2B5EF4-FFF2-40B4-BE49-F238E27FC236}">
                <a16:creationId xmlns:a16="http://schemas.microsoft.com/office/drawing/2014/main" id="{A04DDA6C-336C-9838-DCF9-C6858B1D8DAA}"/>
              </a:ext>
            </a:extLst>
          </p:cNvPr>
          <p:cNvSpPr/>
          <p:nvPr/>
        </p:nvSpPr>
        <p:spPr>
          <a:xfrm>
            <a:off x="8513768" y="2925859"/>
            <a:ext cx="3078461" cy="15008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s-ES" sz="2000" b="1" dirty="0">
                <a:solidFill>
                  <a:schemeClr val="tx1"/>
                </a:solidFill>
              </a:rPr>
              <a:t>Prevalence ~1%</a:t>
            </a:r>
          </a:p>
          <a:p>
            <a:pPr algn="ctr">
              <a:lnSpc>
                <a:spcPct val="150000"/>
              </a:lnSpc>
            </a:pPr>
            <a:r>
              <a:rPr lang="es-ES" sz="2000" b="1" dirty="0">
                <a:solidFill>
                  <a:schemeClr val="tx1"/>
                </a:solidFill>
              </a:rPr>
              <a:t>50% suicidal behaviour Heritability: 80%</a:t>
            </a:r>
          </a:p>
          <a:p>
            <a:pPr algn="ctr">
              <a:lnSpc>
                <a:spcPct val="150000"/>
              </a:lnSpc>
            </a:pPr>
            <a:endParaRPr lang="es-ES" sz="2000" b="1" dirty="0">
              <a:solidFill>
                <a:schemeClr val="tx1"/>
              </a:solidFill>
            </a:endParaRPr>
          </a:p>
        </p:txBody>
      </p:sp>
      <p:sp>
        <p:nvSpPr>
          <p:cNvPr id="3" name="Igual que 2"/>
          <p:cNvSpPr/>
          <p:nvPr/>
        </p:nvSpPr>
        <p:spPr>
          <a:xfrm rot="19154186">
            <a:off x="6840650" y="3521141"/>
            <a:ext cx="923277" cy="337351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Igual que 14"/>
          <p:cNvSpPr/>
          <p:nvPr/>
        </p:nvSpPr>
        <p:spPr>
          <a:xfrm rot="19154186">
            <a:off x="4068891" y="4541705"/>
            <a:ext cx="747701" cy="265565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Igual que 15"/>
          <p:cNvSpPr/>
          <p:nvPr/>
        </p:nvSpPr>
        <p:spPr>
          <a:xfrm rot="19154186">
            <a:off x="2061114" y="5231049"/>
            <a:ext cx="747701" cy="265565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Igual que 16"/>
          <p:cNvSpPr/>
          <p:nvPr/>
        </p:nvSpPr>
        <p:spPr>
          <a:xfrm rot="19154186">
            <a:off x="2930600" y="2895937"/>
            <a:ext cx="747701" cy="265565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TextBox 67"/>
          <p:cNvSpPr txBox="1"/>
          <p:nvPr/>
        </p:nvSpPr>
        <p:spPr>
          <a:xfrm>
            <a:off x="6377975" y="4031323"/>
            <a:ext cx="1142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/>
              <a:t>Suicide behaviour</a:t>
            </a:r>
          </a:p>
        </p:txBody>
      </p:sp>
      <p:pic>
        <p:nvPicPr>
          <p:cNvPr id="2050" name="Picture 2" descr="Psychosis linear icon. Paranoid and scared person. Confused mind.  Schizophrenia. Depression. Mental disorder. Thin line illustration. Contour  symbol Stock Vector Image &amp; Art - Alamy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66227" l="12667" r="88000">
                        <a14:foregroundMark x1="34000" y1="23483" x2="34000" y2="23483"/>
                        <a14:foregroundMark x1="45000" y1="19525" x2="45000" y2="19525"/>
                        <a14:foregroundMark x1="51333" y1="18470" x2="51333" y2="18470"/>
                        <a14:foregroundMark x1="50000" y1="26649" x2="50000" y2="26649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80" r="10619" b="33764"/>
          <a:stretch/>
        </p:blipFill>
        <p:spPr bwMode="auto">
          <a:xfrm>
            <a:off x="3872833" y="1760432"/>
            <a:ext cx="593999" cy="63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Psychosis linear icon. Paranoid and scared person. Confused mind.  Schizophrenia. Depression. Mental disorder. Thin line illustration. Contour  symbol Stock Vector Image &amp; Art - Alamy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66227" l="12667" r="88000">
                        <a14:foregroundMark x1="34000" y1="23483" x2="34000" y2="23483"/>
                        <a14:foregroundMark x1="45000" y1="19525" x2="45000" y2="19525"/>
                        <a14:foregroundMark x1="51333" y1="18470" x2="51333" y2="18470"/>
                        <a14:foregroundMark x1="50000" y1="26649" x2="50000" y2="26649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80" r="10619" b="33764"/>
          <a:stretch/>
        </p:blipFill>
        <p:spPr bwMode="auto">
          <a:xfrm>
            <a:off x="5538875" y="1046807"/>
            <a:ext cx="593999" cy="63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821880" y="6356350"/>
            <a:ext cx="531920" cy="365125"/>
          </a:xfrm>
        </p:spPr>
        <p:txBody>
          <a:bodyPr/>
          <a:lstStyle/>
          <a:p>
            <a:fld id="{0F5E948B-A4EA-4562-B7E6-FE17413622D9}" type="slidenum">
              <a:rPr lang="en-GB" smtClean="0"/>
              <a:t>5</a:t>
            </a:fld>
            <a:endParaRPr lang="en-GB" dirty="0"/>
          </a:p>
        </p:txBody>
      </p:sp>
      <p:sp>
        <p:nvSpPr>
          <p:cNvPr id="12" name="CuadroTexto 11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2" name="Picture 2" descr="Psychosis linear icon. Paranoid and scared person. Confused mind.  Schizophrenia. Depression. Mental disorder. Thin line illustration. Contour  symbol Stock Vector Image &amp; Art - Alamy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66227" l="12667" r="88000">
                        <a14:foregroundMark x1="34000" y1="23483" x2="34000" y2="23483"/>
                        <a14:foregroundMark x1="45000" y1="19525" x2="45000" y2="19525"/>
                        <a14:foregroundMark x1="51333" y1="18470" x2="51333" y2="18470"/>
                        <a14:foregroundMark x1="50000" y1="26649" x2="50000" y2="26649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80" r="10619" b="33764"/>
          <a:stretch/>
        </p:blipFill>
        <p:spPr bwMode="auto">
          <a:xfrm>
            <a:off x="2844853" y="4480812"/>
            <a:ext cx="593999" cy="63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animBg="1"/>
      <p:bldP spid="15" grpId="0" animBg="1"/>
      <p:bldP spid="16" grpId="0" animBg="1"/>
      <p:bldP spid="17" grpId="0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3285"/>
            <a:ext cx="12192000" cy="1087522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/>
              <a:t>GWAS in BD (PGC-4): </a:t>
            </a:r>
            <a:r>
              <a:rPr lang="en-US" sz="4000" b="1" dirty="0">
                <a:ea typeface="Cambria" panose="02040503050406030204" pitchFamily="18" charset="0"/>
                <a:cs typeface="Arial" panose="020B0604020202020204" pitchFamily="34" charset="0"/>
              </a:rPr>
              <a:t>158,000 cases and 2.8 M controls</a:t>
            </a:r>
            <a:endParaRPr lang="en-GB" sz="4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0910656" y="6356350"/>
            <a:ext cx="443144" cy="365125"/>
          </a:xfrm>
        </p:spPr>
        <p:txBody>
          <a:bodyPr/>
          <a:lstStyle/>
          <a:p>
            <a:fld id="{0F5E948B-A4EA-4562-B7E6-FE17413622D9}" type="slidenum">
              <a:rPr lang="en-GB" smtClean="0"/>
              <a:t>6</a:t>
            </a:fld>
            <a:endParaRPr lang="en-GB" dirty="0"/>
          </a:p>
        </p:txBody>
      </p:sp>
      <p:pic>
        <p:nvPicPr>
          <p:cNvPr id="6" name="Picture 2" descr="Extended Data Fig.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26" y="1487283"/>
            <a:ext cx="10606598" cy="4897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05A5D37A-792B-A350-3EB4-E0967F65F848}"/>
              </a:ext>
            </a:extLst>
          </p:cNvPr>
          <p:cNvSpPr txBox="1">
            <a:spLocks/>
          </p:cNvSpPr>
          <p:nvPr/>
        </p:nvSpPr>
        <p:spPr>
          <a:xfrm>
            <a:off x="10420051" y="2109829"/>
            <a:ext cx="1183064" cy="42918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cs typeface="Arial"/>
              </a:rPr>
              <a:t>298 loci</a:t>
            </a:r>
            <a:endParaRPr lang="es-ES" sz="2400" b="1" dirty="0">
              <a:cs typeface="Arial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9676660" y="5326602"/>
            <a:ext cx="1677139" cy="958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CuadroTexto 8"/>
          <p:cNvSpPr txBox="1"/>
          <p:nvPr/>
        </p:nvSpPr>
        <p:spPr>
          <a:xfrm>
            <a:off x="9334870" y="5339355"/>
            <a:ext cx="1934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/>
              <a:t>O’Connell et al. 2025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2430687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1402A-0E88-DB43-BF2D-6DF66006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4821"/>
            <a:ext cx="10515600" cy="7996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4800" b="1" dirty="0" err="1"/>
              <a:t>Objectives</a:t>
            </a:r>
            <a:endParaRPr lang="es-ES" sz="4800" b="1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376E96FD-CE7A-5806-C7A7-E2CDD5FCE2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54885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C903D4-540D-33ED-9082-1B2F410C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9964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4288"/>
            <a:ext cx="12192000" cy="1325563"/>
          </a:xfrm>
        </p:spPr>
        <p:txBody>
          <a:bodyPr/>
          <a:lstStyle/>
          <a:p>
            <a:pPr algn="ctr"/>
            <a:r>
              <a:rPr lang="es-ES" b="1" dirty="0"/>
              <a:t>MadManic cohort</a:t>
            </a:r>
            <a:endParaRPr lang="en-GB" b="1" dirty="0"/>
          </a:p>
        </p:txBody>
      </p:sp>
      <p:grpSp>
        <p:nvGrpSpPr>
          <p:cNvPr id="7" name="Grupo 6"/>
          <p:cNvGrpSpPr/>
          <p:nvPr/>
        </p:nvGrpSpPr>
        <p:grpSpPr>
          <a:xfrm>
            <a:off x="339081" y="1633538"/>
            <a:ext cx="6882799" cy="4600466"/>
            <a:chOff x="520056" y="1690688"/>
            <a:chExt cx="6882799" cy="4600466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056" y="1690688"/>
              <a:ext cx="6882799" cy="4600466"/>
            </a:xfrm>
            <a:prstGeom prst="rect">
              <a:avLst/>
            </a:prstGeom>
          </p:spPr>
        </p:pic>
        <p:sp>
          <p:nvSpPr>
            <p:cNvPr id="6" name="Rectángulo 5"/>
            <p:cNvSpPr/>
            <p:nvPr/>
          </p:nvSpPr>
          <p:spPr>
            <a:xfrm>
              <a:off x="4229100" y="2257425"/>
              <a:ext cx="1419225" cy="371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" name="Google Shape;57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43374" y="2009775"/>
              <a:ext cx="1590675" cy="7012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CuadroTexto 8"/>
          <p:cNvSpPr txBox="1"/>
          <p:nvPr/>
        </p:nvSpPr>
        <p:spPr>
          <a:xfrm>
            <a:off x="339081" y="6234004"/>
            <a:ext cx="15716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García-Ortiz et al. 2026</a:t>
            </a:r>
            <a:endParaRPr lang="en-GB" sz="1100" dirty="0"/>
          </a:p>
        </p:txBody>
      </p:sp>
      <p:pic>
        <p:nvPicPr>
          <p:cNvPr id="11" name="Google Shape;86;p17">
            <a:extLst>
              <a:ext uri="{FF2B5EF4-FFF2-40B4-BE49-F238E27FC236}">
                <a16:creationId xmlns:a16="http://schemas.microsoft.com/office/drawing/2014/main" id="{C0A78BE3-2958-3745-B10C-C35A9F7F1CB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4810" y="2206660"/>
            <a:ext cx="15036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5;p17">
            <a:extLst>
              <a:ext uri="{FF2B5EF4-FFF2-40B4-BE49-F238E27FC236}">
                <a16:creationId xmlns:a16="http://schemas.microsoft.com/office/drawing/2014/main" id="{74E3E47A-A681-5DA4-D980-43CE26E23F2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/>
        </p:blipFill>
        <p:spPr>
          <a:xfrm>
            <a:off x="9971415" y="2185195"/>
            <a:ext cx="1503671" cy="114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uadroTexto 12"/>
          <p:cNvSpPr txBox="1"/>
          <p:nvPr/>
        </p:nvSpPr>
        <p:spPr>
          <a:xfrm>
            <a:off x="10108842" y="1757177"/>
            <a:ext cx="122881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436 BD</a:t>
            </a:r>
            <a:endParaRPr lang="en-GB" sz="2400" b="1" dirty="0"/>
          </a:p>
        </p:txBody>
      </p:sp>
      <p:sp>
        <p:nvSpPr>
          <p:cNvPr id="14" name="CuadroTexto 13"/>
          <p:cNvSpPr txBox="1"/>
          <p:nvPr/>
        </p:nvSpPr>
        <p:spPr>
          <a:xfrm>
            <a:off x="7580843" y="1757178"/>
            <a:ext cx="2079107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1,480 controls</a:t>
            </a:r>
            <a:endParaRPr lang="en-GB" sz="2400" b="1" dirty="0"/>
          </a:p>
        </p:txBody>
      </p:sp>
      <p:sp>
        <p:nvSpPr>
          <p:cNvPr id="15" name="CuadroTexto 14"/>
          <p:cNvSpPr txBox="1"/>
          <p:nvPr/>
        </p:nvSpPr>
        <p:spPr>
          <a:xfrm>
            <a:off x="9483372" y="5033675"/>
            <a:ext cx="2312180" cy="1200329"/>
          </a:xfrm>
          <a:prstGeom prst="rect">
            <a:avLst/>
          </a:prstGeom>
          <a:noFill/>
          <a:ln w="38100">
            <a:solidFill>
              <a:schemeClr val="bg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s-ES" sz="2400" dirty="0"/>
              <a:t>BD subtype</a:t>
            </a:r>
          </a:p>
          <a:p>
            <a:r>
              <a:rPr lang="es-ES" sz="2400" dirty="0"/>
              <a:t>Clinical history</a:t>
            </a:r>
          </a:p>
          <a:p>
            <a:r>
              <a:rPr lang="es-ES" sz="2400" dirty="0"/>
              <a:t>Severity scales</a:t>
            </a:r>
          </a:p>
        </p:txBody>
      </p:sp>
      <p:sp>
        <p:nvSpPr>
          <p:cNvPr id="16" name="Cerrar llave 15"/>
          <p:cNvSpPr/>
          <p:nvPr/>
        </p:nvSpPr>
        <p:spPr>
          <a:xfrm rot="5400000">
            <a:off x="9380584" y="1358914"/>
            <a:ext cx="294759" cy="3894242"/>
          </a:xfrm>
          <a:prstGeom prst="rightBrace">
            <a:avLst>
              <a:gd name="adj1" fmla="val 41463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uadroTexto 2"/>
          <p:cNvSpPr txBox="1"/>
          <p:nvPr/>
        </p:nvSpPr>
        <p:spPr>
          <a:xfrm>
            <a:off x="8172859" y="3683833"/>
            <a:ext cx="2710207" cy="830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EHI</a:t>
            </a:r>
          </a:p>
          <a:p>
            <a:pPr algn="ctr"/>
            <a:r>
              <a:rPr lang="es-ES" sz="2400" b="1" dirty="0"/>
              <a:t>Preferred foot/eye </a:t>
            </a:r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2"/>
          </p:nvPr>
        </p:nvSpPr>
        <p:spPr>
          <a:xfrm>
            <a:off x="10670218" y="6356350"/>
            <a:ext cx="683581" cy="365125"/>
          </a:xfrm>
        </p:spPr>
        <p:txBody>
          <a:bodyPr/>
          <a:lstStyle/>
          <a:p>
            <a:fld id="{0F5E948B-A4EA-4562-B7E6-FE17413622D9}" type="slidenum">
              <a:rPr lang="en-GB" smtClean="0"/>
              <a:t>8</a:t>
            </a:fld>
            <a:endParaRPr lang="en-GB" dirty="0"/>
          </a:p>
        </p:txBody>
      </p:sp>
      <p:sp>
        <p:nvSpPr>
          <p:cNvPr id="19" name="CuadroTexto 18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M&amp;M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AutoShape 2" descr="DNA Icon SVG Vector &amp; PNG Free Download | UXW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6" name="Cerrar llave 15"/>
          <p:cNvSpPr/>
          <p:nvPr/>
        </p:nvSpPr>
        <p:spPr>
          <a:xfrm rot="5400000" flipH="1">
            <a:off x="9358459" y="3015877"/>
            <a:ext cx="249827" cy="3708569"/>
          </a:xfrm>
          <a:prstGeom prst="rightBrace">
            <a:avLst>
              <a:gd name="adj1" fmla="val 41463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CuadroTexto 7"/>
          <p:cNvSpPr txBox="1"/>
          <p:nvPr/>
        </p:nvSpPr>
        <p:spPr>
          <a:xfrm>
            <a:off x="7580842" y="5060272"/>
            <a:ext cx="1509892" cy="1569660"/>
          </a:xfrm>
          <a:prstGeom prst="rect">
            <a:avLst/>
          </a:prstGeom>
          <a:noFill/>
          <a:ln w="38100">
            <a:solidFill>
              <a:schemeClr val="bg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/>
            </a:lvl1pPr>
          </a:lstStyle>
          <a:p>
            <a:r>
              <a:rPr lang="es-ES" dirty="0"/>
              <a:t>SNP data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506" y="5552008"/>
            <a:ext cx="952708" cy="94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84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33B3AE7-195E-540D-774A-26025E5E9979}"/>
              </a:ext>
            </a:extLst>
          </p:cNvPr>
          <p:cNvCxnSpPr>
            <a:cxnSpLocks/>
            <a:endCxn id="14" idx="2"/>
          </p:cNvCxnSpPr>
          <p:nvPr/>
        </p:nvCxnSpPr>
        <p:spPr>
          <a:xfrm flipH="1">
            <a:off x="8612827" y="1485664"/>
            <a:ext cx="25520" cy="2429462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70" y="32998"/>
            <a:ext cx="12192000" cy="1325563"/>
          </a:xfrm>
        </p:spPr>
        <p:txBody>
          <a:bodyPr/>
          <a:lstStyle/>
          <a:p>
            <a:pPr algn="ctr"/>
            <a:r>
              <a:rPr lang="es-ES" b="1" dirty="0"/>
              <a:t>Edinburgh Handedness Inventory</a:t>
            </a:r>
            <a:endParaRPr lang="en-GB" b="1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29CA9F0-6469-A01C-954C-55E393EE6CAE}"/>
              </a:ext>
            </a:extLst>
          </p:cNvPr>
          <p:cNvCxnSpPr>
            <a:cxnSpLocks/>
          </p:cNvCxnSpPr>
          <p:nvPr/>
        </p:nvCxnSpPr>
        <p:spPr>
          <a:xfrm flipV="1">
            <a:off x="10308102" y="1416560"/>
            <a:ext cx="0" cy="2806802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35E6894-0FA8-69ED-16E8-B76AB9699619}"/>
              </a:ext>
            </a:extLst>
          </p:cNvPr>
          <p:cNvCxnSpPr>
            <a:cxnSpLocks/>
          </p:cNvCxnSpPr>
          <p:nvPr/>
        </p:nvCxnSpPr>
        <p:spPr>
          <a:xfrm flipH="1" flipV="1">
            <a:off x="6989121" y="1485664"/>
            <a:ext cx="2" cy="2785758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577F7F1-0EA0-35C0-1513-DD2622477026}"/>
              </a:ext>
            </a:extLst>
          </p:cNvPr>
          <p:cNvCxnSpPr>
            <a:cxnSpLocks/>
          </p:cNvCxnSpPr>
          <p:nvPr/>
        </p:nvCxnSpPr>
        <p:spPr>
          <a:xfrm flipH="1" flipV="1">
            <a:off x="5600701" y="1358562"/>
            <a:ext cx="11201" cy="4628912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07A7742-AE3A-B1F7-7689-BCECCA0EEDE5}"/>
              </a:ext>
            </a:extLst>
          </p:cNvPr>
          <p:cNvSpPr/>
          <p:nvPr/>
        </p:nvSpPr>
        <p:spPr>
          <a:xfrm>
            <a:off x="454242" y="1485664"/>
            <a:ext cx="3996515" cy="4121609"/>
          </a:xfrm>
          <a:prstGeom prst="rect">
            <a:avLst/>
          </a:prstGeom>
          <a:solidFill>
            <a:srgbClr val="F5FD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400" b="1" dirty="0">
                <a:solidFill>
                  <a:schemeClr val="tx1"/>
                </a:solidFill>
              </a:rPr>
              <a:t>Which hand do you use for…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Writing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Drawing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Throw an object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Use a toothbrush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Use a knife (without fork)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Use scissors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Use spoon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Upper hand to broom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Strike a match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 Open the lid of a box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C806430B-2171-247B-CC65-4978EBD59CFC}"/>
              </a:ext>
            </a:extLst>
          </p:cNvPr>
          <p:cNvGrpSpPr/>
          <p:nvPr/>
        </p:nvGrpSpPr>
        <p:grpSpPr>
          <a:xfrm>
            <a:off x="75940" y="5734376"/>
            <a:ext cx="2717142" cy="880369"/>
            <a:chOff x="0" y="3734287"/>
            <a:chExt cx="2369127" cy="880369"/>
          </a:xfrm>
        </p:grpSpPr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72B2F1DE-462B-DB68-A652-BA36A6BA6C13}"/>
                </a:ext>
              </a:extLst>
            </p:cNvPr>
            <p:cNvSpPr txBox="1"/>
            <p:nvPr/>
          </p:nvSpPr>
          <p:spPr>
            <a:xfrm>
              <a:off x="0" y="3734287"/>
              <a:ext cx="2369127" cy="8803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s-ES" b="1" i="1" dirty="0"/>
                <a:t>Right Score - Left Score</a:t>
              </a:r>
            </a:p>
            <a:p>
              <a:pPr algn="ctr">
                <a:lnSpc>
                  <a:spcPct val="150000"/>
                </a:lnSpc>
              </a:pPr>
              <a:r>
                <a:rPr lang="es-ES" b="1" i="1" dirty="0"/>
                <a:t>Right Score + Left Score</a:t>
              </a:r>
            </a:p>
          </p:txBody>
        </p: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68E59891-FFE6-8B92-07CD-5469A083C2BF}"/>
                </a:ext>
              </a:extLst>
            </p:cNvPr>
            <p:cNvCxnSpPr/>
            <p:nvPr/>
          </p:nvCxnSpPr>
          <p:spPr>
            <a:xfrm>
              <a:off x="166255" y="4202179"/>
              <a:ext cx="200890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A7BA36BC-075D-864E-4349-F0F716E3E338}"/>
              </a:ext>
            </a:extLst>
          </p:cNvPr>
          <p:cNvGrpSpPr/>
          <p:nvPr/>
        </p:nvGrpSpPr>
        <p:grpSpPr>
          <a:xfrm>
            <a:off x="2627757" y="5759062"/>
            <a:ext cx="2174118" cy="830997"/>
            <a:chOff x="2175164" y="3867801"/>
            <a:chExt cx="1669472" cy="830997"/>
          </a:xfrm>
        </p:grpSpPr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D80C94A5-96C7-62A6-AB79-DBD829CD0D8B}"/>
                </a:ext>
              </a:extLst>
            </p:cNvPr>
            <p:cNvSpPr txBox="1"/>
            <p:nvPr/>
          </p:nvSpPr>
          <p:spPr>
            <a:xfrm>
              <a:off x="2369127" y="3867801"/>
              <a:ext cx="147550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/>
                <a:t>Lateralization Quotient (LQ)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A2CCF3B5-A1BD-3533-357D-8AA2E1FE3933}"/>
                </a:ext>
              </a:extLst>
            </p:cNvPr>
            <p:cNvSpPr txBox="1"/>
            <p:nvPr/>
          </p:nvSpPr>
          <p:spPr>
            <a:xfrm>
              <a:off x="2175164" y="4080164"/>
              <a:ext cx="1939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/>
                <a:t>=</a:t>
              </a:r>
            </a:p>
          </p:txBody>
        </p:sp>
      </p:grpSp>
      <p:grpSp>
        <p:nvGrpSpPr>
          <p:cNvPr id="90" name="Grupo 89"/>
          <p:cNvGrpSpPr/>
          <p:nvPr/>
        </p:nvGrpSpPr>
        <p:grpSpPr>
          <a:xfrm>
            <a:off x="5267325" y="5440659"/>
            <a:ext cx="6697662" cy="1069972"/>
            <a:chOff x="5267325" y="5440659"/>
            <a:chExt cx="6697662" cy="1069972"/>
          </a:xfrm>
        </p:grpSpPr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5FBD9CB9-62EE-8A9C-908E-26BB405148A3}"/>
                </a:ext>
              </a:extLst>
            </p:cNvPr>
            <p:cNvSpPr txBox="1"/>
            <p:nvPr/>
          </p:nvSpPr>
          <p:spPr>
            <a:xfrm>
              <a:off x="7676628" y="5987411"/>
              <a:ext cx="28837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r>
                <a:rPr lang="es-ES" sz="2800" dirty="0"/>
                <a:t>Lateralized</a:t>
              </a:r>
            </a:p>
          </p:txBody>
        </p:sp>
        <p:grpSp>
          <p:nvGrpSpPr>
            <p:cNvPr id="89" name="Grupo 88"/>
            <p:cNvGrpSpPr/>
            <p:nvPr/>
          </p:nvGrpSpPr>
          <p:grpSpPr>
            <a:xfrm>
              <a:off x="5267325" y="5440659"/>
              <a:ext cx="6697662" cy="546815"/>
              <a:chOff x="5267325" y="5440659"/>
              <a:chExt cx="6697662" cy="546815"/>
            </a:xfrm>
          </p:grpSpPr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ED0898DA-D1F6-D02E-E3FB-DDAB50534608}"/>
                  </a:ext>
                </a:extLst>
              </p:cNvPr>
              <p:cNvSpPr/>
              <p:nvPr/>
            </p:nvSpPr>
            <p:spPr>
              <a:xfrm>
                <a:off x="5267325" y="5447851"/>
                <a:ext cx="6697662" cy="52524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B6AC062F-BBA4-C19A-E12B-05CF64D97981}"/>
                  </a:ext>
                </a:extLst>
              </p:cNvPr>
              <p:cNvSpPr/>
              <p:nvPr/>
            </p:nvSpPr>
            <p:spPr>
              <a:xfrm>
                <a:off x="5270739" y="5440659"/>
                <a:ext cx="328297" cy="532433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4" name="Rectángulo 63">
                <a:extLst>
                  <a:ext uri="{FF2B5EF4-FFF2-40B4-BE49-F238E27FC236}">
                    <a16:creationId xmlns:a16="http://schemas.microsoft.com/office/drawing/2014/main" id="{B6AC062F-BBA4-C19A-E12B-05CF64D97981}"/>
                  </a:ext>
                </a:extLst>
              </p:cNvPr>
              <p:cNvSpPr/>
              <p:nvPr/>
            </p:nvSpPr>
            <p:spPr>
              <a:xfrm>
                <a:off x="11619591" y="5447849"/>
                <a:ext cx="345396" cy="525243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5FBD9CB9-62EE-8A9C-908E-26BB405148A3}"/>
                  </a:ext>
                </a:extLst>
              </p:cNvPr>
              <p:cNvSpPr txBox="1"/>
              <p:nvPr/>
            </p:nvSpPr>
            <p:spPr>
              <a:xfrm>
                <a:off x="7150597" y="5464254"/>
                <a:ext cx="28837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3200" b="1"/>
                </a:lvl1pPr>
              </a:lstStyle>
              <a:p>
                <a:pPr algn="ctr"/>
                <a:r>
                  <a:rPr lang="es-ES" sz="2800" dirty="0"/>
                  <a:t>Non-lateralized</a:t>
                </a:r>
              </a:p>
            </p:txBody>
          </p:sp>
        </p:grpSp>
        <p:cxnSp>
          <p:nvCxnSpPr>
            <p:cNvPr id="68" name="Conector recto de flecha 67"/>
            <p:cNvCxnSpPr>
              <a:stCxn id="30" idx="1"/>
            </p:cNvCxnSpPr>
            <p:nvPr/>
          </p:nvCxnSpPr>
          <p:spPr>
            <a:xfrm flipH="1" flipV="1">
              <a:off x="5475546" y="6036951"/>
              <a:ext cx="2201082" cy="212070"/>
            </a:xfrm>
            <a:prstGeom prst="straightConnector1">
              <a:avLst/>
            </a:prstGeom>
            <a:ln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/>
            <p:cNvCxnSpPr/>
            <p:nvPr/>
          </p:nvCxnSpPr>
          <p:spPr>
            <a:xfrm flipV="1">
              <a:off x="9472630" y="6045541"/>
              <a:ext cx="2130504" cy="217799"/>
            </a:xfrm>
            <a:prstGeom prst="straightConnector1">
              <a:avLst/>
            </a:prstGeom>
            <a:ln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upo 87"/>
          <p:cNvGrpSpPr/>
          <p:nvPr/>
        </p:nvGrpSpPr>
        <p:grpSpPr>
          <a:xfrm>
            <a:off x="5350655" y="4809860"/>
            <a:ext cx="4957445" cy="667503"/>
            <a:chOff x="5350655" y="4809860"/>
            <a:chExt cx="4957445" cy="667503"/>
          </a:xfrm>
        </p:grpSpPr>
        <p:grpSp>
          <p:nvGrpSpPr>
            <p:cNvPr id="74" name="Grupo 73"/>
            <p:cNvGrpSpPr/>
            <p:nvPr/>
          </p:nvGrpSpPr>
          <p:grpSpPr>
            <a:xfrm>
              <a:off x="5350655" y="4809860"/>
              <a:ext cx="4957445" cy="532703"/>
              <a:chOff x="5350655" y="4809860"/>
              <a:chExt cx="4957445" cy="532703"/>
            </a:xfrm>
          </p:grpSpPr>
          <p:sp>
            <p:nvSpPr>
              <p:cNvPr id="72" name="Cerrar llave 71"/>
              <p:cNvSpPr/>
              <p:nvPr/>
            </p:nvSpPr>
            <p:spPr>
              <a:xfrm rot="5400000">
                <a:off x="7753045" y="2407470"/>
                <a:ext cx="152666" cy="4957445"/>
              </a:xfrm>
              <a:prstGeom prst="rightBrace">
                <a:avLst>
                  <a:gd name="adj1" fmla="val 66093"/>
                  <a:gd name="adj2" fmla="val 51832"/>
                </a:avLst>
              </a:prstGeom>
              <a:ln w="571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3" name="Rectángulo 72"/>
              <p:cNvSpPr/>
              <p:nvPr/>
            </p:nvSpPr>
            <p:spPr>
              <a:xfrm>
                <a:off x="7191070" y="5000824"/>
                <a:ext cx="1151965" cy="34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7176703" y="4892588"/>
              <a:ext cx="10256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/>
                <a:t>NRH</a:t>
              </a:r>
            </a:p>
          </p:txBody>
        </p:sp>
      </p:grpSp>
      <p:pic>
        <p:nvPicPr>
          <p:cNvPr id="46" name="Imagen 45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80" t="64646" r="4030" b="8831"/>
          <a:stretch/>
        </p:blipFill>
        <p:spPr>
          <a:xfrm>
            <a:off x="5226337" y="876123"/>
            <a:ext cx="6857184" cy="1219082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D959302-9360-5C33-06B3-D62828EF9A8E}"/>
              </a:ext>
            </a:extLst>
          </p:cNvPr>
          <p:cNvCxnSpPr>
            <a:cxnSpLocks/>
          </p:cNvCxnSpPr>
          <p:nvPr/>
        </p:nvCxnSpPr>
        <p:spPr>
          <a:xfrm flipV="1">
            <a:off x="11646225" y="876123"/>
            <a:ext cx="20700" cy="5111351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o 84"/>
          <p:cNvGrpSpPr/>
          <p:nvPr/>
        </p:nvGrpSpPr>
        <p:grpSpPr>
          <a:xfrm>
            <a:off x="5269325" y="2443785"/>
            <a:ext cx="6875505" cy="591247"/>
            <a:chOff x="5269325" y="2443785"/>
            <a:chExt cx="6875505" cy="591247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B30B59-3710-8408-0FF9-26E4523DE253}"/>
                </a:ext>
              </a:extLst>
            </p:cNvPr>
            <p:cNvSpPr/>
            <p:nvPr/>
          </p:nvSpPr>
          <p:spPr>
            <a:xfrm>
              <a:off x="5271894" y="2443785"/>
              <a:ext cx="6693093" cy="591247"/>
            </a:xfrm>
            <a:prstGeom prst="rect">
              <a:avLst/>
            </a:prstGeom>
            <a:solidFill>
              <a:srgbClr val="A5F1CD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09842625-2368-2298-16FC-95C1E9F693A6}"/>
                </a:ext>
              </a:extLst>
            </p:cNvPr>
            <p:cNvSpPr txBox="1"/>
            <p:nvPr/>
          </p:nvSpPr>
          <p:spPr>
            <a:xfrm>
              <a:off x="5269325" y="2477086"/>
              <a:ext cx="1110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800" dirty="0"/>
                <a:t>-100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CB8A079C-24B4-2542-E955-CFD84E62C0C1}"/>
                </a:ext>
              </a:extLst>
            </p:cNvPr>
            <p:cNvSpPr txBox="1"/>
            <p:nvPr/>
          </p:nvSpPr>
          <p:spPr>
            <a:xfrm>
              <a:off x="8162364" y="2495194"/>
              <a:ext cx="956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LQ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09842625-2368-2298-16FC-95C1E9F693A6}"/>
                </a:ext>
              </a:extLst>
            </p:cNvPr>
            <p:cNvSpPr txBox="1"/>
            <p:nvPr/>
          </p:nvSpPr>
          <p:spPr>
            <a:xfrm>
              <a:off x="11034806" y="2477086"/>
              <a:ext cx="1110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800" dirty="0"/>
                <a:t>+100</a:t>
              </a:r>
            </a:p>
          </p:txBody>
        </p:sp>
      </p:grpSp>
      <p:grpSp>
        <p:nvGrpSpPr>
          <p:cNvPr id="86" name="Grupo 85"/>
          <p:cNvGrpSpPr/>
          <p:nvPr/>
        </p:nvGrpSpPr>
        <p:grpSpPr>
          <a:xfrm>
            <a:off x="5267059" y="3374992"/>
            <a:ext cx="6691536" cy="591381"/>
            <a:chOff x="5267059" y="3374992"/>
            <a:chExt cx="6691536" cy="591381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5267059" y="3433084"/>
              <a:ext cx="6691536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D77B4F48-3B87-95AD-AC32-86712AA4F8F5}"/>
                </a:ext>
              </a:extLst>
            </p:cNvPr>
            <p:cNvSpPr/>
            <p:nvPr/>
          </p:nvSpPr>
          <p:spPr>
            <a:xfrm>
              <a:off x="5281080" y="3433906"/>
              <a:ext cx="3323975" cy="48480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F0647A86-F9FB-EDD9-6914-F239CCE77608}"/>
                </a:ext>
              </a:extLst>
            </p:cNvPr>
            <p:cNvSpPr txBox="1"/>
            <p:nvPr/>
          </p:nvSpPr>
          <p:spPr>
            <a:xfrm>
              <a:off x="5305347" y="3381598"/>
              <a:ext cx="185488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b="1" dirty="0"/>
                <a:t>Left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10024153" y="3374992"/>
              <a:ext cx="19140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r"/>
              <a:r>
                <a:rPr lang="es-ES" dirty="0"/>
                <a:t>Right</a:t>
              </a:r>
            </a:p>
          </p:txBody>
        </p:sp>
      </p:grpSp>
      <p:grpSp>
        <p:nvGrpSpPr>
          <p:cNvPr id="87" name="Grupo 86"/>
          <p:cNvGrpSpPr/>
          <p:nvPr/>
        </p:nvGrpSpPr>
        <p:grpSpPr>
          <a:xfrm>
            <a:off x="5273061" y="4181698"/>
            <a:ext cx="6694004" cy="635530"/>
            <a:chOff x="5273061" y="4181698"/>
            <a:chExt cx="6694004" cy="635530"/>
          </a:xfrm>
        </p:grpSpPr>
        <p:sp>
          <p:nvSpPr>
            <p:cNvPr id="23" name="Abrir llave 22">
              <a:extLst>
                <a:ext uri="{FF2B5EF4-FFF2-40B4-BE49-F238E27FC236}">
                  <a16:creationId xmlns:a16="http://schemas.microsoft.com/office/drawing/2014/main" id="{FB940F5B-6199-A806-DFB2-D96A82B90A90}"/>
                </a:ext>
              </a:extLst>
            </p:cNvPr>
            <p:cNvSpPr/>
            <p:nvPr/>
          </p:nvSpPr>
          <p:spPr>
            <a:xfrm rot="5400000">
              <a:off x="8777083" y="3083180"/>
              <a:ext cx="249382" cy="3032057"/>
            </a:xfrm>
            <a:prstGeom prst="leftBrace">
              <a:avLst>
                <a:gd name="adj1" fmla="val 154961"/>
                <a:gd name="adj2" fmla="val 50525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A29C0580-010B-60E5-F4D1-EE9203A72873}"/>
                </a:ext>
              </a:extLst>
            </p:cNvPr>
            <p:cNvSpPr txBox="1"/>
            <p:nvPr/>
          </p:nvSpPr>
          <p:spPr>
            <a:xfrm>
              <a:off x="8774690" y="4181698"/>
              <a:ext cx="1143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NRH</a:t>
              </a:r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5275529" y="4271421"/>
              <a:ext cx="6691536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72B5177-3B13-D324-B9CF-09388954421C}"/>
                </a:ext>
              </a:extLst>
            </p:cNvPr>
            <p:cNvSpPr/>
            <p:nvPr/>
          </p:nvSpPr>
          <p:spPr>
            <a:xfrm>
              <a:off x="5273061" y="4269592"/>
              <a:ext cx="5035041" cy="481430"/>
            </a:xfrm>
            <a:prstGeom prst="rect">
              <a:avLst/>
            </a:prstGeom>
            <a:solidFill>
              <a:srgbClr val="C397F3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D35631AB-E241-C271-E196-FB63799FF9EE}"/>
                </a:ext>
              </a:extLst>
            </p:cNvPr>
            <p:cNvSpPr/>
            <p:nvPr/>
          </p:nvSpPr>
          <p:spPr>
            <a:xfrm>
              <a:off x="5288915" y="4279479"/>
              <a:ext cx="1700206" cy="47398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10743141" y="4232453"/>
              <a:ext cx="12052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r"/>
              <a:r>
                <a:rPr lang="es-ES" dirty="0"/>
                <a:t>Right</a:t>
              </a:r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7666269" y="4223362"/>
              <a:ext cx="19140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/>
                <a:t>Mixed</a:t>
              </a: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0647A86-F9FB-EDD9-6914-F239CCE77608}"/>
                </a:ext>
              </a:extLst>
            </p:cNvPr>
            <p:cNvSpPr txBox="1"/>
            <p:nvPr/>
          </p:nvSpPr>
          <p:spPr>
            <a:xfrm>
              <a:off x="5285636" y="4232453"/>
              <a:ext cx="10263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b="1" dirty="0"/>
                <a:t>Left</a:t>
              </a:r>
            </a:p>
          </p:txBody>
        </p:sp>
      </p:grp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>
          <a:xfrm>
            <a:off x="11034806" y="6356350"/>
            <a:ext cx="318994" cy="365125"/>
          </a:xfrm>
        </p:spPr>
        <p:txBody>
          <a:bodyPr/>
          <a:lstStyle/>
          <a:p>
            <a:fld id="{0F5E948B-A4EA-4562-B7E6-FE17413622D9}" type="slidenum">
              <a:rPr lang="en-GB" smtClean="0"/>
              <a:t>9</a:t>
            </a:fld>
            <a:endParaRPr lang="en-GB" dirty="0"/>
          </a:p>
        </p:txBody>
      </p:sp>
      <p:sp>
        <p:nvSpPr>
          <p:cNvPr id="50" name="CuadroTexto 49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M&amp;M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Rectángulo redondeado 17"/>
          <p:cNvSpPr/>
          <p:nvPr/>
        </p:nvSpPr>
        <p:spPr>
          <a:xfrm>
            <a:off x="8629322" y="3391412"/>
            <a:ext cx="221942" cy="3765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 Black" panose="020B0A04020102020204" pitchFamily="34" charset="0"/>
              </a:rPr>
              <a:t>0</a:t>
            </a:r>
            <a:endParaRPr lang="en-GB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5" name="Rectángulo redondeado 54"/>
          <p:cNvSpPr/>
          <p:nvPr/>
        </p:nvSpPr>
        <p:spPr>
          <a:xfrm>
            <a:off x="6482113" y="4224035"/>
            <a:ext cx="623013" cy="3765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 Black" panose="020B0A04020102020204" pitchFamily="34" charset="0"/>
              </a:rPr>
              <a:t>-60</a:t>
            </a:r>
            <a:endParaRPr lang="en-GB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9" name="Rectángulo redondeado 58"/>
          <p:cNvSpPr/>
          <p:nvPr/>
        </p:nvSpPr>
        <p:spPr>
          <a:xfrm>
            <a:off x="10170610" y="4214442"/>
            <a:ext cx="623013" cy="3765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 Black" panose="020B0A04020102020204" pitchFamily="34" charset="0"/>
              </a:rPr>
              <a:t>60</a:t>
            </a:r>
            <a:endParaRPr lang="en-GB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0" name="Rectángulo redondeado 59"/>
          <p:cNvSpPr/>
          <p:nvPr/>
        </p:nvSpPr>
        <p:spPr>
          <a:xfrm>
            <a:off x="5503776" y="5398374"/>
            <a:ext cx="623013" cy="3765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 Black" panose="020B0A04020102020204" pitchFamily="34" charset="0"/>
              </a:rPr>
              <a:t>-90</a:t>
            </a:r>
            <a:endParaRPr lang="en-GB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1" name="Rectángulo redondeado 60"/>
          <p:cNvSpPr/>
          <p:nvPr/>
        </p:nvSpPr>
        <p:spPr>
          <a:xfrm>
            <a:off x="11128806" y="5400610"/>
            <a:ext cx="623013" cy="3765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 Black" panose="020B0A04020102020204" pitchFamily="34" charset="0"/>
              </a:rPr>
              <a:t>90</a:t>
            </a:r>
            <a:endParaRPr lang="en-GB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87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5" grpId="0"/>
      <p:bldP spid="59" grpId="0"/>
      <p:bldP spid="60" grpId="0"/>
      <p:bldP spid="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14289"/>
            <a:ext cx="12192000" cy="927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b="1" dirty="0"/>
              <a:t>Sample characteristics</a:t>
            </a:r>
            <a:endParaRPr lang="en-GB" b="1" dirty="0"/>
          </a:p>
        </p:txBody>
      </p:sp>
      <p:pic>
        <p:nvPicPr>
          <p:cNvPr id="5" name="Google Shape;86;p17">
            <a:extLst>
              <a:ext uri="{FF2B5EF4-FFF2-40B4-BE49-F238E27FC236}">
                <a16:creationId xmlns:a16="http://schemas.microsoft.com/office/drawing/2014/main" id="{C0A78BE3-2958-3745-B10C-C35A9F7F1C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097" y="1151419"/>
            <a:ext cx="900486" cy="68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5;p17">
            <a:extLst>
              <a:ext uri="{FF2B5EF4-FFF2-40B4-BE49-F238E27FC236}">
                <a16:creationId xmlns:a16="http://schemas.microsoft.com/office/drawing/2014/main" id="{74E3E47A-A681-5DA4-D980-43CE26E23F2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/>
        </p:blipFill>
        <p:spPr>
          <a:xfrm>
            <a:off x="2909412" y="1133740"/>
            <a:ext cx="884242" cy="6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/>
          <p:cNvSpPr txBox="1"/>
          <p:nvPr/>
        </p:nvSpPr>
        <p:spPr>
          <a:xfrm>
            <a:off x="2758745" y="1789063"/>
            <a:ext cx="122881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436 BD</a:t>
            </a:r>
            <a:endParaRPr lang="en-GB" sz="2400" b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688741" y="1796223"/>
            <a:ext cx="1976158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1,480 controls</a:t>
            </a:r>
            <a:endParaRPr lang="en-GB" sz="2400" b="1" dirty="0"/>
          </a:p>
        </p:txBody>
      </p:sp>
      <p:sp>
        <p:nvSpPr>
          <p:cNvPr id="14" name="Flecha abajo 13"/>
          <p:cNvSpPr/>
          <p:nvPr/>
        </p:nvSpPr>
        <p:spPr>
          <a:xfrm>
            <a:off x="8379616" y="3255376"/>
            <a:ext cx="422709" cy="459156"/>
          </a:xfrm>
          <a:prstGeom prst="downArrow">
            <a:avLst>
              <a:gd name="adj1" fmla="val 37149"/>
              <a:gd name="adj2" fmla="val 6285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CuadroTexto 14"/>
          <p:cNvSpPr txBox="1"/>
          <p:nvPr/>
        </p:nvSpPr>
        <p:spPr>
          <a:xfrm>
            <a:off x="4704426" y="1089642"/>
            <a:ext cx="1050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Age</a:t>
            </a:r>
            <a:endParaRPr lang="en-GB" sz="2400" b="1" dirty="0"/>
          </a:p>
        </p:txBody>
      </p:sp>
      <p:grpSp>
        <p:nvGrpSpPr>
          <p:cNvPr id="34" name="Grupo 33"/>
          <p:cNvGrpSpPr/>
          <p:nvPr/>
        </p:nvGrpSpPr>
        <p:grpSpPr>
          <a:xfrm>
            <a:off x="5754628" y="1431679"/>
            <a:ext cx="5347154" cy="1873012"/>
            <a:chOff x="5308776" y="1438698"/>
            <a:chExt cx="5347154" cy="1873012"/>
          </a:xfrm>
        </p:grpSpPr>
        <p:pic>
          <p:nvPicPr>
            <p:cNvPr id="3" name="Imagen 2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915" r="10702" b="14341"/>
            <a:stretch/>
          </p:blipFill>
          <p:spPr>
            <a:xfrm>
              <a:off x="5308776" y="1438698"/>
              <a:ext cx="5347154" cy="1594004"/>
            </a:xfrm>
            <a:prstGeom prst="rect">
              <a:avLst/>
            </a:prstGeom>
          </p:spPr>
        </p:pic>
        <p:sp>
          <p:nvSpPr>
            <p:cNvPr id="16" name="CuadroTexto 15"/>
            <p:cNvSpPr txBox="1"/>
            <p:nvPr/>
          </p:nvSpPr>
          <p:spPr>
            <a:xfrm>
              <a:off x="6437014" y="2942378"/>
              <a:ext cx="525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25</a:t>
              </a:r>
              <a:endParaRPr lang="en-GB" dirty="0"/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7888690" y="2914645"/>
              <a:ext cx="525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50</a:t>
              </a:r>
            </a:p>
          </p:txBody>
        </p:sp>
        <p:sp>
          <p:nvSpPr>
            <p:cNvPr id="18" name="CuadroTexto 17"/>
            <p:cNvSpPr txBox="1"/>
            <p:nvPr/>
          </p:nvSpPr>
          <p:spPr>
            <a:xfrm>
              <a:off x="9328123" y="2923698"/>
              <a:ext cx="525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75</a:t>
              </a:r>
            </a:p>
          </p:txBody>
        </p:sp>
      </p:grpSp>
      <p:grpSp>
        <p:nvGrpSpPr>
          <p:cNvPr id="33" name="Grupo 32"/>
          <p:cNvGrpSpPr/>
          <p:nvPr/>
        </p:nvGrpSpPr>
        <p:grpSpPr>
          <a:xfrm>
            <a:off x="5800660" y="3692396"/>
            <a:ext cx="5443644" cy="1985933"/>
            <a:chOff x="5308776" y="4010258"/>
            <a:chExt cx="5443644" cy="1985933"/>
          </a:xfrm>
        </p:grpSpPr>
        <p:pic>
          <p:nvPicPr>
            <p:cNvPr id="2" name="Imagen 1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65" r="8126" b="12393"/>
            <a:stretch/>
          </p:blipFill>
          <p:spPr>
            <a:xfrm>
              <a:off x="5308776" y="4010258"/>
              <a:ext cx="5443644" cy="1638894"/>
            </a:xfrm>
            <a:prstGeom prst="rect">
              <a:avLst/>
            </a:prstGeom>
          </p:spPr>
        </p:pic>
        <p:sp>
          <p:nvSpPr>
            <p:cNvPr id="19" name="CuadroTexto 18"/>
            <p:cNvSpPr txBox="1"/>
            <p:nvPr/>
          </p:nvSpPr>
          <p:spPr>
            <a:xfrm>
              <a:off x="5649363" y="5596375"/>
              <a:ext cx="525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20</a:t>
              </a:r>
              <a:endParaRPr lang="en-GB" dirty="0"/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6934972" y="5596375"/>
              <a:ext cx="525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40</a:t>
              </a:r>
              <a:endParaRPr lang="en-GB" dirty="0"/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8232689" y="5580693"/>
              <a:ext cx="525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60</a:t>
              </a:r>
              <a:endParaRPr lang="en-GB" dirty="0"/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9518247" y="5626859"/>
              <a:ext cx="525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80</a:t>
              </a:r>
              <a:endParaRPr lang="en-GB" dirty="0"/>
            </a:p>
          </p:txBody>
        </p:sp>
      </p:grpSp>
      <p:sp>
        <p:nvSpPr>
          <p:cNvPr id="23" name="CuadroTexto 22"/>
          <p:cNvSpPr txBox="1"/>
          <p:nvPr/>
        </p:nvSpPr>
        <p:spPr>
          <a:xfrm>
            <a:off x="6801294" y="3241820"/>
            <a:ext cx="1551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Age matching</a:t>
            </a:r>
            <a:endParaRPr lang="en-GB" b="1" dirty="0"/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02" b="66514"/>
          <a:stretch/>
        </p:blipFill>
        <p:spPr>
          <a:xfrm>
            <a:off x="4098599" y="2968300"/>
            <a:ext cx="402263" cy="1530982"/>
          </a:xfrm>
          <a:prstGeom prst="rect">
            <a:avLst/>
          </a:prstGeom>
        </p:spPr>
      </p:pic>
      <p:grpSp>
        <p:nvGrpSpPr>
          <p:cNvPr id="35" name="Grupo 34"/>
          <p:cNvGrpSpPr/>
          <p:nvPr/>
        </p:nvGrpSpPr>
        <p:grpSpPr>
          <a:xfrm>
            <a:off x="10058832" y="1402024"/>
            <a:ext cx="2093380" cy="938143"/>
            <a:chOff x="10704056" y="1425775"/>
            <a:chExt cx="2093380" cy="938143"/>
          </a:xfrm>
        </p:grpSpPr>
        <p:pic>
          <p:nvPicPr>
            <p:cNvPr id="12" name="Imagen 11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326" t="44415" r="5430" b="39073"/>
            <a:stretch/>
          </p:blipFill>
          <p:spPr>
            <a:xfrm>
              <a:off x="10704056" y="1425775"/>
              <a:ext cx="531294" cy="938143"/>
            </a:xfrm>
            <a:prstGeom prst="rect">
              <a:avLst/>
            </a:prstGeom>
          </p:spPr>
        </p:pic>
        <p:sp>
          <p:nvSpPr>
            <p:cNvPr id="25" name="CuadroTexto 24"/>
            <p:cNvSpPr txBox="1"/>
            <p:nvPr/>
          </p:nvSpPr>
          <p:spPr>
            <a:xfrm>
              <a:off x="11055895" y="1445390"/>
              <a:ext cx="1741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Controls = 1,480</a:t>
              </a:r>
            </a:p>
          </p:txBody>
        </p:sp>
        <p:sp>
          <p:nvSpPr>
            <p:cNvPr id="26" name="CuadroTexto 25"/>
            <p:cNvSpPr txBox="1"/>
            <p:nvPr/>
          </p:nvSpPr>
          <p:spPr>
            <a:xfrm>
              <a:off x="11082251" y="1759724"/>
              <a:ext cx="1075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BD= 436</a:t>
              </a:r>
            </a:p>
          </p:txBody>
        </p:sp>
      </p:grpSp>
      <p:grpSp>
        <p:nvGrpSpPr>
          <p:cNvPr id="32" name="Grupo 31"/>
          <p:cNvGrpSpPr/>
          <p:nvPr/>
        </p:nvGrpSpPr>
        <p:grpSpPr>
          <a:xfrm>
            <a:off x="529525" y="2775470"/>
            <a:ext cx="4261112" cy="3152600"/>
            <a:chOff x="248574" y="3692786"/>
            <a:chExt cx="3822875" cy="2611401"/>
          </a:xfrm>
        </p:grpSpPr>
        <p:pic>
          <p:nvPicPr>
            <p:cNvPr id="11" name="Imagen 10"/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" t="1260" r="38223" b="30094"/>
            <a:stretch/>
          </p:blipFill>
          <p:spPr>
            <a:xfrm>
              <a:off x="248574" y="3692786"/>
              <a:ext cx="2525917" cy="2611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7" name="CuadroTexto 26"/>
            <p:cNvSpPr txBox="1"/>
            <p:nvPr/>
          </p:nvSpPr>
          <p:spPr>
            <a:xfrm>
              <a:off x="2807890" y="3883834"/>
              <a:ext cx="10455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LQ</a:t>
              </a:r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2774491" y="4536070"/>
              <a:ext cx="10455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Sex</a:t>
              </a:r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2765906" y="5193871"/>
              <a:ext cx="10455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Age</a:t>
              </a:r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2790704" y="5791389"/>
              <a:ext cx="1280745" cy="305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BD/control</a:t>
              </a:r>
            </a:p>
          </p:txBody>
        </p:sp>
      </p:grpSp>
      <p:sp>
        <p:nvSpPr>
          <p:cNvPr id="31" name="CuadroTexto 30"/>
          <p:cNvSpPr txBox="1"/>
          <p:nvPr/>
        </p:nvSpPr>
        <p:spPr>
          <a:xfrm>
            <a:off x="506918" y="2314658"/>
            <a:ext cx="3688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Correlation between traits</a:t>
            </a:r>
            <a:endParaRPr lang="en-GB" sz="2400" b="1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10919533" y="6470372"/>
            <a:ext cx="434266" cy="365125"/>
          </a:xfrm>
        </p:spPr>
        <p:txBody>
          <a:bodyPr/>
          <a:lstStyle/>
          <a:p>
            <a:fld id="{0F5E948B-A4EA-4562-B7E6-FE17413622D9}" type="slidenum">
              <a:rPr lang="en-GB" smtClean="0"/>
              <a:t>10</a:t>
            </a:fld>
            <a:endParaRPr lang="en-GB" dirty="0"/>
          </a:p>
        </p:txBody>
      </p:sp>
      <p:sp>
        <p:nvSpPr>
          <p:cNvPr id="36" name="CuadroTexto 35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37" name="Grupo 36"/>
          <p:cNvGrpSpPr/>
          <p:nvPr/>
        </p:nvGrpSpPr>
        <p:grpSpPr>
          <a:xfrm>
            <a:off x="10010131" y="3640867"/>
            <a:ext cx="1931527" cy="938143"/>
            <a:chOff x="10704056" y="1425775"/>
            <a:chExt cx="1931527" cy="938143"/>
          </a:xfrm>
        </p:grpSpPr>
        <p:pic>
          <p:nvPicPr>
            <p:cNvPr id="38" name="Imagen 37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326" t="44415" r="5430" b="39073"/>
            <a:stretch/>
          </p:blipFill>
          <p:spPr>
            <a:xfrm>
              <a:off x="10704056" y="1425775"/>
              <a:ext cx="531294" cy="938143"/>
            </a:xfrm>
            <a:prstGeom prst="rect">
              <a:avLst/>
            </a:prstGeom>
          </p:spPr>
        </p:pic>
        <p:sp>
          <p:nvSpPr>
            <p:cNvPr id="39" name="CuadroTexto 38"/>
            <p:cNvSpPr txBox="1"/>
            <p:nvPr/>
          </p:nvSpPr>
          <p:spPr>
            <a:xfrm>
              <a:off x="11055895" y="1445390"/>
              <a:ext cx="157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Controls =436</a:t>
              </a:r>
            </a:p>
          </p:txBody>
        </p:sp>
        <p:sp>
          <p:nvSpPr>
            <p:cNvPr id="40" name="CuadroTexto 39"/>
            <p:cNvSpPr txBox="1"/>
            <p:nvPr/>
          </p:nvSpPr>
          <p:spPr>
            <a:xfrm>
              <a:off x="11082251" y="1759724"/>
              <a:ext cx="11102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BD = 436</a:t>
              </a:r>
            </a:p>
          </p:txBody>
        </p:sp>
      </p:grpSp>
      <p:sp>
        <p:nvSpPr>
          <p:cNvPr id="10" name="Rectángulo redondeado 9"/>
          <p:cNvSpPr/>
          <p:nvPr/>
        </p:nvSpPr>
        <p:spPr>
          <a:xfrm>
            <a:off x="4992243" y="5742894"/>
            <a:ext cx="7029796" cy="7056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Controls for age-dependent changes in handedness and generational effects.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5874093" y="968730"/>
            <a:ext cx="1397344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i="1" dirty="0"/>
              <a:t>P</a:t>
            </a:r>
            <a:r>
              <a:rPr lang="es-ES" sz="2400" dirty="0"/>
              <a:t> &lt;1E-16</a:t>
            </a:r>
            <a:endParaRPr lang="en-GB" sz="2400" dirty="0"/>
          </a:p>
        </p:txBody>
      </p:sp>
      <p:sp>
        <p:nvSpPr>
          <p:cNvPr id="41" name="CuadroTexto 40"/>
          <p:cNvSpPr txBox="1"/>
          <p:nvPr/>
        </p:nvSpPr>
        <p:spPr>
          <a:xfrm rot="19151040">
            <a:off x="2115454" y="6111398"/>
            <a:ext cx="1427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BD/control</a:t>
            </a:r>
          </a:p>
        </p:txBody>
      </p:sp>
      <p:sp>
        <p:nvSpPr>
          <p:cNvPr id="42" name="CuadroTexto 41"/>
          <p:cNvSpPr txBox="1"/>
          <p:nvPr/>
        </p:nvSpPr>
        <p:spPr>
          <a:xfrm rot="18970309">
            <a:off x="1851676" y="6001678"/>
            <a:ext cx="633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Age</a:t>
            </a:r>
          </a:p>
        </p:txBody>
      </p:sp>
      <p:sp>
        <p:nvSpPr>
          <p:cNvPr id="43" name="CuadroTexto 42"/>
          <p:cNvSpPr txBox="1"/>
          <p:nvPr/>
        </p:nvSpPr>
        <p:spPr>
          <a:xfrm rot="19135071">
            <a:off x="1276953" y="5992517"/>
            <a:ext cx="621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Sex</a:t>
            </a:r>
          </a:p>
        </p:txBody>
      </p:sp>
      <p:sp>
        <p:nvSpPr>
          <p:cNvPr id="44" name="CuadroTexto 43"/>
          <p:cNvSpPr txBox="1"/>
          <p:nvPr/>
        </p:nvSpPr>
        <p:spPr>
          <a:xfrm rot="19135071">
            <a:off x="612187" y="5992517"/>
            <a:ext cx="468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LQ</a:t>
            </a:r>
          </a:p>
        </p:txBody>
      </p:sp>
    </p:spTree>
    <p:extLst>
      <p:ext uri="{BB962C8B-B14F-4D97-AF65-F5344CB8AC3E}">
        <p14:creationId xmlns:p14="http://schemas.microsoft.com/office/powerpoint/2010/main" val="283779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23" grpId="0"/>
      <p:bldP spid="10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44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b="1" dirty="0"/>
              <a:t>NRH in Spanish population</a:t>
            </a:r>
            <a:endParaRPr lang="en-GB" b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2879912" y="2443366"/>
            <a:ext cx="23049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8.04 %</a:t>
            </a:r>
          </a:p>
          <a:p>
            <a:pPr algn="ctr"/>
            <a:r>
              <a:rPr lang="es-ES" sz="3600" b="1" dirty="0"/>
              <a:t>12.03 %</a:t>
            </a:r>
          </a:p>
          <a:p>
            <a:pPr algn="ctr"/>
            <a:r>
              <a:rPr lang="es-ES" sz="3600" b="1" dirty="0"/>
              <a:t>49.19%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80" t="64646" r="4030" b="8831"/>
          <a:stretch/>
        </p:blipFill>
        <p:spPr>
          <a:xfrm>
            <a:off x="1161343" y="958381"/>
            <a:ext cx="1461106" cy="1219082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8B30B59-3710-8408-0FF9-26E4523DE253}"/>
              </a:ext>
            </a:extLst>
          </p:cNvPr>
          <p:cNvSpPr/>
          <p:nvPr/>
        </p:nvSpPr>
        <p:spPr>
          <a:xfrm>
            <a:off x="1367898" y="999998"/>
            <a:ext cx="687783" cy="351688"/>
          </a:xfrm>
          <a:prstGeom prst="rect">
            <a:avLst/>
          </a:prstGeom>
          <a:solidFill>
            <a:srgbClr val="A5F1CD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</a:rPr>
              <a:t>LQ</a:t>
            </a:r>
          </a:p>
        </p:txBody>
      </p:sp>
      <p:pic>
        <p:nvPicPr>
          <p:cNvPr id="19" name="Google Shape;86;p17">
            <a:extLst>
              <a:ext uri="{FF2B5EF4-FFF2-40B4-BE49-F238E27FC236}">
                <a16:creationId xmlns:a16="http://schemas.microsoft.com/office/drawing/2014/main" id="{C0A78BE3-2958-3745-B10C-C35A9F7F1CB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9816" y="1001589"/>
            <a:ext cx="1859717" cy="134921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CuadroTexto 19"/>
          <p:cNvSpPr txBox="1"/>
          <p:nvPr/>
        </p:nvSpPr>
        <p:spPr>
          <a:xfrm>
            <a:off x="2642182" y="1858591"/>
            <a:ext cx="2661917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1,480 controls</a:t>
            </a:r>
            <a:endParaRPr lang="en-GB" sz="3200" b="1" dirty="0"/>
          </a:p>
        </p:txBody>
      </p:sp>
      <p:sp>
        <p:nvSpPr>
          <p:cNvPr id="28" name="Rectángulo redondeado 27"/>
          <p:cNvSpPr/>
          <p:nvPr/>
        </p:nvSpPr>
        <p:spPr>
          <a:xfrm>
            <a:off x="2642182" y="4376691"/>
            <a:ext cx="2780406" cy="19887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EUR population </a:t>
            </a:r>
          </a:p>
          <a:p>
            <a:pPr algn="ctr"/>
            <a:r>
              <a:rPr lang="es-ES" sz="2800" b="1" dirty="0">
                <a:solidFill>
                  <a:schemeClr val="tx1"/>
                </a:solidFill>
              </a:rPr>
              <a:t>10.6% </a:t>
            </a:r>
          </a:p>
          <a:p>
            <a:pPr algn="ctr"/>
            <a:r>
              <a:rPr lang="es-ES" sz="2800" b="1" dirty="0">
                <a:solidFill>
                  <a:schemeClr val="tx1"/>
                </a:solidFill>
              </a:rPr>
              <a:t>18%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31" name="Rectángulo redondeado 30"/>
          <p:cNvSpPr/>
          <p:nvPr/>
        </p:nvSpPr>
        <p:spPr>
          <a:xfrm>
            <a:off x="5773999" y="5483291"/>
            <a:ext cx="5579801" cy="94900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Lateralization increases with age</a:t>
            </a:r>
          </a:p>
          <a:p>
            <a:pPr algn="ctr"/>
            <a:r>
              <a:rPr lang="es-ES" sz="2800" b="1" i="1" dirty="0">
                <a:solidFill>
                  <a:schemeClr val="tx1"/>
                </a:solidFill>
              </a:rPr>
              <a:t>P</a:t>
            </a:r>
            <a:r>
              <a:rPr lang="es-ES" sz="2800" b="1" dirty="0">
                <a:solidFill>
                  <a:schemeClr val="tx1"/>
                </a:solidFill>
              </a:rPr>
              <a:t> = 1.8E-08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>
          <a:xfrm>
            <a:off x="9285305" y="6498397"/>
            <a:ext cx="2743200" cy="365125"/>
          </a:xfrm>
        </p:spPr>
        <p:txBody>
          <a:bodyPr/>
          <a:lstStyle/>
          <a:p>
            <a:fld id="{0F5E948B-A4EA-4562-B7E6-FE17413622D9}" type="slidenum">
              <a:rPr lang="en-GB" smtClean="0"/>
              <a:t>11</a:t>
            </a:fld>
            <a:endParaRPr lang="en-GB" dirty="0"/>
          </a:p>
        </p:txBody>
      </p:sp>
      <p:sp>
        <p:nvSpPr>
          <p:cNvPr id="35" name="CuadroTexto 34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1117122" y="2548177"/>
            <a:ext cx="1483691" cy="584775"/>
            <a:chOff x="344755" y="2548177"/>
            <a:chExt cx="1483691" cy="584775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2636" y="2602458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77B4F48-3B87-95AD-AC32-86712AA4F8F5}"/>
                </a:ext>
              </a:extLst>
            </p:cNvPr>
            <p:cNvSpPr/>
            <p:nvPr/>
          </p:nvSpPr>
          <p:spPr>
            <a:xfrm>
              <a:off x="407780" y="2599040"/>
              <a:ext cx="708262" cy="48016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F0647A86-F9FB-EDD9-6914-F239CCE77608}"/>
                </a:ext>
              </a:extLst>
            </p:cNvPr>
            <p:cNvSpPr txBox="1"/>
            <p:nvPr/>
          </p:nvSpPr>
          <p:spPr>
            <a:xfrm>
              <a:off x="344755" y="2548177"/>
              <a:ext cx="8314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b="1" dirty="0"/>
                <a:t>Left</a:t>
              </a: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103462" y="3064075"/>
            <a:ext cx="1506182" cy="584775"/>
            <a:chOff x="326999" y="3152666"/>
            <a:chExt cx="1506182" cy="584775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7371" y="3207144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72B5177-3B13-D324-B9CF-09388954421C}"/>
                </a:ext>
              </a:extLst>
            </p:cNvPr>
            <p:cNvSpPr/>
            <p:nvPr/>
          </p:nvSpPr>
          <p:spPr>
            <a:xfrm>
              <a:off x="398902" y="3204339"/>
              <a:ext cx="1072850" cy="481430"/>
            </a:xfrm>
            <a:prstGeom prst="rect">
              <a:avLst/>
            </a:prstGeom>
            <a:solidFill>
              <a:srgbClr val="C397F3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326999" y="3152666"/>
              <a:ext cx="11171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/>
                <a:t>NRH</a:t>
              </a: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1095913" y="3577701"/>
            <a:ext cx="1601110" cy="584775"/>
            <a:chOff x="314668" y="3781782"/>
            <a:chExt cx="1601110" cy="584775"/>
          </a:xfrm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3935" y="3833149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" name="Rectángulo 4"/>
            <p:cNvSpPr/>
            <p:nvPr/>
          </p:nvSpPr>
          <p:spPr>
            <a:xfrm>
              <a:off x="398902" y="3833149"/>
              <a:ext cx="169269" cy="48204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9" name="Rectángulo 38"/>
            <p:cNvSpPr/>
            <p:nvPr/>
          </p:nvSpPr>
          <p:spPr>
            <a:xfrm>
              <a:off x="1659177" y="3833149"/>
              <a:ext cx="169269" cy="48204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314668" y="3781782"/>
              <a:ext cx="16011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/>
                <a:t>LAT</a:t>
              </a:r>
            </a:p>
          </p:txBody>
        </p:sp>
      </p:grpSp>
      <p:grpSp>
        <p:nvGrpSpPr>
          <p:cNvPr id="41" name="Grupo 40"/>
          <p:cNvGrpSpPr/>
          <p:nvPr/>
        </p:nvGrpSpPr>
        <p:grpSpPr>
          <a:xfrm>
            <a:off x="1103462" y="5103566"/>
            <a:ext cx="1483691" cy="584775"/>
            <a:chOff x="344755" y="2548177"/>
            <a:chExt cx="1483691" cy="584775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2636" y="2602458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D77B4F48-3B87-95AD-AC32-86712AA4F8F5}"/>
                </a:ext>
              </a:extLst>
            </p:cNvPr>
            <p:cNvSpPr/>
            <p:nvPr/>
          </p:nvSpPr>
          <p:spPr>
            <a:xfrm>
              <a:off x="407780" y="2599040"/>
              <a:ext cx="708262" cy="48016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F0647A86-F9FB-EDD9-6914-F239CCE77608}"/>
                </a:ext>
              </a:extLst>
            </p:cNvPr>
            <p:cNvSpPr txBox="1"/>
            <p:nvPr/>
          </p:nvSpPr>
          <p:spPr>
            <a:xfrm>
              <a:off x="344755" y="2548177"/>
              <a:ext cx="8314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b="1" dirty="0"/>
                <a:t>Left</a:t>
              </a:r>
            </a:p>
          </p:txBody>
        </p:sp>
      </p:grpSp>
      <p:grpSp>
        <p:nvGrpSpPr>
          <p:cNvPr id="45" name="Grupo 44"/>
          <p:cNvGrpSpPr/>
          <p:nvPr/>
        </p:nvGrpSpPr>
        <p:grpSpPr>
          <a:xfrm>
            <a:off x="1089802" y="5619464"/>
            <a:ext cx="1506182" cy="584775"/>
            <a:chOff x="326999" y="3152666"/>
            <a:chExt cx="1506182" cy="584775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7371" y="3207144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672B5177-3B13-D324-B9CF-09388954421C}"/>
                </a:ext>
              </a:extLst>
            </p:cNvPr>
            <p:cNvSpPr/>
            <p:nvPr/>
          </p:nvSpPr>
          <p:spPr>
            <a:xfrm>
              <a:off x="398902" y="3204339"/>
              <a:ext cx="1072850" cy="481430"/>
            </a:xfrm>
            <a:prstGeom prst="rect">
              <a:avLst/>
            </a:prstGeom>
            <a:solidFill>
              <a:srgbClr val="C397F3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326999" y="3152666"/>
              <a:ext cx="11171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/>
                <a:t>NRH</a:t>
              </a:r>
            </a:p>
          </p:txBody>
        </p:sp>
      </p:grpSp>
      <p:pic>
        <p:nvPicPr>
          <p:cNvPr id="4" name="Imagen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000" y="675443"/>
            <a:ext cx="5298919" cy="4777264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337353" y="2177463"/>
            <a:ext cx="103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Cut</a:t>
            </a:r>
            <a:r>
              <a:rPr lang="es-ES" b="1" dirty="0"/>
              <a:t>-off</a:t>
            </a:r>
            <a:endParaRPr lang="en-GB" b="1" dirty="0"/>
          </a:p>
        </p:txBody>
      </p:sp>
      <p:sp>
        <p:nvSpPr>
          <p:cNvPr id="23" name="CuadroTexto 22"/>
          <p:cNvSpPr txBox="1"/>
          <p:nvPr/>
        </p:nvSpPr>
        <p:spPr>
          <a:xfrm>
            <a:off x="-215251" y="2539689"/>
            <a:ext cx="14198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000"/>
              </a:lnSpc>
            </a:pPr>
            <a:r>
              <a:rPr lang="es-ES" sz="2800" b="1" dirty="0"/>
              <a:t>0</a:t>
            </a:r>
          </a:p>
          <a:p>
            <a:pPr algn="r">
              <a:lnSpc>
                <a:spcPts val="4000"/>
              </a:lnSpc>
            </a:pPr>
            <a:r>
              <a:rPr lang="es-ES" sz="2800" b="1" dirty="0"/>
              <a:t>&lt;+60</a:t>
            </a:r>
          </a:p>
          <a:p>
            <a:pPr algn="r">
              <a:lnSpc>
                <a:spcPts val="4000"/>
              </a:lnSpc>
            </a:pPr>
            <a:r>
              <a:rPr lang="es-ES" sz="2800" b="1" dirty="0"/>
              <a:t>&gt;|90|</a:t>
            </a:r>
          </a:p>
        </p:txBody>
      </p:sp>
      <p:sp>
        <p:nvSpPr>
          <p:cNvPr id="49" name="CuadroTexto 48"/>
          <p:cNvSpPr txBox="1"/>
          <p:nvPr/>
        </p:nvSpPr>
        <p:spPr>
          <a:xfrm>
            <a:off x="303088" y="4695064"/>
            <a:ext cx="103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Cut</a:t>
            </a:r>
            <a:r>
              <a:rPr lang="es-ES" b="1" dirty="0"/>
              <a:t>-off</a:t>
            </a:r>
            <a:endParaRPr lang="en-GB" b="1" dirty="0"/>
          </a:p>
        </p:txBody>
      </p:sp>
      <p:sp>
        <p:nvSpPr>
          <p:cNvPr id="50" name="CuadroTexto 49"/>
          <p:cNvSpPr txBox="1"/>
          <p:nvPr/>
        </p:nvSpPr>
        <p:spPr>
          <a:xfrm>
            <a:off x="242882" y="5057290"/>
            <a:ext cx="927443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000"/>
              </a:lnSpc>
            </a:pPr>
            <a:r>
              <a:rPr lang="es-ES" sz="2800" b="1" dirty="0"/>
              <a:t>0</a:t>
            </a:r>
          </a:p>
          <a:p>
            <a:pPr algn="r">
              <a:lnSpc>
                <a:spcPts val="4000"/>
              </a:lnSpc>
            </a:pPr>
            <a:r>
              <a:rPr lang="es-ES" sz="2800" b="1" dirty="0"/>
              <a:t>&lt;+60</a:t>
            </a:r>
          </a:p>
        </p:txBody>
      </p:sp>
    </p:spTree>
    <p:extLst>
      <p:ext uri="{BB962C8B-B14F-4D97-AF65-F5344CB8AC3E}">
        <p14:creationId xmlns:p14="http://schemas.microsoft.com/office/powerpoint/2010/main" val="3336730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b="1" dirty="0"/>
              <a:t>Case-control handedness study</a:t>
            </a:r>
            <a:endParaRPr lang="en-GB" b="1" dirty="0"/>
          </a:p>
        </p:txBody>
      </p:sp>
      <p:pic>
        <p:nvPicPr>
          <p:cNvPr id="4" name="Google Shape;86;p17">
            <a:extLst>
              <a:ext uri="{FF2B5EF4-FFF2-40B4-BE49-F238E27FC236}">
                <a16:creationId xmlns:a16="http://schemas.microsoft.com/office/drawing/2014/main" id="{C0A78BE3-2958-3745-B10C-C35A9F7F1C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8531" y="1542796"/>
            <a:ext cx="2348857" cy="182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5;p17">
            <a:extLst>
              <a:ext uri="{FF2B5EF4-FFF2-40B4-BE49-F238E27FC236}">
                <a16:creationId xmlns:a16="http://schemas.microsoft.com/office/drawing/2014/main" id="{74E3E47A-A681-5DA4-D980-43CE26E23F2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/>
        </p:blipFill>
        <p:spPr>
          <a:xfrm>
            <a:off x="5260631" y="1588260"/>
            <a:ext cx="2325950" cy="18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/>
          <p:cNvSpPr txBox="1"/>
          <p:nvPr/>
        </p:nvSpPr>
        <p:spPr>
          <a:xfrm>
            <a:off x="2618290" y="2825085"/>
            <a:ext cx="2429338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436 controls</a:t>
            </a:r>
            <a:endParaRPr lang="en-GB" sz="3200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5208937" y="2825085"/>
            <a:ext cx="2429338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436 BD</a:t>
            </a:r>
            <a:endParaRPr lang="en-GB" sz="3200" b="1" dirty="0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12</a:t>
            </a:fld>
            <a:endParaRPr lang="en-GB" dirty="0"/>
          </a:p>
        </p:txBody>
      </p:sp>
      <p:sp>
        <p:nvSpPr>
          <p:cNvPr id="9" name="CuadroTexto 8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" name="Google Shape;85;p17">
            <a:extLst>
              <a:ext uri="{FF2B5EF4-FFF2-40B4-BE49-F238E27FC236}">
                <a16:creationId xmlns:a16="http://schemas.microsoft.com/office/drawing/2014/main" id="{74E3E47A-A681-5DA4-D980-43CE26E23F2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/>
        </p:blipFill>
        <p:spPr>
          <a:xfrm>
            <a:off x="7891518" y="1588260"/>
            <a:ext cx="2325950" cy="18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/>
          <p:cNvSpPr txBox="1"/>
          <p:nvPr/>
        </p:nvSpPr>
        <p:spPr>
          <a:xfrm>
            <a:off x="7839824" y="2825085"/>
            <a:ext cx="2429338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157 SCZ</a:t>
            </a:r>
            <a:endParaRPr lang="en-GB" sz="3200" b="1" dirty="0"/>
          </a:p>
        </p:txBody>
      </p:sp>
      <p:sp>
        <p:nvSpPr>
          <p:cNvPr id="28" name="CuadroTexto 27"/>
          <p:cNvSpPr txBox="1"/>
          <p:nvPr/>
        </p:nvSpPr>
        <p:spPr>
          <a:xfrm>
            <a:off x="2618290" y="3458170"/>
            <a:ext cx="23049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6.65 %</a:t>
            </a:r>
          </a:p>
          <a:p>
            <a:pPr algn="ctr"/>
            <a:r>
              <a:rPr lang="es-ES" sz="3600" b="1" dirty="0"/>
              <a:t>10.09 %</a:t>
            </a:r>
          </a:p>
          <a:p>
            <a:pPr algn="ctr"/>
            <a:r>
              <a:rPr lang="es-ES" sz="3600" b="1" dirty="0"/>
              <a:t>58.26%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5271132" y="3458170"/>
            <a:ext cx="23049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7.34 %</a:t>
            </a:r>
          </a:p>
          <a:p>
            <a:pPr algn="ctr"/>
            <a:r>
              <a:rPr lang="es-ES" sz="3600" b="1" dirty="0"/>
              <a:t>12.16 %</a:t>
            </a:r>
          </a:p>
          <a:p>
            <a:pPr algn="ctr"/>
            <a:r>
              <a:rPr lang="es-ES" sz="3600" b="1" dirty="0"/>
              <a:t>67.43%</a:t>
            </a:r>
          </a:p>
        </p:txBody>
      </p:sp>
      <p:sp>
        <p:nvSpPr>
          <p:cNvPr id="30" name="CuadroTexto 29"/>
          <p:cNvSpPr txBox="1"/>
          <p:nvPr/>
        </p:nvSpPr>
        <p:spPr>
          <a:xfrm>
            <a:off x="7839824" y="3458170"/>
            <a:ext cx="23049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10.19 %</a:t>
            </a:r>
          </a:p>
          <a:p>
            <a:pPr algn="ctr"/>
            <a:r>
              <a:rPr lang="es-ES" sz="3600" b="1" dirty="0"/>
              <a:t>26.11 %</a:t>
            </a:r>
          </a:p>
          <a:p>
            <a:pPr algn="ctr"/>
            <a:r>
              <a:rPr lang="es-ES" sz="3600" b="1" dirty="0"/>
              <a:t>25.48%</a:t>
            </a:r>
          </a:p>
        </p:txBody>
      </p:sp>
      <p:sp>
        <p:nvSpPr>
          <p:cNvPr id="31" name="Cerrar llave 30"/>
          <p:cNvSpPr/>
          <p:nvPr/>
        </p:nvSpPr>
        <p:spPr>
          <a:xfrm rot="5400000">
            <a:off x="5154472" y="3183332"/>
            <a:ext cx="264255" cy="4599963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CuadroTexto 31"/>
          <p:cNvSpPr txBox="1"/>
          <p:nvPr/>
        </p:nvSpPr>
        <p:spPr>
          <a:xfrm>
            <a:off x="4970931" y="5548147"/>
            <a:ext cx="62140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dirty="0"/>
              <a:t>NS</a:t>
            </a:r>
            <a:endParaRPr lang="en-GB" sz="2400" dirty="0"/>
          </a:p>
        </p:txBody>
      </p:sp>
      <p:sp>
        <p:nvSpPr>
          <p:cNvPr id="33" name="Cerrar llave 32"/>
          <p:cNvSpPr/>
          <p:nvPr/>
        </p:nvSpPr>
        <p:spPr>
          <a:xfrm rot="5400000">
            <a:off x="6478228" y="2670381"/>
            <a:ext cx="195936" cy="7282544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CuadroTexto 33"/>
          <p:cNvSpPr txBox="1"/>
          <p:nvPr/>
        </p:nvSpPr>
        <p:spPr>
          <a:xfrm>
            <a:off x="6172293" y="6388405"/>
            <a:ext cx="85807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***</a:t>
            </a:r>
            <a:endParaRPr lang="en-GB" sz="3200" b="1" dirty="0"/>
          </a:p>
        </p:txBody>
      </p:sp>
      <p:sp>
        <p:nvSpPr>
          <p:cNvPr id="8" name="Rectángulo redondeado 7"/>
          <p:cNvSpPr/>
          <p:nvPr/>
        </p:nvSpPr>
        <p:spPr>
          <a:xfrm>
            <a:off x="2934924" y="4596496"/>
            <a:ext cx="4389163" cy="616000"/>
          </a:xfrm>
          <a:prstGeom prst="roundRect">
            <a:avLst/>
          </a:prstGeom>
          <a:noFill/>
          <a:ln w="57150">
            <a:solidFill>
              <a:srgbClr val="FFC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ángulo redondeado 35"/>
          <p:cNvSpPr/>
          <p:nvPr/>
        </p:nvSpPr>
        <p:spPr>
          <a:xfrm>
            <a:off x="9977762" y="4427402"/>
            <a:ext cx="1687497" cy="78509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i="1" dirty="0">
                <a:solidFill>
                  <a:schemeClr val="tx1"/>
                </a:solidFill>
              </a:rPr>
              <a:t>P </a:t>
            </a:r>
            <a:r>
              <a:rPr lang="es-ES" sz="2800" b="1" dirty="0">
                <a:solidFill>
                  <a:schemeClr val="tx1"/>
                </a:solidFill>
              </a:rPr>
              <a:t>= 0.012</a:t>
            </a:r>
            <a:endParaRPr lang="en-GB" sz="2800" b="1" dirty="0">
              <a:solidFill>
                <a:schemeClr val="tx1"/>
              </a:solidFill>
            </a:endParaRPr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80" t="64646" r="4030" b="8831"/>
          <a:stretch/>
        </p:blipFill>
        <p:spPr>
          <a:xfrm>
            <a:off x="1091075" y="2008401"/>
            <a:ext cx="1461106" cy="1219082"/>
          </a:xfrm>
          <a:prstGeom prst="rect">
            <a:avLst/>
          </a:prstGeom>
        </p:spPr>
      </p:pic>
      <p:sp>
        <p:nvSpPr>
          <p:cNvPr id="40" name="Rectángulo 39">
            <a:extLst>
              <a:ext uri="{FF2B5EF4-FFF2-40B4-BE49-F238E27FC236}">
                <a16:creationId xmlns:a16="http://schemas.microsoft.com/office/drawing/2014/main" id="{08B30B59-3710-8408-0FF9-26E4523DE253}"/>
              </a:ext>
            </a:extLst>
          </p:cNvPr>
          <p:cNvSpPr/>
          <p:nvPr/>
        </p:nvSpPr>
        <p:spPr>
          <a:xfrm>
            <a:off x="1116698" y="3248781"/>
            <a:ext cx="1400187" cy="322508"/>
          </a:xfrm>
          <a:prstGeom prst="rect">
            <a:avLst/>
          </a:prstGeom>
          <a:solidFill>
            <a:srgbClr val="A5F1CD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</a:rPr>
              <a:t>LQ</a:t>
            </a:r>
          </a:p>
        </p:txBody>
      </p:sp>
      <p:grpSp>
        <p:nvGrpSpPr>
          <p:cNvPr id="41" name="Grupo 40"/>
          <p:cNvGrpSpPr/>
          <p:nvPr/>
        </p:nvGrpSpPr>
        <p:grpSpPr>
          <a:xfrm>
            <a:off x="1046854" y="3598197"/>
            <a:ext cx="1483691" cy="584775"/>
            <a:chOff x="344755" y="2548177"/>
            <a:chExt cx="1483691" cy="584775"/>
          </a:xfrm>
        </p:grpSpPr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2636" y="2602458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D77B4F48-3B87-95AD-AC32-86712AA4F8F5}"/>
                </a:ext>
              </a:extLst>
            </p:cNvPr>
            <p:cNvSpPr/>
            <p:nvPr/>
          </p:nvSpPr>
          <p:spPr>
            <a:xfrm>
              <a:off x="407780" y="2599040"/>
              <a:ext cx="708262" cy="48016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F0647A86-F9FB-EDD9-6914-F239CCE77608}"/>
                </a:ext>
              </a:extLst>
            </p:cNvPr>
            <p:cNvSpPr txBox="1"/>
            <p:nvPr/>
          </p:nvSpPr>
          <p:spPr>
            <a:xfrm>
              <a:off x="344755" y="2548177"/>
              <a:ext cx="8314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b="1" dirty="0"/>
                <a:t>Left</a:t>
              </a:r>
            </a:p>
          </p:txBody>
        </p:sp>
      </p:grpSp>
      <p:grpSp>
        <p:nvGrpSpPr>
          <p:cNvPr id="48" name="Grupo 47"/>
          <p:cNvGrpSpPr/>
          <p:nvPr/>
        </p:nvGrpSpPr>
        <p:grpSpPr>
          <a:xfrm>
            <a:off x="1033194" y="4114095"/>
            <a:ext cx="1506182" cy="584775"/>
            <a:chOff x="326999" y="3152666"/>
            <a:chExt cx="1506182" cy="584775"/>
          </a:xfrm>
        </p:grpSpPr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7371" y="3207144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672B5177-3B13-D324-B9CF-09388954421C}"/>
                </a:ext>
              </a:extLst>
            </p:cNvPr>
            <p:cNvSpPr/>
            <p:nvPr/>
          </p:nvSpPr>
          <p:spPr>
            <a:xfrm>
              <a:off x="398902" y="3204339"/>
              <a:ext cx="1072850" cy="481430"/>
            </a:xfrm>
            <a:prstGeom prst="rect">
              <a:avLst/>
            </a:prstGeom>
            <a:solidFill>
              <a:srgbClr val="C397F3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326999" y="3152666"/>
              <a:ext cx="11171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/>
                <a:t>NRH</a:t>
              </a:r>
            </a:p>
          </p:txBody>
        </p:sp>
      </p:grpSp>
      <p:grpSp>
        <p:nvGrpSpPr>
          <p:cNvPr id="52" name="Grupo 51"/>
          <p:cNvGrpSpPr/>
          <p:nvPr/>
        </p:nvGrpSpPr>
        <p:grpSpPr>
          <a:xfrm>
            <a:off x="1025645" y="4627721"/>
            <a:ext cx="1601110" cy="584775"/>
            <a:chOff x="314668" y="3781782"/>
            <a:chExt cx="1601110" cy="584775"/>
          </a:xfrm>
        </p:grpSpPr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3935" y="3833149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4" name="Rectángulo 53"/>
            <p:cNvSpPr/>
            <p:nvPr/>
          </p:nvSpPr>
          <p:spPr>
            <a:xfrm>
              <a:off x="398902" y="3833149"/>
              <a:ext cx="169269" cy="48204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Rectángulo 54"/>
            <p:cNvSpPr/>
            <p:nvPr/>
          </p:nvSpPr>
          <p:spPr>
            <a:xfrm>
              <a:off x="1659177" y="3833149"/>
              <a:ext cx="169269" cy="48204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314668" y="3781782"/>
              <a:ext cx="16011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/>
                <a:t>LAT</a:t>
              </a:r>
            </a:p>
          </p:txBody>
        </p:sp>
      </p:grpSp>
      <p:sp>
        <p:nvSpPr>
          <p:cNvPr id="57" name="Cerrar llave 56"/>
          <p:cNvSpPr/>
          <p:nvPr/>
        </p:nvSpPr>
        <p:spPr>
          <a:xfrm rot="5400000">
            <a:off x="7704594" y="3463419"/>
            <a:ext cx="257079" cy="4481590"/>
          </a:xfrm>
          <a:prstGeom prst="rightBrace">
            <a:avLst>
              <a:gd name="adj1" fmla="val 8332"/>
              <a:gd name="adj2" fmla="val 50792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CuadroTexto 57"/>
          <p:cNvSpPr txBox="1"/>
          <p:nvPr/>
        </p:nvSpPr>
        <p:spPr>
          <a:xfrm>
            <a:off x="7324087" y="5903544"/>
            <a:ext cx="992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***</a:t>
            </a:r>
            <a:endParaRPr lang="en-GB" sz="3200" b="1" dirty="0"/>
          </a:p>
        </p:txBody>
      </p:sp>
      <p:sp>
        <p:nvSpPr>
          <p:cNvPr id="59" name="CuadroTexto 58"/>
          <p:cNvSpPr txBox="1"/>
          <p:nvPr/>
        </p:nvSpPr>
        <p:spPr>
          <a:xfrm>
            <a:off x="212618" y="3209063"/>
            <a:ext cx="103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Cut</a:t>
            </a:r>
            <a:r>
              <a:rPr lang="es-ES" b="1" dirty="0"/>
              <a:t>-off</a:t>
            </a:r>
            <a:endParaRPr lang="en-GB" b="1" dirty="0"/>
          </a:p>
        </p:txBody>
      </p:sp>
      <p:sp>
        <p:nvSpPr>
          <p:cNvPr id="60" name="CuadroTexto 59"/>
          <p:cNvSpPr txBox="1"/>
          <p:nvPr/>
        </p:nvSpPr>
        <p:spPr>
          <a:xfrm>
            <a:off x="-289174" y="3565615"/>
            <a:ext cx="14198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000"/>
              </a:lnSpc>
            </a:pPr>
            <a:r>
              <a:rPr lang="es-ES" sz="2800" b="1" dirty="0"/>
              <a:t>0</a:t>
            </a:r>
          </a:p>
          <a:p>
            <a:pPr algn="r">
              <a:lnSpc>
                <a:spcPts val="4000"/>
              </a:lnSpc>
            </a:pPr>
            <a:r>
              <a:rPr lang="es-ES" sz="2800" b="1" dirty="0"/>
              <a:t>&lt;+60</a:t>
            </a:r>
          </a:p>
          <a:p>
            <a:pPr algn="r">
              <a:lnSpc>
                <a:spcPts val="4000"/>
              </a:lnSpc>
            </a:pPr>
            <a:r>
              <a:rPr lang="es-ES" sz="2800" b="1" dirty="0"/>
              <a:t>&gt;|90|</a:t>
            </a:r>
          </a:p>
        </p:txBody>
      </p:sp>
    </p:spTree>
    <p:extLst>
      <p:ext uri="{BB962C8B-B14F-4D97-AF65-F5344CB8AC3E}">
        <p14:creationId xmlns:p14="http://schemas.microsoft.com/office/powerpoint/2010/main" val="403229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8" grpId="0" animBg="1"/>
      <p:bldP spid="36" grpId="0" animBg="1"/>
      <p:bldP spid="57" grpId="0" animBg="1"/>
      <p:bldP spid="5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o 29"/>
          <p:cNvGrpSpPr/>
          <p:nvPr/>
        </p:nvGrpSpPr>
        <p:grpSpPr>
          <a:xfrm>
            <a:off x="6598763" y="1722267"/>
            <a:ext cx="3517641" cy="4022985"/>
            <a:chOff x="6208144" y="1417009"/>
            <a:chExt cx="3517641" cy="4328243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856" r="12689" b="5721"/>
            <a:stretch/>
          </p:blipFill>
          <p:spPr>
            <a:xfrm flipH="1">
              <a:off x="6208144" y="1417009"/>
              <a:ext cx="3517641" cy="4328243"/>
            </a:xfrm>
            <a:prstGeom prst="rect">
              <a:avLst/>
            </a:prstGeom>
          </p:spPr>
        </p:pic>
        <p:sp>
          <p:nvSpPr>
            <p:cNvPr id="29" name="Rectángulo redondeado 28"/>
            <p:cNvSpPr/>
            <p:nvPr/>
          </p:nvSpPr>
          <p:spPr>
            <a:xfrm>
              <a:off x="7877656" y="5481618"/>
              <a:ext cx="417251" cy="2636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2673792" y="1722267"/>
            <a:ext cx="3400619" cy="4022983"/>
            <a:chOff x="2283173" y="1318729"/>
            <a:chExt cx="3400619" cy="4426522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54" r="52991" b="6300"/>
            <a:stretch/>
          </p:blipFill>
          <p:spPr>
            <a:xfrm flipH="1">
              <a:off x="2283173" y="1318729"/>
              <a:ext cx="3400619" cy="4402973"/>
            </a:xfrm>
            <a:prstGeom prst="rect">
              <a:avLst/>
            </a:prstGeom>
          </p:spPr>
        </p:pic>
        <p:sp>
          <p:nvSpPr>
            <p:cNvPr id="28" name="Rectángulo redondeado 27"/>
            <p:cNvSpPr/>
            <p:nvPr/>
          </p:nvSpPr>
          <p:spPr>
            <a:xfrm>
              <a:off x="3755254" y="5481618"/>
              <a:ext cx="417251" cy="2636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-6834"/>
            <a:ext cx="121920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b="1" dirty="0"/>
              <a:t>Stronger lateralization of foot and eye in BD patients</a:t>
            </a:r>
            <a:endParaRPr lang="en-GB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13</a:t>
            </a:fld>
            <a:endParaRPr lang="en-GB" dirty="0"/>
          </a:p>
        </p:txBody>
      </p:sp>
      <p:grpSp>
        <p:nvGrpSpPr>
          <p:cNvPr id="13" name="Grupo 12"/>
          <p:cNvGrpSpPr/>
          <p:nvPr/>
        </p:nvGrpSpPr>
        <p:grpSpPr>
          <a:xfrm>
            <a:off x="799574" y="2418568"/>
            <a:ext cx="1636918" cy="1249621"/>
            <a:chOff x="26909" y="1432051"/>
            <a:chExt cx="1636918" cy="1249621"/>
          </a:xfrm>
        </p:grpSpPr>
        <p:pic>
          <p:nvPicPr>
            <p:cNvPr id="8" name="Google Shape;86;p17">
              <a:extLst>
                <a:ext uri="{FF2B5EF4-FFF2-40B4-BE49-F238E27FC236}">
                  <a16:creationId xmlns:a16="http://schemas.microsoft.com/office/drawing/2014/main" id="{C0A78BE3-2958-3745-B10C-C35A9F7F1CB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1827" y="1432051"/>
              <a:ext cx="1512000" cy="10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CuadroTexto 9"/>
            <p:cNvSpPr txBox="1"/>
            <p:nvPr/>
          </p:nvSpPr>
          <p:spPr>
            <a:xfrm>
              <a:off x="26909" y="2281562"/>
              <a:ext cx="1633308" cy="40011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436 controls</a:t>
              </a:r>
              <a:endParaRPr lang="en-GB" sz="2000" b="1" dirty="0"/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869193" y="3797878"/>
            <a:ext cx="1532692" cy="1277136"/>
            <a:chOff x="100592" y="3209364"/>
            <a:chExt cx="1532692" cy="1277136"/>
          </a:xfrm>
        </p:grpSpPr>
        <p:pic>
          <p:nvPicPr>
            <p:cNvPr id="9" name="Google Shape;85;p17">
              <a:extLst>
                <a:ext uri="{FF2B5EF4-FFF2-40B4-BE49-F238E27FC236}">
                  <a16:creationId xmlns:a16="http://schemas.microsoft.com/office/drawing/2014/main" id="{74E3E47A-A681-5DA4-D980-43CE26E23F2B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/>
          </p:blipFill>
          <p:spPr>
            <a:xfrm>
              <a:off x="110938" y="3209364"/>
              <a:ext cx="1512000" cy="10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CuadroTexto 10"/>
            <p:cNvSpPr txBox="1"/>
            <p:nvPr/>
          </p:nvSpPr>
          <p:spPr>
            <a:xfrm>
              <a:off x="100592" y="4086390"/>
              <a:ext cx="1532692" cy="40011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436 BD</a:t>
              </a:r>
              <a:endParaRPr lang="en-GB" sz="2000" b="1" dirty="0"/>
            </a:p>
          </p:txBody>
        </p:sp>
      </p:grpSp>
      <p:sp>
        <p:nvSpPr>
          <p:cNvPr id="14" name="Rectángulo 13"/>
          <p:cNvSpPr/>
          <p:nvPr/>
        </p:nvSpPr>
        <p:spPr>
          <a:xfrm>
            <a:off x="3277710" y="1275154"/>
            <a:ext cx="2192785" cy="5249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</a:rPr>
              <a:t>Preferred foot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7413682" y="1306556"/>
            <a:ext cx="2192785" cy="5249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</a:rPr>
              <a:t>Preferred eye</a:t>
            </a:r>
            <a:endParaRPr lang="en-GB" sz="2400" b="1" dirty="0">
              <a:solidFill>
                <a:schemeClr val="tx1"/>
              </a:solidFill>
            </a:endParaRPr>
          </a:p>
        </p:txBody>
      </p:sp>
      <p:grpSp>
        <p:nvGrpSpPr>
          <p:cNvPr id="22" name="Grupo 21"/>
          <p:cNvGrpSpPr/>
          <p:nvPr/>
        </p:nvGrpSpPr>
        <p:grpSpPr>
          <a:xfrm>
            <a:off x="6770387" y="5375762"/>
            <a:ext cx="3307147" cy="608325"/>
            <a:chOff x="2389251" y="5429314"/>
            <a:chExt cx="3307147" cy="608325"/>
          </a:xfrm>
        </p:grpSpPr>
        <p:grpSp>
          <p:nvGrpSpPr>
            <p:cNvPr id="23" name="Grupo 22"/>
            <p:cNvGrpSpPr/>
            <p:nvPr/>
          </p:nvGrpSpPr>
          <p:grpSpPr>
            <a:xfrm>
              <a:off x="2389251" y="5452864"/>
              <a:ext cx="3248733" cy="584775"/>
              <a:chOff x="452243" y="2491937"/>
              <a:chExt cx="3248733" cy="584775"/>
            </a:xfrm>
          </p:grpSpPr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7B36E3C5-B02C-6780-8E7A-F770EC47C2F9}"/>
                  </a:ext>
                </a:extLst>
              </p:cNvPr>
              <p:cNvSpPr/>
              <p:nvPr/>
            </p:nvSpPr>
            <p:spPr>
              <a:xfrm>
                <a:off x="2741524" y="2548177"/>
                <a:ext cx="959452" cy="482042"/>
              </a:xfrm>
              <a:prstGeom prst="rect">
                <a:avLst/>
              </a:prstGeom>
              <a:solidFill>
                <a:srgbClr val="8AD5F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D77B4F48-3B87-95AD-AC32-86712AA4F8F5}"/>
                  </a:ext>
                </a:extLst>
              </p:cNvPr>
              <p:cNvSpPr/>
              <p:nvPr/>
            </p:nvSpPr>
            <p:spPr>
              <a:xfrm>
                <a:off x="452243" y="2520691"/>
                <a:ext cx="950009" cy="480165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0647A86-F9FB-EDD9-6914-F239CCE77608}"/>
                  </a:ext>
                </a:extLst>
              </p:cNvPr>
              <p:cNvSpPr txBox="1"/>
              <p:nvPr/>
            </p:nvSpPr>
            <p:spPr>
              <a:xfrm>
                <a:off x="452243" y="2491937"/>
                <a:ext cx="8314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3200" b="1" dirty="0"/>
                  <a:t>Left</a:t>
                </a:r>
              </a:p>
            </p:txBody>
          </p:sp>
        </p:grp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0647A86-F9FB-EDD9-6914-F239CCE77608}"/>
                </a:ext>
              </a:extLst>
            </p:cNvPr>
            <p:cNvSpPr txBox="1"/>
            <p:nvPr/>
          </p:nvSpPr>
          <p:spPr>
            <a:xfrm>
              <a:off x="4620117" y="5429314"/>
              <a:ext cx="10762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3200" b="1" dirty="0"/>
                <a:t>Right</a:t>
              </a: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2779870" y="5429314"/>
            <a:ext cx="3307147" cy="608325"/>
            <a:chOff x="2389251" y="5429314"/>
            <a:chExt cx="3307147" cy="608325"/>
          </a:xfrm>
        </p:grpSpPr>
        <p:grpSp>
          <p:nvGrpSpPr>
            <p:cNvPr id="16" name="Grupo 15"/>
            <p:cNvGrpSpPr/>
            <p:nvPr/>
          </p:nvGrpSpPr>
          <p:grpSpPr>
            <a:xfrm>
              <a:off x="2389251" y="5452864"/>
              <a:ext cx="3248733" cy="584775"/>
              <a:chOff x="452243" y="2491937"/>
              <a:chExt cx="3248733" cy="584775"/>
            </a:xfrm>
          </p:grpSpPr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7B36E3C5-B02C-6780-8E7A-F770EC47C2F9}"/>
                  </a:ext>
                </a:extLst>
              </p:cNvPr>
              <p:cNvSpPr/>
              <p:nvPr/>
            </p:nvSpPr>
            <p:spPr>
              <a:xfrm>
                <a:off x="2741524" y="2548177"/>
                <a:ext cx="959452" cy="482042"/>
              </a:xfrm>
              <a:prstGeom prst="rect">
                <a:avLst/>
              </a:prstGeom>
              <a:solidFill>
                <a:srgbClr val="8AD5F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D77B4F48-3B87-95AD-AC32-86712AA4F8F5}"/>
                  </a:ext>
                </a:extLst>
              </p:cNvPr>
              <p:cNvSpPr/>
              <p:nvPr/>
            </p:nvSpPr>
            <p:spPr>
              <a:xfrm>
                <a:off x="452243" y="2520691"/>
                <a:ext cx="950009" cy="480165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0647A86-F9FB-EDD9-6914-F239CCE77608}"/>
                  </a:ext>
                </a:extLst>
              </p:cNvPr>
              <p:cNvSpPr txBox="1"/>
              <p:nvPr/>
            </p:nvSpPr>
            <p:spPr>
              <a:xfrm>
                <a:off x="452243" y="2491937"/>
                <a:ext cx="8314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3200" b="1" dirty="0"/>
                  <a:t>Left</a:t>
                </a:r>
              </a:p>
            </p:txBody>
          </p:sp>
        </p:grp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F0647A86-F9FB-EDD9-6914-F239CCE77608}"/>
                </a:ext>
              </a:extLst>
            </p:cNvPr>
            <p:cNvSpPr txBox="1"/>
            <p:nvPr/>
          </p:nvSpPr>
          <p:spPr>
            <a:xfrm>
              <a:off x="4620117" y="5429314"/>
              <a:ext cx="10762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3200" b="1" dirty="0"/>
                <a:t>Right</a:t>
              </a:r>
            </a:p>
          </p:txBody>
        </p:sp>
      </p:grpSp>
      <p:sp>
        <p:nvSpPr>
          <p:cNvPr id="32" name="CuadroTexto 31"/>
          <p:cNvSpPr txBox="1"/>
          <p:nvPr/>
        </p:nvSpPr>
        <p:spPr>
          <a:xfrm>
            <a:off x="2779870" y="6171684"/>
            <a:ext cx="2796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Wilcox </a:t>
            </a:r>
            <a:r>
              <a:rPr lang="es-ES" sz="2400" b="1" i="1" dirty="0"/>
              <a:t>P</a:t>
            </a:r>
            <a:r>
              <a:rPr lang="es-ES" sz="2400" b="1" dirty="0"/>
              <a:t> = 6.57E-05</a:t>
            </a:r>
            <a:endParaRPr lang="en-GB" sz="2400" b="1" dirty="0"/>
          </a:p>
        </p:txBody>
      </p:sp>
      <p:sp>
        <p:nvSpPr>
          <p:cNvPr id="34" name="CuadroTexto 33"/>
          <p:cNvSpPr txBox="1"/>
          <p:nvPr/>
        </p:nvSpPr>
        <p:spPr>
          <a:xfrm>
            <a:off x="6935371" y="6171684"/>
            <a:ext cx="2796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Wilcox </a:t>
            </a:r>
            <a:r>
              <a:rPr lang="es-ES" sz="2400" b="1" i="1" dirty="0"/>
              <a:t>P</a:t>
            </a:r>
            <a:r>
              <a:rPr lang="es-ES" sz="2400" b="1" dirty="0"/>
              <a:t> = 0.015</a:t>
            </a:r>
            <a:endParaRPr lang="en-GB" sz="2400" b="1" dirty="0"/>
          </a:p>
        </p:txBody>
      </p:sp>
      <p:pic>
        <p:nvPicPr>
          <p:cNvPr id="35" name="Imagen 3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65" t="43952" r="6442" b="48863"/>
          <a:stretch/>
        </p:blipFill>
        <p:spPr>
          <a:xfrm>
            <a:off x="206996" y="2517485"/>
            <a:ext cx="800226" cy="726965"/>
          </a:xfrm>
          <a:prstGeom prst="rect">
            <a:avLst/>
          </a:prstGeom>
        </p:spPr>
      </p:pic>
      <p:pic>
        <p:nvPicPr>
          <p:cNvPr id="36" name="Imagen 3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65" t="51157" r="6701" b="42227"/>
          <a:stretch/>
        </p:blipFill>
        <p:spPr>
          <a:xfrm>
            <a:off x="206996" y="3944741"/>
            <a:ext cx="733388" cy="653666"/>
          </a:xfrm>
          <a:prstGeom prst="rect">
            <a:avLst/>
          </a:prstGeom>
        </p:spPr>
      </p:pic>
      <p:sp>
        <p:nvSpPr>
          <p:cNvPr id="37" name="CuadroTexto 36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7F401FC-1370-2F4D-C7CC-F207EC928D9E}"/>
              </a:ext>
            </a:extLst>
          </p:cNvPr>
          <p:cNvSpPr/>
          <p:nvPr/>
        </p:nvSpPr>
        <p:spPr>
          <a:xfrm>
            <a:off x="2823430" y="1249588"/>
            <a:ext cx="3205173" cy="805165"/>
          </a:xfrm>
          <a:prstGeom prst="rect">
            <a:avLst/>
          </a:prstGeom>
          <a:solidFill>
            <a:schemeClr val="bg1"/>
          </a:solidFill>
          <a:ln>
            <a:solidFill>
              <a:srgbClr val="E94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tx1"/>
                </a:solidFill>
              </a:rPr>
              <a:t>Which </a:t>
            </a:r>
            <a:r>
              <a:rPr lang="en-AU" sz="2400" b="1" u="sng" dirty="0">
                <a:solidFill>
                  <a:schemeClr val="tx1"/>
                </a:solidFill>
              </a:rPr>
              <a:t>foot</a:t>
            </a:r>
            <a:r>
              <a:rPr lang="en-AU" sz="2400" b="1" dirty="0">
                <a:solidFill>
                  <a:schemeClr val="tx1"/>
                </a:solidFill>
              </a:rPr>
              <a:t> do you prefer to kick with?</a:t>
            </a:r>
            <a:endParaRPr lang="es-ES" sz="2400" b="1" dirty="0">
              <a:solidFill>
                <a:schemeClr val="tx1"/>
              </a:solidFill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37F401FC-1370-2F4D-C7CC-F207EC928D9E}"/>
              </a:ext>
            </a:extLst>
          </p:cNvPr>
          <p:cNvSpPr/>
          <p:nvPr/>
        </p:nvSpPr>
        <p:spPr>
          <a:xfrm>
            <a:off x="6911231" y="1249588"/>
            <a:ext cx="3205173" cy="889930"/>
          </a:xfrm>
          <a:prstGeom prst="rect">
            <a:avLst/>
          </a:prstGeom>
          <a:solidFill>
            <a:schemeClr val="bg1"/>
          </a:solidFill>
          <a:ln>
            <a:solidFill>
              <a:srgbClr val="E94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tx1"/>
                </a:solidFill>
              </a:rPr>
              <a:t>Which </a:t>
            </a:r>
            <a:r>
              <a:rPr lang="en-AU" sz="2400" b="1" u="sng" dirty="0">
                <a:solidFill>
                  <a:schemeClr val="tx1"/>
                </a:solidFill>
              </a:rPr>
              <a:t>eye</a:t>
            </a:r>
            <a:r>
              <a:rPr lang="en-AU" sz="2400" b="1" dirty="0">
                <a:solidFill>
                  <a:schemeClr val="tx1"/>
                </a:solidFill>
              </a:rPr>
              <a:t> do you use when using only one?</a:t>
            </a:r>
            <a:endParaRPr lang="es-E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276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44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b="1" dirty="0"/>
              <a:t>Sex-stratified analyses</a:t>
            </a:r>
            <a:endParaRPr lang="en-GB" b="1" dirty="0"/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374" y="849130"/>
            <a:ext cx="1547674" cy="1175682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111" y="871851"/>
            <a:ext cx="1481887" cy="1177200"/>
          </a:xfrm>
          <a:prstGeom prst="rect">
            <a:avLst/>
          </a:prstGeom>
        </p:spPr>
      </p:pic>
      <p:sp>
        <p:nvSpPr>
          <p:cNvPr id="24" name="CuadroTexto 23"/>
          <p:cNvSpPr txBox="1"/>
          <p:nvPr/>
        </p:nvSpPr>
        <p:spPr>
          <a:xfrm>
            <a:off x="2728816" y="1622995"/>
            <a:ext cx="2331112" cy="461665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262 females</a:t>
            </a:r>
            <a:endParaRPr lang="en-GB" sz="2400" b="1" dirty="0"/>
          </a:p>
        </p:txBody>
      </p:sp>
      <p:sp>
        <p:nvSpPr>
          <p:cNvPr id="25" name="CuadroTexto 24"/>
          <p:cNvSpPr txBox="1"/>
          <p:nvPr/>
        </p:nvSpPr>
        <p:spPr>
          <a:xfrm>
            <a:off x="5160256" y="1618882"/>
            <a:ext cx="2128261" cy="461665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/>
            </a:lvl1pPr>
          </a:lstStyle>
          <a:p>
            <a:r>
              <a:rPr lang="es-ES" dirty="0"/>
              <a:t>174 males</a:t>
            </a:r>
            <a:endParaRPr lang="en-GB" dirty="0"/>
          </a:p>
        </p:txBody>
      </p:sp>
      <p:sp>
        <p:nvSpPr>
          <p:cNvPr id="26" name="CuadroTexto 25"/>
          <p:cNvSpPr txBox="1"/>
          <p:nvPr/>
        </p:nvSpPr>
        <p:spPr>
          <a:xfrm>
            <a:off x="2675976" y="2153165"/>
            <a:ext cx="23049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4.96 %</a:t>
            </a:r>
          </a:p>
          <a:p>
            <a:pPr algn="ctr"/>
            <a:r>
              <a:rPr lang="es-ES" sz="3200" b="1" dirty="0"/>
              <a:t>7.25 %</a:t>
            </a:r>
          </a:p>
          <a:p>
            <a:pPr algn="ctr"/>
            <a:r>
              <a:rPr lang="es-ES" sz="3200" b="1" dirty="0"/>
              <a:t>63.22 %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5098831" y="2100382"/>
            <a:ext cx="23049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9.20 %</a:t>
            </a:r>
          </a:p>
          <a:p>
            <a:pPr algn="ctr"/>
            <a:r>
              <a:rPr lang="es-ES" sz="3200" b="1" dirty="0"/>
              <a:t>14.37 %</a:t>
            </a:r>
          </a:p>
          <a:p>
            <a:pPr algn="ctr"/>
            <a:r>
              <a:rPr lang="es-ES" sz="3200" b="1" dirty="0"/>
              <a:t>51.15%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14</a:t>
            </a:fld>
            <a:endParaRPr lang="en-GB" dirty="0"/>
          </a:p>
        </p:txBody>
      </p:sp>
      <p:sp>
        <p:nvSpPr>
          <p:cNvPr id="35" name="CuadroTexto 34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39" name="Grupo 38"/>
          <p:cNvGrpSpPr/>
          <p:nvPr/>
        </p:nvGrpSpPr>
        <p:grpSpPr>
          <a:xfrm>
            <a:off x="1079433" y="2194467"/>
            <a:ext cx="1483691" cy="584775"/>
            <a:chOff x="344755" y="2548177"/>
            <a:chExt cx="1483691" cy="584775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2636" y="2602458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D77B4F48-3B87-95AD-AC32-86712AA4F8F5}"/>
                </a:ext>
              </a:extLst>
            </p:cNvPr>
            <p:cNvSpPr/>
            <p:nvPr/>
          </p:nvSpPr>
          <p:spPr>
            <a:xfrm>
              <a:off x="407780" y="2599040"/>
              <a:ext cx="708262" cy="48016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F0647A86-F9FB-EDD9-6914-F239CCE77608}"/>
                </a:ext>
              </a:extLst>
            </p:cNvPr>
            <p:cNvSpPr txBox="1"/>
            <p:nvPr/>
          </p:nvSpPr>
          <p:spPr>
            <a:xfrm>
              <a:off x="344755" y="2548177"/>
              <a:ext cx="8314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b="1" dirty="0"/>
                <a:t>Left</a:t>
              </a:r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1065773" y="2710365"/>
            <a:ext cx="1506182" cy="584775"/>
            <a:chOff x="326999" y="3152666"/>
            <a:chExt cx="1506182" cy="584775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7371" y="3207144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672B5177-3B13-D324-B9CF-09388954421C}"/>
                </a:ext>
              </a:extLst>
            </p:cNvPr>
            <p:cNvSpPr/>
            <p:nvPr/>
          </p:nvSpPr>
          <p:spPr>
            <a:xfrm>
              <a:off x="398902" y="3204339"/>
              <a:ext cx="1072850" cy="481430"/>
            </a:xfrm>
            <a:prstGeom prst="rect">
              <a:avLst/>
            </a:prstGeom>
            <a:solidFill>
              <a:srgbClr val="C397F3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326999" y="3152666"/>
              <a:ext cx="11171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/>
                <a:t>NRH</a:t>
              </a:r>
            </a:p>
          </p:txBody>
        </p:sp>
      </p:grpSp>
      <p:grpSp>
        <p:nvGrpSpPr>
          <p:cNvPr id="47" name="Grupo 46"/>
          <p:cNvGrpSpPr/>
          <p:nvPr/>
        </p:nvGrpSpPr>
        <p:grpSpPr>
          <a:xfrm>
            <a:off x="1058224" y="3223991"/>
            <a:ext cx="1601110" cy="584775"/>
            <a:chOff x="314668" y="3781782"/>
            <a:chExt cx="1601110" cy="584775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3935" y="3833149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Rectángulo 48"/>
            <p:cNvSpPr/>
            <p:nvPr/>
          </p:nvSpPr>
          <p:spPr>
            <a:xfrm>
              <a:off x="398902" y="3833149"/>
              <a:ext cx="169269" cy="48204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Rectángulo 49"/>
            <p:cNvSpPr/>
            <p:nvPr/>
          </p:nvSpPr>
          <p:spPr>
            <a:xfrm>
              <a:off x="1659177" y="3833149"/>
              <a:ext cx="169269" cy="48204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314668" y="3781782"/>
              <a:ext cx="16011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/>
                <a:t>LAT</a:t>
              </a:r>
            </a:p>
          </p:txBody>
        </p:sp>
      </p:grpSp>
      <p:grpSp>
        <p:nvGrpSpPr>
          <p:cNvPr id="52" name="Grupo 51"/>
          <p:cNvGrpSpPr/>
          <p:nvPr/>
        </p:nvGrpSpPr>
        <p:grpSpPr>
          <a:xfrm>
            <a:off x="1079433" y="4859897"/>
            <a:ext cx="1483691" cy="584775"/>
            <a:chOff x="344755" y="2548177"/>
            <a:chExt cx="1483691" cy="584775"/>
          </a:xfrm>
        </p:grpSpPr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2636" y="2602458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D77B4F48-3B87-95AD-AC32-86712AA4F8F5}"/>
                </a:ext>
              </a:extLst>
            </p:cNvPr>
            <p:cNvSpPr/>
            <p:nvPr/>
          </p:nvSpPr>
          <p:spPr>
            <a:xfrm>
              <a:off x="407780" y="2599040"/>
              <a:ext cx="708262" cy="48016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F0647A86-F9FB-EDD9-6914-F239CCE77608}"/>
                </a:ext>
              </a:extLst>
            </p:cNvPr>
            <p:cNvSpPr txBox="1"/>
            <p:nvPr/>
          </p:nvSpPr>
          <p:spPr>
            <a:xfrm>
              <a:off x="344755" y="2548177"/>
              <a:ext cx="8314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b="1" dirty="0"/>
                <a:t>Left</a:t>
              </a:r>
            </a:p>
          </p:txBody>
        </p:sp>
      </p:grpSp>
      <p:grpSp>
        <p:nvGrpSpPr>
          <p:cNvPr id="56" name="Grupo 55"/>
          <p:cNvGrpSpPr/>
          <p:nvPr/>
        </p:nvGrpSpPr>
        <p:grpSpPr>
          <a:xfrm>
            <a:off x="1065773" y="5375795"/>
            <a:ext cx="1506182" cy="584775"/>
            <a:chOff x="326999" y="3152666"/>
            <a:chExt cx="1506182" cy="584775"/>
          </a:xfrm>
        </p:grpSpPr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7371" y="3207144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672B5177-3B13-D324-B9CF-09388954421C}"/>
                </a:ext>
              </a:extLst>
            </p:cNvPr>
            <p:cNvSpPr/>
            <p:nvPr/>
          </p:nvSpPr>
          <p:spPr>
            <a:xfrm>
              <a:off x="398902" y="3204339"/>
              <a:ext cx="1072850" cy="481430"/>
            </a:xfrm>
            <a:prstGeom prst="rect">
              <a:avLst/>
            </a:prstGeom>
            <a:solidFill>
              <a:srgbClr val="C397F3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326999" y="3152666"/>
              <a:ext cx="11171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/>
                <a:t>NRH</a:t>
              </a:r>
            </a:p>
          </p:txBody>
        </p:sp>
      </p:grpSp>
      <p:grpSp>
        <p:nvGrpSpPr>
          <p:cNvPr id="60" name="Grupo 59"/>
          <p:cNvGrpSpPr/>
          <p:nvPr/>
        </p:nvGrpSpPr>
        <p:grpSpPr>
          <a:xfrm>
            <a:off x="1058224" y="5889421"/>
            <a:ext cx="1601110" cy="584775"/>
            <a:chOff x="314668" y="3781782"/>
            <a:chExt cx="1601110" cy="584775"/>
          </a:xfrm>
        </p:grpSpPr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3935" y="3833149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2" name="Rectángulo 61"/>
            <p:cNvSpPr/>
            <p:nvPr/>
          </p:nvSpPr>
          <p:spPr>
            <a:xfrm>
              <a:off x="398902" y="3833149"/>
              <a:ext cx="169269" cy="48204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3" name="Rectángulo 62"/>
            <p:cNvSpPr/>
            <p:nvPr/>
          </p:nvSpPr>
          <p:spPr>
            <a:xfrm>
              <a:off x="1659177" y="3833149"/>
              <a:ext cx="169269" cy="48204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314668" y="3781782"/>
              <a:ext cx="16011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/>
                <a:t>LAT</a:t>
              </a:r>
            </a:p>
          </p:txBody>
        </p:sp>
      </p:grpSp>
      <p:pic>
        <p:nvPicPr>
          <p:cNvPr id="65" name="Google Shape;85;p17">
            <a:extLst>
              <a:ext uri="{FF2B5EF4-FFF2-40B4-BE49-F238E27FC236}">
                <a16:creationId xmlns:a16="http://schemas.microsoft.com/office/drawing/2014/main" id="{74E3E47A-A681-5DA4-D980-43CE26E23F2B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>
          <a:xfrm>
            <a:off x="5509146" y="3663315"/>
            <a:ext cx="1479600" cy="11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68" y="3670042"/>
            <a:ext cx="1479408" cy="1152000"/>
          </a:xfrm>
          <a:prstGeom prst="rect">
            <a:avLst/>
          </a:prstGeom>
        </p:spPr>
      </p:pic>
      <p:sp>
        <p:nvSpPr>
          <p:cNvPr id="67" name="CuadroTexto 66"/>
          <p:cNvSpPr txBox="1"/>
          <p:nvPr/>
        </p:nvSpPr>
        <p:spPr>
          <a:xfrm>
            <a:off x="943384" y="1082094"/>
            <a:ext cx="1796681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Controls</a:t>
            </a:r>
            <a:endParaRPr lang="en-GB" sz="2800" b="1" dirty="0"/>
          </a:p>
        </p:txBody>
      </p:sp>
      <p:sp>
        <p:nvSpPr>
          <p:cNvPr id="68" name="CuadroTexto 67"/>
          <p:cNvSpPr txBox="1"/>
          <p:nvPr/>
        </p:nvSpPr>
        <p:spPr>
          <a:xfrm>
            <a:off x="972602" y="4105360"/>
            <a:ext cx="1796681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BD</a:t>
            </a:r>
            <a:endParaRPr lang="en-GB" sz="2800" b="1" dirty="0"/>
          </a:p>
        </p:txBody>
      </p:sp>
      <p:sp>
        <p:nvSpPr>
          <p:cNvPr id="69" name="CuadroTexto 68"/>
          <p:cNvSpPr txBox="1"/>
          <p:nvPr/>
        </p:nvSpPr>
        <p:spPr>
          <a:xfrm>
            <a:off x="5098831" y="4447175"/>
            <a:ext cx="2128261" cy="461665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/>
            </a:lvl1pPr>
          </a:lstStyle>
          <a:p>
            <a:r>
              <a:rPr lang="es-ES" dirty="0"/>
              <a:t>166 males</a:t>
            </a:r>
            <a:endParaRPr lang="en-GB" dirty="0"/>
          </a:p>
        </p:txBody>
      </p:sp>
      <p:sp>
        <p:nvSpPr>
          <p:cNvPr id="70" name="CuadroTexto 69"/>
          <p:cNvSpPr txBox="1"/>
          <p:nvPr/>
        </p:nvSpPr>
        <p:spPr>
          <a:xfrm>
            <a:off x="2659334" y="4429532"/>
            <a:ext cx="2331112" cy="461665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/>
            </a:lvl1pPr>
          </a:lstStyle>
          <a:p>
            <a:r>
              <a:rPr lang="es-ES" dirty="0"/>
              <a:t>270 females</a:t>
            </a:r>
            <a:endParaRPr lang="en-GB" dirty="0"/>
          </a:p>
        </p:txBody>
      </p:sp>
      <p:sp>
        <p:nvSpPr>
          <p:cNvPr id="71" name="CuadroTexto 70"/>
          <p:cNvSpPr txBox="1"/>
          <p:nvPr/>
        </p:nvSpPr>
        <p:spPr>
          <a:xfrm>
            <a:off x="2713682" y="4910760"/>
            <a:ext cx="23049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6.67 %</a:t>
            </a:r>
          </a:p>
          <a:p>
            <a:pPr algn="ctr"/>
            <a:r>
              <a:rPr lang="es-ES" sz="3200" b="1" dirty="0"/>
              <a:t>10.37 %</a:t>
            </a:r>
          </a:p>
          <a:p>
            <a:pPr algn="ctr"/>
            <a:r>
              <a:rPr lang="es-ES" sz="3200" b="1" dirty="0"/>
              <a:t>69.63 %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5078566" y="4893677"/>
            <a:ext cx="23049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8.43 %</a:t>
            </a:r>
          </a:p>
          <a:p>
            <a:pPr algn="ctr"/>
            <a:r>
              <a:rPr lang="es-ES" sz="3200" b="1" dirty="0"/>
              <a:t>15.06 %</a:t>
            </a:r>
          </a:p>
          <a:p>
            <a:pPr algn="ctr"/>
            <a:r>
              <a:rPr lang="es-ES" sz="3200" b="1" dirty="0"/>
              <a:t>63.83%</a:t>
            </a:r>
          </a:p>
        </p:txBody>
      </p:sp>
      <p:sp>
        <p:nvSpPr>
          <p:cNvPr id="5" name="Rectángulo redondeado 4"/>
          <p:cNvSpPr/>
          <p:nvPr/>
        </p:nvSpPr>
        <p:spPr>
          <a:xfrm>
            <a:off x="2713682" y="719092"/>
            <a:ext cx="4690096" cy="2932898"/>
          </a:xfrm>
          <a:prstGeom prst="roundRect">
            <a:avLst/>
          </a:prstGeom>
          <a:noFill/>
          <a:ln w="57150">
            <a:solidFill>
              <a:srgbClr val="FFC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CuadroTexto 5"/>
          <p:cNvSpPr txBox="1"/>
          <p:nvPr/>
        </p:nvSpPr>
        <p:spPr>
          <a:xfrm>
            <a:off x="7831961" y="1314914"/>
            <a:ext cx="3637989" cy="1384995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2800" b="1" dirty="0"/>
              <a:t>Higher prevalence of atypical handedness (AH) in males</a:t>
            </a:r>
            <a:endParaRPr lang="en-GB" sz="2800" b="1" dirty="0"/>
          </a:p>
        </p:txBody>
      </p:sp>
      <p:sp>
        <p:nvSpPr>
          <p:cNvPr id="73" name="Rectángulo redondeado 72"/>
          <p:cNvSpPr/>
          <p:nvPr/>
        </p:nvSpPr>
        <p:spPr>
          <a:xfrm>
            <a:off x="2761149" y="3734150"/>
            <a:ext cx="4690096" cy="3023098"/>
          </a:xfrm>
          <a:prstGeom prst="roundRect">
            <a:avLst/>
          </a:prstGeom>
          <a:noFill/>
          <a:ln w="571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4" name="CuadroTexto 73"/>
          <p:cNvSpPr txBox="1"/>
          <p:nvPr/>
        </p:nvSpPr>
        <p:spPr>
          <a:xfrm>
            <a:off x="7862602" y="2850661"/>
            <a:ext cx="3607348" cy="95410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s-ES" sz="2800" b="1" dirty="0"/>
              <a:t>Higher AH in males, but NS</a:t>
            </a:r>
            <a:endParaRPr lang="en-GB" sz="2800" b="1" dirty="0"/>
          </a:p>
        </p:txBody>
      </p:sp>
      <p:sp>
        <p:nvSpPr>
          <p:cNvPr id="75" name="CuadroTexto 74"/>
          <p:cNvSpPr txBox="1"/>
          <p:nvPr/>
        </p:nvSpPr>
        <p:spPr>
          <a:xfrm>
            <a:off x="7862602" y="3955520"/>
            <a:ext cx="3607348" cy="954107"/>
          </a:xfrm>
          <a:prstGeom prst="rect">
            <a:avLst/>
          </a:prstGeom>
          <a:noFill/>
          <a:ln w="57150">
            <a:solidFill>
              <a:srgbClr val="E94999"/>
            </a:solidFill>
          </a:ln>
        </p:spPr>
        <p:txBody>
          <a:bodyPr wrap="square" rtlCol="0">
            <a:spAutoFit/>
          </a:bodyPr>
          <a:lstStyle/>
          <a:p>
            <a:r>
              <a:rPr lang="es-ES" sz="2800" b="1" dirty="0"/>
              <a:t>BD females slightly higher AH, but NS</a:t>
            </a:r>
            <a:endParaRPr lang="en-GB" sz="2800" b="1" dirty="0"/>
          </a:p>
        </p:txBody>
      </p:sp>
      <p:sp>
        <p:nvSpPr>
          <p:cNvPr id="76" name="Rectángulo redondeado 75"/>
          <p:cNvSpPr/>
          <p:nvPr/>
        </p:nvSpPr>
        <p:spPr>
          <a:xfrm>
            <a:off x="2804154" y="753668"/>
            <a:ext cx="2178401" cy="6003580"/>
          </a:xfrm>
          <a:prstGeom prst="roundRect">
            <a:avLst/>
          </a:prstGeom>
          <a:noFill/>
          <a:ln w="57150">
            <a:solidFill>
              <a:srgbClr val="E94999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7" name="CuadroTexto 76"/>
          <p:cNvSpPr txBox="1"/>
          <p:nvPr/>
        </p:nvSpPr>
        <p:spPr>
          <a:xfrm>
            <a:off x="7847281" y="5141479"/>
            <a:ext cx="3607347" cy="954107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2800" b="1" dirty="0"/>
              <a:t>BD males slighly higher NRH + LAT, but NS</a:t>
            </a:r>
            <a:endParaRPr lang="en-GB" sz="2800" b="1" dirty="0"/>
          </a:p>
        </p:txBody>
      </p:sp>
      <p:sp>
        <p:nvSpPr>
          <p:cNvPr id="78" name="Rectángulo redondeado 77"/>
          <p:cNvSpPr/>
          <p:nvPr/>
        </p:nvSpPr>
        <p:spPr>
          <a:xfrm>
            <a:off x="5122650" y="735615"/>
            <a:ext cx="2178401" cy="6003580"/>
          </a:xfrm>
          <a:prstGeom prst="roundRect">
            <a:avLst/>
          </a:prstGeom>
          <a:noFill/>
          <a:ln w="57150"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6" name="CuadroTexto 65"/>
          <p:cNvSpPr txBox="1"/>
          <p:nvPr/>
        </p:nvSpPr>
        <p:spPr>
          <a:xfrm>
            <a:off x="177526" y="1783682"/>
            <a:ext cx="103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Cut</a:t>
            </a:r>
            <a:r>
              <a:rPr lang="es-ES" b="1" dirty="0"/>
              <a:t>-off</a:t>
            </a:r>
            <a:endParaRPr lang="en-GB" b="1" dirty="0"/>
          </a:p>
        </p:txBody>
      </p:sp>
      <p:sp>
        <p:nvSpPr>
          <p:cNvPr id="79" name="CuadroTexto 78"/>
          <p:cNvSpPr txBox="1"/>
          <p:nvPr/>
        </p:nvSpPr>
        <p:spPr>
          <a:xfrm>
            <a:off x="-375078" y="2145908"/>
            <a:ext cx="14198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000"/>
              </a:lnSpc>
            </a:pPr>
            <a:r>
              <a:rPr lang="es-ES" sz="2800" b="1" dirty="0"/>
              <a:t>0</a:t>
            </a:r>
          </a:p>
          <a:p>
            <a:pPr algn="r">
              <a:lnSpc>
                <a:spcPts val="4000"/>
              </a:lnSpc>
            </a:pPr>
            <a:r>
              <a:rPr lang="es-ES" sz="2800" b="1" dirty="0"/>
              <a:t>&lt;+60</a:t>
            </a:r>
          </a:p>
          <a:p>
            <a:pPr algn="r">
              <a:lnSpc>
                <a:spcPts val="4000"/>
              </a:lnSpc>
            </a:pPr>
            <a:r>
              <a:rPr lang="es-ES" sz="2800" b="1" dirty="0"/>
              <a:t>&gt;|90|</a:t>
            </a:r>
          </a:p>
        </p:txBody>
      </p:sp>
      <p:sp>
        <p:nvSpPr>
          <p:cNvPr id="80" name="CuadroTexto 79"/>
          <p:cNvSpPr txBox="1"/>
          <p:nvPr/>
        </p:nvSpPr>
        <p:spPr>
          <a:xfrm>
            <a:off x="266882" y="4531451"/>
            <a:ext cx="103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Cut</a:t>
            </a:r>
            <a:r>
              <a:rPr lang="es-ES" b="1" dirty="0"/>
              <a:t>-off</a:t>
            </a:r>
            <a:endParaRPr lang="en-GB" b="1" dirty="0"/>
          </a:p>
        </p:txBody>
      </p:sp>
      <p:sp>
        <p:nvSpPr>
          <p:cNvPr id="81" name="CuadroTexto 80"/>
          <p:cNvSpPr txBox="1"/>
          <p:nvPr/>
        </p:nvSpPr>
        <p:spPr>
          <a:xfrm>
            <a:off x="-285722" y="4893677"/>
            <a:ext cx="14198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000"/>
              </a:lnSpc>
            </a:pPr>
            <a:r>
              <a:rPr lang="es-ES" sz="2800" b="1" dirty="0"/>
              <a:t>0</a:t>
            </a:r>
          </a:p>
          <a:p>
            <a:pPr algn="r">
              <a:lnSpc>
                <a:spcPts val="4000"/>
              </a:lnSpc>
            </a:pPr>
            <a:r>
              <a:rPr lang="es-ES" sz="2800" b="1" dirty="0"/>
              <a:t>&lt;+60</a:t>
            </a:r>
          </a:p>
          <a:p>
            <a:pPr algn="r">
              <a:lnSpc>
                <a:spcPts val="4000"/>
              </a:lnSpc>
            </a:pPr>
            <a:r>
              <a:rPr lang="es-ES" sz="2800" b="1" dirty="0"/>
              <a:t>&gt;|90|</a:t>
            </a:r>
          </a:p>
        </p:txBody>
      </p:sp>
    </p:spTree>
    <p:extLst>
      <p:ext uri="{BB962C8B-B14F-4D97-AF65-F5344CB8AC3E}">
        <p14:creationId xmlns:p14="http://schemas.microsoft.com/office/powerpoint/2010/main" val="330481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73710" y="1"/>
            <a:ext cx="10515600" cy="875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b="1" dirty="0"/>
              <a:t>Mixed-handed people present higher severity</a:t>
            </a:r>
            <a:endParaRPr lang="en-GB" b="1" dirty="0"/>
          </a:p>
        </p:txBody>
      </p:sp>
      <p:pic>
        <p:nvPicPr>
          <p:cNvPr id="3" name="Google Shape;85;p17">
            <a:extLst>
              <a:ext uri="{FF2B5EF4-FFF2-40B4-BE49-F238E27FC236}">
                <a16:creationId xmlns:a16="http://schemas.microsoft.com/office/drawing/2014/main" id="{74E3E47A-A681-5DA4-D980-43CE26E23F2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/>
        </p:blipFill>
        <p:spPr>
          <a:xfrm>
            <a:off x="749251" y="1772878"/>
            <a:ext cx="1475404" cy="119600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/>
          <p:cNvSpPr txBox="1"/>
          <p:nvPr/>
        </p:nvSpPr>
        <p:spPr>
          <a:xfrm>
            <a:off x="613839" y="2794738"/>
            <a:ext cx="1651094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436 BD</a:t>
            </a:r>
            <a:endParaRPr lang="en-GB" sz="3200" b="1" dirty="0"/>
          </a:p>
        </p:txBody>
      </p:sp>
      <p:pic>
        <p:nvPicPr>
          <p:cNvPr id="6" name="Google Shape;132;p21" title="Boxplot_WHODAS_over_thresholds.png">
            <a:extLst>
              <a:ext uri="{FF2B5EF4-FFF2-40B4-BE49-F238E27FC236}">
                <a16:creationId xmlns:a16="http://schemas.microsoft.com/office/drawing/2014/main" id="{704CC2F5-586D-37F2-0EB1-D7AF6C93E5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670" t="8643" b="52035"/>
          <a:stretch/>
        </p:blipFill>
        <p:spPr>
          <a:xfrm>
            <a:off x="4179654" y="904214"/>
            <a:ext cx="2052000" cy="25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769DE88-D8DE-877E-2DA6-7B5F6046BC29}"/>
              </a:ext>
            </a:extLst>
          </p:cNvPr>
          <p:cNvSpPr txBox="1"/>
          <p:nvPr/>
        </p:nvSpPr>
        <p:spPr>
          <a:xfrm>
            <a:off x="2650225" y="1366899"/>
            <a:ext cx="163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WHODAS</a:t>
            </a:r>
          </a:p>
          <a:p>
            <a:pPr algn="ctr"/>
            <a:r>
              <a:rPr lang="es-ES" sz="2000" dirty="0"/>
              <a:t>WHO Disability Assessment Schedule</a:t>
            </a:r>
          </a:p>
          <a:p>
            <a:pPr algn="ctr"/>
            <a:r>
              <a:rPr lang="es-ES" sz="2000" b="1" i="1" dirty="0"/>
              <a:t>P=0.03*</a:t>
            </a:r>
          </a:p>
        </p:txBody>
      </p:sp>
      <p:pic>
        <p:nvPicPr>
          <p:cNvPr id="8" name="Google Shape;142;p22" title="Boxplot_GAF_over_thresholds.png">
            <a:extLst>
              <a:ext uri="{FF2B5EF4-FFF2-40B4-BE49-F238E27FC236}">
                <a16:creationId xmlns:a16="http://schemas.microsoft.com/office/drawing/2014/main" id="{6728082F-B8A0-B984-A295-3961F0CA36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8169" t="8747" b="51050"/>
          <a:stretch/>
        </p:blipFill>
        <p:spPr>
          <a:xfrm>
            <a:off x="4175682" y="3863845"/>
            <a:ext cx="2052000" cy="25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BA46921-7C10-2DD9-E752-EFA3010D80E0}"/>
              </a:ext>
            </a:extLst>
          </p:cNvPr>
          <p:cNvSpPr txBox="1"/>
          <p:nvPr/>
        </p:nvSpPr>
        <p:spPr>
          <a:xfrm>
            <a:off x="2805343" y="4208802"/>
            <a:ext cx="14778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GAF</a:t>
            </a:r>
          </a:p>
          <a:p>
            <a:pPr algn="ctr"/>
            <a:r>
              <a:rPr lang="es-ES" sz="2000" dirty="0"/>
              <a:t>Global Assessment of Functioning</a:t>
            </a:r>
          </a:p>
          <a:p>
            <a:pPr algn="ctr"/>
            <a:r>
              <a:rPr lang="es-ES" sz="2000" b="1" i="1" dirty="0"/>
              <a:t>P=0.03*</a:t>
            </a:r>
          </a:p>
        </p:txBody>
      </p:sp>
      <p:pic>
        <p:nvPicPr>
          <p:cNvPr id="10" name="Google Shape;152;p23" title="Boxplot_INES__over_thresholds.png">
            <a:extLst>
              <a:ext uri="{FF2B5EF4-FFF2-40B4-BE49-F238E27FC236}">
                <a16:creationId xmlns:a16="http://schemas.microsoft.com/office/drawing/2014/main" id="{D16FAC4A-EC61-2DFD-D229-1D2382FFC0A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68373" t="9054" b="51537"/>
          <a:stretch/>
        </p:blipFill>
        <p:spPr>
          <a:xfrm>
            <a:off x="7442493" y="1190299"/>
            <a:ext cx="2052000" cy="25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A5C8925-CD05-757B-899B-82F113C50BEA}"/>
              </a:ext>
            </a:extLst>
          </p:cNvPr>
          <p:cNvSpPr txBox="1"/>
          <p:nvPr/>
        </p:nvSpPr>
        <p:spPr>
          <a:xfrm>
            <a:off x="6020245" y="1431509"/>
            <a:ext cx="17418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INES</a:t>
            </a:r>
          </a:p>
          <a:p>
            <a:pPr algn="ctr"/>
            <a:r>
              <a:rPr lang="es-ES" sz="2000" dirty="0"/>
              <a:t>Index of Number of Events and Severity</a:t>
            </a:r>
          </a:p>
          <a:p>
            <a:pPr algn="ctr"/>
            <a:r>
              <a:rPr lang="es-ES" sz="2000" b="1" i="1" dirty="0"/>
              <a:t>P=0.016**</a:t>
            </a:r>
          </a:p>
        </p:txBody>
      </p:sp>
      <p:pic>
        <p:nvPicPr>
          <p:cNvPr id="12" name="Google Shape;163;p24" title="Boxplot_CGI_over_thresholds.png">
            <a:extLst>
              <a:ext uri="{FF2B5EF4-FFF2-40B4-BE49-F238E27FC236}">
                <a16:creationId xmlns:a16="http://schemas.microsoft.com/office/drawing/2014/main" id="{CDF80EC1-FF9F-A748-16D8-59E0E59BE80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67333" t="9367" b="50731"/>
          <a:stretch/>
        </p:blipFill>
        <p:spPr>
          <a:xfrm>
            <a:off x="7433636" y="3900504"/>
            <a:ext cx="2052000" cy="25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8D8F779-0EAE-B67A-1386-680A06F44F6C}"/>
              </a:ext>
            </a:extLst>
          </p:cNvPr>
          <p:cNvSpPr txBox="1"/>
          <p:nvPr/>
        </p:nvSpPr>
        <p:spPr>
          <a:xfrm>
            <a:off x="6050421" y="4208802"/>
            <a:ext cx="16140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CGI</a:t>
            </a:r>
          </a:p>
          <a:p>
            <a:pPr algn="ctr"/>
            <a:r>
              <a:rPr lang="es-ES" sz="2000" dirty="0"/>
              <a:t>Clinical Global Impression</a:t>
            </a:r>
          </a:p>
          <a:p>
            <a:pPr algn="ctr"/>
            <a:r>
              <a:rPr lang="es-ES" sz="2000" b="1" i="1" dirty="0"/>
              <a:t>P=0.04*</a:t>
            </a:r>
          </a:p>
        </p:txBody>
      </p:sp>
      <p:sp>
        <p:nvSpPr>
          <p:cNvPr id="24" name="Rectángulo redondeado 23"/>
          <p:cNvSpPr/>
          <p:nvPr/>
        </p:nvSpPr>
        <p:spPr>
          <a:xfrm>
            <a:off x="9614517" y="3590795"/>
            <a:ext cx="2383594" cy="2755762"/>
          </a:xfrm>
          <a:prstGeom prst="roundRect">
            <a:avLst>
              <a:gd name="adj" fmla="val 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</a:rPr>
              <a:t>NRH, and specifically </a:t>
            </a:r>
            <a:r>
              <a:rPr lang="es-ES" sz="2400" b="1" u="sng" dirty="0">
                <a:solidFill>
                  <a:schemeClr val="tx1"/>
                </a:solidFill>
              </a:rPr>
              <a:t>mixed</a:t>
            </a:r>
            <a:r>
              <a:rPr lang="es-ES" sz="2400" b="1" dirty="0">
                <a:solidFill>
                  <a:schemeClr val="tx1"/>
                </a:solidFill>
              </a:rPr>
              <a:t> individuals presented higher severity scores</a:t>
            </a:r>
            <a:endParaRPr lang="en-GB" sz="2400" b="1" dirty="0">
              <a:solidFill>
                <a:schemeClr val="tx1"/>
              </a:solidFill>
            </a:endParaRPr>
          </a:p>
        </p:txBody>
      </p:sp>
      <p:grpSp>
        <p:nvGrpSpPr>
          <p:cNvPr id="43" name="Grupo 42"/>
          <p:cNvGrpSpPr/>
          <p:nvPr/>
        </p:nvGrpSpPr>
        <p:grpSpPr>
          <a:xfrm>
            <a:off x="9920063" y="2196341"/>
            <a:ext cx="2436912" cy="1015663"/>
            <a:chOff x="905671" y="4154834"/>
            <a:chExt cx="2193041" cy="1015663"/>
          </a:xfrm>
        </p:grpSpPr>
        <p:sp>
          <p:nvSpPr>
            <p:cNvPr id="39" name="Rectángulo 38"/>
            <p:cNvSpPr/>
            <p:nvPr/>
          </p:nvSpPr>
          <p:spPr>
            <a:xfrm>
              <a:off x="905671" y="4193007"/>
              <a:ext cx="269290" cy="292135"/>
            </a:xfrm>
            <a:prstGeom prst="rect">
              <a:avLst/>
            </a:prstGeom>
            <a:solidFill>
              <a:srgbClr val="FCC8C4"/>
            </a:solidFill>
            <a:ln>
              <a:solidFill>
                <a:srgbClr val="FCC8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Rectángulo 39"/>
            <p:cNvSpPr/>
            <p:nvPr/>
          </p:nvSpPr>
          <p:spPr>
            <a:xfrm>
              <a:off x="913659" y="4505484"/>
              <a:ext cx="269290" cy="292135"/>
            </a:xfrm>
            <a:prstGeom prst="rect">
              <a:avLst/>
            </a:prstGeom>
            <a:solidFill>
              <a:srgbClr val="99E3AF"/>
            </a:solidFill>
            <a:ln>
              <a:solidFill>
                <a:srgbClr val="99E3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1" name="Rectángulo 40"/>
            <p:cNvSpPr/>
            <p:nvPr/>
          </p:nvSpPr>
          <p:spPr>
            <a:xfrm>
              <a:off x="913660" y="4817961"/>
              <a:ext cx="269290" cy="29213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CuadroTexto 41"/>
            <p:cNvSpPr txBox="1"/>
            <p:nvPr/>
          </p:nvSpPr>
          <p:spPr>
            <a:xfrm>
              <a:off x="1134481" y="4154834"/>
              <a:ext cx="196423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dirty="0"/>
                <a:t>Left (N=7-14)</a:t>
              </a:r>
            </a:p>
            <a:p>
              <a:r>
                <a:rPr lang="es-ES" sz="2000" dirty="0"/>
                <a:t>Mixed (N=20-24)</a:t>
              </a:r>
            </a:p>
            <a:p>
              <a:r>
                <a:rPr lang="es-ES" sz="2000" dirty="0"/>
                <a:t>Right (N=257-304)</a:t>
              </a:r>
              <a:endParaRPr lang="en-GB" sz="2000" dirty="0"/>
            </a:p>
          </p:txBody>
        </p:sp>
      </p:grpSp>
      <p:sp>
        <p:nvSpPr>
          <p:cNvPr id="14" name="Marcador de número de diapositiva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15</a:t>
            </a:fld>
            <a:endParaRPr lang="en-GB" dirty="0"/>
          </a:p>
        </p:txBody>
      </p:sp>
      <p:sp>
        <p:nvSpPr>
          <p:cNvPr id="22" name="CuadroTexto 21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30" name="Grupo 29"/>
          <p:cNvGrpSpPr/>
          <p:nvPr/>
        </p:nvGrpSpPr>
        <p:grpSpPr>
          <a:xfrm>
            <a:off x="352232" y="4112731"/>
            <a:ext cx="1676124" cy="882070"/>
            <a:chOff x="152322" y="2602458"/>
            <a:chExt cx="1676124" cy="882070"/>
          </a:xfrm>
        </p:grpSpPr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402636" y="2602458"/>
              <a:ext cx="1425810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400" dirty="0"/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D77B4F48-3B87-95AD-AC32-86712AA4F8F5}"/>
                </a:ext>
              </a:extLst>
            </p:cNvPr>
            <p:cNvSpPr/>
            <p:nvPr/>
          </p:nvSpPr>
          <p:spPr>
            <a:xfrm>
              <a:off x="407780" y="2607918"/>
              <a:ext cx="384733" cy="48016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400" dirty="0"/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F0647A86-F9FB-EDD9-6914-F239CCE77608}"/>
                </a:ext>
              </a:extLst>
            </p:cNvPr>
            <p:cNvSpPr txBox="1"/>
            <p:nvPr/>
          </p:nvSpPr>
          <p:spPr>
            <a:xfrm>
              <a:off x="152322" y="3022863"/>
              <a:ext cx="831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b="1" dirty="0"/>
                <a:t>Left</a:t>
              </a:r>
            </a:p>
          </p:txBody>
        </p:sp>
      </p:grpSp>
      <p:sp>
        <p:nvSpPr>
          <p:cNvPr id="36" name="Rectángulo 35">
            <a:extLst>
              <a:ext uri="{FF2B5EF4-FFF2-40B4-BE49-F238E27FC236}">
                <a16:creationId xmlns:a16="http://schemas.microsoft.com/office/drawing/2014/main" id="{672B5177-3B13-D324-B9CF-09388954421C}"/>
              </a:ext>
            </a:extLst>
          </p:cNvPr>
          <p:cNvSpPr/>
          <p:nvPr/>
        </p:nvSpPr>
        <p:spPr>
          <a:xfrm>
            <a:off x="992823" y="4118191"/>
            <a:ext cx="683335" cy="481430"/>
          </a:xfrm>
          <a:prstGeom prst="rect">
            <a:avLst/>
          </a:prstGeom>
          <a:solidFill>
            <a:srgbClr val="99E3AF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9" name="CuadroTexto 48"/>
          <p:cNvSpPr txBox="1"/>
          <p:nvPr/>
        </p:nvSpPr>
        <p:spPr>
          <a:xfrm>
            <a:off x="578329" y="3494715"/>
            <a:ext cx="1419842" cy="571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000"/>
              </a:lnSpc>
            </a:pPr>
            <a:r>
              <a:rPr lang="es-ES" sz="2800" b="1" dirty="0"/>
              <a:t>-60  +60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0647A86-F9FB-EDD9-6914-F239CCE77608}"/>
              </a:ext>
            </a:extLst>
          </p:cNvPr>
          <p:cNvSpPr txBox="1"/>
          <p:nvPr/>
        </p:nvSpPr>
        <p:spPr>
          <a:xfrm>
            <a:off x="957626" y="4107883"/>
            <a:ext cx="83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Mix</a:t>
            </a:r>
            <a:endParaRPr lang="es-ES" sz="2800" b="1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0647A86-F9FB-EDD9-6914-F239CCE77608}"/>
              </a:ext>
            </a:extLst>
          </p:cNvPr>
          <p:cNvSpPr txBox="1"/>
          <p:nvPr/>
        </p:nvSpPr>
        <p:spPr>
          <a:xfrm>
            <a:off x="1535596" y="4507011"/>
            <a:ext cx="1114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Right</a:t>
            </a:r>
          </a:p>
        </p:txBody>
      </p:sp>
      <p:cxnSp>
        <p:nvCxnSpPr>
          <p:cNvPr id="19" name="Conector recto 18"/>
          <p:cNvCxnSpPr/>
          <p:nvPr/>
        </p:nvCxnSpPr>
        <p:spPr>
          <a:xfrm>
            <a:off x="1676158" y="3990746"/>
            <a:ext cx="0" cy="2276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/>
          <p:cNvCxnSpPr/>
          <p:nvPr/>
        </p:nvCxnSpPr>
        <p:spPr>
          <a:xfrm>
            <a:off x="1001059" y="3990746"/>
            <a:ext cx="0" cy="2276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658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" y="121220"/>
            <a:ext cx="12192001" cy="682440"/>
          </a:xfrm>
        </p:spPr>
        <p:txBody>
          <a:bodyPr>
            <a:noAutofit/>
          </a:bodyPr>
          <a:lstStyle/>
          <a:p>
            <a:pPr algn="ctr"/>
            <a:r>
              <a:rPr lang="es-ES" sz="4000" b="1" dirty="0"/>
              <a:t>Polygenic Score (PS): individual genetic liability to a trait</a:t>
            </a:r>
            <a:endParaRPr lang="en-GB" sz="4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16</a:t>
            </a:fld>
            <a:endParaRPr lang="en-GB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95" t="7039" r="8863" b="56352"/>
          <a:stretch/>
        </p:blipFill>
        <p:spPr>
          <a:xfrm>
            <a:off x="902464" y="4062742"/>
            <a:ext cx="5408290" cy="2407759"/>
          </a:xfrm>
          <a:prstGeom prst="rect">
            <a:avLst/>
          </a:prstGeom>
        </p:spPr>
      </p:pic>
      <p:sp>
        <p:nvSpPr>
          <p:cNvPr id="10" name="Left Brace 33"/>
          <p:cNvSpPr/>
          <p:nvPr/>
        </p:nvSpPr>
        <p:spPr>
          <a:xfrm rot="16200000">
            <a:off x="3364182" y="1147723"/>
            <a:ext cx="484855" cy="498254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CuadroTexto 30"/>
          <p:cNvSpPr txBox="1"/>
          <p:nvPr/>
        </p:nvSpPr>
        <p:spPr>
          <a:xfrm>
            <a:off x="3349812" y="2096896"/>
            <a:ext cx="776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latin typeface="Didot"/>
              </a:rPr>
              <a:t>+</a:t>
            </a:r>
            <a:endParaRPr lang="en-GB" sz="4000" b="1" dirty="0">
              <a:latin typeface="Didot"/>
            </a:endParaRPr>
          </a:p>
        </p:txBody>
      </p:sp>
      <p:sp>
        <p:nvSpPr>
          <p:cNvPr id="13" name="Rectángulo redondeado 12"/>
          <p:cNvSpPr/>
          <p:nvPr/>
        </p:nvSpPr>
        <p:spPr>
          <a:xfrm>
            <a:off x="4345148" y="2914990"/>
            <a:ext cx="1384126" cy="48747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</a:rPr>
              <a:t>SNP data</a:t>
            </a:r>
            <a:endParaRPr lang="en-GB" sz="2400" b="1" dirty="0">
              <a:solidFill>
                <a:schemeClr val="tx1"/>
              </a:solidFill>
            </a:endParaRPr>
          </a:p>
        </p:txBody>
      </p:sp>
      <p:pic>
        <p:nvPicPr>
          <p:cNvPr id="15" name="Picture 2" descr="Fig.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034" y="1170162"/>
            <a:ext cx="2056043" cy="788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Extended Data Fig.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99"/>
          <a:stretch/>
        </p:blipFill>
        <p:spPr bwMode="auto">
          <a:xfrm>
            <a:off x="1371175" y="2014373"/>
            <a:ext cx="1949762" cy="844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ángulo redondeado 16"/>
          <p:cNvSpPr/>
          <p:nvPr/>
        </p:nvSpPr>
        <p:spPr>
          <a:xfrm>
            <a:off x="1497960" y="2891468"/>
            <a:ext cx="1673799" cy="48747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</a:rPr>
              <a:t>GWAS data</a:t>
            </a:r>
            <a:endParaRPr lang="en-GB" sz="2400" b="1" dirty="0">
              <a:solidFill>
                <a:schemeClr val="tx1"/>
              </a:solidFill>
            </a:endParaRPr>
          </a:p>
        </p:txBody>
      </p:sp>
      <p:pic>
        <p:nvPicPr>
          <p:cNvPr id="19" name="Google Shape;86;p17">
            <a:extLst>
              <a:ext uri="{FF2B5EF4-FFF2-40B4-BE49-F238E27FC236}">
                <a16:creationId xmlns:a16="http://schemas.microsoft.com/office/drawing/2014/main" id="{C0A78BE3-2958-3745-B10C-C35A9F7F1CB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5148" y="1345048"/>
            <a:ext cx="1684867" cy="117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5;p17">
            <a:extLst>
              <a:ext uri="{FF2B5EF4-FFF2-40B4-BE49-F238E27FC236}">
                <a16:creationId xmlns:a16="http://schemas.microsoft.com/office/drawing/2014/main" id="{74E3E47A-A681-5DA4-D980-43CE26E23F2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/>
        </p:blipFill>
        <p:spPr>
          <a:xfrm>
            <a:off x="3960771" y="1876952"/>
            <a:ext cx="1668435" cy="117736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Flecha derecha 20"/>
          <p:cNvSpPr/>
          <p:nvPr/>
        </p:nvSpPr>
        <p:spPr>
          <a:xfrm>
            <a:off x="6287524" y="3601193"/>
            <a:ext cx="594610" cy="37089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ángulo redondeado 21"/>
          <p:cNvSpPr/>
          <p:nvPr/>
        </p:nvSpPr>
        <p:spPr>
          <a:xfrm>
            <a:off x="6902662" y="2604288"/>
            <a:ext cx="4598633" cy="10618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Is handedness influenced by genetic liability to BD?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23" name="Rectángulo redondeado 22"/>
          <p:cNvSpPr/>
          <p:nvPr/>
        </p:nvSpPr>
        <p:spPr>
          <a:xfrm>
            <a:off x="6902662" y="3881424"/>
            <a:ext cx="4598633" cy="10618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Is BD influenced by genetic liability to handedness?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M&amp;M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922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b="1" dirty="0"/>
              <a:t>Polygenic Score</a:t>
            </a:r>
            <a:endParaRPr lang="en-GB" b="1" dirty="0"/>
          </a:p>
        </p:txBody>
      </p:sp>
      <p:sp>
        <p:nvSpPr>
          <p:cNvPr id="26" name="Marcador de número de diapositiva 25"/>
          <p:cNvSpPr>
            <a:spLocks noGrp="1"/>
          </p:cNvSpPr>
          <p:nvPr>
            <p:ph type="sldNum" sz="quarter" idx="12"/>
          </p:nvPr>
        </p:nvSpPr>
        <p:spPr>
          <a:xfrm>
            <a:off x="10999432" y="6356350"/>
            <a:ext cx="354367" cy="365125"/>
          </a:xfrm>
        </p:spPr>
        <p:txBody>
          <a:bodyPr/>
          <a:lstStyle/>
          <a:p>
            <a:fld id="{0F5E948B-A4EA-4562-B7E6-FE17413622D9}" type="slidenum">
              <a:rPr lang="en-GB" smtClean="0"/>
              <a:t>17</a:t>
            </a:fld>
            <a:endParaRPr lang="en-GB" dirty="0"/>
          </a:p>
        </p:txBody>
      </p:sp>
      <p:sp>
        <p:nvSpPr>
          <p:cNvPr id="27" name="CuadroTexto 26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688049" y="1600383"/>
            <a:ext cx="3266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PS handedness</a:t>
            </a:r>
            <a:endParaRPr lang="en-GB" sz="2400" b="1" dirty="0"/>
          </a:p>
        </p:txBody>
      </p:sp>
      <p:sp>
        <p:nvSpPr>
          <p:cNvPr id="21" name="CuadroTexto 20"/>
          <p:cNvSpPr txBox="1"/>
          <p:nvPr/>
        </p:nvSpPr>
        <p:spPr>
          <a:xfrm>
            <a:off x="7084564" y="1600382"/>
            <a:ext cx="3266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PS BD</a:t>
            </a:r>
            <a:endParaRPr lang="en-GB" sz="2400" b="1" dirty="0"/>
          </a:p>
        </p:txBody>
      </p:sp>
      <p:grpSp>
        <p:nvGrpSpPr>
          <p:cNvPr id="3" name="Grupo 2"/>
          <p:cNvGrpSpPr/>
          <p:nvPr/>
        </p:nvGrpSpPr>
        <p:grpSpPr>
          <a:xfrm>
            <a:off x="523783" y="2523713"/>
            <a:ext cx="5353603" cy="1933338"/>
            <a:chOff x="838200" y="2769833"/>
            <a:chExt cx="4632091" cy="1598640"/>
          </a:xfrm>
        </p:grpSpPr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769" b="64904"/>
            <a:stretch/>
          </p:blipFill>
          <p:spPr>
            <a:xfrm>
              <a:off x="838200" y="2769833"/>
              <a:ext cx="4632091" cy="550416"/>
            </a:xfrm>
            <a:prstGeom prst="rect">
              <a:avLst/>
            </a:prstGeom>
          </p:spPr>
        </p:pic>
        <p:pic>
          <p:nvPicPr>
            <p:cNvPr id="10" name="Imagen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548"/>
            <a:stretch/>
          </p:blipFill>
          <p:spPr>
            <a:xfrm>
              <a:off x="838200" y="3326051"/>
              <a:ext cx="4632091" cy="1042422"/>
            </a:xfrm>
            <a:prstGeom prst="rect">
              <a:avLst/>
            </a:prstGeom>
          </p:spPr>
        </p:pic>
      </p:grpSp>
      <p:sp>
        <p:nvSpPr>
          <p:cNvPr id="5" name="Rectángulo redondeado 4"/>
          <p:cNvSpPr/>
          <p:nvPr/>
        </p:nvSpPr>
        <p:spPr>
          <a:xfrm>
            <a:off x="838200" y="4780624"/>
            <a:ext cx="10356542" cy="142036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tx1"/>
                </a:solidFill>
              </a:rPr>
              <a:t>PS to BD contributes marginally in left-handedness when considering BD patients, but no controls</a:t>
            </a:r>
            <a:endParaRPr lang="en-GB" sz="3200" b="1" dirty="0">
              <a:solidFill>
                <a:schemeClr val="tx1"/>
              </a:solidFill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4B7AB722-9103-49B1-6C99-C260E4D00F29}"/>
              </a:ext>
            </a:extLst>
          </p:cNvPr>
          <p:cNvGrpSpPr/>
          <p:nvPr/>
        </p:nvGrpSpPr>
        <p:grpSpPr>
          <a:xfrm>
            <a:off x="5877386" y="2062047"/>
            <a:ext cx="5122047" cy="2474441"/>
            <a:chOff x="5877386" y="2062047"/>
            <a:chExt cx="5122047" cy="2474441"/>
          </a:xfrm>
        </p:grpSpPr>
        <p:grpSp>
          <p:nvGrpSpPr>
            <p:cNvPr id="4" name="Grupo 3"/>
            <p:cNvGrpSpPr/>
            <p:nvPr/>
          </p:nvGrpSpPr>
          <p:grpSpPr>
            <a:xfrm>
              <a:off x="5877386" y="2062047"/>
              <a:ext cx="5122047" cy="2474441"/>
              <a:chOff x="5877386" y="2062048"/>
              <a:chExt cx="4953372" cy="2334795"/>
            </a:xfrm>
          </p:grpSpPr>
          <p:pic>
            <p:nvPicPr>
              <p:cNvPr id="12" name="Imagen 11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5661"/>
              <a:stretch/>
            </p:blipFill>
            <p:spPr>
              <a:xfrm>
                <a:off x="5877386" y="2062048"/>
                <a:ext cx="4953372" cy="1134018"/>
              </a:xfrm>
              <a:prstGeom prst="rect">
                <a:avLst/>
              </a:prstGeom>
            </p:spPr>
          </p:pic>
          <p:pic>
            <p:nvPicPr>
              <p:cNvPr id="11" name="Imagen 10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228"/>
              <a:stretch/>
            </p:blipFill>
            <p:spPr>
              <a:xfrm>
                <a:off x="5877386" y="3196066"/>
                <a:ext cx="4953372" cy="1200777"/>
              </a:xfrm>
              <a:prstGeom prst="rect">
                <a:avLst/>
              </a:prstGeom>
            </p:spPr>
          </p:pic>
        </p:grp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C6A3BB0-4454-9774-CDB1-7D121C465D8C}"/>
                </a:ext>
              </a:extLst>
            </p:cNvPr>
            <p:cNvSpPr/>
            <p:nvPr/>
          </p:nvSpPr>
          <p:spPr>
            <a:xfrm>
              <a:off x="6204857" y="2373086"/>
              <a:ext cx="594883" cy="2307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1D38AE-0D35-F72B-C8AA-EF62E5DAB82B}"/>
              </a:ext>
            </a:extLst>
          </p:cNvPr>
          <p:cNvSpPr txBox="1"/>
          <p:nvPr/>
        </p:nvSpPr>
        <p:spPr>
          <a:xfrm>
            <a:off x="5530287" y="2247085"/>
            <a:ext cx="215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Left handedness</a:t>
            </a:r>
          </a:p>
        </p:txBody>
      </p:sp>
    </p:spTree>
    <p:extLst>
      <p:ext uri="{BB962C8B-B14F-4D97-AF65-F5344CB8AC3E}">
        <p14:creationId xmlns:p14="http://schemas.microsoft.com/office/powerpoint/2010/main" val="989496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18</a:t>
            </a:fld>
            <a:endParaRPr lang="en-GB" dirty="0"/>
          </a:p>
        </p:txBody>
      </p:sp>
      <p:pic>
        <p:nvPicPr>
          <p:cNvPr id="1026" name="Picture 2" descr="Icono Mano Vectores, Iconos, Gráficos y Fondos para ...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0952" y1="44571" x2="40952" y2="445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107" y="3236886"/>
            <a:ext cx="2149935" cy="179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/>
          <p:cNvSpPr txBox="1"/>
          <p:nvPr/>
        </p:nvSpPr>
        <p:spPr>
          <a:xfrm>
            <a:off x="6880425" y="3721374"/>
            <a:ext cx="1526960" cy="83099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Mixed-hand use</a:t>
            </a:r>
            <a:endParaRPr lang="en-GB" sz="2400" b="1" dirty="0"/>
          </a:p>
        </p:txBody>
      </p:sp>
      <p:cxnSp>
        <p:nvCxnSpPr>
          <p:cNvPr id="17" name="Conector recto de flecha 16"/>
          <p:cNvCxnSpPr/>
          <p:nvPr/>
        </p:nvCxnSpPr>
        <p:spPr>
          <a:xfrm>
            <a:off x="9059663" y="4793441"/>
            <a:ext cx="816745" cy="72963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redondeado 17"/>
          <p:cNvSpPr/>
          <p:nvPr/>
        </p:nvSpPr>
        <p:spPr>
          <a:xfrm>
            <a:off x="6518613" y="5548881"/>
            <a:ext cx="2028179" cy="8874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</a:rPr>
              <a:t>Cognitive flexibility</a:t>
            </a:r>
            <a:endParaRPr lang="en-GB" sz="2400" b="1" dirty="0">
              <a:solidFill>
                <a:schemeClr val="tx1"/>
              </a:solidFill>
            </a:endParaRPr>
          </a:p>
        </p:txBody>
      </p:sp>
      <p:cxnSp>
        <p:nvCxnSpPr>
          <p:cNvPr id="20" name="Conector recto de flecha 19"/>
          <p:cNvCxnSpPr/>
          <p:nvPr/>
        </p:nvCxnSpPr>
        <p:spPr>
          <a:xfrm flipH="1">
            <a:off x="7701633" y="4753859"/>
            <a:ext cx="845160" cy="70396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redondeado 21"/>
          <p:cNvSpPr/>
          <p:nvPr/>
        </p:nvSpPr>
        <p:spPr>
          <a:xfrm>
            <a:off x="8610600" y="5560489"/>
            <a:ext cx="2250764" cy="875822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</a:rPr>
              <a:t>Worse mental health</a:t>
            </a:r>
            <a:endParaRPr lang="en-GB" sz="2400" b="1" dirty="0">
              <a:solidFill>
                <a:schemeClr val="tx1"/>
              </a:solidFill>
            </a:endParaRPr>
          </a:p>
        </p:txBody>
      </p:sp>
      <p:cxnSp>
        <p:nvCxnSpPr>
          <p:cNvPr id="44" name="Conector recto de flecha 43"/>
          <p:cNvCxnSpPr>
            <a:cxnSpLocks/>
          </p:cNvCxnSpPr>
          <p:nvPr/>
        </p:nvCxnSpPr>
        <p:spPr>
          <a:xfrm>
            <a:off x="4433775" y="2214489"/>
            <a:ext cx="2636668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/>
          <p:cNvSpPr txBox="1"/>
          <p:nvPr/>
        </p:nvSpPr>
        <p:spPr>
          <a:xfrm>
            <a:off x="1381283" y="3067568"/>
            <a:ext cx="3555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“Typical” functional + structural assymetry</a:t>
            </a:r>
            <a:endParaRPr lang="en-GB" sz="2400" b="1" dirty="0"/>
          </a:p>
        </p:txBody>
      </p:sp>
      <p:sp>
        <p:nvSpPr>
          <p:cNvPr id="48" name="CuadroTexto 47"/>
          <p:cNvSpPr txBox="1"/>
          <p:nvPr/>
        </p:nvSpPr>
        <p:spPr>
          <a:xfrm>
            <a:off x="6629707" y="3018639"/>
            <a:ext cx="3555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“Atypical” brain assymetry</a:t>
            </a:r>
            <a:endParaRPr lang="en-GB" sz="2400" b="1" dirty="0"/>
          </a:p>
        </p:txBody>
      </p:sp>
      <p:pic>
        <p:nvPicPr>
          <p:cNvPr id="49" name="Picture 2" descr="Icono Mano Vectores, Iconos, Gráficos y Fondos para 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0952" y1="44571" x2="40952" y2="445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278"/>
          <a:stretch/>
        </p:blipFill>
        <p:spPr bwMode="auto">
          <a:xfrm>
            <a:off x="1590339" y="3545035"/>
            <a:ext cx="1068981" cy="179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CuadroTexto 46"/>
          <p:cNvSpPr txBox="1"/>
          <p:nvPr/>
        </p:nvSpPr>
        <p:spPr>
          <a:xfrm>
            <a:off x="2514944" y="4025342"/>
            <a:ext cx="2254928" cy="830997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Strong hand lateralization</a:t>
            </a:r>
            <a:endParaRPr lang="en-GB" sz="2400" b="1" dirty="0"/>
          </a:p>
        </p:txBody>
      </p:sp>
      <p:sp>
        <p:nvSpPr>
          <p:cNvPr id="57" name="CuadroTexto 56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Discussion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830" y="1259370"/>
            <a:ext cx="1817184" cy="180007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819" y="1244212"/>
            <a:ext cx="2024321" cy="2005259"/>
          </a:xfrm>
          <a:prstGeom prst="rect">
            <a:avLst/>
          </a:prstGeom>
        </p:spPr>
      </p:pic>
      <p:sp>
        <p:nvSpPr>
          <p:cNvPr id="21" name="Título 1"/>
          <p:cNvSpPr txBox="1">
            <a:spLocks/>
          </p:cNvSpPr>
          <p:nvPr/>
        </p:nvSpPr>
        <p:spPr>
          <a:xfrm>
            <a:off x="-9583" y="305074"/>
            <a:ext cx="12192000" cy="859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b="1" dirty="0"/>
              <a:t>Hand lateralization as marker for brain assymetry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340885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0292"/>
            <a:ext cx="12192000" cy="8599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b="1" dirty="0"/>
              <a:t>BD subgroups in hand use</a:t>
            </a:r>
            <a:endParaRPr lang="en-GB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19</a:t>
            </a:fld>
            <a:endParaRPr lang="en-GB" dirty="0"/>
          </a:p>
        </p:txBody>
      </p:sp>
      <p:sp>
        <p:nvSpPr>
          <p:cNvPr id="57" name="CuadroTexto 56"/>
          <p:cNvSpPr txBox="1"/>
          <p:nvPr/>
        </p:nvSpPr>
        <p:spPr>
          <a:xfrm>
            <a:off x="10670219" y="109048"/>
            <a:ext cx="1367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Discussion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466977" y="3326009"/>
            <a:ext cx="3790765" cy="1005378"/>
          </a:xfrm>
          <a:prstGeom prst="round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tx1"/>
                </a:solidFill>
              </a:rPr>
              <a:t>Overall, higher LAT </a:t>
            </a:r>
            <a:r>
              <a:rPr lang="es-ES" sz="3200" b="1" dirty="0" err="1">
                <a:solidFill>
                  <a:schemeClr val="tx1"/>
                </a:solidFill>
              </a:rPr>
              <a:t>than</a:t>
            </a:r>
            <a:r>
              <a:rPr lang="es-ES" sz="3200" b="1" dirty="0">
                <a:solidFill>
                  <a:schemeClr val="tx1"/>
                </a:solidFill>
              </a:rPr>
              <a:t> controls</a:t>
            </a:r>
            <a:endParaRPr lang="en-GB" sz="3200" b="1" dirty="0">
              <a:solidFill>
                <a:schemeClr val="tx1"/>
              </a:solidFill>
            </a:endParaRPr>
          </a:p>
        </p:txBody>
      </p:sp>
      <p:sp>
        <p:nvSpPr>
          <p:cNvPr id="21" name="Rectángulo redondeado 20"/>
          <p:cNvSpPr/>
          <p:nvPr/>
        </p:nvSpPr>
        <p:spPr>
          <a:xfrm>
            <a:off x="2305235" y="4599406"/>
            <a:ext cx="3790765" cy="1756944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tx1"/>
                </a:solidFill>
              </a:rPr>
              <a:t>When mixed-handed, greater severity</a:t>
            </a:r>
            <a:endParaRPr lang="en-GB" sz="3200" b="1" dirty="0">
              <a:solidFill>
                <a:schemeClr val="tx1"/>
              </a:solidFill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6601921" y="4730671"/>
            <a:ext cx="4643024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Increase sample size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Prevalence by subtype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2362359" y="1504409"/>
            <a:ext cx="2325950" cy="1821600"/>
            <a:chOff x="2078749" y="1236390"/>
            <a:chExt cx="2325950" cy="1821600"/>
          </a:xfrm>
        </p:grpSpPr>
        <p:pic>
          <p:nvPicPr>
            <p:cNvPr id="19" name="Google Shape;85;p17">
              <a:extLst>
                <a:ext uri="{FF2B5EF4-FFF2-40B4-BE49-F238E27FC236}">
                  <a16:creationId xmlns:a16="http://schemas.microsoft.com/office/drawing/2014/main" id="{74E3E47A-A681-5DA4-D980-43CE26E23F2B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/>
          </p:blipFill>
          <p:spPr>
            <a:xfrm>
              <a:off x="2078749" y="1236390"/>
              <a:ext cx="2325950" cy="182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ángulo 2"/>
            <p:cNvSpPr/>
            <p:nvPr/>
          </p:nvSpPr>
          <p:spPr>
            <a:xfrm>
              <a:off x="2828912" y="1868599"/>
              <a:ext cx="790112" cy="6658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3600" b="1" dirty="0"/>
                <a:t>BD</a:t>
              </a:r>
              <a:endParaRPr lang="en-GB" sz="3600" b="1" dirty="0"/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6601920" y="2147190"/>
            <a:ext cx="4643023" cy="2043870"/>
            <a:chOff x="6906827" y="2068497"/>
            <a:chExt cx="4643023" cy="2043870"/>
          </a:xfrm>
        </p:grpSpPr>
        <p:grpSp>
          <p:nvGrpSpPr>
            <p:cNvPr id="12" name="Grupo 11"/>
            <p:cNvGrpSpPr/>
            <p:nvPr/>
          </p:nvGrpSpPr>
          <p:grpSpPr>
            <a:xfrm>
              <a:off x="6976260" y="2193109"/>
              <a:ext cx="2325950" cy="1821600"/>
              <a:chOff x="2220789" y="1264231"/>
              <a:chExt cx="2325950" cy="1821600"/>
            </a:xfrm>
          </p:grpSpPr>
          <p:pic>
            <p:nvPicPr>
              <p:cNvPr id="13" name="Google Shape;85;p17">
                <a:extLst>
                  <a:ext uri="{FF2B5EF4-FFF2-40B4-BE49-F238E27FC236}">
                    <a16:creationId xmlns:a16="http://schemas.microsoft.com/office/drawing/2014/main" id="{74E3E47A-A681-5DA4-D980-43CE26E23F2B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/>
            </p:blipFill>
            <p:spPr>
              <a:xfrm>
                <a:off x="2220789" y="1264231"/>
                <a:ext cx="2325950" cy="182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Rectángulo 13"/>
              <p:cNvSpPr/>
              <p:nvPr/>
            </p:nvSpPr>
            <p:spPr>
              <a:xfrm>
                <a:off x="2828911" y="1868599"/>
                <a:ext cx="1026217" cy="6658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3600" b="1" dirty="0"/>
                  <a:t>SCZ</a:t>
                </a:r>
                <a:endParaRPr lang="en-GB" sz="3600" b="1" dirty="0"/>
              </a:p>
            </p:txBody>
          </p:sp>
        </p:grpSp>
        <p:sp>
          <p:nvSpPr>
            <p:cNvPr id="8" name="Rectángulo redondeado 7"/>
            <p:cNvSpPr/>
            <p:nvPr/>
          </p:nvSpPr>
          <p:spPr>
            <a:xfrm>
              <a:off x="6906827" y="2068497"/>
              <a:ext cx="4643023" cy="2043870"/>
            </a:xfrm>
            <a:prstGeom prst="roundRect">
              <a:avLst/>
            </a:prstGeom>
            <a:noFill/>
            <a:ln w="76200">
              <a:solidFill>
                <a:srgbClr val="E94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CuadroTexto 8"/>
            <p:cNvSpPr txBox="1"/>
            <p:nvPr/>
          </p:nvSpPr>
          <p:spPr>
            <a:xfrm>
              <a:off x="9228962" y="2120936"/>
              <a:ext cx="222111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 err="1"/>
                <a:t>Despite</a:t>
              </a:r>
              <a:r>
                <a:rPr lang="es-ES" sz="2400" b="1" dirty="0"/>
                <a:t> </a:t>
              </a:r>
              <a:r>
                <a:rPr lang="es-ES" sz="2400" b="1" dirty="0" err="1"/>
                <a:t>clinical</a:t>
              </a:r>
              <a:r>
                <a:rPr lang="es-ES" sz="2400" b="1" dirty="0"/>
                <a:t> + genetic </a:t>
              </a:r>
              <a:r>
                <a:rPr lang="es-ES" sz="2400" b="1" dirty="0" err="1"/>
                <a:t>similarities</a:t>
              </a:r>
              <a:r>
                <a:rPr lang="es-ES" sz="2400" b="1" dirty="0"/>
                <a:t>, </a:t>
              </a:r>
              <a:r>
                <a:rPr lang="es-ES" sz="2400" b="1" dirty="0" err="1"/>
                <a:t>opposite</a:t>
              </a:r>
              <a:r>
                <a:rPr lang="es-ES" sz="2400" b="1" dirty="0"/>
                <a:t> hand use patterns</a:t>
              </a:r>
              <a:endParaRPr lang="en-GB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9926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8104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b="1" dirty="0"/>
              <a:t>Conclusions</a:t>
            </a:r>
            <a:endParaRPr lang="en-GB" b="1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085195"/>
              </p:ext>
            </p:extLst>
          </p:nvPr>
        </p:nvGraphicFramePr>
        <p:xfrm>
          <a:off x="838200" y="1642367"/>
          <a:ext cx="10515600" cy="4287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275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77528" y="-227950"/>
            <a:ext cx="4624161" cy="1325563"/>
          </a:xfrm>
        </p:spPr>
        <p:txBody>
          <a:bodyPr/>
          <a:lstStyle/>
          <a:p>
            <a:r>
              <a:rPr lang="en-GB" b="1" dirty="0">
                <a:cs typeface="Arial" panose="020B0604020202020204" pitchFamily="34" charset="0"/>
              </a:rPr>
              <a:t>Acknowledgements</a:t>
            </a: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DB5DE485-D2DB-AB35-0158-29D254314FED}"/>
              </a:ext>
            </a:extLst>
          </p:cNvPr>
          <p:cNvGrpSpPr/>
          <p:nvPr/>
        </p:nvGrpSpPr>
        <p:grpSpPr>
          <a:xfrm>
            <a:off x="1531513" y="4704773"/>
            <a:ext cx="3049366" cy="897037"/>
            <a:chOff x="302284" y="5040495"/>
            <a:chExt cx="2537575" cy="699428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3166" y="5084785"/>
              <a:ext cx="1436693" cy="655138"/>
            </a:xfrm>
            <a:prstGeom prst="rect">
              <a:avLst/>
            </a:prstGeom>
          </p:spPr>
        </p:pic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284" y="5040495"/>
              <a:ext cx="1113720" cy="658951"/>
            </a:xfrm>
            <a:prstGeom prst="rect">
              <a:avLst/>
            </a:prstGeom>
          </p:spPr>
        </p:pic>
      </p:grpSp>
      <p:pic>
        <p:nvPicPr>
          <p:cNvPr id="54" name="Picture 97" descr="Fundación Jiménez Díaz – Zitec Consultores">
            <a:extLst>
              <a:ext uri="{FF2B5EF4-FFF2-40B4-BE49-F238E27FC236}">
                <a16:creationId xmlns:a16="http://schemas.microsoft.com/office/drawing/2014/main" id="{F402961C-50AB-4728-BA45-88D74D9083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24" b="36665"/>
          <a:stretch/>
        </p:blipFill>
        <p:spPr bwMode="auto">
          <a:xfrm>
            <a:off x="246308" y="6330300"/>
            <a:ext cx="1928125" cy="387254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42" descr="ModeloAvilés-1999 on Twitter: &quot;millón de personas. También, Adjunct  Associated Professor of Psychiatry en Columbia University (NY, USA). El Dr.  Baca disertará sobre El desafío de la digitalización en la asistencia en  Salud">
            <a:extLst>
              <a:ext uri="{FF2B5EF4-FFF2-40B4-BE49-F238E27FC236}">
                <a16:creationId xmlns:a16="http://schemas.microsoft.com/office/drawing/2014/main" id="{68203F7C-5135-4E47-9924-DB611A104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45" y="5096138"/>
            <a:ext cx="1149677" cy="1178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Google Shape;246;p11">
            <a:extLst>
              <a:ext uri="{FF2B5EF4-FFF2-40B4-BE49-F238E27FC236}">
                <a16:creationId xmlns:a16="http://schemas.microsoft.com/office/drawing/2014/main" id="{1FFB3FC2-95E6-498F-8415-621CAE3F28F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357" t="5359" r="809" b="3399"/>
          <a:stretch/>
        </p:blipFill>
        <p:spPr>
          <a:xfrm>
            <a:off x="8875488" y="5770811"/>
            <a:ext cx="3195945" cy="976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Picture 10" descr="Risultato immagini per I-LINK CSIC">
            <a:extLst>
              <a:ext uri="{FF2B5EF4-FFF2-40B4-BE49-F238E27FC236}">
                <a16:creationId xmlns:a16="http://schemas.microsoft.com/office/drawing/2014/main" id="{00FC947F-E51A-432F-97F5-9D01C9949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288" y="6054121"/>
            <a:ext cx="2456932" cy="55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B571D6B6-3DBB-4E99-ABD9-2379E1C3B53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584" y="6054122"/>
            <a:ext cx="1930314" cy="55235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E701BB7-8748-44CE-9F9B-71CCDEDA3F3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7362" t="19104" r="17716" b="33007"/>
          <a:stretch/>
        </p:blipFill>
        <p:spPr>
          <a:xfrm>
            <a:off x="583315" y="1574008"/>
            <a:ext cx="5482956" cy="3033316"/>
          </a:xfrm>
          <a:prstGeom prst="rect">
            <a:avLst/>
          </a:prstGeom>
        </p:spPr>
      </p:pic>
      <p:pic>
        <p:nvPicPr>
          <p:cNvPr id="1026" name="Picture 2" descr="School of Medicine (@StAndMedicine) / X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98" t="-1" r="26655" b="43935"/>
          <a:stretch/>
        </p:blipFill>
        <p:spPr bwMode="auto">
          <a:xfrm>
            <a:off x="6849869" y="4652582"/>
            <a:ext cx="605240" cy="80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School of Medicine (@StAndMedicine) / X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83"/>
          <a:stretch/>
        </p:blipFill>
        <p:spPr bwMode="auto">
          <a:xfrm>
            <a:off x="7455109" y="4704776"/>
            <a:ext cx="2091717" cy="78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630" t="37411" r="22935" b="36829"/>
          <a:stretch/>
        </p:blipFill>
        <p:spPr>
          <a:xfrm>
            <a:off x="6849869" y="1546387"/>
            <a:ext cx="4599097" cy="3060937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4580879" y="4761576"/>
            <a:ext cx="1606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Claudio Toma’s lab</a:t>
            </a:r>
            <a:endParaRPr lang="en-GB" dirty="0"/>
          </a:p>
        </p:txBody>
      </p:sp>
      <p:sp>
        <p:nvSpPr>
          <p:cNvPr id="21" name="CuadroTexto 20"/>
          <p:cNvSpPr txBox="1"/>
          <p:nvPr/>
        </p:nvSpPr>
        <p:spPr>
          <a:xfrm>
            <a:off x="9538180" y="4761576"/>
            <a:ext cx="1606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Silvia Paracchini’s lab</a:t>
            </a:r>
            <a:endParaRPr lang="en-GB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685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1999</TotalTime>
  <Words>918</Words>
  <Application>Microsoft Office PowerPoint</Application>
  <PresentationFormat>Panorámica</PresentationFormat>
  <Paragraphs>318</Paragraphs>
  <Slides>21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Arial</vt:lpstr>
      <vt:lpstr>Arial Black</vt:lpstr>
      <vt:lpstr>Calibri</vt:lpstr>
      <vt:lpstr>Calibri Light</vt:lpstr>
      <vt:lpstr>Cambria</vt:lpstr>
      <vt:lpstr>Didot</vt:lpstr>
      <vt:lpstr>Tema de Office</vt:lpstr>
      <vt:lpstr>Atypical handedness as a marker of altered brain lateralization: genetic and clinical study in bipolar disorder</vt:lpstr>
      <vt:lpstr>Handedness in general population</vt:lpstr>
      <vt:lpstr>GWAS of handedness: 194K left-handers, 1.5 M controls </vt:lpstr>
      <vt:lpstr>Handedness in neurodevelopmental/psychiatric disorders</vt:lpstr>
      <vt:lpstr>Bipolar disorder</vt:lpstr>
      <vt:lpstr>GWAS in BD (PGC-4): 158,000 cases and 2.8 M controls</vt:lpstr>
      <vt:lpstr>Objectives</vt:lpstr>
      <vt:lpstr>MadManic cohort</vt:lpstr>
      <vt:lpstr>Edinburgh Handedness Inventory</vt:lpstr>
      <vt:lpstr>Presentación de PowerPoint</vt:lpstr>
      <vt:lpstr>NRH in Spanish population</vt:lpstr>
      <vt:lpstr>Case-control handedness study</vt:lpstr>
      <vt:lpstr>Stronger lateralization of foot and eye in BD patients</vt:lpstr>
      <vt:lpstr>Sex-stratified analyses</vt:lpstr>
      <vt:lpstr>Mixed-handed people present higher severity</vt:lpstr>
      <vt:lpstr>Polygenic Score (PS): individual genetic liability to a trait</vt:lpstr>
      <vt:lpstr>Polygenic Score</vt:lpstr>
      <vt:lpstr>Presentación de PowerPoint</vt:lpstr>
      <vt:lpstr>BD subgroups in hand use</vt:lpstr>
      <vt:lpstr>Conclusions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Atypical handedness as a marker of altered brain lateralization: genetic and clinical study in bipolar disorder</dc:title>
  <dc:creator>CBM</dc:creator>
  <cp:lastModifiedBy>Ines Knot</cp:lastModifiedBy>
  <cp:revision>125</cp:revision>
  <dcterms:created xsi:type="dcterms:W3CDTF">2026-06-30T10:32:29Z</dcterms:created>
  <dcterms:modified xsi:type="dcterms:W3CDTF">2026-08-18T07:31:59Z</dcterms:modified>
</cp:coreProperties>
</file>