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A8965-AA94-1B99-CC13-D4FA7FF63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B3FFE0-A2AD-E3B0-60FF-B5550FAAC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882C79-5F11-446C-545D-D46E7492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A5B028-8948-C268-1755-67A84C86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3A2529-1F59-E416-DC61-50EB09267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1443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2A58C-8F51-77DA-845E-C5C8EF62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5F128F-CC87-1B4F-41BC-316065E9D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DE7FC0-427B-8864-E221-497E1F9C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49AD8D-F365-0050-74B4-D0B8CDB7B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2C717D-8BCA-FDD3-95D7-72D5B97B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447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20015-AFC0-2AA3-64C4-6AE86244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43A93D-43D8-FF8F-6EA4-FEFB18F00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8DFBE4-902D-719B-1AE3-0F035CB7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F48BB-B9E3-9121-3EF1-56293E1B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06D547-E000-B2E6-9017-6D3D93F1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390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61E99-28EE-5958-3D40-34ED5627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42528B-1E43-8459-A514-92D02E6A0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BCC5D7-B473-643D-AB6B-BD579917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A0EA50-36C7-775B-AF1B-20B389CE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3A1E57-0DF7-DD8C-938D-7F551FDE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957E79-4F0C-593A-58D9-E73F3498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70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2E35C-C0AE-B771-726D-BD08D0AEF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132ACE-D430-C4F9-2CAF-F2B551C2A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27A969-2718-02FF-31E7-DEBAC6BE1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2E5BA3-22C4-240B-1E05-C9974B258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FC08E1-0ACB-84C5-D52E-18FDE43E2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DF5B59-AE3E-C03D-2F65-7E8EA743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341219-8B63-F00C-8BC8-90C8E9AD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29A79A5-EC10-0A5D-78B0-8755BC0C7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647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1BF6C-AC8B-6852-5BAC-4B046283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C97EAC-7A68-8AFC-1406-625722CC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501E39-0A33-CCD9-8AA2-43338F9E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BE980C-61BE-F9C3-3DE9-B590029E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4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9F991F-C5AB-A79B-1137-BBD9ACF6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C30606-8ECF-598E-5730-B3B1CA0E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6D8175-7AE9-9190-B3E4-47BD4300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20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11C0E-2077-885B-D8BF-1FF70DE1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035CF-7028-8512-AD85-17D9260CE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B1FDBC-5497-9B3C-E718-1BD0F8E5C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F6CFE8-5E6E-AC3F-72DE-5FE66B61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34EF39-AB13-E1AF-2219-3490F624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05F04B-DC05-D702-08D6-91B37848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3796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EF683-94B7-4D05-089F-936FC9D1E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FEAE66-E578-6BE5-AD92-D57D874C8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289FA4-4678-FFB4-F068-859D31DD0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5F0E44-3B85-B17E-FF1B-F718677D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F7C146-47EF-B1D1-290F-29F57C4E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7CA9CB-E554-1C33-D512-DA1E1C6A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111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096A7-3BCB-D6B3-7C7F-E994D3A8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CE4720-1CC4-A380-0863-79FD3CA01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EDEA8A-38A6-B7D9-ECAF-9EF17032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E682E6-E22A-6DB4-2332-1A90020E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44605-53DA-994B-33D0-F79EFCC3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563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D396D0-8182-00F7-0F9D-45E099ED0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F2466A-BAA1-903A-5822-BE552AE0A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05C77D-1FBA-F531-5C8A-E63EE1F1B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26DBE2-CF50-3CB9-E0FF-1C0D4FFD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71C04F-7BD0-B852-D9EB-6FCE4CE0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71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5234E6-BF53-C5C7-636D-9B327C7B3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15BF66-502B-272C-29C7-C3338D2CD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7958B2-16D4-BA58-57B1-6847150A9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D94F1-01CA-4102-981F-98B9BD8CF364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994EE-FC9B-EDD8-5F3B-6A9183D59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5600A7-6357-19FA-F514-D7AED021C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7AFFC-51C8-4530-91E9-7A136D96E7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858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tiff"/><Relationship Id="rId4" Type="http://schemas.openxmlformats.org/officeDocument/2006/relationships/image" Target="../media/image17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FCBAD-3D33-63E1-7962-5DA564060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WGCNA in </a:t>
            </a:r>
            <a:r>
              <a:rPr lang="es-ES" dirty="0" err="1"/>
              <a:t>amygdala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725F79-CB32-5009-10EB-AA6F3D0CD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29th </a:t>
            </a:r>
            <a:r>
              <a:rPr lang="es-ES" dirty="0"/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3449910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6D139-61F7-87AF-C1FE-13A7D52B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03" y="231462"/>
            <a:ext cx="3970769" cy="768350"/>
          </a:xfrm>
        </p:spPr>
        <p:txBody>
          <a:bodyPr/>
          <a:lstStyle/>
          <a:p>
            <a:r>
              <a:rPr lang="es-ES" dirty="0"/>
              <a:t>Why </a:t>
            </a:r>
            <a:r>
              <a:rPr lang="es-ES" dirty="0" err="1"/>
              <a:t>amygdala</a:t>
            </a:r>
            <a:r>
              <a:rPr lang="es-ES" dirty="0"/>
              <a:t>?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577971D-1CD7-DF33-4078-345CAE588D91}"/>
              </a:ext>
            </a:extLst>
          </p:cNvPr>
          <p:cNvSpPr/>
          <p:nvPr/>
        </p:nvSpPr>
        <p:spPr>
          <a:xfrm>
            <a:off x="130879" y="1324381"/>
            <a:ext cx="2842878" cy="140861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Genetics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handedness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D389A0-FD6B-42A8-B17B-BAFA37DB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20" y="1801379"/>
            <a:ext cx="2334671" cy="81045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8F82C09-B994-6F15-1368-7E1D7293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85" y="3413412"/>
            <a:ext cx="3050474" cy="1214141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6E1DA10-8E43-9E3C-6E0A-B0AB5FEF40D2}"/>
              </a:ext>
            </a:extLst>
          </p:cNvPr>
          <p:cNvSpPr/>
          <p:nvPr/>
        </p:nvSpPr>
        <p:spPr>
          <a:xfrm>
            <a:off x="55648" y="2951559"/>
            <a:ext cx="3421949" cy="17807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Handedness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mechanisms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720A80-49D6-8A66-A63A-5FAEB37D0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633" y="1687466"/>
            <a:ext cx="2828488" cy="12145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E78E98C-03E8-5954-F472-D331DC3DD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344" y="514330"/>
            <a:ext cx="2691482" cy="1114546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BFDDFDD-6217-08A8-6EB2-1063957C4006}"/>
              </a:ext>
            </a:extLst>
          </p:cNvPr>
          <p:cNvSpPr/>
          <p:nvPr/>
        </p:nvSpPr>
        <p:spPr>
          <a:xfrm>
            <a:off x="3916344" y="59376"/>
            <a:ext cx="5006838" cy="37097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Cilia in </a:t>
            </a:r>
            <a:r>
              <a:rPr lang="es-ES" dirty="0" err="1">
                <a:solidFill>
                  <a:schemeClr val="tx1"/>
                </a:solidFill>
              </a:rPr>
              <a:t>brain</a:t>
            </a:r>
            <a:r>
              <a:rPr lang="es-ES" dirty="0">
                <a:solidFill>
                  <a:schemeClr val="tx1"/>
                </a:solidFill>
              </a:rPr>
              <a:t> + </a:t>
            </a:r>
            <a:r>
              <a:rPr lang="es-ES" dirty="0" err="1">
                <a:solidFill>
                  <a:schemeClr val="tx1"/>
                </a:solidFill>
              </a:rPr>
              <a:t>limbic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system</a:t>
            </a:r>
            <a:r>
              <a:rPr lang="es-ES" dirty="0">
                <a:solidFill>
                  <a:schemeClr val="tx1"/>
                </a:solidFill>
              </a:rPr>
              <a:t> (</a:t>
            </a:r>
            <a:r>
              <a:rPr lang="es-ES" dirty="0" err="1">
                <a:solidFill>
                  <a:schemeClr val="tx1"/>
                </a:solidFill>
              </a:rPr>
              <a:t>amygdala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88E3B7A2-744F-B94A-53FB-3FF2AD6D176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552318" y="2732998"/>
            <a:ext cx="214305" cy="218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A63B9BA-A12D-D523-155F-D2681463A2F7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3477597" y="1914245"/>
            <a:ext cx="438747" cy="1927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7BE8ECB-C08B-BD8F-0ED2-88606DFA258D}"/>
              </a:ext>
            </a:extLst>
          </p:cNvPr>
          <p:cNvSpPr/>
          <p:nvPr/>
        </p:nvSpPr>
        <p:spPr>
          <a:xfrm>
            <a:off x="125451" y="4933950"/>
            <a:ext cx="3136199" cy="714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Neurodevelopment</a:t>
            </a:r>
            <a:endParaRPr lang="es-ES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1DB3704-0951-86A2-5860-A733CF31C3E0}"/>
              </a:ext>
            </a:extLst>
          </p:cNvPr>
          <p:cNvCxnSpPr>
            <a:stCxn id="7" idx="2"/>
            <a:endCxn id="17" idx="0"/>
          </p:cNvCxnSpPr>
          <p:nvPr/>
        </p:nvCxnSpPr>
        <p:spPr>
          <a:xfrm flipH="1">
            <a:off x="1693551" y="4732329"/>
            <a:ext cx="73072" cy="201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C89D963-86B8-9E51-B98E-ACCC15CC4E51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3261650" y="5291138"/>
            <a:ext cx="274947" cy="126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Imagen 28">
            <a:extLst>
              <a:ext uri="{FF2B5EF4-FFF2-40B4-BE49-F238E27FC236}">
                <a16:creationId xmlns:a16="http://schemas.microsoft.com/office/drawing/2014/main" id="{64868E69-E68A-DBC7-BB32-AEFBA6033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672" y="2207425"/>
            <a:ext cx="3002548" cy="1064648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A38FC53B-AE85-38EC-212C-174995177C13}"/>
              </a:ext>
            </a:extLst>
          </p:cNvPr>
          <p:cNvSpPr txBox="1"/>
          <p:nvPr/>
        </p:nvSpPr>
        <p:spPr>
          <a:xfrm>
            <a:off x="10095436" y="3259194"/>
            <a:ext cx="20848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amygdala is highly enriched in cilia-dependent signaling pathways involved in neuronal plasticity and emotional processing, while simultaneously retaining transcriptional programs that reflect embryonic developmental patterning, suggesting persistence of fetal laterality-related molecular mechanisms into adulthood.</a:t>
            </a:r>
            <a:endParaRPr lang="es-ES" sz="1400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FE2C74F7-A708-30E1-8CF5-2E36706CDF9C}"/>
              </a:ext>
            </a:extLst>
          </p:cNvPr>
          <p:cNvGrpSpPr/>
          <p:nvPr/>
        </p:nvGrpSpPr>
        <p:grpSpPr>
          <a:xfrm>
            <a:off x="3536597" y="4036686"/>
            <a:ext cx="5809440" cy="2761938"/>
            <a:chOff x="4515658" y="3990975"/>
            <a:chExt cx="5809440" cy="2761938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D1B43A17-7E62-CA07-F198-06F9D8B83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93841" y="4600386"/>
              <a:ext cx="2597534" cy="999052"/>
            </a:xfrm>
            <a:prstGeom prst="rect">
              <a:avLst/>
            </a:prstGeom>
          </p:spPr>
        </p:pic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A6ACDC97-C0EB-BF81-25C7-010A9011F2A3}"/>
                </a:ext>
              </a:extLst>
            </p:cNvPr>
            <p:cNvSpPr/>
            <p:nvPr/>
          </p:nvSpPr>
          <p:spPr>
            <a:xfrm>
              <a:off x="4515658" y="3990975"/>
              <a:ext cx="5809440" cy="276193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</a:rPr>
                <a:t>Neurodevelopmental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imprinting</a:t>
              </a:r>
              <a:r>
                <a:rPr lang="es-ES" dirty="0">
                  <a:solidFill>
                    <a:schemeClr val="tx1"/>
                  </a:solidFill>
                </a:rPr>
                <a:t> in </a:t>
              </a:r>
              <a:r>
                <a:rPr lang="es-ES" dirty="0" err="1">
                  <a:solidFill>
                    <a:schemeClr val="tx1"/>
                  </a:solidFill>
                </a:rPr>
                <a:t>amygdala</a:t>
              </a:r>
              <a:endParaRPr lang="es-ES" dirty="0">
                <a:solidFill>
                  <a:schemeClr val="tx1"/>
                </a:solidFill>
              </a:endParaRPr>
            </a:p>
          </p:txBody>
        </p:sp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C7B51B88-093A-400A-D280-D9C432D19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01401" y="5648325"/>
              <a:ext cx="5204092" cy="1028716"/>
            </a:xfrm>
            <a:prstGeom prst="rect">
              <a:avLst/>
            </a:prstGeom>
          </p:spPr>
        </p:pic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5676B40E-4A00-5992-2A7B-6EE3A3A52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91375" y="4483206"/>
              <a:ext cx="2883469" cy="1140676"/>
            </a:xfrm>
            <a:prstGeom prst="rect">
              <a:avLst/>
            </a:prstGeom>
          </p:spPr>
        </p:pic>
      </p:grpSp>
      <p:pic>
        <p:nvPicPr>
          <p:cNvPr id="39" name="Imagen 38">
            <a:extLst>
              <a:ext uri="{FF2B5EF4-FFF2-40B4-BE49-F238E27FC236}">
                <a16:creationId xmlns:a16="http://schemas.microsoft.com/office/drawing/2014/main" id="{08540D45-B802-4EAC-3BE7-A6C4C6E956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2314" y="964349"/>
            <a:ext cx="2573642" cy="62027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A42D6C09-67F3-CD4B-A211-E1B37E2F17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6494" y="2832753"/>
            <a:ext cx="2676765" cy="783192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637924CC-8F8D-0782-E836-164EFFA49D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6037" y="1196912"/>
            <a:ext cx="2774423" cy="981107"/>
          </a:xfrm>
          <a:prstGeom prst="rect">
            <a:avLst/>
          </a:prstGeom>
        </p:spPr>
      </p:pic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E2844576-8241-D74D-2F1B-51A49D9BB2D7}"/>
              </a:ext>
            </a:extLst>
          </p:cNvPr>
          <p:cNvSpPr/>
          <p:nvPr/>
        </p:nvSpPr>
        <p:spPr>
          <a:xfrm>
            <a:off x="9211509" y="277439"/>
            <a:ext cx="2842878" cy="276193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Amygdala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is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an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interesting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structure</a:t>
            </a:r>
            <a:r>
              <a:rPr lang="es-ES" dirty="0">
                <a:solidFill>
                  <a:schemeClr val="tx1"/>
                </a:solidFill>
              </a:rPr>
              <a:t> in BD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DB9191B-6FAE-F088-03F9-06DE35EBA81D}"/>
              </a:ext>
            </a:extLst>
          </p:cNvPr>
          <p:cNvCxnSpPr>
            <a:cxnSpLocks/>
            <a:stCxn id="54" idx="2"/>
            <a:endCxn id="21" idx="3"/>
          </p:cNvCxnSpPr>
          <p:nvPr/>
        </p:nvCxnSpPr>
        <p:spPr>
          <a:xfrm flipH="1">
            <a:off x="9346037" y="3039377"/>
            <a:ext cx="1286911" cy="2378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3E184DB2-625D-F918-09D4-96F70561434B}"/>
              </a:ext>
            </a:extLst>
          </p:cNvPr>
          <p:cNvCxnSpPr>
            <a:cxnSpLocks/>
            <a:stCxn id="54" idx="1"/>
            <a:endCxn id="10" idx="3"/>
          </p:cNvCxnSpPr>
          <p:nvPr/>
        </p:nvCxnSpPr>
        <p:spPr>
          <a:xfrm flipH="1">
            <a:off x="8923182" y="1658408"/>
            <a:ext cx="288327" cy="255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Imagen 60">
            <a:extLst>
              <a:ext uri="{FF2B5EF4-FFF2-40B4-BE49-F238E27FC236}">
                <a16:creationId xmlns:a16="http://schemas.microsoft.com/office/drawing/2014/main" id="{148A010C-637B-4FC2-10C4-C5C6E0E817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4441" y="2159579"/>
            <a:ext cx="2630482" cy="75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6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E18-7A9B-1B85-3D8A-F9C7E9A14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72900" cy="396875"/>
          </a:xfrm>
        </p:spPr>
        <p:txBody>
          <a:bodyPr>
            <a:normAutofit fontScale="90000"/>
          </a:bodyPr>
          <a:lstStyle/>
          <a:p>
            <a:r>
              <a:rPr lang="es-ES"/>
              <a:t>Automatic net construction minMod = 15 softThr = 20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24E11B-73E0-6AA8-B0F9-F11AA6357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762000"/>
            <a:ext cx="12192000" cy="4064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1B9FF1A-0A74-A8F7-520B-2B456CEE1AE9}"/>
              </a:ext>
            </a:extLst>
          </p:cNvPr>
          <p:cNvSpPr txBox="1"/>
          <p:nvPr/>
        </p:nvSpPr>
        <p:spPr>
          <a:xfrm>
            <a:off x="352425" y="5015547"/>
            <a:ext cx="3552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Less tan 9K genes </a:t>
            </a:r>
            <a:r>
              <a:rPr lang="es-ES" dirty="0" err="1"/>
              <a:t>imputed</a:t>
            </a:r>
            <a:r>
              <a:rPr lang="es-ES" dirty="0"/>
              <a:t>.</a:t>
            </a:r>
          </a:p>
          <a:p>
            <a:r>
              <a:rPr lang="es-ES" dirty="0"/>
              <a:t>21 modules.</a:t>
            </a:r>
          </a:p>
          <a:p>
            <a:r>
              <a:rPr lang="es-ES" b="1" dirty="0" err="1"/>
              <a:t>MidnightBlue</a:t>
            </a:r>
            <a:r>
              <a:rPr lang="es-ES" b="1" dirty="0"/>
              <a:t> and Red </a:t>
            </a:r>
            <a:r>
              <a:rPr lang="es-ES" b="1" dirty="0" err="1"/>
              <a:t>significantly</a:t>
            </a:r>
            <a:r>
              <a:rPr lang="es-ES" b="1" dirty="0"/>
              <a:t> </a:t>
            </a:r>
            <a:r>
              <a:rPr lang="es-ES" b="1" dirty="0" err="1"/>
              <a:t>enriched</a:t>
            </a:r>
            <a:r>
              <a:rPr lang="es-ES" b="1" dirty="0"/>
              <a:t> in </a:t>
            </a:r>
            <a:r>
              <a:rPr lang="es-ES" b="1" dirty="0" err="1"/>
              <a:t>cilia</a:t>
            </a:r>
            <a:r>
              <a:rPr lang="es-ES" b="1" dirty="0"/>
              <a:t> and </a:t>
            </a:r>
            <a:r>
              <a:rPr lang="es-ES" b="1" dirty="0" err="1"/>
              <a:t>microtubules</a:t>
            </a:r>
            <a:r>
              <a:rPr lang="es-ES" b="1" dirty="0"/>
              <a:t> </a:t>
            </a:r>
            <a:r>
              <a:rPr lang="es-ES" b="1" dirty="0" err="1"/>
              <a:t>categories</a:t>
            </a:r>
            <a:r>
              <a:rPr lang="es-ES" b="1" dirty="0"/>
              <a:t>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65EA433-E5D8-4602-5334-BF134F989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818" y="4826000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0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88FA872-C088-81DE-14A8-7B3364C483BF}"/>
              </a:ext>
            </a:extLst>
          </p:cNvPr>
          <p:cNvSpPr txBox="1"/>
          <p:nvPr/>
        </p:nvSpPr>
        <p:spPr>
          <a:xfrm>
            <a:off x="6438900" y="-6994"/>
            <a:ext cx="5381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Module-</a:t>
            </a:r>
            <a:r>
              <a:rPr lang="es-ES" sz="3200" dirty="0" err="1"/>
              <a:t>trait</a:t>
            </a:r>
            <a:r>
              <a:rPr lang="es-ES" sz="3200" dirty="0"/>
              <a:t> </a:t>
            </a:r>
            <a:r>
              <a:rPr lang="es-ES" sz="3200" dirty="0" err="1"/>
              <a:t>correlation</a:t>
            </a:r>
            <a:endParaRPr lang="es-ES" sz="3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70D827-16E3-1796-D9C9-C73EA2EFC5AB}"/>
              </a:ext>
            </a:extLst>
          </p:cNvPr>
          <p:cNvSpPr txBox="1"/>
          <p:nvPr/>
        </p:nvSpPr>
        <p:spPr>
          <a:xfrm>
            <a:off x="4979592" y="574537"/>
            <a:ext cx="73451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 modules </a:t>
            </a:r>
            <a:r>
              <a:rPr lang="es-ES" dirty="0" err="1"/>
              <a:t>correlated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NRH.</a:t>
            </a:r>
          </a:p>
          <a:p>
            <a:r>
              <a:rPr lang="es-ES" dirty="0"/>
              <a:t>8 modules </a:t>
            </a:r>
            <a:r>
              <a:rPr lang="es-ES" dirty="0" err="1"/>
              <a:t>correlated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PRS </a:t>
            </a:r>
            <a:r>
              <a:rPr lang="es-ES" dirty="0" err="1"/>
              <a:t>handedness</a:t>
            </a:r>
            <a:r>
              <a:rPr lang="es-ES" dirty="0"/>
              <a:t>, 7 in </a:t>
            </a:r>
            <a:r>
              <a:rPr lang="es-ES" dirty="0" err="1"/>
              <a:t>common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BD (P-val in table).</a:t>
            </a:r>
          </a:p>
          <a:p>
            <a:r>
              <a:rPr lang="es-ES" b="1" dirty="0" err="1"/>
              <a:t>Midnightblue</a:t>
            </a:r>
            <a:r>
              <a:rPr lang="es-ES" b="1" dirty="0"/>
              <a:t> </a:t>
            </a:r>
            <a:r>
              <a:rPr lang="es-ES" b="1" dirty="0" err="1"/>
              <a:t>correlated</a:t>
            </a:r>
            <a:r>
              <a:rPr lang="es-ES" b="1" dirty="0"/>
              <a:t> </a:t>
            </a:r>
            <a:r>
              <a:rPr lang="es-ES" b="1" dirty="0" err="1"/>
              <a:t>to</a:t>
            </a:r>
            <a:r>
              <a:rPr lang="es-ES" b="1" dirty="0"/>
              <a:t> PRS </a:t>
            </a:r>
            <a:r>
              <a:rPr lang="es-ES" b="1" dirty="0" err="1"/>
              <a:t>handedness</a:t>
            </a:r>
            <a:r>
              <a:rPr lang="es-ES" b="1" dirty="0"/>
              <a:t>, BD and SEX </a:t>
            </a:r>
            <a:r>
              <a:rPr lang="es-ES" b="1" dirty="0" err="1"/>
              <a:t>is</a:t>
            </a:r>
            <a:r>
              <a:rPr lang="es-ES" b="1" dirty="0"/>
              <a:t> </a:t>
            </a:r>
            <a:r>
              <a:rPr lang="es-ES" b="1" dirty="0" err="1"/>
              <a:t>significantly</a:t>
            </a:r>
            <a:r>
              <a:rPr lang="es-ES" b="1" dirty="0"/>
              <a:t> </a:t>
            </a:r>
            <a:r>
              <a:rPr lang="es-ES" b="1" dirty="0" err="1"/>
              <a:t>enriched</a:t>
            </a:r>
            <a:r>
              <a:rPr lang="es-ES" b="1" dirty="0"/>
              <a:t> in </a:t>
            </a:r>
            <a:r>
              <a:rPr lang="es-ES" b="1" dirty="0" err="1"/>
              <a:t>cilia</a:t>
            </a:r>
            <a:r>
              <a:rPr lang="es-ES" b="1" dirty="0"/>
              <a:t> </a:t>
            </a:r>
            <a:r>
              <a:rPr lang="es-ES" b="1" dirty="0" err="1"/>
              <a:t>formation</a:t>
            </a:r>
            <a:r>
              <a:rPr lang="es-ES" b="1" dirty="0"/>
              <a:t>.</a:t>
            </a:r>
          </a:p>
          <a:p>
            <a:r>
              <a:rPr lang="es-ES" b="1" dirty="0"/>
              <a:t>Red, </a:t>
            </a:r>
            <a:r>
              <a:rPr lang="es-ES" b="1" dirty="0" err="1"/>
              <a:t>also</a:t>
            </a:r>
            <a:r>
              <a:rPr lang="es-ES" b="1" dirty="0"/>
              <a:t> </a:t>
            </a:r>
            <a:r>
              <a:rPr lang="es-ES" b="1" dirty="0" err="1"/>
              <a:t>enriched</a:t>
            </a:r>
            <a:r>
              <a:rPr lang="es-ES" b="1" dirty="0"/>
              <a:t> in </a:t>
            </a:r>
            <a:r>
              <a:rPr lang="es-ES" b="1" dirty="0" err="1"/>
              <a:t>cilia</a:t>
            </a:r>
            <a:r>
              <a:rPr lang="es-ES" b="1" dirty="0"/>
              <a:t> + </a:t>
            </a:r>
            <a:r>
              <a:rPr lang="es-ES" b="1" dirty="0" err="1"/>
              <a:t>microtubules</a:t>
            </a:r>
            <a:r>
              <a:rPr lang="es-ES" b="1" dirty="0"/>
              <a:t>, </a:t>
            </a:r>
            <a:r>
              <a:rPr lang="es-ES" b="1" dirty="0" err="1"/>
              <a:t>only</a:t>
            </a:r>
            <a:r>
              <a:rPr lang="es-ES" b="1" dirty="0"/>
              <a:t> </a:t>
            </a:r>
            <a:r>
              <a:rPr lang="es-ES" b="1" dirty="0" err="1"/>
              <a:t>correlated</a:t>
            </a:r>
            <a:r>
              <a:rPr lang="es-ES" b="1" dirty="0"/>
              <a:t> </a:t>
            </a:r>
            <a:r>
              <a:rPr lang="es-ES" b="1" dirty="0" err="1"/>
              <a:t>to</a:t>
            </a:r>
            <a:r>
              <a:rPr lang="es-ES" b="1" dirty="0"/>
              <a:t> BD.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2875E19-6621-E779-8058-8BF1B2357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1" y="180502"/>
            <a:ext cx="4904101" cy="597021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81D198D-37A0-8BF0-D407-B4D9F7381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592" y="2470282"/>
            <a:ext cx="4329608" cy="223744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C58E1F61-DEF9-CD81-4608-FB6D53AB76F4}"/>
              </a:ext>
            </a:extLst>
          </p:cNvPr>
          <p:cNvSpPr/>
          <p:nvPr/>
        </p:nvSpPr>
        <p:spPr>
          <a:xfrm>
            <a:off x="0" y="1676400"/>
            <a:ext cx="4695825" cy="247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D8113D-CE53-7689-A804-381C767E7376}"/>
              </a:ext>
            </a:extLst>
          </p:cNvPr>
          <p:cNvSpPr/>
          <p:nvPr/>
        </p:nvSpPr>
        <p:spPr>
          <a:xfrm>
            <a:off x="75491" y="4525894"/>
            <a:ext cx="4695825" cy="247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C15BDDA-19C8-1DDF-6640-FF453ACC7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239" y="4707731"/>
            <a:ext cx="2126428" cy="212642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32DD583-D317-A977-49FF-14A25A955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667" y="4707731"/>
            <a:ext cx="2126428" cy="2126428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D67A232-6B93-D2FE-56B2-F447B0412673}"/>
              </a:ext>
            </a:extLst>
          </p:cNvPr>
          <p:cNvSpPr txBox="1"/>
          <p:nvPr/>
        </p:nvSpPr>
        <p:spPr>
          <a:xfrm>
            <a:off x="5057775" y="5276850"/>
            <a:ext cx="1933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Poor </a:t>
            </a:r>
            <a:r>
              <a:rPr lang="es-ES" dirty="0" err="1"/>
              <a:t>intramodular</a:t>
            </a:r>
            <a:r>
              <a:rPr lang="es-ES" dirty="0"/>
              <a:t> </a:t>
            </a:r>
            <a:r>
              <a:rPr lang="es-ES" dirty="0" err="1"/>
              <a:t>analysis</a:t>
            </a:r>
            <a:r>
              <a:rPr lang="es-ES" dirty="0"/>
              <a:t> (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best</a:t>
            </a:r>
            <a:r>
              <a:rPr lang="es-ES" dirty="0"/>
              <a:t> WGCNA </a:t>
            </a:r>
            <a:r>
              <a:rPr lang="es-ES" dirty="0" err="1"/>
              <a:t>ever</a:t>
            </a:r>
            <a:r>
              <a:rPr lang="es-ES" dirty="0"/>
              <a:t> run)</a:t>
            </a:r>
          </a:p>
        </p:txBody>
      </p:sp>
    </p:spTree>
    <p:extLst>
      <p:ext uri="{BB962C8B-B14F-4D97-AF65-F5344CB8AC3E}">
        <p14:creationId xmlns:p14="http://schemas.microsoft.com/office/powerpoint/2010/main" val="334566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2407B-A662-3EC9-0BDF-EA21E64B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Conclusions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amygdala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E31BEE-F1B1-26BB-0562-D815823C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Attemp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justify</a:t>
            </a:r>
            <a:r>
              <a:rPr lang="es-ES" dirty="0"/>
              <a:t> </a:t>
            </a:r>
            <a:r>
              <a:rPr lang="es-ES" dirty="0" err="1"/>
              <a:t>amygdala</a:t>
            </a:r>
            <a:r>
              <a:rPr lang="es-ES" dirty="0"/>
              <a:t> </a:t>
            </a:r>
            <a:r>
              <a:rPr lang="es-ES" dirty="0" err="1"/>
              <a:t>close</a:t>
            </a:r>
            <a:r>
              <a:rPr lang="es-ES" dirty="0"/>
              <a:t>-up.</a:t>
            </a:r>
          </a:p>
          <a:p>
            <a:r>
              <a:rPr lang="es-ES" dirty="0"/>
              <a:t>WGC net </a:t>
            </a:r>
            <a:r>
              <a:rPr lang="es-ES" dirty="0" err="1"/>
              <a:t>was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optimized</a:t>
            </a:r>
            <a:r>
              <a:rPr lang="es-ES" dirty="0"/>
              <a:t> in manual </a:t>
            </a:r>
            <a:r>
              <a:rPr lang="es-ES" dirty="0" err="1"/>
              <a:t>construction</a:t>
            </a:r>
            <a:r>
              <a:rPr lang="es-ES" dirty="0"/>
              <a:t>, </a:t>
            </a:r>
            <a:r>
              <a:rPr lang="es-ES" dirty="0" err="1"/>
              <a:t>leading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inefficient</a:t>
            </a:r>
            <a:r>
              <a:rPr lang="es-ES" dirty="0"/>
              <a:t> modules</a:t>
            </a:r>
          </a:p>
          <a:p>
            <a:r>
              <a:rPr lang="es-ES" dirty="0" err="1"/>
              <a:t>There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no gene-</a:t>
            </a:r>
            <a:r>
              <a:rPr lang="es-ES" dirty="0" err="1"/>
              <a:t>expression</a:t>
            </a:r>
            <a:r>
              <a:rPr lang="es-ES" dirty="0"/>
              <a:t> module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associated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left-handedness</a:t>
            </a:r>
            <a:r>
              <a:rPr lang="es-ES" dirty="0"/>
              <a:t>: </a:t>
            </a:r>
            <a:r>
              <a:rPr lang="es-ES" dirty="0" err="1"/>
              <a:t>there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only</a:t>
            </a:r>
            <a:r>
              <a:rPr lang="es-ES" dirty="0"/>
              <a:t> </a:t>
            </a:r>
            <a:r>
              <a:rPr lang="es-ES" dirty="0" err="1"/>
              <a:t>some</a:t>
            </a:r>
            <a:r>
              <a:rPr lang="es-ES" dirty="0"/>
              <a:t> </a:t>
            </a:r>
            <a:r>
              <a:rPr lang="es-ES" dirty="0" err="1"/>
              <a:t>signal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looking</a:t>
            </a:r>
            <a:r>
              <a:rPr lang="es-ES" dirty="0"/>
              <a:t> at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genetic</a:t>
            </a:r>
            <a:r>
              <a:rPr lang="es-ES" dirty="0"/>
              <a:t> </a:t>
            </a:r>
            <a:r>
              <a:rPr lang="es-ES" dirty="0" err="1"/>
              <a:t>burden</a:t>
            </a:r>
            <a:r>
              <a:rPr lang="es-ES" dirty="0"/>
              <a:t>,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phenotype</a:t>
            </a:r>
            <a:r>
              <a:rPr lang="es-ES" dirty="0"/>
              <a:t> </a:t>
            </a:r>
            <a:r>
              <a:rPr lang="es-ES" dirty="0" err="1"/>
              <a:t>itself</a:t>
            </a:r>
            <a:r>
              <a:rPr lang="es-ES" dirty="0"/>
              <a:t>. </a:t>
            </a:r>
          </a:p>
          <a:p>
            <a:r>
              <a:rPr lang="es-ES" dirty="0" err="1"/>
              <a:t>There</a:t>
            </a:r>
            <a:r>
              <a:rPr lang="es-ES" dirty="0"/>
              <a:t> are </a:t>
            </a:r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distinct</a:t>
            </a:r>
            <a:r>
              <a:rPr lang="es-ES" dirty="0"/>
              <a:t> modules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2013 Silvia </a:t>
            </a:r>
            <a:r>
              <a:rPr lang="es-ES" dirty="0" err="1"/>
              <a:t>theory</a:t>
            </a:r>
            <a:r>
              <a:rPr lang="es-ES" dirty="0"/>
              <a:t>,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linked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PRS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handedness</a:t>
            </a:r>
            <a:r>
              <a:rPr lang="es-ES" dirty="0"/>
              <a:t> and sex,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only</a:t>
            </a:r>
            <a:r>
              <a:rPr lang="es-ES" dirty="0"/>
              <a:t>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SCZ. </a:t>
            </a:r>
          </a:p>
        </p:txBody>
      </p:sp>
    </p:spTree>
    <p:extLst>
      <p:ext uri="{BB962C8B-B14F-4D97-AF65-F5344CB8AC3E}">
        <p14:creationId xmlns:p14="http://schemas.microsoft.com/office/powerpoint/2010/main" val="14435756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246</Words>
  <Application>Microsoft Office PowerPoint</Application>
  <PresentationFormat>Panorámica</PresentationFormat>
  <Paragraphs>25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WGCNA in amygdala</vt:lpstr>
      <vt:lpstr>Why amygdala?</vt:lpstr>
      <vt:lpstr>Automatic net construction minMod = 15 softThr = 20</vt:lpstr>
      <vt:lpstr>Presentación de PowerPoint</vt:lpstr>
      <vt:lpstr>Conclusions on amygdala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Knot</dc:creator>
  <cp:lastModifiedBy>Ines Knot</cp:lastModifiedBy>
  <cp:revision>5</cp:revision>
  <dcterms:created xsi:type="dcterms:W3CDTF">2026-05-28T11:35:37Z</dcterms:created>
  <dcterms:modified xsi:type="dcterms:W3CDTF">2026-05-29T09:42:09Z</dcterms:modified>
</cp:coreProperties>
</file>