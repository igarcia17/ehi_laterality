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e1dcc825ad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e1dcc825ad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e1dcc825ad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e1dcc825ad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3e1dcc825ad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3e1dcc825ad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e1dcc825ad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e1dcc825ad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e1dcc825a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e1dcc825a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e1dcc825ad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e1dcc825ad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e1dcc825ad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e1dcc825ad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e1dcc825ad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e1dcc825ad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e1dcc825ad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e1dcc825ad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e1dcc825ad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e1dcc825ad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e1dcc825ad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3e1dcc825ad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e1dcc825ad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e1dcc825ad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1.jpg"/><Relationship Id="rId5" Type="http://schemas.openxmlformats.org/officeDocument/2006/relationships/image" Target="../media/image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3.png"/><Relationship Id="rId4" Type="http://schemas.openxmlformats.org/officeDocument/2006/relationships/image" Target="../media/image17.png"/><Relationship Id="rId5"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2.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1.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6.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4.png"/><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0" y="744575"/>
            <a:ext cx="8520600" cy="23031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s"/>
              <a:t>Lateralization quotient and hand users in clinical scales of BD</a:t>
            </a:r>
            <a:endParaRPr/>
          </a:p>
        </p:txBody>
      </p:sp>
      <p:sp>
        <p:nvSpPr>
          <p:cNvPr id="55" name="Google Shape;55;p13"/>
          <p:cNvSpPr txBox="1"/>
          <p:nvPr>
            <p:ph idx="1" type="subTitle"/>
          </p:nvPr>
        </p:nvSpPr>
        <p:spPr>
          <a:xfrm>
            <a:off x="311700" y="3816800"/>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s"/>
              <a:t>14th May 2026</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1883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Previously…</a:t>
            </a:r>
            <a:endParaRPr/>
          </a:p>
        </p:txBody>
      </p:sp>
      <p:pic>
        <p:nvPicPr>
          <p:cNvPr id="61" name="Google Shape;61;p14"/>
          <p:cNvPicPr preferRelativeResize="0"/>
          <p:nvPr/>
        </p:nvPicPr>
        <p:blipFill>
          <a:blip r:embed="rId3">
            <a:alphaModFix/>
          </a:blip>
          <a:stretch>
            <a:fillRect/>
          </a:stretch>
        </p:blipFill>
        <p:spPr>
          <a:xfrm>
            <a:off x="90450" y="939950"/>
            <a:ext cx="8864201" cy="1806650"/>
          </a:xfrm>
          <a:prstGeom prst="rect">
            <a:avLst/>
          </a:prstGeom>
          <a:noFill/>
          <a:ln>
            <a:noFill/>
          </a:ln>
        </p:spPr>
      </p:pic>
      <p:pic>
        <p:nvPicPr>
          <p:cNvPr id="62" name="Google Shape;62;p14" title="After_balance_age_in_BD_patients.jpeg"/>
          <p:cNvPicPr preferRelativeResize="0"/>
          <p:nvPr/>
        </p:nvPicPr>
        <p:blipFill>
          <a:blip r:embed="rId4">
            <a:alphaModFix/>
          </a:blip>
          <a:stretch>
            <a:fillRect/>
          </a:stretch>
        </p:blipFill>
        <p:spPr>
          <a:xfrm>
            <a:off x="311700" y="2872450"/>
            <a:ext cx="2092100" cy="2092100"/>
          </a:xfrm>
          <a:prstGeom prst="rect">
            <a:avLst/>
          </a:prstGeom>
          <a:noFill/>
          <a:ln>
            <a:noFill/>
          </a:ln>
        </p:spPr>
      </p:pic>
      <p:pic>
        <p:nvPicPr>
          <p:cNvPr id="63" name="Google Shape;63;p14" title="LQ_to_eye_foot_items_correlation.jpeg"/>
          <p:cNvPicPr preferRelativeResize="0"/>
          <p:nvPr/>
        </p:nvPicPr>
        <p:blipFill>
          <a:blip r:embed="rId5">
            <a:alphaModFix/>
          </a:blip>
          <a:stretch>
            <a:fillRect/>
          </a:stretch>
        </p:blipFill>
        <p:spPr>
          <a:xfrm>
            <a:off x="2597850" y="2837325"/>
            <a:ext cx="2162375" cy="2162375"/>
          </a:xfrm>
          <a:prstGeom prst="rect">
            <a:avLst/>
          </a:prstGeom>
          <a:noFill/>
          <a:ln>
            <a:noFill/>
          </a:ln>
        </p:spPr>
      </p:pic>
      <p:sp>
        <p:nvSpPr>
          <p:cNvPr id="64" name="Google Shape;64;p14"/>
          <p:cNvSpPr txBox="1"/>
          <p:nvPr/>
        </p:nvSpPr>
        <p:spPr>
          <a:xfrm>
            <a:off x="5018050" y="3180375"/>
            <a:ext cx="4125900" cy="135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2"/>
                </a:solidFill>
              </a:rPr>
              <a:t>Different distribution in Age, LQ, preferred foot and eye. Weak correlation between eye/foot to handedness.</a:t>
            </a:r>
            <a:endParaRPr sz="1800">
              <a:solidFill>
                <a:schemeClr val="dk2"/>
              </a:solidFill>
            </a:endParaRPr>
          </a:p>
        </p:txBody>
      </p:sp>
      <p:sp>
        <p:nvSpPr>
          <p:cNvPr id="65" name="Google Shape;65;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5"/>
          <p:cNvSpPr txBox="1"/>
          <p:nvPr>
            <p:ph type="title"/>
          </p:nvPr>
        </p:nvSpPr>
        <p:spPr>
          <a:xfrm>
            <a:off x="311700" y="1883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Regarding our control population</a:t>
            </a:r>
            <a:endParaRPr/>
          </a:p>
        </p:txBody>
      </p:sp>
      <p:pic>
        <p:nvPicPr>
          <p:cNvPr id="71" name="Google Shape;71;p15"/>
          <p:cNvPicPr preferRelativeResize="0"/>
          <p:nvPr/>
        </p:nvPicPr>
        <p:blipFill>
          <a:blip r:embed="rId3">
            <a:alphaModFix/>
          </a:blip>
          <a:stretch>
            <a:fillRect/>
          </a:stretch>
        </p:blipFill>
        <p:spPr>
          <a:xfrm>
            <a:off x="3252425" y="908800"/>
            <a:ext cx="2224200" cy="4077700"/>
          </a:xfrm>
          <a:prstGeom prst="rect">
            <a:avLst/>
          </a:prstGeom>
          <a:noFill/>
          <a:ln>
            <a:noFill/>
          </a:ln>
        </p:spPr>
      </p:pic>
      <p:pic>
        <p:nvPicPr>
          <p:cNvPr id="72" name="Google Shape;72;p15"/>
          <p:cNvPicPr preferRelativeResize="0"/>
          <p:nvPr/>
        </p:nvPicPr>
        <p:blipFill>
          <a:blip r:embed="rId4">
            <a:alphaModFix/>
          </a:blip>
          <a:stretch>
            <a:fillRect/>
          </a:stretch>
        </p:blipFill>
        <p:spPr>
          <a:xfrm>
            <a:off x="5747400" y="1572800"/>
            <a:ext cx="3155100" cy="3409446"/>
          </a:xfrm>
          <a:prstGeom prst="rect">
            <a:avLst/>
          </a:prstGeom>
          <a:noFill/>
          <a:ln>
            <a:noFill/>
          </a:ln>
        </p:spPr>
      </p:pic>
      <p:pic>
        <p:nvPicPr>
          <p:cNvPr id="73" name="Google Shape;73;p15"/>
          <p:cNvPicPr preferRelativeResize="0"/>
          <p:nvPr/>
        </p:nvPicPr>
        <p:blipFill>
          <a:blip r:embed="rId5">
            <a:alphaModFix/>
          </a:blip>
          <a:stretch>
            <a:fillRect/>
          </a:stretch>
        </p:blipFill>
        <p:spPr>
          <a:xfrm>
            <a:off x="181925" y="852300"/>
            <a:ext cx="2737750" cy="1451650"/>
          </a:xfrm>
          <a:prstGeom prst="rect">
            <a:avLst/>
          </a:prstGeom>
          <a:noFill/>
          <a:ln>
            <a:noFill/>
          </a:ln>
        </p:spPr>
      </p:pic>
      <p:cxnSp>
        <p:nvCxnSpPr>
          <p:cNvPr id="74" name="Google Shape;74;p15"/>
          <p:cNvCxnSpPr/>
          <p:nvPr/>
        </p:nvCxnSpPr>
        <p:spPr>
          <a:xfrm flipH="1">
            <a:off x="3018825" y="737000"/>
            <a:ext cx="17700" cy="4249500"/>
          </a:xfrm>
          <a:prstGeom prst="straightConnector1">
            <a:avLst/>
          </a:prstGeom>
          <a:noFill/>
          <a:ln cap="flat" cmpd="sng" w="114300">
            <a:solidFill>
              <a:schemeClr val="dk2"/>
            </a:solidFill>
            <a:prstDash val="solid"/>
            <a:round/>
            <a:headEnd len="med" w="med" type="none"/>
            <a:tailEnd len="med" w="med" type="none"/>
          </a:ln>
        </p:spPr>
      </p:cxnSp>
      <p:cxnSp>
        <p:nvCxnSpPr>
          <p:cNvPr id="75" name="Google Shape;75;p15"/>
          <p:cNvCxnSpPr/>
          <p:nvPr/>
        </p:nvCxnSpPr>
        <p:spPr>
          <a:xfrm flipH="1">
            <a:off x="5603150" y="737000"/>
            <a:ext cx="17700" cy="4249500"/>
          </a:xfrm>
          <a:prstGeom prst="straightConnector1">
            <a:avLst/>
          </a:prstGeom>
          <a:noFill/>
          <a:ln cap="flat" cmpd="sng" w="114300">
            <a:solidFill>
              <a:schemeClr val="dk2"/>
            </a:solidFill>
            <a:prstDash val="solid"/>
            <a:round/>
            <a:headEnd len="med" w="med" type="none"/>
            <a:tailEnd len="med" w="med" type="none"/>
          </a:ln>
        </p:spPr>
      </p:cxnSp>
      <p:sp>
        <p:nvSpPr>
          <p:cNvPr id="76" name="Google Shape;76;p15"/>
          <p:cNvSpPr txBox="1"/>
          <p:nvPr/>
        </p:nvSpPr>
        <p:spPr>
          <a:xfrm>
            <a:off x="256725" y="2631500"/>
            <a:ext cx="2779800" cy="223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2"/>
                </a:solidFill>
              </a:rPr>
              <a:t>Proportions as expected for Spanish population (validation through external data ongoing).</a:t>
            </a:r>
            <a:endParaRPr sz="1800">
              <a:solidFill>
                <a:schemeClr val="dk2"/>
              </a:solidFill>
            </a:endParaRPr>
          </a:p>
          <a:p>
            <a:pPr indent="0" lvl="0" marL="0" rtl="0" algn="l">
              <a:spcBef>
                <a:spcPts val="0"/>
              </a:spcBef>
              <a:spcAft>
                <a:spcPts val="0"/>
              </a:spcAft>
              <a:buNone/>
            </a:pPr>
            <a:r>
              <a:rPr lang="es" sz="1800">
                <a:solidFill>
                  <a:schemeClr val="dk2"/>
                </a:solidFill>
              </a:rPr>
              <a:t>Sex differences, and age differences, in mixed handedness.</a:t>
            </a:r>
            <a:endParaRPr sz="1800">
              <a:solidFill>
                <a:schemeClr val="dk2"/>
              </a:solidFill>
            </a:endParaRPr>
          </a:p>
        </p:txBody>
      </p:sp>
      <p:sp>
        <p:nvSpPr>
          <p:cNvPr id="77" name="Google Shape;77;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78" name="Google Shape;78;p15"/>
          <p:cNvSpPr txBox="1"/>
          <p:nvPr>
            <p:ph type="title"/>
          </p:nvPr>
        </p:nvSpPr>
        <p:spPr>
          <a:xfrm>
            <a:off x="7536725" y="188300"/>
            <a:ext cx="1295400" cy="306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i="1" lang="es" sz="1520"/>
              <a:t>Previously…</a:t>
            </a:r>
            <a:endParaRPr i="1" sz="152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6"/>
          <p:cNvSpPr txBox="1"/>
          <p:nvPr/>
        </p:nvSpPr>
        <p:spPr>
          <a:xfrm>
            <a:off x="927475" y="240800"/>
            <a:ext cx="6991800" cy="121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84" name="Google Shape;84;p16"/>
          <p:cNvSpPr txBox="1"/>
          <p:nvPr>
            <p:ph idx="4294967295" type="title"/>
          </p:nvPr>
        </p:nvSpPr>
        <p:spPr>
          <a:xfrm>
            <a:off x="103750" y="315800"/>
            <a:ext cx="8994600" cy="1062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Prevalence of hand-use groups between BD and non-BD</a:t>
            </a:r>
            <a:endParaRPr/>
          </a:p>
        </p:txBody>
      </p:sp>
      <p:pic>
        <p:nvPicPr>
          <p:cNvPr id="85" name="Google Shape;85;p16"/>
          <p:cNvPicPr preferRelativeResize="0"/>
          <p:nvPr/>
        </p:nvPicPr>
        <p:blipFill>
          <a:blip r:embed="rId3">
            <a:alphaModFix/>
          </a:blip>
          <a:stretch>
            <a:fillRect/>
          </a:stretch>
        </p:blipFill>
        <p:spPr>
          <a:xfrm>
            <a:off x="152400" y="1606100"/>
            <a:ext cx="8839202" cy="1186074"/>
          </a:xfrm>
          <a:prstGeom prst="rect">
            <a:avLst/>
          </a:prstGeom>
          <a:noFill/>
          <a:ln>
            <a:noFill/>
          </a:ln>
        </p:spPr>
      </p:pic>
      <p:sp>
        <p:nvSpPr>
          <p:cNvPr id="86" name="Google Shape;86;p16"/>
          <p:cNvSpPr txBox="1"/>
          <p:nvPr/>
        </p:nvSpPr>
        <p:spPr>
          <a:xfrm>
            <a:off x="210550" y="2944575"/>
            <a:ext cx="8781000" cy="89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2"/>
                </a:solidFill>
              </a:rPr>
              <a:t>Age-matched control group. Trend in lateralized/non-lateralized at cutoff=60, significant at cutoff=90</a:t>
            </a:r>
            <a:endParaRPr sz="1800">
              <a:solidFill>
                <a:schemeClr val="dk2"/>
              </a:solidFill>
            </a:endParaRPr>
          </a:p>
        </p:txBody>
      </p:sp>
      <p:sp>
        <p:nvSpPr>
          <p:cNvPr id="87" name="Google Shape;87;p16"/>
          <p:cNvSpPr txBox="1"/>
          <p:nvPr>
            <p:ph idx="4294967295" type="title"/>
          </p:nvPr>
        </p:nvSpPr>
        <p:spPr>
          <a:xfrm>
            <a:off x="7536725" y="188300"/>
            <a:ext cx="1295400" cy="306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i="1" lang="es" sz="1520"/>
              <a:t>Previously…</a:t>
            </a:r>
            <a:endParaRPr i="1" sz="152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7"/>
          <p:cNvSpPr txBox="1"/>
          <p:nvPr>
            <p:ph type="title"/>
          </p:nvPr>
        </p:nvSpPr>
        <p:spPr>
          <a:xfrm>
            <a:off x="369600" y="246900"/>
            <a:ext cx="8520600" cy="973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Sex differences in handedness patterns are not present in BD group</a:t>
            </a:r>
            <a:endParaRPr/>
          </a:p>
        </p:txBody>
      </p:sp>
      <p:pic>
        <p:nvPicPr>
          <p:cNvPr id="93" name="Google Shape;93;p17"/>
          <p:cNvPicPr preferRelativeResize="0"/>
          <p:nvPr/>
        </p:nvPicPr>
        <p:blipFill>
          <a:blip r:embed="rId3">
            <a:alphaModFix/>
          </a:blip>
          <a:stretch>
            <a:fillRect/>
          </a:stretch>
        </p:blipFill>
        <p:spPr>
          <a:xfrm>
            <a:off x="665850" y="1047000"/>
            <a:ext cx="7496291" cy="3791699"/>
          </a:xfrm>
          <a:prstGeom prst="rect">
            <a:avLst/>
          </a:prstGeom>
          <a:noFill/>
          <a:ln>
            <a:noFill/>
          </a:ln>
        </p:spPr>
      </p:pic>
      <p:sp>
        <p:nvSpPr>
          <p:cNvPr id="94" name="Google Shape;94;p17"/>
          <p:cNvSpPr/>
          <p:nvPr/>
        </p:nvSpPr>
        <p:spPr>
          <a:xfrm>
            <a:off x="2443375" y="3746975"/>
            <a:ext cx="3833400" cy="1186200"/>
          </a:xfrm>
          <a:prstGeom prst="rect">
            <a:avLst/>
          </a:prstGeom>
          <a:noFill/>
          <a:ln cap="flat" cmpd="sng" w="1143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5" name="Google Shape;95;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96" name="Google Shape;96;p17"/>
          <p:cNvSpPr txBox="1"/>
          <p:nvPr>
            <p:ph type="title"/>
          </p:nvPr>
        </p:nvSpPr>
        <p:spPr>
          <a:xfrm>
            <a:off x="7848600" y="37100"/>
            <a:ext cx="1295400" cy="306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i="1" lang="es" sz="1520"/>
              <a:t>Previously…</a:t>
            </a:r>
            <a:endParaRPr i="1" sz="152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8"/>
          <p:cNvSpPr txBox="1"/>
          <p:nvPr>
            <p:ph type="title"/>
          </p:nvPr>
        </p:nvSpPr>
        <p:spPr>
          <a:xfrm>
            <a:off x="311700" y="160050"/>
            <a:ext cx="8520600" cy="637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Only suggestive trends for BD subtypes differences</a:t>
            </a:r>
            <a:endParaRPr/>
          </a:p>
        </p:txBody>
      </p:sp>
      <p:pic>
        <p:nvPicPr>
          <p:cNvPr id="102" name="Google Shape;102;p18"/>
          <p:cNvPicPr preferRelativeResize="0"/>
          <p:nvPr/>
        </p:nvPicPr>
        <p:blipFill>
          <a:blip r:embed="rId3">
            <a:alphaModFix/>
          </a:blip>
          <a:stretch>
            <a:fillRect/>
          </a:stretch>
        </p:blipFill>
        <p:spPr>
          <a:xfrm>
            <a:off x="152400" y="862800"/>
            <a:ext cx="8839200" cy="3478147"/>
          </a:xfrm>
          <a:prstGeom prst="rect">
            <a:avLst/>
          </a:prstGeom>
          <a:noFill/>
          <a:ln>
            <a:noFill/>
          </a:ln>
        </p:spPr>
      </p:pic>
      <p:sp>
        <p:nvSpPr>
          <p:cNvPr id="103" name="Google Shape;103;p18"/>
          <p:cNvSpPr/>
          <p:nvPr/>
        </p:nvSpPr>
        <p:spPr>
          <a:xfrm>
            <a:off x="123950" y="3667300"/>
            <a:ext cx="5524200" cy="637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s"/>
              <a:t>Yet to be updated with age-matched controls</a:t>
            </a:r>
            <a:endParaRPr/>
          </a:p>
        </p:txBody>
      </p:sp>
      <p:sp>
        <p:nvSpPr>
          <p:cNvPr id="104" name="Google Shape;104;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105" name="Google Shape;105;p18"/>
          <p:cNvSpPr txBox="1"/>
          <p:nvPr>
            <p:ph type="title"/>
          </p:nvPr>
        </p:nvSpPr>
        <p:spPr>
          <a:xfrm>
            <a:off x="7848600" y="37100"/>
            <a:ext cx="1295400" cy="306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i="1" lang="es" sz="1520"/>
              <a:t>Previously…</a:t>
            </a:r>
            <a:endParaRPr i="1" sz="152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9"/>
          <p:cNvSpPr txBox="1"/>
          <p:nvPr>
            <p:ph type="title"/>
          </p:nvPr>
        </p:nvSpPr>
        <p:spPr>
          <a:xfrm>
            <a:off x="311700" y="1263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Correlation of clinical features and scales to LQ</a:t>
            </a:r>
            <a:endParaRPr/>
          </a:p>
        </p:txBody>
      </p:sp>
      <p:sp>
        <p:nvSpPr>
          <p:cNvPr id="111" name="Google Shape;111;p19"/>
          <p:cNvSpPr txBox="1"/>
          <p:nvPr>
            <p:ph idx="1" type="body"/>
          </p:nvPr>
        </p:nvSpPr>
        <p:spPr>
          <a:xfrm>
            <a:off x="6784025" y="909525"/>
            <a:ext cx="2048400" cy="36594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s"/>
              <a:t>Traits, comorbidities and number of events are too sparse to represent any clinical change by themselves. </a:t>
            </a:r>
            <a:endParaRPr/>
          </a:p>
          <a:p>
            <a:pPr indent="0" lvl="0" marL="0" rtl="0" algn="l">
              <a:spcBef>
                <a:spcPts val="1200"/>
              </a:spcBef>
              <a:spcAft>
                <a:spcPts val="1200"/>
              </a:spcAft>
              <a:buNone/>
            </a:pPr>
            <a:r>
              <a:rPr lang="es"/>
              <a:t>Aggregation by Index of Number of Events and Severity (INES) leverages their signal.</a:t>
            </a:r>
            <a:endParaRPr/>
          </a:p>
        </p:txBody>
      </p:sp>
      <p:sp>
        <p:nvSpPr>
          <p:cNvPr id="112" name="Google Shape;112;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pic>
        <p:nvPicPr>
          <p:cNvPr id="113" name="Google Shape;113;p19" title="LQ_vs_clinical_features.png"/>
          <p:cNvPicPr preferRelativeResize="0"/>
          <p:nvPr/>
        </p:nvPicPr>
        <p:blipFill>
          <a:blip r:embed="rId3">
            <a:alphaModFix/>
          </a:blip>
          <a:stretch>
            <a:fillRect/>
          </a:stretch>
        </p:blipFill>
        <p:spPr>
          <a:xfrm>
            <a:off x="304800" y="1152475"/>
            <a:ext cx="6299425" cy="3311722"/>
          </a:xfrm>
          <a:prstGeom prst="rect">
            <a:avLst/>
          </a:prstGeom>
          <a:noFill/>
          <a:ln>
            <a:noFill/>
          </a:ln>
        </p:spPr>
      </p:pic>
      <p:sp>
        <p:nvSpPr>
          <p:cNvPr id="114" name="Google Shape;114;p19"/>
          <p:cNvSpPr/>
          <p:nvPr/>
        </p:nvSpPr>
        <p:spPr>
          <a:xfrm>
            <a:off x="4149550" y="1498175"/>
            <a:ext cx="241200" cy="27696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5" name="Google Shape;115;p19"/>
          <p:cNvSpPr/>
          <p:nvPr/>
        </p:nvSpPr>
        <p:spPr>
          <a:xfrm rot="-5400000">
            <a:off x="3173001" y="224350"/>
            <a:ext cx="156300" cy="57303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6" name="Google Shape;116;p19"/>
          <p:cNvSpPr txBox="1"/>
          <p:nvPr/>
        </p:nvSpPr>
        <p:spPr>
          <a:xfrm>
            <a:off x="231575" y="4393200"/>
            <a:ext cx="6639300" cy="66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100">
                <a:solidFill>
                  <a:schemeClr val="dk2"/>
                </a:solidFill>
              </a:rPr>
              <a:t>Score10items = Lateralization quotient based on Edinburgh Handedness Inventory; IcgGe = Clinical Global Impression; WHODAS_score32 = World Health Organization Disability Assessment Schedule; ScoreEeag = Global Assessment of Functioning</a:t>
            </a:r>
            <a:endParaRPr sz="1100">
              <a:solidFill>
                <a:schemeClr val="dk2"/>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Correlation of scales and LQ (zoom in)</a:t>
            </a:r>
            <a:endParaRPr/>
          </a:p>
        </p:txBody>
      </p:sp>
      <p:sp>
        <p:nvSpPr>
          <p:cNvPr id="122" name="Google Shape;122;p20"/>
          <p:cNvSpPr txBox="1"/>
          <p:nvPr>
            <p:ph idx="1" type="body"/>
          </p:nvPr>
        </p:nvSpPr>
        <p:spPr>
          <a:xfrm>
            <a:off x="311700" y="1710475"/>
            <a:ext cx="2786700" cy="2858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Modest but consistent signal between LQ and clinical scales (&gt;7%).</a:t>
            </a:r>
            <a:endParaRPr/>
          </a:p>
          <a:p>
            <a:pPr indent="0" lvl="0" marL="0" rtl="0" algn="l">
              <a:spcBef>
                <a:spcPts val="1200"/>
              </a:spcBef>
              <a:spcAft>
                <a:spcPts val="1200"/>
              </a:spcAft>
              <a:buNone/>
            </a:pPr>
            <a:r>
              <a:rPr lang="es"/>
              <a:t>High correlation of scales between one another, but answer to different pathology dimensions.</a:t>
            </a:r>
            <a:endParaRPr/>
          </a:p>
        </p:txBody>
      </p:sp>
      <p:sp>
        <p:nvSpPr>
          <p:cNvPr id="123" name="Google Shape;123;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pic>
        <p:nvPicPr>
          <p:cNvPr id="124" name="Google Shape;124;p20" title="LQ_vs_clinical_scales.png"/>
          <p:cNvPicPr preferRelativeResize="0"/>
          <p:nvPr/>
        </p:nvPicPr>
        <p:blipFill>
          <a:blip r:embed="rId3">
            <a:alphaModFix/>
          </a:blip>
          <a:stretch>
            <a:fillRect/>
          </a:stretch>
        </p:blipFill>
        <p:spPr>
          <a:xfrm>
            <a:off x="3447852" y="1193788"/>
            <a:ext cx="5287501" cy="36811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LQ and WHODAS (Disability assessment)</a:t>
            </a:r>
            <a:endParaRPr/>
          </a:p>
        </p:txBody>
      </p:sp>
      <p:sp>
        <p:nvSpPr>
          <p:cNvPr id="130" name="Google Shape;130;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pic>
        <p:nvPicPr>
          <p:cNvPr id="131" name="Google Shape;131;p21"/>
          <p:cNvPicPr preferRelativeResize="0"/>
          <p:nvPr/>
        </p:nvPicPr>
        <p:blipFill>
          <a:blip r:embed="rId3">
            <a:alphaModFix/>
          </a:blip>
          <a:stretch>
            <a:fillRect/>
          </a:stretch>
        </p:blipFill>
        <p:spPr>
          <a:xfrm>
            <a:off x="152400" y="1170125"/>
            <a:ext cx="8839199" cy="1026109"/>
          </a:xfrm>
          <a:prstGeom prst="rect">
            <a:avLst/>
          </a:prstGeom>
          <a:noFill/>
          <a:ln>
            <a:noFill/>
          </a:ln>
        </p:spPr>
      </p:pic>
      <p:pic>
        <p:nvPicPr>
          <p:cNvPr id="132" name="Google Shape;132;p21" title="Boxplot_WHODAS_over_thresholds.png"/>
          <p:cNvPicPr preferRelativeResize="0"/>
          <p:nvPr/>
        </p:nvPicPr>
        <p:blipFill rotWithShape="1">
          <a:blip r:embed="rId4">
            <a:alphaModFix/>
          </a:blip>
          <a:srcRect b="51122" l="3101" r="0" t="0"/>
          <a:stretch/>
        </p:blipFill>
        <p:spPr>
          <a:xfrm>
            <a:off x="152400" y="2382400"/>
            <a:ext cx="4803999" cy="2538153"/>
          </a:xfrm>
          <a:prstGeom prst="rect">
            <a:avLst/>
          </a:prstGeom>
          <a:noFill/>
          <a:ln>
            <a:noFill/>
          </a:ln>
        </p:spPr>
      </p:pic>
      <p:pic>
        <p:nvPicPr>
          <p:cNvPr id="133" name="Google Shape;133;p21" title="Boxplot_WHODAS_over_thresholds.png"/>
          <p:cNvPicPr preferRelativeResize="0"/>
          <p:nvPr/>
        </p:nvPicPr>
        <p:blipFill rotWithShape="1">
          <a:blip r:embed="rId4">
            <a:alphaModFix/>
          </a:blip>
          <a:srcRect b="5069" l="6384" r="29517" t="49223"/>
          <a:stretch/>
        </p:blipFill>
        <p:spPr>
          <a:xfrm>
            <a:off x="4956400" y="2571751"/>
            <a:ext cx="3247075" cy="2425301"/>
          </a:xfrm>
          <a:prstGeom prst="rect">
            <a:avLst/>
          </a:prstGeom>
          <a:noFill/>
          <a:ln>
            <a:noFill/>
          </a:ln>
        </p:spPr>
      </p:pic>
      <p:sp>
        <p:nvSpPr>
          <p:cNvPr id="134" name="Google Shape;134;p21"/>
          <p:cNvSpPr/>
          <p:nvPr/>
        </p:nvSpPr>
        <p:spPr>
          <a:xfrm>
            <a:off x="3409175" y="2476100"/>
            <a:ext cx="4794300" cy="25383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LQ and GAF (functioning)</a:t>
            </a:r>
            <a:endParaRPr/>
          </a:p>
        </p:txBody>
      </p:sp>
      <p:sp>
        <p:nvSpPr>
          <p:cNvPr id="140" name="Google Shape;140;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pic>
        <p:nvPicPr>
          <p:cNvPr id="141" name="Google Shape;141;p22"/>
          <p:cNvPicPr preferRelativeResize="0"/>
          <p:nvPr/>
        </p:nvPicPr>
        <p:blipFill>
          <a:blip r:embed="rId3">
            <a:alphaModFix/>
          </a:blip>
          <a:stretch>
            <a:fillRect/>
          </a:stretch>
        </p:blipFill>
        <p:spPr>
          <a:xfrm>
            <a:off x="0" y="1017729"/>
            <a:ext cx="9144001" cy="1061493"/>
          </a:xfrm>
          <a:prstGeom prst="rect">
            <a:avLst/>
          </a:prstGeom>
          <a:noFill/>
          <a:ln>
            <a:noFill/>
          </a:ln>
        </p:spPr>
      </p:pic>
      <p:pic>
        <p:nvPicPr>
          <p:cNvPr id="142" name="Google Shape;142;p22" title="Boxplot_GAF_over_thresholds.png"/>
          <p:cNvPicPr preferRelativeResize="0"/>
          <p:nvPr/>
        </p:nvPicPr>
        <p:blipFill rotWithShape="1">
          <a:blip r:embed="rId4">
            <a:alphaModFix/>
          </a:blip>
          <a:srcRect b="51800" l="2286" r="0" t="0"/>
          <a:stretch/>
        </p:blipFill>
        <p:spPr>
          <a:xfrm>
            <a:off x="119025" y="2571750"/>
            <a:ext cx="5092499" cy="2008351"/>
          </a:xfrm>
          <a:prstGeom prst="rect">
            <a:avLst/>
          </a:prstGeom>
          <a:noFill/>
          <a:ln>
            <a:noFill/>
          </a:ln>
        </p:spPr>
      </p:pic>
      <p:pic>
        <p:nvPicPr>
          <p:cNvPr id="143" name="Google Shape;143;p22" title="Boxplot_GAF_over_thresholds.png"/>
          <p:cNvPicPr preferRelativeResize="0"/>
          <p:nvPr/>
        </p:nvPicPr>
        <p:blipFill rotWithShape="1">
          <a:blip r:embed="rId4">
            <a:alphaModFix/>
          </a:blip>
          <a:srcRect b="5749" l="5133" r="31962" t="49787"/>
          <a:stretch/>
        </p:blipFill>
        <p:spPr>
          <a:xfrm>
            <a:off x="5169000" y="2651550"/>
            <a:ext cx="3691024" cy="2085999"/>
          </a:xfrm>
          <a:prstGeom prst="rect">
            <a:avLst/>
          </a:prstGeom>
          <a:noFill/>
          <a:ln>
            <a:noFill/>
          </a:ln>
        </p:spPr>
      </p:pic>
      <p:sp>
        <p:nvSpPr>
          <p:cNvPr id="144" name="Google Shape;144;p22"/>
          <p:cNvSpPr/>
          <p:nvPr/>
        </p:nvSpPr>
        <p:spPr>
          <a:xfrm>
            <a:off x="3604700" y="2571750"/>
            <a:ext cx="5355900" cy="22167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LQ and INES (severity over years of disease)</a:t>
            </a:r>
            <a:endParaRPr/>
          </a:p>
        </p:txBody>
      </p:sp>
      <p:sp>
        <p:nvSpPr>
          <p:cNvPr id="150" name="Google Shape;150;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pic>
        <p:nvPicPr>
          <p:cNvPr id="151" name="Google Shape;151;p23"/>
          <p:cNvPicPr preferRelativeResize="0"/>
          <p:nvPr/>
        </p:nvPicPr>
        <p:blipFill>
          <a:blip r:embed="rId3">
            <a:alphaModFix/>
          </a:blip>
          <a:stretch>
            <a:fillRect/>
          </a:stretch>
        </p:blipFill>
        <p:spPr>
          <a:xfrm>
            <a:off x="0" y="1111454"/>
            <a:ext cx="9144001" cy="1061493"/>
          </a:xfrm>
          <a:prstGeom prst="rect">
            <a:avLst/>
          </a:prstGeom>
          <a:noFill/>
          <a:ln>
            <a:noFill/>
          </a:ln>
        </p:spPr>
      </p:pic>
      <p:pic>
        <p:nvPicPr>
          <p:cNvPr id="152" name="Google Shape;152;p23" title="Boxplot_INES__over_thresholds.png"/>
          <p:cNvPicPr preferRelativeResize="0"/>
          <p:nvPr/>
        </p:nvPicPr>
        <p:blipFill rotWithShape="1">
          <a:blip r:embed="rId4">
            <a:alphaModFix/>
          </a:blip>
          <a:srcRect b="52018" l="2172" r="0" t="0"/>
          <a:stretch/>
        </p:blipFill>
        <p:spPr>
          <a:xfrm>
            <a:off x="397688" y="2571750"/>
            <a:ext cx="5152402" cy="1997099"/>
          </a:xfrm>
          <a:prstGeom prst="rect">
            <a:avLst/>
          </a:prstGeom>
          <a:noFill/>
          <a:ln>
            <a:noFill/>
          </a:ln>
        </p:spPr>
      </p:pic>
      <p:pic>
        <p:nvPicPr>
          <p:cNvPr id="153" name="Google Shape;153;p23" title="Boxplot_INES__over_thresholds.png"/>
          <p:cNvPicPr preferRelativeResize="0"/>
          <p:nvPr/>
        </p:nvPicPr>
        <p:blipFill rotWithShape="1">
          <a:blip r:embed="rId4">
            <a:alphaModFix/>
          </a:blip>
          <a:srcRect b="5911" l="5088" r="34696" t="49171"/>
          <a:stretch/>
        </p:blipFill>
        <p:spPr>
          <a:xfrm>
            <a:off x="5601638" y="2750300"/>
            <a:ext cx="3144675" cy="1853724"/>
          </a:xfrm>
          <a:prstGeom prst="rect">
            <a:avLst/>
          </a:prstGeom>
          <a:noFill/>
          <a:ln>
            <a:noFill/>
          </a:ln>
        </p:spPr>
      </p:pic>
      <p:sp>
        <p:nvSpPr>
          <p:cNvPr id="154" name="Google Shape;154;p23"/>
          <p:cNvSpPr/>
          <p:nvPr/>
        </p:nvSpPr>
        <p:spPr>
          <a:xfrm>
            <a:off x="2184925" y="2568825"/>
            <a:ext cx="3365100" cy="22167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5" name="Google Shape;155;p23"/>
          <p:cNvSpPr/>
          <p:nvPr/>
        </p:nvSpPr>
        <p:spPr>
          <a:xfrm>
            <a:off x="7287300" y="2568813"/>
            <a:ext cx="1545000" cy="22167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LQ and CGI</a:t>
            </a:r>
            <a:endParaRPr/>
          </a:p>
        </p:txBody>
      </p:sp>
      <p:sp>
        <p:nvSpPr>
          <p:cNvPr id="161" name="Google Shape;161;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pic>
        <p:nvPicPr>
          <p:cNvPr id="162" name="Google Shape;162;p24"/>
          <p:cNvPicPr preferRelativeResize="0"/>
          <p:nvPr/>
        </p:nvPicPr>
        <p:blipFill>
          <a:blip r:embed="rId3">
            <a:alphaModFix/>
          </a:blip>
          <a:stretch>
            <a:fillRect/>
          </a:stretch>
        </p:blipFill>
        <p:spPr>
          <a:xfrm>
            <a:off x="0" y="1093754"/>
            <a:ext cx="9144001" cy="1061493"/>
          </a:xfrm>
          <a:prstGeom prst="rect">
            <a:avLst/>
          </a:prstGeom>
          <a:noFill/>
          <a:ln>
            <a:noFill/>
          </a:ln>
        </p:spPr>
      </p:pic>
      <p:pic>
        <p:nvPicPr>
          <p:cNvPr id="163" name="Google Shape;163;p24" title="Boxplot_CGI_over_thresholds.png"/>
          <p:cNvPicPr preferRelativeResize="0"/>
          <p:nvPr/>
        </p:nvPicPr>
        <p:blipFill rotWithShape="1">
          <a:blip r:embed="rId4">
            <a:alphaModFix/>
          </a:blip>
          <a:srcRect b="50952" l="0" r="0" t="0"/>
          <a:stretch/>
        </p:blipFill>
        <p:spPr>
          <a:xfrm>
            <a:off x="186400" y="2375677"/>
            <a:ext cx="5551700" cy="2463899"/>
          </a:xfrm>
          <a:prstGeom prst="rect">
            <a:avLst/>
          </a:prstGeom>
          <a:noFill/>
          <a:ln>
            <a:noFill/>
          </a:ln>
        </p:spPr>
      </p:pic>
      <p:pic>
        <p:nvPicPr>
          <p:cNvPr id="164" name="Google Shape;164;p24" title="Boxplot_CGI_over_thresholds.png"/>
          <p:cNvPicPr preferRelativeResize="0"/>
          <p:nvPr/>
        </p:nvPicPr>
        <p:blipFill rotWithShape="1">
          <a:blip r:embed="rId4">
            <a:alphaModFix/>
          </a:blip>
          <a:srcRect b="5222" l="4981" r="33450" t="50258"/>
          <a:stretch/>
        </p:blipFill>
        <p:spPr>
          <a:xfrm>
            <a:off x="5738100" y="2682275"/>
            <a:ext cx="3102199" cy="2029776"/>
          </a:xfrm>
          <a:prstGeom prst="rect">
            <a:avLst/>
          </a:prstGeom>
          <a:noFill/>
          <a:ln>
            <a:noFill/>
          </a:ln>
        </p:spPr>
      </p:pic>
      <p:sp>
        <p:nvSpPr>
          <p:cNvPr id="165" name="Google Shape;165;p24"/>
          <p:cNvSpPr/>
          <p:nvPr/>
        </p:nvSpPr>
        <p:spPr>
          <a:xfrm>
            <a:off x="7287300" y="2568813"/>
            <a:ext cx="1545000" cy="22167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In summary</a:t>
            </a:r>
            <a:endParaRPr/>
          </a:p>
        </p:txBody>
      </p:sp>
      <p:sp>
        <p:nvSpPr>
          <p:cNvPr id="171" name="Google Shape;171;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s"/>
              <a:t>Mixed-handed group, when the cutoff for mixed-handed is set to 60 or above, present higher scores on WHODAS (disability) and lower in GAF (functioning). </a:t>
            </a:r>
            <a:endParaRPr/>
          </a:p>
          <a:p>
            <a:pPr indent="-342900" lvl="0" marL="457200" rtl="0" algn="l">
              <a:spcBef>
                <a:spcPts val="0"/>
              </a:spcBef>
              <a:spcAft>
                <a:spcPts val="0"/>
              </a:spcAft>
              <a:buSzPts val="1800"/>
              <a:buChar char="-"/>
            </a:pPr>
            <a:r>
              <a:rPr lang="es"/>
              <a:t>INES scores differ in lateralized vs non-lateralized comparison only when a “stringent” cutoff for mixed handedness is considered (40 and 60). There is a trend in higher INES in left-hand users when cutoff is set to 90*.</a:t>
            </a:r>
            <a:endParaRPr/>
          </a:p>
          <a:p>
            <a:pPr indent="-342900" lvl="0" marL="457200" rtl="0" algn="l">
              <a:spcBef>
                <a:spcPts val="0"/>
              </a:spcBef>
              <a:spcAft>
                <a:spcPts val="0"/>
              </a:spcAft>
              <a:buSzPts val="1800"/>
              <a:buChar char="-"/>
            </a:pPr>
            <a:r>
              <a:rPr lang="es"/>
              <a:t>CGI scores are slightly higher in the 7 ** left-handed individuals that remain when the cutoff for hand use is set to 90, and higher for mixed-handed indivs </a:t>
            </a:r>
            <a:r>
              <a:rPr lang="es"/>
              <a:t>than</a:t>
            </a:r>
            <a:r>
              <a:rPr lang="es"/>
              <a:t> for controls*.</a:t>
            </a:r>
            <a:endParaRPr/>
          </a:p>
        </p:txBody>
      </p:sp>
      <p:sp>
        <p:nvSpPr>
          <p:cNvPr id="172" name="Google Shape;172;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173" name="Google Shape;173;p25"/>
          <p:cNvSpPr txBox="1"/>
          <p:nvPr/>
        </p:nvSpPr>
        <p:spPr>
          <a:xfrm>
            <a:off x="4497125" y="4093125"/>
            <a:ext cx="3719100" cy="113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200">
                <a:solidFill>
                  <a:schemeClr val="dk2"/>
                </a:solidFill>
              </a:rPr>
              <a:t>* for those statistical comparisons I have yet to do</a:t>
            </a:r>
            <a:endParaRPr sz="1200">
              <a:solidFill>
                <a:schemeClr val="dk2"/>
              </a:solidFill>
            </a:endParaRPr>
          </a:p>
          <a:p>
            <a:pPr indent="0" lvl="0" marL="0" rtl="0" algn="l">
              <a:spcBef>
                <a:spcPts val="0"/>
              </a:spcBef>
              <a:spcAft>
                <a:spcPts val="0"/>
              </a:spcAft>
              <a:buNone/>
            </a:pPr>
            <a:r>
              <a:rPr lang="es" sz="1200">
                <a:solidFill>
                  <a:schemeClr val="dk2"/>
                </a:solidFill>
              </a:rPr>
              <a:t>** I have to correct the table numbers. Now, it is the absolute BD patients that we have in that group, but not all of them have info for all the scales. The actual number is in the boxplots</a:t>
            </a:r>
            <a:endParaRPr sz="1200">
              <a:solidFill>
                <a:schemeClr val="dk2"/>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