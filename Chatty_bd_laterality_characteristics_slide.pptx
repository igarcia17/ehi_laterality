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0"/>
            <a:ext cx="12191695" cy="18288"/>
          </a:xfrm>
          <a:prstGeom prst="rect">
            <a:avLst/>
          </a:prstGeom>
          <a:solidFill>
            <a:srgbClr val="DDE5EC"/>
          </a:solidFill>
          <a:ln w="12700">
            <a:solidFill>
              <a:srgbClr val="DDE5E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286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Sociodemographic and laterality characteristics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412480" y="30175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 patients vs controls | baseline comparison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sample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N = 1,923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507937" cy="219456"/>
          </a:xfrm>
          <a:prstGeom prst="roundRect">
            <a:avLst>
              <a:gd name="adj" fmla="val 50000"/>
            </a:avLst>
          </a:prstGeom>
          <a:solidFill>
            <a:srgbClr val="D96B5F"/>
          </a:solidFill>
          <a:ln w="12700">
            <a:solidFill>
              <a:srgbClr val="D96B5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0857" y="1755648"/>
            <a:ext cx="1732343" cy="219456"/>
          </a:xfrm>
          <a:prstGeom prst="roundRect">
            <a:avLst>
              <a:gd name="adj" fmla="val 50000"/>
            </a:avLst>
          </a:prstGeom>
          <a:solidFill>
            <a:srgbClr val="466B8C"/>
          </a:solidFill>
          <a:ln w="12700">
            <a:solidFill>
              <a:srgbClr val="466B8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84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BD: 436 (22.7%)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66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Controls: 1,487 (77.3%)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91256" y="969264"/>
            <a:ext cx="109728" cy="109728"/>
          </a:xfrm>
          <a:prstGeom prst="ellipse">
            <a:avLst/>
          </a:prstGeom>
          <a:solidFill>
            <a:srgbClr val="D96B5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9326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49040" y="969264"/>
            <a:ext cx="109728" cy="109728"/>
          </a:xfrm>
          <a:prstGeom prst="ellipse">
            <a:avLst/>
          </a:prstGeom>
          <a:solidFill>
            <a:srgbClr val="466B8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9326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66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2907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Female participants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32918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61872" y="3310128"/>
            <a:ext cx="1252728" cy="164592"/>
          </a:xfrm>
          <a:prstGeom prst="roundRect">
            <a:avLst>
              <a:gd name="adj" fmla="val 66667"/>
            </a:avLst>
          </a:prstGeom>
          <a:solidFill>
            <a:srgbClr val="EDF1F4"/>
          </a:solidFill>
          <a:ln w="12700">
            <a:solidFill>
              <a:srgbClr val="EDF1F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61872" y="3310128"/>
            <a:ext cx="775439" cy="164592"/>
          </a:xfrm>
          <a:prstGeom prst="roundRect">
            <a:avLst>
              <a:gd name="adj" fmla="val 66667"/>
            </a:avLst>
          </a:prstGeom>
          <a:solidFill>
            <a:srgbClr val="D96B5F"/>
          </a:solidFill>
          <a:ln w="12700">
            <a:solidFill>
              <a:srgbClr val="D96B5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96896" y="32735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61.9%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6758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66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61872" y="3694176"/>
            <a:ext cx="1252728" cy="164592"/>
          </a:xfrm>
          <a:prstGeom prst="roundRect">
            <a:avLst>
              <a:gd name="adj" fmla="val 66667"/>
            </a:avLst>
          </a:prstGeom>
          <a:solidFill>
            <a:srgbClr val="EDF1F4"/>
          </a:solidFill>
          <a:ln w="12700">
            <a:solidFill>
              <a:srgbClr val="EDF1F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61872" y="3694176"/>
            <a:ext cx="726582" cy="164592"/>
          </a:xfrm>
          <a:prstGeom prst="roundRect">
            <a:avLst>
              <a:gd name="adj" fmla="val 66667"/>
            </a:avLst>
          </a:prstGeom>
          <a:solidFill>
            <a:srgbClr val="466B8C"/>
          </a:solidFill>
          <a:ln w="12700">
            <a:solidFill>
              <a:srgbClr val="466B8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96896" y="3657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58.0%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041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0.163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315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sex distribution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" y="5788152"/>
            <a:ext cx="11201400" cy="621792"/>
          </a:xfrm>
          <a:prstGeom prst="roundRect">
            <a:avLst>
              <a:gd name="adj" fmla="val 17647"/>
            </a:avLst>
          </a:prstGeom>
          <a:solidFill>
            <a:srgbClr val="F7F2E8"/>
          </a:solidFill>
          <a:ln w="12700">
            <a:solidFill>
              <a:srgbClr val="F7F2E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9070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message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901952" y="5843016"/>
            <a:ext cx="946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Groups were comparable by sex, but BD participants were markedly younger and showed differences in laterality. Subsequent comparisons should be adjusted for age and sex.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3154680" y="134416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years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840480" y="2715768"/>
            <a:ext cx="1325880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61015" y="2670048"/>
            <a:ext cx="0" cy="91440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05567" y="278892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43153" y="2670048"/>
            <a:ext cx="0" cy="91440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87705" y="278892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25291" y="2670048"/>
            <a:ext cx="0" cy="91440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9843" y="278892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54680" y="18013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033335" y="1911096"/>
            <a:ext cx="554459" cy="0"/>
          </a:xfrm>
          <a:prstGeom prst="line">
            <a:avLst/>
          </a:prstGeom>
          <a:noFill/>
          <a:ln w="50800">
            <a:solidFill>
              <a:srgbClr val="D96B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71574" y="1828800"/>
            <a:ext cx="164592" cy="164592"/>
          </a:xfrm>
          <a:prstGeom prst="ellipse">
            <a:avLst/>
          </a:prstGeom>
          <a:solidFill>
            <a:srgbClr val="D96B5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68112" y="180136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[23–46]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154680" y="21854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66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63687" y="2295144"/>
            <a:ext cx="458031" cy="0"/>
          </a:xfrm>
          <a:prstGeom prst="line">
            <a:avLst/>
          </a:prstGeom>
          <a:noFill/>
          <a:ln w="50800">
            <a:solidFill>
              <a:srgbClr val="466B8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22460" y="2212848"/>
            <a:ext cx="164592" cy="164592"/>
          </a:xfrm>
          <a:prstGeom prst="ellipse">
            <a:avLst/>
          </a:prstGeom>
          <a:solidFill>
            <a:srgbClr val="466B8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68112" y="218541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 [45–64]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779008" y="1417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C33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&lt; 10⁻¹⁶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3154680" y="31089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Laterality quotient (LQ)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3840480" y="4480560"/>
            <a:ext cx="1325880" cy="0"/>
          </a:xfrm>
          <a:prstGeom prst="line">
            <a:avLst/>
          </a:prstGeom>
          <a:noFill/>
          <a:ln w="12700">
            <a:solidFill>
              <a:srgbClr val="E7EC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0480" y="4434840"/>
            <a:ext cx="0" cy="91440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85032" y="45537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03420" y="4434840"/>
            <a:ext cx="0" cy="91440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47972" y="45537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166360" y="4434840"/>
            <a:ext cx="0" cy="91440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45537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503420" y="3520440"/>
            <a:ext cx="0" cy="960120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54680" y="35661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027143" y="3675888"/>
            <a:ext cx="139217" cy="0"/>
          </a:xfrm>
          <a:prstGeom prst="line">
            <a:avLst/>
          </a:prstGeom>
          <a:noFill/>
          <a:ln w="50800">
            <a:solidFill>
              <a:srgbClr val="D96B5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17770" y="3593592"/>
            <a:ext cx="164592" cy="164592"/>
          </a:xfrm>
          <a:prstGeom prst="ellipse">
            <a:avLst/>
          </a:prstGeom>
          <a:solidFill>
            <a:srgbClr val="D96B5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68112" y="356616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[79–100]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3154680" y="395020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66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091779" y="4059936"/>
            <a:ext cx="74581" cy="0"/>
          </a:xfrm>
          <a:prstGeom prst="line">
            <a:avLst/>
          </a:prstGeom>
          <a:noFill/>
          <a:ln w="50800">
            <a:solidFill>
              <a:srgbClr val="466B8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84064" y="3977640"/>
            <a:ext cx="164592" cy="164592"/>
          </a:xfrm>
          <a:prstGeom prst="ellipse">
            <a:avLst/>
          </a:prstGeom>
          <a:solidFill>
            <a:srgbClr val="466B8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68112" y="39502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[88.75–100]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5779008" y="31821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C33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8.3 × 10⁻⁹</a:t>
            </a:r>
            <a:endParaRPr lang="en-US" sz="1080" dirty="0"/>
          </a:p>
        </p:txBody>
      </p:sp>
      <p:sp>
        <p:nvSpPr>
          <p:cNvPr id="66" name="Text 64"/>
          <p:cNvSpPr/>
          <p:nvPr/>
        </p:nvSpPr>
        <p:spPr>
          <a:xfrm>
            <a:off x="7315200" y="13441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 and eye preference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7315200" y="16733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Ordinal median [IQR] — add code legend from Methods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7315200" y="21488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019288" y="2468880"/>
            <a:ext cx="1719072" cy="0"/>
          </a:xfrm>
          <a:prstGeom prst="line">
            <a:avLst/>
          </a:prstGeom>
          <a:noFill/>
          <a:ln w="15240">
            <a:solidFill>
              <a:srgbClr val="E7ECF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19288" y="2414016"/>
            <a:ext cx="0" cy="109728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46136" y="25603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878824" y="2414016"/>
            <a:ext cx="0" cy="109728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805672" y="25603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9738360" y="2414016"/>
            <a:ext cx="0" cy="109728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65208" y="25603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019288" y="2468880"/>
            <a:ext cx="859536" cy="0"/>
          </a:xfrm>
          <a:prstGeom prst="line">
            <a:avLst/>
          </a:prstGeom>
          <a:noFill/>
          <a:ln w="25400">
            <a:solidFill>
              <a:srgbClr val="B8C5D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796528" y="2386584"/>
            <a:ext cx="164592" cy="164592"/>
          </a:xfrm>
          <a:prstGeom prst="ellipse">
            <a:avLst/>
          </a:prstGeom>
          <a:solidFill>
            <a:srgbClr val="D96B5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936992" y="2386584"/>
            <a:ext cx="164592" cy="164592"/>
          </a:xfrm>
          <a:prstGeom prst="ellipse">
            <a:avLst/>
          </a:prstGeom>
          <a:solidFill>
            <a:srgbClr val="466B8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994392" y="21671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D9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 2 [1–2]</a:t>
            </a:r>
            <a:endParaRPr lang="en-US" sz="1120" dirty="0"/>
          </a:p>
        </p:txBody>
      </p:sp>
      <p:sp>
        <p:nvSpPr>
          <p:cNvPr id="80" name="Text 78"/>
          <p:cNvSpPr/>
          <p:nvPr/>
        </p:nvSpPr>
        <p:spPr>
          <a:xfrm>
            <a:off x="9994392" y="2432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466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1 [1–2]</a:t>
            </a:r>
            <a:endParaRPr lang="en-US" sz="1120" dirty="0"/>
          </a:p>
        </p:txBody>
      </p:sp>
      <p:sp>
        <p:nvSpPr>
          <p:cNvPr id="81" name="Text 79"/>
          <p:cNvSpPr/>
          <p:nvPr/>
        </p:nvSpPr>
        <p:spPr>
          <a:xfrm>
            <a:off x="10991088" y="27340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33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7.2 × 10⁻¹³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7315200" y="3703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Eye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019288" y="4023360"/>
            <a:ext cx="1719072" cy="0"/>
          </a:xfrm>
          <a:prstGeom prst="line">
            <a:avLst/>
          </a:prstGeom>
          <a:noFill/>
          <a:ln w="15240">
            <a:solidFill>
              <a:srgbClr val="E7ECF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19288" y="3968496"/>
            <a:ext cx="0" cy="109728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946136" y="411480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8878824" y="3968496"/>
            <a:ext cx="0" cy="109728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805672" y="411480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738360" y="3968496"/>
            <a:ext cx="0" cy="109728"/>
          </a:xfrm>
          <a:prstGeom prst="line">
            <a:avLst/>
          </a:prstGeom>
          <a:noFill/>
          <a:ln w="10160">
            <a:solidFill>
              <a:srgbClr val="CED6D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665208" y="411480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019288" y="4023360"/>
            <a:ext cx="859536" cy="0"/>
          </a:xfrm>
          <a:prstGeom prst="line">
            <a:avLst/>
          </a:prstGeom>
          <a:noFill/>
          <a:ln w="25400">
            <a:solidFill>
              <a:srgbClr val="B8C5D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96528" y="3941064"/>
            <a:ext cx="164592" cy="164592"/>
          </a:xfrm>
          <a:prstGeom prst="ellipse">
            <a:avLst/>
          </a:prstGeom>
          <a:solidFill>
            <a:srgbClr val="D96B5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936992" y="3941064"/>
            <a:ext cx="164592" cy="164592"/>
          </a:xfrm>
          <a:prstGeom prst="ellipse">
            <a:avLst/>
          </a:prstGeom>
          <a:solidFill>
            <a:srgbClr val="466B8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994392" y="372160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D9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BD 2 [1–3]</a:t>
            </a:r>
            <a:endParaRPr lang="en-US" sz="1120" dirty="0"/>
          </a:p>
        </p:txBody>
      </p:sp>
      <p:sp>
        <p:nvSpPr>
          <p:cNvPr id="94" name="Text 92"/>
          <p:cNvSpPr/>
          <p:nvPr/>
        </p:nvSpPr>
        <p:spPr>
          <a:xfrm>
            <a:off x="9994392" y="3986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466B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1 [1–3]</a:t>
            </a:r>
            <a:endParaRPr lang="en-US" sz="1120" dirty="0"/>
          </a:p>
        </p:txBody>
      </p:sp>
      <p:sp>
        <p:nvSpPr>
          <p:cNvPr id="95" name="Text 93"/>
          <p:cNvSpPr/>
          <p:nvPr/>
        </p:nvSpPr>
        <p:spPr>
          <a:xfrm>
            <a:off x="10991088" y="428853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33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5.5 × 10⁻⁵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2926080" y="1051560"/>
            <a:ext cx="0" cy="4471416"/>
          </a:xfrm>
          <a:prstGeom prst="line">
            <a:avLst/>
          </a:prstGeom>
          <a:noFill/>
          <a:ln w="12700">
            <a:solidFill>
              <a:srgbClr val="E5EB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77456" y="1051560"/>
            <a:ext cx="0" cy="4471416"/>
          </a:xfrm>
          <a:prstGeom prst="line">
            <a:avLst/>
          </a:prstGeom>
          <a:noFill/>
          <a:ln w="12700">
            <a:solidFill>
              <a:srgbClr val="E5EB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02920" y="6528816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2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are n (%) or median [IQR]; higher LQ = stronger right-hand lateralization. P-values from chi-squared or Wilcoxon tests.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Sociodemographic and laterality characteristics</dc:title>
  <dc:subject>Sociodemographic and laterality characteristics</dc:subject>
  <dc:creator>OpenAI</dc:creator>
  <cp:lastModifiedBy>OpenAI</cp:lastModifiedBy>
  <cp:revision>1</cp:revision>
  <dcterms:created xsi:type="dcterms:W3CDTF">2026-07-30T10:17:12Z</dcterms:created>
  <dcterms:modified xsi:type="dcterms:W3CDTF">2026-07-30T10:17:12Z</dcterms:modified>
</cp:coreProperties>
</file>