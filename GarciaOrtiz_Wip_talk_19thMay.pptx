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59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70" r:id="rId8"/>
    <p:sldId id="265" r:id="rId9"/>
    <p:sldId id="271" r:id="rId10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FDF9"/>
    <a:srgbClr val="DEFAED"/>
    <a:srgbClr val="A5F1CD"/>
    <a:srgbClr val="1CB66D"/>
    <a:srgbClr val="8AD5FA"/>
    <a:srgbClr val="8BC2F9"/>
    <a:srgbClr val="97DAEF"/>
    <a:srgbClr val="9BB6ED"/>
    <a:srgbClr val="BD9DED"/>
    <a:srgbClr val="9EA2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834" y="12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s-ES" dirty="0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ES" dirty="0"/>
          </a:p>
        </p:txBody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e2342f4a7c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ES" dirty="0"/>
          </a:p>
        </p:txBody>
      </p:sp>
      <p:sp>
        <p:nvSpPr>
          <p:cNvPr id="60" name="Google Shape;60;g3e2342f4a7c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e2342f4a7c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ES" dirty="0"/>
          </a:p>
        </p:txBody>
      </p:sp>
      <p:sp>
        <p:nvSpPr>
          <p:cNvPr id="69" name="Google Shape;69;g3e2342f4a7c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s-ES" dirty="0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Recruitment ongoing</a:t>
            </a:r>
          </a:p>
          <a:p>
            <a:r>
              <a:rPr lang="es-ES" dirty="0"/>
              <a:t>Mention that there are also behavioural scales for controls</a:t>
            </a:r>
          </a:p>
        </p:txBody>
      </p:sp>
    </p:spTree>
    <p:extLst>
      <p:ext uri="{BB962C8B-B14F-4D97-AF65-F5344CB8AC3E}">
        <p14:creationId xmlns:p14="http://schemas.microsoft.com/office/powerpoint/2010/main" val="35619796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s-ES" dirty="0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The age differences point to the need of age-match data to study comparisons with other groups (BD)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1098559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5BE87D-27E1-0651-90A1-9C11C839E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524BBCE-BE5C-A588-CF3C-6042BF0AD5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F2939DE-DF95-D0D4-F8F6-90F293EC4B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GAF is inverse-scored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5841060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779207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311700" y="614225"/>
            <a:ext cx="8520600" cy="32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Atypical handedness in bipolar disorder: a genetic and clinical study </a:t>
            </a:r>
            <a:endParaRPr dirty="0"/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311700" y="3930850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55000" lnSpcReduction="2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Inés García-Ortiz</a:t>
            </a: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19th May 2026</a:t>
            </a: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Neurogenetics lab</a:t>
            </a:r>
            <a:endParaRPr dirty="0"/>
          </a:p>
        </p:txBody>
      </p:sp>
      <p:pic>
        <p:nvPicPr>
          <p:cNvPr id="56" name="Google Shape;56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8"/>
            <a:ext cx="1808213" cy="792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Google Shape;57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640325" y="143844"/>
            <a:ext cx="1342150" cy="573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 txBox="1">
            <a:spLocks noGrp="1"/>
          </p:cNvSpPr>
          <p:nvPr>
            <p:ph type="title"/>
          </p:nvPr>
        </p:nvSpPr>
        <p:spPr>
          <a:xfrm>
            <a:off x="320200" y="232475"/>
            <a:ext cx="6464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dirty="0"/>
              <a:t>Handedness in general population</a:t>
            </a:r>
            <a:endParaRPr dirty="0"/>
          </a:p>
        </p:txBody>
      </p:sp>
      <p:sp>
        <p:nvSpPr>
          <p:cNvPr id="65" name="Google Shape;65;p14"/>
          <p:cNvSpPr txBox="1"/>
          <p:nvPr/>
        </p:nvSpPr>
        <p:spPr>
          <a:xfrm>
            <a:off x="7387925" y="19125"/>
            <a:ext cx="1756200" cy="3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500">
                <a:solidFill>
                  <a:srgbClr val="999999"/>
                </a:solidFill>
              </a:rPr>
              <a:t>Introduction</a:t>
            </a:r>
            <a:endParaRPr sz="1500" dirty="0">
              <a:solidFill>
                <a:srgbClr val="999999"/>
              </a:solidFill>
            </a:endParaRPr>
          </a:p>
        </p:txBody>
      </p:sp>
      <p:sp>
        <p:nvSpPr>
          <p:cNvPr id="66" name="Google Shape;66;p14"/>
          <p:cNvSpPr txBox="1"/>
          <p:nvPr/>
        </p:nvSpPr>
        <p:spPr>
          <a:xfrm>
            <a:off x="579701" y="1187336"/>
            <a:ext cx="2924899" cy="2108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b="1" dirty="0">
                <a:solidFill>
                  <a:schemeClr val="dk1"/>
                </a:solidFill>
              </a:rPr>
              <a:t>Left-handed:  </a:t>
            </a:r>
            <a:r>
              <a:rPr lang="es" dirty="0">
                <a:solidFill>
                  <a:schemeClr val="dk1"/>
                </a:solidFill>
              </a:rPr>
              <a:t>around</a:t>
            </a:r>
            <a:r>
              <a:rPr lang="es" b="1" dirty="0">
                <a:solidFill>
                  <a:schemeClr val="dk1"/>
                </a:solidFill>
              </a:rPr>
              <a:t> </a:t>
            </a:r>
            <a:r>
              <a:rPr lang="es" dirty="0">
                <a:solidFill>
                  <a:schemeClr val="dk1"/>
                </a:solidFill>
              </a:rPr>
              <a:t>10%</a:t>
            </a: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u="sng" dirty="0">
                <a:solidFill>
                  <a:schemeClr val="dk1"/>
                </a:solidFill>
              </a:rPr>
              <a:t>Sex differences</a:t>
            </a:r>
            <a:r>
              <a:rPr lang="es" dirty="0">
                <a:solidFill>
                  <a:schemeClr val="dk1"/>
                </a:solidFill>
              </a:rPr>
              <a:t>: 12% men, 8% women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s" b="1" dirty="0">
                <a:solidFill>
                  <a:schemeClr val="dk1"/>
                </a:solidFill>
              </a:rPr>
              <a:t>Non-right-handedness (NRH)</a:t>
            </a:r>
            <a:r>
              <a:rPr lang="es" dirty="0">
                <a:solidFill>
                  <a:schemeClr val="dk1"/>
                </a:solidFill>
              </a:rPr>
              <a:t>: ~18% </a:t>
            </a:r>
          </a:p>
        </p:txBody>
      </p:sp>
      <p:pic>
        <p:nvPicPr>
          <p:cNvPr id="4" name="Imagen 3" descr="Scientists link genes to brain asymmetry | Max Planck Institute">
            <a:extLst>
              <a:ext uri="{FF2B5EF4-FFF2-40B4-BE49-F238E27FC236}">
                <a16:creationId xmlns:a16="http://schemas.microsoft.com/office/drawing/2014/main" id="{2DF8B3E9-8CD1-298F-B742-742B03D0A86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528" r="3361"/>
          <a:stretch>
            <a:fillRect/>
          </a:stretch>
        </p:blipFill>
        <p:spPr>
          <a:xfrm rot="16200000">
            <a:off x="379834" y="3028792"/>
            <a:ext cx="1762432" cy="2295998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3CE9EBB2-6024-EEF2-F9E0-9D00E45D3E7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742" t="1546" r="3501"/>
          <a:stretch>
            <a:fillRect/>
          </a:stretch>
        </p:blipFill>
        <p:spPr>
          <a:xfrm>
            <a:off x="3504600" y="921774"/>
            <a:ext cx="5540845" cy="2905432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58AF7209-55B6-D22E-C9A6-A25F52162F3C}"/>
              </a:ext>
            </a:extLst>
          </p:cNvPr>
          <p:cNvSpPr txBox="1"/>
          <p:nvPr/>
        </p:nvSpPr>
        <p:spPr>
          <a:xfrm>
            <a:off x="2693424" y="4246017"/>
            <a:ext cx="46346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" sz="1600" dirty="0">
                <a:solidFill>
                  <a:schemeClr val="dk1"/>
                </a:solidFill>
              </a:rPr>
              <a:t>Different brain asymmetry patterns</a:t>
            </a:r>
            <a:endParaRPr lang="es-ES" sz="1600" dirty="0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2A55FA13-54CE-3792-96F3-AC7D8EB5E01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2</a:t>
            </a:fld>
            <a:endParaRPr lang="es-E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5"/>
          <p:cNvSpPr txBox="1">
            <a:spLocks noGrp="1"/>
          </p:cNvSpPr>
          <p:nvPr>
            <p:ph type="title"/>
          </p:nvPr>
        </p:nvSpPr>
        <p:spPr>
          <a:xfrm>
            <a:off x="189214" y="300942"/>
            <a:ext cx="8927716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dirty="0"/>
              <a:t>Handedness in neurodevelopmental and psychiatric disorders</a:t>
            </a:r>
            <a:endParaRPr dirty="0"/>
          </a:p>
        </p:txBody>
      </p:sp>
      <p:sp>
        <p:nvSpPr>
          <p:cNvPr id="75" name="Google Shape;75;p15"/>
          <p:cNvSpPr txBox="1"/>
          <p:nvPr/>
        </p:nvSpPr>
        <p:spPr>
          <a:xfrm>
            <a:off x="7387925" y="19125"/>
            <a:ext cx="1756200" cy="3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500">
                <a:solidFill>
                  <a:srgbClr val="999999"/>
                </a:solidFill>
              </a:rPr>
              <a:t>Introduction</a:t>
            </a:r>
            <a:endParaRPr sz="1500" dirty="0">
              <a:solidFill>
                <a:srgbClr val="999999"/>
              </a:solidFill>
            </a:endParaRPr>
          </a:p>
        </p:txBody>
      </p:sp>
      <p:pic>
        <p:nvPicPr>
          <p:cNvPr id="76" name="Google Shape;76;p15"/>
          <p:cNvPicPr preferRelativeResize="0"/>
          <p:nvPr/>
        </p:nvPicPr>
        <p:blipFill rotWithShape="1">
          <a:blip r:embed="rId3">
            <a:alphaModFix/>
          </a:blip>
          <a:srcRect l="25345" t="5525" b="11274"/>
          <a:stretch/>
        </p:blipFill>
        <p:spPr>
          <a:xfrm>
            <a:off x="227073" y="1579806"/>
            <a:ext cx="3278832" cy="2943048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5"/>
          <p:cNvSpPr txBox="1"/>
          <p:nvPr/>
        </p:nvSpPr>
        <p:spPr>
          <a:xfrm>
            <a:off x="258377" y="4396823"/>
            <a:ext cx="26628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200" b="1" dirty="0">
                <a:solidFill>
                  <a:srgbClr val="CC0000"/>
                </a:solidFill>
              </a:rPr>
              <a:t>0.67 genetic correlation SCZ v BD</a:t>
            </a:r>
            <a:endParaRPr sz="1200" b="1" dirty="0">
              <a:solidFill>
                <a:srgbClr val="CC0000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200" b="1" dirty="0">
                <a:solidFill>
                  <a:srgbClr val="1155CC"/>
                </a:solidFill>
              </a:rPr>
              <a:t>48 shared symptoms</a:t>
            </a:r>
            <a:endParaRPr sz="1200" b="1" dirty="0">
              <a:solidFill>
                <a:srgbClr val="1155CC"/>
              </a:solidFill>
            </a:endParaRPr>
          </a:p>
        </p:txBody>
      </p:sp>
      <p:grpSp>
        <p:nvGrpSpPr>
          <p:cNvPr id="15" name="Grupo 14">
            <a:extLst>
              <a:ext uri="{FF2B5EF4-FFF2-40B4-BE49-F238E27FC236}">
                <a16:creationId xmlns:a16="http://schemas.microsoft.com/office/drawing/2014/main" id="{443991FB-BD40-CF4E-A363-8A95B93A6566}"/>
              </a:ext>
            </a:extLst>
          </p:cNvPr>
          <p:cNvGrpSpPr/>
          <p:nvPr/>
        </p:nvGrpSpPr>
        <p:grpSpPr>
          <a:xfrm>
            <a:off x="3870590" y="1166734"/>
            <a:ext cx="2640366" cy="1078923"/>
            <a:chOff x="3864602" y="1504949"/>
            <a:chExt cx="2640366" cy="1078923"/>
          </a:xfrm>
        </p:grpSpPr>
        <p:pic>
          <p:nvPicPr>
            <p:cNvPr id="3" name="Gráfico 2" descr="Persona confundida con relleno sólido">
              <a:extLst>
                <a:ext uri="{FF2B5EF4-FFF2-40B4-BE49-F238E27FC236}">
                  <a16:creationId xmlns:a16="http://schemas.microsoft.com/office/drawing/2014/main" id="{6E10B1DA-A7BD-1AC5-0FE6-A874D2BDE24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864602" y="1504949"/>
              <a:ext cx="1078923" cy="1078923"/>
            </a:xfrm>
            <a:prstGeom prst="rect">
              <a:avLst/>
            </a:prstGeom>
          </p:spPr>
        </p:pic>
        <p:sp>
          <p:nvSpPr>
            <p:cNvPr id="7" name="CuadroTexto 6">
              <a:extLst>
                <a:ext uri="{FF2B5EF4-FFF2-40B4-BE49-F238E27FC236}">
                  <a16:creationId xmlns:a16="http://schemas.microsoft.com/office/drawing/2014/main" id="{39AC7DFD-5540-8C9B-D578-4C74605103ED}"/>
                </a:ext>
              </a:extLst>
            </p:cNvPr>
            <p:cNvSpPr txBox="1"/>
            <p:nvPr/>
          </p:nvSpPr>
          <p:spPr>
            <a:xfrm>
              <a:off x="4819477" y="1597661"/>
              <a:ext cx="1685491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b="1" dirty="0"/>
                <a:t>Schizophrenia </a:t>
              </a:r>
              <a:r>
                <a:rPr lang="es-ES" dirty="0"/>
                <a:t>(SCZ)</a:t>
              </a:r>
            </a:p>
            <a:p>
              <a:pPr algn="ctr"/>
              <a:r>
                <a:rPr lang="es-ES" dirty="0"/>
                <a:t>Left-</a:t>
              </a:r>
              <a:r>
                <a:rPr lang="en-US" noProof="0" dirty="0"/>
                <a:t>handed</a:t>
              </a:r>
              <a:r>
                <a:rPr lang="es-ES" dirty="0"/>
                <a:t>: ~20%</a:t>
              </a:r>
            </a:p>
            <a:p>
              <a:pPr algn="ctr"/>
              <a:r>
                <a:rPr lang="es-ES" dirty="0"/>
                <a:t>NRH: ~35%</a:t>
              </a:r>
              <a:r>
                <a:rPr lang="es-ES" b="1" dirty="0"/>
                <a:t>**</a:t>
              </a:r>
            </a:p>
          </p:txBody>
        </p:sp>
      </p:grpSp>
      <p:grpSp>
        <p:nvGrpSpPr>
          <p:cNvPr id="16" name="Grupo 15">
            <a:extLst>
              <a:ext uri="{FF2B5EF4-FFF2-40B4-BE49-F238E27FC236}">
                <a16:creationId xmlns:a16="http://schemas.microsoft.com/office/drawing/2014/main" id="{986AE06E-B3B6-A868-5BB4-867B2BA12023}"/>
              </a:ext>
            </a:extLst>
          </p:cNvPr>
          <p:cNvGrpSpPr/>
          <p:nvPr/>
        </p:nvGrpSpPr>
        <p:grpSpPr>
          <a:xfrm>
            <a:off x="6705592" y="1042808"/>
            <a:ext cx="1200329" cy="2010342"/>
            <a:chOff x="4977833" y="1709235"/>
            <a:chExt cx="1200329" cy="2010342"/>
          </a:xfrm>
        </p:grpSpPr>
        <p:pic>
          <p:nvPicPr>
            <p:cNvPr id="6" name="Gráfico 5" descr="Persona confundida con relleno sólido">
              <a:extLst>
                <a:ext uri="{FF2B5EF4-FFF2-40B4-BE49-F238E27FC236}">
                  <a16:creationId xmlns:a16="http://schemas.microsoft.com/office/drawing/2014/main" id="{241959DB-4516-B49C-6F88-DF30BF9B0E6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977833" y="1709235"/>
              <a:ext cx="1078922" cy="1078922"/>
            </a:xfrm>
            <a:prstGeom prst="rect">
              <a:avLst/>
            </a:prstGeom>
          </p:spPr>
        </p:pic>
        <p:sp>
          <p:nvSpPr>
            <p:cNvPr id="8" name="CuadroTexto 7">
              <a:extLst>
                <a:ext uri="{FF2B5EF4-FFF2-40B4-BE49-F238E27FC236}">
                  <a16:creationId xmlns:a16="http://schemas.microsoft.com/office/drawing/2014/main" id="{0B208FE0-A252-3BEE-7248-5F6ECD1E8CE2}"/>
                </a:ext>
              </a:extLst>
            </p:cNvPr>
            <p:cNvSpPr txBox="1"/>
            <p:nvPr/>
          </p:nvSpPr>
          <p:spPr>
            <a:xfrm>
              <a:off x="4994563" y="2765470"/>
              <a:ext cx="1183599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b="1" dirty="0"/>
                <a:t>Depression</a:t>
              </a:r>
              <a:r>
                <a:rPr lang="es-ES" dirty="0"/>
                <a:t> (DEP)</a:t>
              </a:r>
            </a:p>
            <a:p>
              <a:pPr algn="ctr"/>
              <a:r>
                <a:rPr lang="es-ES" dirty="0"/>
                <a:t>NRH: 18%</a:t>
              </a:r>
            </a:p>
            <a:p>
              <a:pPr algn="ctr"/>
              <a:endParaRPr lang="es-ES" dirty="0"/>
            </a:p>
          </p:txBody>
        </p:sp>
      </p:grpSp>
      <p:grpSp>
        <p:nvGrpSpPr>
          <p:cNvPr id="14" name="Grupo 13">
            <a:extLst>
              <a:ext uri="{FF2B5EF4-FFF2-40B4-BE49-F238E27FC236}">
                <a16:creationId xmlns:a16="http://schemas.microsoft.com/office/drawing/2014/main" id="{6DB7948C-FAB5-8B2E-05A9-68E2C733614C}"/>
              </a:ext>
            </a:extLst>
          </p:cNvPr>
          <p:cNvGrpSpPr/>
          <p:nvPr/>
        </p:nvGrpSpPr>
        <p:grpSpPr>
          <a:xfrm>
            <a:off x="7818612" y="1503964"/>
            <a:ext cx="1379850" cy="1808952"/>
            <a:chOff x="2892531" y="2558976"/>
            <a:chExt cx="1379850" cy="1808952"/>
          </a:xfrm>
        </p:grpSpPr>
        <p:pic>
          <p:nvPicPr>
            <p:cNvPr id="4" name="Gráfico 3" descr="Persona confundida con relleno sólido">
              <a:extLst>
                <a:ext uri="{FF2B5EF4-FFF2-40B4-BE49-F238E27FC236}">
                  <a16:creationId xmlns:a16="http://schemas.microsoft.com/office/drawing/2014/main" id="{1832DDA5-DE35-0AFE-50E6-B9951FF5493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024013" y="2558976"/>
              <a:ext cx="1078922" cy="1078922"/>
            </a:xfrm>
            <a:prstGeom prst="rect">
              <a:avLst/>
            </a:prstGeom>
          </p:spPr>
        </p:pic>
        <p:sp>
          <p:nvSpPr>
            <p:cNvPr id="9" name="CuadroTexto 8">
              <a:extLst>
                <a:ext uri="{FF2B5EF4-FFF2-40B4-BE49-F238E27FC236}">
                  <a16:creationId xmlns:a16="http://schemas.microsoft.com/office/drawing/2014/main" id="{5AB82C21-CFEB-F5F2-0204-426DA9DE4F6F}"/>
                </a:ext>
              </a:extLst>
            </p:cNvPr>
            <p:cNvSpPr txBox="1"/>
            <p:nvPr/>
          </p:nvSpPr>
          <p:spPr>
            <a:xfrm>
              <a:off x="2892531" y="3629264"/>
              <a:ext cx="1379850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b="1" dirty="0"/>
                <a:t>Autism </a:t>
              </a:r>
              <a:r>
                <a:rPr lang="es-ES" dirty="0"/>
                <a:t>(ASD)</a:t>
              </a:r>
            </a:p>
            <a:p>
              <a:pPr algn="ctr"/>
              <a:r>
                <a:rPr lang="es-ES" dirty="0"/>
                <a:t>NRH: ~35%</a:t>
              </a:r>
              <a:r>
                <a:rPr lang="es-ES" b="1" dirty="0"/>
                <a:t>**</a:t>
              </a:r>
            </a:p>
            <a:p>
              <a:pPr algn="ctr"/>
              <a:endParaRPr lang="es-ES" dirty="0"/>
            </a:p>
          </p:txBody>
        </p:sp>
      </p:grpSp>
      <p:grpSp>
        <p:nvGrpSpPr>
          <p:cNvPr id="17" name="Grupo 16">
            <a:extLst>
              <a:ext uri="{FF2B5EF4-FFF2-40B4-BE49-F238E27FC236}">
                <a16:creationId xmlns:a16="http://schemas.microsoft.com/office/drawing/2014/main" id="{A2EE6481-408F-71D4-1137-0DF4FFFBF58D}"/>
              </a:ext>
            </a:extLst>
          </p:cNvPr>
          <p:cNvGrpSpPr/>
          <p:nvPr/>
        </p:nvGrpSpPr>
        <p:grpSpPr>
          <a:xfrm>
            <a:off x="7792172" y="3231665"/>
            <a:ext cx="1250476" cy="1647333"/>
            <a:chOff x="6298559" y="1504949"/>
            <a:chExt cx="1250476" cy="1647333"/>
          </a:xfrm>
        </p:grpSpPr>
        <p:pic>
          <p:nvPicPr>
            <p:cNvPr id="5" name="Gráfico 4" descr="Persona confundida con relleno sólido">
              <a:extLst>
                <a:ext uri="{FF2B5EF4-FFF2-40B4-BE49-F238E27FC236}">
                  <a16:creationId xmlns:a16="http://schemas.microsoft.com/office/drawing/2014/main" id="{78CD5363-E9C7-E8D0-FF44-88B7CE1595D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384336" y="1504949"/>
              <a:ext cx="1078923" cy="1078923"/>
            </a:xfrm>
            <a:prstGeom prst="rect">
              <a:avLst/>
            </a:prstGeom>
          </p:spPr>
        </p:pic>
        <p:sp>
          <p:nvSpPr>
            <p:cNvPr id="10" name="CuadroTexto 9">
              <a:extLst>
                <a:ext uri="{FF2B5EF4-FFF2-40B4-BE49-F238E27FC236}">
                  <a16:creationId xmlns:a16="http://schemas.microsoft.com/office/drawing/2014/main" id="{DD7F7974-D189-5E3B-3511-1044205A7774}"/>
                </a:ext>
              </a:extLst>
            </p:cNvPr>
            <p:cNvSpPr txBox="1"/>
            <p:nvPr/>
          </p:nvSpPr>
          <p:spPr>
            <a:xfrm>
              <a:off x="6298559" y="2629062"/>
              <a:ext cx="125047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b="1" dirty="0"/>
                <a:t>ADHD</a:t>
              </a:r>
            </a:p>
            <a:p>
              <a:pPr algn="ctr"/>
              <a:r>
                <a:rPr lang="es-ES" dirty="0"/>
                <a:t>NRH: ~25%</a:t>
              </a:r>
              <a:r>
                <a:rPr lang="es-ES" b="1" dirty="0"/>
                <a:t>*</a:t>
              </a:r>
            </a:p>
          </p:txBody>
        </p:sp>
      </p:grpSp>
      <p:grpSp>
        <p:nvGrpSpPr>
          <p:cNvPr id="18" name="Grupo 17">
            <a:extLst>
              <a:ext uri="{FF2B5EF4-FFF2-40B4-BE49-F238E27FC236}">
                <a16:creationId xmlns:a16="http://schemas.microsoft.com/office/drawing/2014/main" id="{8CD7294A-4AAA-12DA-E7DD-64FBB90EEF6A}"/>
              </a:ext>
            </a:extLst>
          </p:cNvPr>
          <p:cNvGrpSpPr/>
          <p:nvPr/>
        </p:nvGrpSpPr>
        <p:grpSpPr>
          <a:xfrm>
            <a:off x="3944699" y="2390486"/>
            <a:ext cx="2602388" cy="1078923"/>
            <a:chOff x="7156667" y="1504948"/>
            <a:chExt cx="2602388" cy="1078923"/>
          </a:xfrm>
        </p:grpSpPr>
        <p:sp>
          <p:nvSpPr>
            <p:cNvPr id="11" name="CuadroTexto 10">
              <a:extLst>
                <a:ext uri="{FF2B5EF4-FFF2-40B4-BE49-F238E27FC236}">
                  <a16:creationId xmlns:a16="http://schemas.microsoft.com/office/drawing/2014/main" id="{F5D3924B-DEC9-564D-4C1E-F41BB1233C68}"/>
                </a:ext>
              </a:extLst>
            </p:cNvPr>
            <p:cNvSpPr txBox="1"/>
            <p:nvPr/>
          </p:nvSpPr>
          <p:spPr>
            <a:xfrm>
              <a:off x="8379205" y="1675077"/>
              <a:ext cx="1379850" cy="738664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s-ES" b="1" dirty="0"/>
                <a:t>Bipolar disorder </a:t>
              </a:r>
              <a:r>
                <a:rPr lang="es-ES" dirty="0"/>
                <a:t>(BD)</a:t>
              </a:r>
            </a:p>
            <a:p>
              <a:pPr algn="ctr"/>
              <a:r>
                <a:rPr lang="es-ES" dirty="0"/>
                <a:t>???</a:t>
              </a:r>
            </a:p>
          </p:txBody>
        </p:sp>
        <p:pic>
          <p:nvPicPr>
            <p:cNvPr id="12" name="Gráfico 11" descr="Persona confundida con relleno sólido">
              <a:extLst>
                <a:ext uri="{FF2B5EF4-FFF2-40B4-BE49-F238E27FC236}">
                  <a16:creationId xmlns:a16="http://schemas.microsoft.com/office/drawing/2014/main" id="{82EDE867-4A7B-9045-7C07-044830F4B0A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7156667" y="1504948"/>
              <a:ext cx="1078923" cy="1078923"/>
            </a:xfrm>
            <a:prstGeom prst="rect">
              <a:avLst/>
            </a:prstGeom>
          </p:spPr>
        </p:pic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2D0DFF0B-E50B-06BF-66F5-31A1A2654E16}"/>
              </a:ext>
            </a:extLst>
          </p:cNvPr>
          <p:cNvSpPr txBox="1"/>
          <p:nvPr/>
        </p:nvSpPr>
        <p:spPr>
          <a:xfrm>
            <a:off x="4643984" y="3678386"/>
            <a:ext cx="2601069" cy="120032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s-ES" sz="1800" u="sng" dirty="0"/>
              <a:t>No concordant pattern:</a:t>
            </a:r>
          </a:p>
          <a:p>
            <a:r>
              <a:rPr lang="es-ES" sz="1800" dirty="0"/>
              <a:t>Small sample sizes</a:t>
            </a:r>
          </a:p>
          <a:p>
            <a:r>
              <a:rPr lang="es-ES" sz="1800" dirty="0"/>
              <a:t>Lack of clinical data</a:t>
            </a:r>
          </a:p>
          <a:p>
            <a:r>
              <a:rPr lang="es-ES" sz="1800" dirty="0"/>
              <a:t>Diverse measurements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ABC2538B-C483-ED9B-DB84-F4C08C501670}"/>
              </a:ext>
            </a:extLst>
          </p:cNvPr>
          <p:cNvSpPr txBox="1"/>
          <p:nvPr/>
        </p:nvSpPr>
        <p:spPr>
          <a:xfrm>
            <a:off x="212676" y="1056586"/>
            <a:ext cx="33076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High genetic + clinical overlap between mental disorders</a:t>
            </a:r>
          </a:p>
        </p:txBody>
      </p:sp>
      <p:sp>
        <p:nvSpPr>
          <p:cNvPr id="20" name="Marcador de número de diapositiva 19">
            <a:extLst>
              <a:ext uri="{FF2B5EF4-FFF2-40B4-BE49-F238E27FC236}">
                <a16:creationId xmlns:a16="http://schemas.microsoft.com/office/drawing/2014/main" id="{EA711029-0B75-3FFC-1275-C99CAB4FF27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3</a:t>
            </a:fld>
            <a:endParaRPr lang="es-E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0137E33-4FCC-457F-BE50-7F9393AEC9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9424" y="276780"/>
            <a:ext cx="8520600" cy="572700"/>
          </a:xfrm>
        </p:spPr>
        <p:txBody>
          <a:bodyPr>
            <a:normAutofit fontScale="90000"/>
          </a:bodyPr>
          <a:lstStyle/>
          <a:p>
            <a:r>
              <a:rPr lang="es-ES" dirty="0"/>
              <a:t>Edinburgh Handedness Inventory</a:t>
            </a:r>
          </a:p>
        </p:txBody>
      </p:sp>
      <p:sp>
        <p:nvSpPr>
          <p:cNvPr id="4" name="Google Shape;75;p15">
            <a:extLst>
              <a:ext uri="{FF2B5EF4-FFF2-40B4-BE49-F238E27FC236}">
                <a16:creationId xmlns:a16="http://schemas.microsoft.com/office/drawing/2014/main" id="{64CF3307-8C86-A366-8783-07CF0416B4D7}"/>
              </a:ext>
            </a:extLst>
          </p:cNvPr>
          <p:cNvSpPr txBox="1"/>
          <p:nvPr/>
        </p:nvSpPr>
        <p:spPr>
          <a:xfrm>
            <a:off x="7364825" y="28928"/>
            <a:ext cx="1756200" cy="3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500" dirty="0">
                <a:solidFill>
                  <a:srgbClr val="999999"/>
                </a:solidFill>
              </a:rPr>
              <a:t>Introduction</a:t>
            </a:r>
            <a:endParaRPr sz="1500" dirty="0">
              <a:solidFill>
                <a:srgbClr val="999999"/>
              </a:solidFill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1ECE9B4B-0D98-8B3D-18EB-E0B9047E7A5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192" t="2729" r="14190" b="27634"/>
          <a:stretch>
            <a:fillRect/>
          </a:stretch>
        </p:blipFill>
        <p:spPr>
          <a:xfrm>
            <a:off x="469815" y="1070925"/>
            <a:ext cx="2287857" cy="2932001"/>
          </a:xfrm>
          <a:prstGeom prst="rect">
            <a:avLst/>
          </a:prstGeom>
        </p:spPr>
      </p:pic>
      <p:grpSp>
        <p:nvGrpSpPr>
          <p:cNvPr id="21" name="Grupo 20">
            <a:extLst>
              <a:ext uri="{FF2B5EF4-FFF2-40B4-BE49-F238E27FC236}">
                <a16:creationId xmlns:a16="http://schemas.microsoft.com/office/drawing/2014/main" id="{C806430B-2171-247B-CC65-4978EBD59CFC}"/>
              </a:ext>
            </a:extLst>
          </p:cNvPr>
          <p:cNvGrpSpPr/>
          <p:nvPr/>
        </p:nvGrpSpPr>
        <p:grpSpPr>
          <a:xfrm>
            <a:off x="555120" y="4432179"/>
            <a:ext cx="1842655" cy="612155"/>
            <a:chOff x="0" y="3868394"/>
            <a:chExt cx="2369127" cy="612155"/>
          </a:xfrm>
        </p:grpSpPr>
        <p:sp>
          <p:nvSpPr>
            <p:cNvPr id="6" name="CuadroTexto 5">
              <a:extLst>
                <a:ext uri="{FF2B5EF4-FFF2-40B4-BE49-F238E27FC236}">
                  <a16:creationId xmlns:a16="http://schemas.microsoft.com/office/drawing/2014/main" id="{72B2F1DE-462B-DB68-A652-BA36A6BA6C13}"/>
                </a:ext>
              </a:extLst>
            </p:cNvPr>
            <p:cNvSpPr txBox="1"/>
            <p:nvPr/>
          </p:nvSpPr>
          <p:spPr>
            <a:xfrm>
              <a:off x="0" y="3868394"/>
              <a:ext cx="2369127" cy="61215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s-ES" sz="1200" i="1" dirty="0"/>
                <a:t>Right Score -Left Score</a:t>
              </a:r>
            </a:p>
            <a:p>
              <a:pPr algn="ctr">
                <a:lnSpc>
                  <a:spcPct val="150000"/>
                </a:lnSpc>
              </a:pPr>
              <a:r>
                <a:rPr lang="es-ES" sz="1200" i="1" dirty="0"/>
                <a:t>Right Score +Left Score</a:t>
              </a:r>
            </a:p>
          </p:txBody>
        </p:sp>
        <p:cxnSp>
          <p:nvCxnSpPr>
            <p:cNvPr id="9" name="Conector recto 8">
              <a:extLst>
                <a:ext uri="{FF2B5EF4-FFF2-40B4-BE49-F238E27FC236}">
                  <a16:creationId xmlns:a16="http://schemas.microsoft.com/office/drawing/2014/main" id="{68E59891-FFE6-8B92-07CD-5469A083C2BF}"/>
                </a:ext>
              </a:extLst>
            </p:cNvPr>
            <p:cNvCxnSpPr/>
            <p:nvPr/>
          </p:nvCxnSpPr>
          <p:spPr>
            <a:xfrm>
              <a:off x="166255" y="4202179"/>
              <a:ext cx="2008909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0" name="Grupo 19">
            <a:extLst>
              <a:ext uri="{FF2B5EF4-FFF2-40B4-BE49-F238E27FC236}">
                <a16:creationId xmlns:a16="http://schemas.microsoft.com/office/drawing/2014/main" id="{A7BA36BC-075D-864E-4349-F0F716E3E338}"/>
              </a:ext>
            </a:extLst>
          </p:cNvPr>
          <p:cNvGrpSpPr/>
          <p:nvPr/>
        </p:nvGrpSpPr>
        <p:grpSpPr>
          <a:xfrm>
            <a:off x="2246914" y="4521114"/>
            <a:ext cx="1603663" cy="523220"/>
            <a:chOff x="2175164" y="3956736"/>
            <a:chExt cx="1603663" cy="523220"/>
          </a:xfrm>
        </p:grpSpPr>
        <p:sp>
          <p:nvSpPr>
            <p:cNvPr id="7" name="CuadroTexto 6">
              <a:extLst>
                <a:ext uri="{FF2B5EF4-FFF2-40B4-BE49-F238E27FC236}">
                  <a16:creationId xmlns:a16="http://schemas.microsoft.com/office/drawing/2014/main" id="{D80C94A5-96C7-62A6-AB79-DBD829CD0D8B}"/>
                </a:ext>
              </a:extLst>
            </p:cNvPr>
            <p:cNvSpPr txBox="1"/>
            <p:nvPr/>
          </p:nvSpPr>
          <p:spPr>
            <a:xfrm>
              <a:off x="2303318" y="3956736"/>
              <a:ext cx="147550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b="1" dirty="0"/>
                <a:t>Lateralization Quotient (LQ)</a:t>
              </a:r>
            </a:p>
          </p:txBody>
        </p:sp>
        <p:sp>
          <p:nvSpPr>
            <p:cNvPr id="10" name="CuadroTexto 9">
              <a:extLst>
                <a:ext uri="{FF2B5EF4-FFF2-40B4-BE49-F238E27FC236}">
                  <a16:creationId xmlns:a16="http://schemas.microsoft.com/office/drawing/2014/main" id="{A2CCF3B5-A1BD-3533-357D-8AA2E1FE3933}"/>
                </a:ext>
              </a:extLst>
            </p:cNvPr>
            <p:cNvSpPr txBox="1"/>
            <p:nvPr/>
          </p:nvSpPr>
          <p:spPr>
            <a:xfrm>
              <a:off x="2175164" y="4080164"/>
              <a:ext cx="19396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dirty="0"/>
                <a:t>=</a:t>
              </a:r>
            </a:p>
          </p:txBody>
        </p:sp>
      </p:grpSp>
      <p:pic>
        <p:nvPicPr>
          <p:cNvPr id="11" name="Imagen 10">
            <a:extLst>
              <a:ext uri="{FF2B5EF4-FFF2-40B4-BE49-F238E27FC236}">
                <a16:creationId xmlns:a16="http://schemas.microsoft.com/office/drawing/2014/main" id="{FE6E5B57-FB01-289C-DAB6-A534433194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39" t="50978" r="4005" b="8463"/>
          <a:stretch>
            <a:fillRect/>
          </a:stretch>
        </p:blipFill>
        <p:spPr>
          <a:xfrm>
            <a:off x="4692421" y="1218693"/>
            <a:ext cx="4273670" cy="420706"/>
          </a:xfrm>
          <a:prstGeom prst="rect">
            <a:avLst/>
          </a:prstGeom>
        </p:spPr>
      </p:pic>
      <p:cxnSp>
        <p:nvCxnSpPr>
          <p:cNvPr id="58" name="Conector recto 57">
            <a:extLst>
              <a:ext uri="{FF2B5EF4-FFF2-40B4-BE49-F238E27FC236}">
                <a16:creationId xmlns:a16="http://schemas.microsoft.com/office/drawing/2014/main" id="{B33B3AE7-195E-540D-774A-26025E5E9979}"/>
              </a:ext>
            </a:extLst>
          </p:cNvPr>
          <p:cNvCxnSpPr>
            <a:cxnSpLocks/>
          </p:cNvCxnSpPr>
          <p:nvPr/>
        </p:nvCxnSpPr>
        <p:spPr>
          <a:xfrm>
            <a:off x="6818078" y="1033664"/>
            <a:ext cx="12232" cy="1491177"/>
          </a:xfrm>
          <a:prstGeom prst="line">
            <a:avLst/>
          </a:prstGeom>
          <a:ln w="38100">
            <a:solidFill>
              <a:schemeClr val="bg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ector recto 62">
            <a:extLst>
              <a:ext uri="{FF2B5EF4-FFF2-40B4-BE49-F238E27FC236}">
                <a16:creationId xmlns:a16="http://schemas.microsoft.com/office/drawing/2014/main" id="{C29CA9F0-6469-A01C-954C-55E393EE6CAE}"/>
              </a:ext>
            </a:extLst>
          </p:cNvPr>
          <p:cNvCxnSpPr>
            <a:cxnSpLocks/>
          </p:cNvCxnSpPr>
          <p:nvPr/>
        </p:nvCxnSpPr>
        <p:spPr>
          <a:xfrm flipV="1">
            <a:off x="7644515" y="1033664"/>
            <a:ext cx="0" cy="2461917"/>
          </a:xfrm>
          <a:prstGeom prst="line">
            <a:avLst/>
          </a:prstGeom>
          <a:ln w="38100">
            <a:solidFill>
              <a:schemeClr val="bg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ector recto 60">
            <a:extLst>
              <a:ext uri="{FF2B5EF4-FFF2-40B4-BE49-F238E27FC236}">
                <a16:creationId xmlns:a16="http://schemas.microsoft.com/office/drawing/2014/main" id="{335E6894-0FA8-69ED-16E8-B76AB9699619}"/>
              </a:ext>
            </a:extLst>
          </p:cNvPr>
          <p:cNvCxnSpPr>
            <a:cxnSpLocks/>
          </p:cNvCxnSpPr>
          <p:nvPr/>
        </p:nvCxnSpPr>
        <p:spPr>
          <a:xfrm flipV="1">
            <a:off x="6032275" y="1033664"/>
            <a:ext cx="0" cy="2260447"/>
          </a:xfrm>
          <a:prstGeom prst="line">
            <a:avLst/>
          </a:prstGeom>
          <a:ln w="38100">
            <a:solidFill>
              <a:schemeClr val="bg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nector recto 71">
            <a:extLst>
              <a:ext uri="{FF2B5EF4-FFF2-40B4-BE49-F238E27FC236}">
                <a16:creationId xmlns:a16="http://schemas.microsoft.com/office/drawing/2014/main" id="{B577F7F1-0EA0-35C0-1513-DD2622477026}"/>
              </a:ext>
            </a:extLst>
          </p:cNvPr>
          <p:cNvCxnSpPr>
            <a:cxnSpLocks/>
          </p:cNvCxnSpPr>
          <p:nvPr/>
        </p:nvCxnSpPr>
        <p:spPr>
          <a:xfrm flipV="1">
            <a:off x="5779999" y="954154"/>
            <a:ext cx="0" cy="3162645"/>
          </a:xfrm>
          <a:prstGeom prst="line">
            <a:avLst/>
          </a:prstGeom>
          <a:ln w="38100">
            <a:solidFill>
              <a:schemeClr val="bg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ector recto 63">
            <a:extLst>
              <a:ext uri="{FF2B5EF4-FFF2-40B4-BE49-F238E27FC236}">
                <a16:creationId xmlns:a16="http://schemas.microsoft.com/office/drawing/2014/main" id="{9D959302-9360-5C33-06B3-D62828EF9A8E}"/>
              </a:ext>
            </a:extLst>
          </p:cNvPr>
          <p:cNvCxnSpPr>
            <a:cxnSpLocks/>
          </p:cNvCxnSpPr>
          <p:nvPr/>
        </p:nvCxnSpPr>
        <p:spPr>
          <a:xfrm flipV="1">
            <a:off x="7892084" y="954154"/>
            <a:ext cx="0" cy="3162645"/>
          </a:xfrm>
          <a:prstGeom prst="line">
            <a:avLst/>
          </a:prstGeom>
          <a:ln w="38100">
            <a:solidFill>
              <a:schemeClr val="bg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ángulo 18">
            <a:extLst>
              <a:ext uri="{FF2B5EF4-FFF2-40B4-BE49-F238E27FC236}">
                <a16:creationId xmlns:a16="http://schemas.microsoft.com/office/drawing/2014/main" id="{08B30B59-3710-8408-0FF9-26E4523DE253}"/>
              </a:ext>
            </a:extLst>
          </p:cNvPr>
          <p:cNvSpPr/>
          <p:nvPr/>
        </p:nvSpPr>
        <p:spPr>
          <a:xfrm>
            <a:off x="4692421" y="1917951"/>
            <a:ext cx="4237371" cy="249381"/>
          </a:xfrm>
          <a:prstGeom prst="rect">
            <a:avLst/>
          </a:prstGeom>
          <a:solidFill>
            <a:srgbClr val="A5F1CD"/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09842625-2368-2298-16FC-95C1E9F693A6}"/>
              </a:ext>
            </a:extLst>
          </p:cNvPr>
          <p:cNvSpPr txBox="1"/>
          <p:nvPr/>
        </p:nvSpPr>
        <p:spPr>
          <a:xfrm>
            <a:off x="4593049" y="1589785"/>
            <a:ext cx="5808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-100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5305B41D-F85E-78E4-06BE-80D3D3008C39}"/>
              </a:ext>
            </a:extLst>
          </p:cNvPr>
          <p:cNvSpPr txBox="1"/>
          <p:nvPr/>
        </p:nvSpPr>
        <p:spPr>
          <a:xfrm>
            <a:off x="8426470" y="1589785"/>
            <a:ext cx="7365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+100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CB8A079C-24B4-2542-E955-CFD84E62C0C1}"/>
              </a:ext>
            </a:extLst>
          </p:cNvPr>
          <p:cNvSpPr txBox="1"/>
          <p:nvPr/>
        </p:nvSpPr>
        <p:spPr>
          <a:xfrm>
            <a:off x="6572760" y="1897562"/>
            <a:ext cx="488419" cy="304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LQ</a:t>
            </a: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70775D89-BB24-D5A9-19DF-A3566A34B0FB}"/>
              </a:ext>
            </a:extLst>
          </p:cNvPr>
          <p:cNvSpPr txBox="1"/>
          <p:nvPr/>
        </p:nvSpPr>
        <p:spPr>
          <a:xfrm>
            <a:off x="6723688" y="1601920"/>
            <a:ext cx="3603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/>
              <a:t>0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7B36E3C5-B02C-6780-8E7A-F770EC47C2F9}"/>
              </a:ext>
            </a:extLst>
          </p:cNvPr>
          <p:cNvSpPr/>
          <p:nvPr/>
        </p:nvSpPr>
        <p:spPr>
          <a:xfrm>
            <a:off x="4692421" y="2402369"/>
            <a:ext cx="4237371" cy="249381"/>
          </a:xfrm>
          <a:prstGeom prst="rect">
            <a:avLst/>
          </a:prstGeom>
          <a:solidFill>
            <a:srgbClr val="8AD5F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672B5177-3B13-D324-B9CF-09388954421C}"/>
              </a:ext>
            </a:extLst>
          </p:cNvPr>
          <p:cNvSpPr/>
          <p:nvPr/>
        </p:nvSpPr>
        <p:spPr>
          <a:xfrm>
            <a:off x="4722120" y="3287052"/>
            <a:ext cx="4237371" cy="249381"/>
          </a:xfrm>
          <a:prstGeom prst="rect">
            <a:avLst/>
          </a:prstGeom>
          <a:solidFill>
            <a:srgbClr val="C397F3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ED0898DA-D1F6-D02E-E3FB-DDAB50534608}"/>
              </a:ext>
            </a:extLst>
          </p:cNvPr>
          <p:cNvSpPr/>
          <p:nvPr/>
        </p:nvSpPr>
        <p:spPr>
          <a:xfrm>
            <a:off x="4728720" y="3932770"/>
            <a:ext cx="4237371" cy="249381"/>
          </a:xfrm>
          <a:prstGeom prst="rect">
            <a:avLst/>
          </a:prstGeom>
          <a:solidFill>
            <a:srgbClr val="FFFF00"/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D77B4F48-3B87-95AD-AC32-86712AA4F8F5}"/>
              </a:ext>
            </a:extLst>
          </p:cNvPr>
          <p:cNvSpPr/>
          <p:nvPr/>
        </p:nvSpPr>
        <p:spPr>
          <a:xfrm>
            <a:off x="4692421" y="2400150"/>
            <a:ext cx="2121987" cy="249381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282BC4D1-22AB-7367-B18E-C4867479213E}"/>
              </a:ext>
            </a:extLst>
          </p:cNvPr>
          <p:cNvSpPr txBox="1"/>
          <p:nvPr/>
        </p:nvSpPr>
        <p:spPr>
          <a:xfrm>
            <a:off x="6221145" y="3272936"/>
            <a:ext cx="11436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/>
              <a:t>Mixed</a:t>
            </a:r>
          </a:p>
        </p:txBody>
      </p:sp>
      <p:sp>
        <p:nvSpPr>
          <p:cNvPr id="33" name="Rectángulo 32">
            <a:extLst>
              <a:ext uri="{FF2B5EF4-FFF2-40B4-BE49-F238E27FC236}">
                <a16:creationId xmlns:a16="http://schemas.microsoft.com/office/drawing/2014/main" id="{D35631AB-E241-C271-E196-FB63799FF9EE}"/>
              </a:ext>
            </a:extLst>
          </p:cNvPr>
          <p:cNvSpPr/>
          <p:nvPr/>
        </p:nvSpPr>
        <p:spPr>
          <a:xfrm>
            <a:off x="4722120" y="3286719"/>
            <a:ext cx="1310155" cy="249381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ED26B733-528F-D0F8-7881-23475EA21005}"/>
              </a:ext>
            </a:extLst>
          </p:cNvPr>
          <p:cNvSpPr/>
          <p:nvPr/>
        </p:nvSpPr>
        <p:spPr>
          <a:xfrm>
            <a:off x="7649337" y="3287051"/>
            <a:ext cx="1310155" cy="249381"/>
          </a:xfrm>
          <a:prstGeom prst="rect">
            <a:avLst/>
          </a:prstGeom>
          <a:solidFill>
            <a:srgbClr val="8AD5F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35" name="Rectángulo 34">
            <a:extLst>
              <a:ext uri="{FF2B5EF4-FFF2-40B4-BE49-F238E27FC236}">
                <a16:creationId xmlns:a16="http://schemas.microsoft.com/office/drawing/2014/main" id="{72FDDCF5-5872-9C1D-4F81-3A5790D62CFE}"/>
              </a:ext>
            </a:extLst>
          </p:cNvPr>
          <p:cNvSpPr/>
          <p:nvPr/>
        </p:nvSpPr>
        <p:spPr>
          <a:xfrm>
            <a:off x="7892084" y="3933085"/>
            <a:ext cx="1067407" cy="249381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36" name="Rectángulo 35">
            <a:extLst>
              <a:ext uri="{FF2B5EF4-FFF2-40B4-BE49-F238E27FC236}">
                <a16:creationId xmlns:a16="http://schemas.microsoft.com/office/drawing/2014/main" id="{B6AC062F-BBA4-C19A-E12B-05CF64D97981}"/>
              </a:ext>
            </a:extLst>
          </p:cNvPr>
          <p:cNvSpPr/>
          <p:nvPr/>
        </p:nvSpPr>
        <p:spPr>
          <a:xfrm>
            <a:off x="4712592" y="3939854"/>
            <a:ext cx="1067407" cy="249381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46" name="Abrir llave 45">
            <a:extLst>
              <a:ext uri="{FF2B5EF4-FFF2-40B4-BE49-F238E27FC236}">
                <a16:creationId xmlns:a16="http://schemas.microsoft.com/office/drawing/2014/main" id="{FB940F5B-6199-A806-DFB2-D96A82B90A90}"/>
              </a:ext>
            </a:extLst>
          </p:cNvPr>
          <p:cNvSpPr/>
          <p:nvPr/>
        </p:nvSpPr>
        <p:spPr>
          <a:xfrm rot="5400000">
            <a:off x="6083759" y="1653391"/>
            <a:ext cx="249382" cy="3032057"/>
          </a:xfrm>
          <a:prstGeom prst="leftBrace">
            <a:avLst>
              <a:gd name="adj1" fmla="val 154961"/>
              <a:gd name="adj2" fmla="val 50525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47" name="CuadroTexto 46">
            <a:extLst>
              <a:ext uri="{FF2B5EF4-FFF2-40B4-BE49-F238E27FC236}">
                <a16:creationId xmlns:a16="http://schemas.microsoft.com/office/drawing/2014/main" id="{A29C0580-010B-60E5-F4D1-EE9203A72873}"/>
              </a:ext>
            </a:extLst>
          </p:cNvPr>
          <p:cNvSpPr txBox="1"/>
          <p:nvPr/>
        </p:nvSpPr>
        <p:spPr>
          <a:xfrm>
            <a:off x="6081366" y="2751909"/>
            <a:ext cx="11436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NRH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F0647A86-F9FB-EDD9-6914-F239CCE77608}"/>
              </a:ext>
            </a:extLst>
          </p:cNvPr>
          <p:cNvSpPr txBox="1"/>
          <p:nvPr/>
        </p:nvSpPr>
        <p:spPr>
          <a:xfrm>
            <a:off x="5505556" y="2385677"/>
            <a:ext cx="4957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Left</a:t>
            </a:r>
          </a:p>
        </p:txBody>
      </p:sp>
      <p:sp>
        <p:nvSpPr>
          <p:cNvPr id="48" name="CuadroTexto 47">
            <a:extLst>
              <a:ext uri="{FF2B5EF4-FFF2-40B4-BE49-F238E27FC236}">
                <a16:creationId xmlns:a16="http://schemas.microsoft.com/office/drawing/2014/main" id="{80A64A56-EDE1-A6B9-09D0-0308D6867FE7}"/>
              </a:ext>
            </a:extLst>
          </p:cNvPr>
          <p:cNvSpPr txBox="1"/>
          <p:nvPr/>
        </p:nvSpPr>
        <p:spPr>
          <a:xfrm>
            <a:off x="7556985" y="2364717"/>
            <a:ext cx="6497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Right</a:t>
            </a:r>
          </a:p>
        </p:txBody>
      </p:sp>
      <p:sp>
        <p:nvSpPr>
          <p:cNvPr id="49" name="CuadroTexto 48">
            <a:extLst>
              <a:ext uri="{FF2B5EF4-FFF2-40B4-BE49-F238E27FC236}">
                <a16:creationId xmlns:a16="http://schemas.microsoft.com/office/drawing/2014/main" id="{5372777B-3C25-38EB-795B-13C67964997D}"/>
              </a:ext>
            </a:extLst>
          </p:cNvPr>
          <p:cNvSpPr txBox="1"/>
          <p:nvPr/>
        </p:nvSpPr>
        <p:spPr>
          <a:xfrm>
            <a:off x="7984873" y="3257520"/>
            <a:ext cx="6497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Right</a:t>
            </a:r>
          </a:p>
        </p:txBody>
      </p:sp>
      <p:sp>
        <p:nvSpPr>
          <p:cNvPr id="50" name="CuadroTexto 49">
            <a:extLst>
              <a:ext uri="{FF2B5EF4-FFF2-40B4-BE49-F238E27FC236}">
                <a16:creationId xmlns:a16="http://schemas.microsoft.com/office/drawing/2014/main" id="{9FE7E120-00E4-C97C-97B8-FC0F54FAA17B}"/>
              </a:ext>
            </a:extLst>
          </p:cNvPr>
          <p:cNvSpPr txBox="1"/>
          <p:nvPr/>
        </p:nvSpPr>
        <p:spPr>
          <a:xfrm>
            <a:off x="5154037" y="3242043"/>
            <a:ext cx="4957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Left</a:t>
            </a:r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42357752-58C8-30AE-CEE4-6F95B6EDD6BB}"/>
              </a:ext>
            </a:extLst>
          </p:cNvPr>
          <p:cNvSpPr txBox="1"/>
          <p:nvPr/>
        </p:nvSpPr>
        <p:spPr>
          <a:xfrm>
            <a:off x="6108466" y="3903571"/>
            <a:ext cx="15360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Non-lateralized</a:t>
            </a:r>
          </a:p>
        </p:txBody>
      </p:sp>
      <p:sp>
        <p:nvSpPr>
          <p:cNvPr id="52" name="CuadroTexto 51">
            <a:extLst>
              <a:ext uri="{FF2B5EF4-FFF2-40B4-BE49-F238E27FC236}">
                <a16:creationId xmlns:a16="http://schemas.microsoft.com/office/drawing/2014/main" id="{5FBD9CB9-62EE-8A9C-908E-26BB405148A3}"/>
              </a:ext>
            </a:extLst>
          </p:cNvPr>
          <p:cNvSpPr txBox="1"/>
          <p:nvPr/>
        </p:nvSpPr>
        <p:spPr>
          <a:xfrm>
            <a:off x="4883461" y="4599161"/>
            <a:ext cx="15360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Lateralized</a:t>
            </a:r>
          </a:p>
        </p:txBody>
      </p:sp>
      <p:cxnSp>
        <p:nvCxnSpPr>
          <p:cNvPr id="54" name="Conector recto de flecha 53">
            <a:extLst>
              <a:ext uri="{FF2B5EF4-FFF2-40B4-BE49-F238E27FC236}">
                <a16:creationId xmlns:a16="http://schemas.microsoft.com/office/drawing/2014/main" id="{75AB3DF5-7B20-A8F7-0198-D68D1521BADD}"/>
              </a:ext>
            </a:extLst>
          </p:cNvPr>
          <p:cNvCxnSpPr>
            <a:endCxn id="36" idx="2"/>
          </p:cNvCxnSpPr>
          <p:nvPr/>
        </p:nvCxnSpPr>
        <p:spPr>
          <a:xfrm flipV="1">
            <a:off x="5377197" y="4211348"/>
            <a:ext cx="0" cy="3097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Conector recto de flecha 55">
            <a:extLst>
              <a:ext uri="{FF2B5EF4-FFF2-40B4-BE49-F238E27FC236}">
                <a16:creationId xmlns:a16="http://schemas.microsoft.com/office/drawing/2014/main" id="{E5CC34AB-D346-755A-F784-537CBB85D1F6}"/>
              </a:ext>
            </a:extLst>
          </p:cNvPr>
          <p:cNvCxnSpPr/>
          <p:nvPr/>
        </p:nvCxnSpPr>
        <p:spPr>
          <a:xfrm flipV="1">
            <a:off x="6001272" y="4211348"/>
            <a:ext cx="2148815" cy="5221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3" name="Rectángulo 72">
            <a:extLst>
              <a:ext uri="{FF2B5EF4-FFF2-40B4-BE49-F238E27FC236}">
                <a16:creationId xmlns:a16="http://schemas.microsoft.com/office/drawing/2014/main" id="{D07A7742-AE3A-B1F7-7689-BCECCA0EEDE5}"/>
              </a:ext>
            </a:extLst>
          </p:cNvPr>
          <p:cNvSpPr/>
          <p:nvPr/>
        </p:nvSpPr>
        <p:spPr>
          <a:xfrm>
            <a:off x="375980" y="954154"/>
            <a:ext cx="3654552" cy="3307866"/>
          </a:xfrm>
          <a:prstGeom prst="rect">
            <a:avLst/>
          </a:prstGeom>
          <a:solidFill>
            <a:srgbClr val="F5FDF9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1800" b="1" dirty="0">
                <a:solidFill>
                  <a:schemeClr val="tx1"/>
                </a:solidFill>
              </a:rPr>
              <a:t>EHI</a:t>
            </a:r>
            <a:r>
              <a:rPr lang="es-ES" sz="1800" dirty="0">
                <a:solidFill>
                  <a:schemeClr val="tx1"/>
                </a:solidFill>
              </a:rPr>
              <a:t>: What hand do you use for…</a:t>
            </a:r>
          </a:p>
          <a:p>
            <a:pPr marL="342900" indent="-342900">
              <a:buAutoNum type="arabicPeriod"/>
            </a:pPr>
            <a:r>
              <a:rPr lang="es-ES" sz="1800" dirty="0">
                <a:solidFill>
                  <a:schemeClr val="tx1"/>
                </a:solidFill>
              </a:rPr>
              <a:t>Writing</a:t>
            </a:r>
          </a:p>
          <a:p>
            <a:pPr marL="342900" indent="-342900">
              <a:buAutoNum type="arabicPeriod"/>
            </a:pPr>
            <a:r>
              <a:rPr lang="es-ES" sz="1800" dirty="0">
                <a:solidFill>
                  <a:schemeClr val="tx1"/>
                </a:solidFill>
              </a:rPr>
              <a:t>Drawing</a:t>
            </a:r>
          </a:p>
          <a:p>
            <a:pPr marL="342900" indent="-342900">
              <a:buAutoNum type="arabicPeriod"/>
            </a:pPr>
            <a:r>
              <a:rPr lang="es-ES" sz="1800" dirty="0">
                <a:solidFill>
                  <a:schemeClr val="tx1"/>
                </a:solidFill>
              </a:rPr>
              <a:t>Throw an object</a:t>
            </a:r>
          </a:p>
          <a:p>
            <a:pPr marL="342900" indent="-342900">
              <a:buAutoNum type="arabicPeriod"/>
            </a:pPr>
            <a:r>
              <a:rPr lang="es-ES" sz="1800" dirty="0">
                <a:solidFill>
                  <a:schemeClr val="tx1"/>
                </a:solidFill>
              </a:rPr>
              <a:t>Use a toothbrush</a:t>
            </a:r>
          </a:p>
          <a:p>
            <a:pPr marL="342900" indent="-342900">
              <a:buAutoNum type="arabicPeriod"/>
            </a:pPr>
            <a:r>
              <a:rPr lang="es-ES" sz="1800" dirty="0">
                <a:solidFill>
                  <a:schemeClr val="tx1"/>
                </a:solidFill>
              </a:rPr>
              <a:t>Use a knife (without fork)</a:t>
            </a:r>
          </a:p>
          <a:p>
            <a:pPr marL="342900" indent="-342900">
              <a:buAutoNum type="arabicPeriod"/>
            </a:pPr>
            <a:r>
              <a:rPr lang="es-ES" sz="1800" dirty="0">
                <a:solidFill>
                  <a:schemeClr val="tx1"/>
                </a:solidFill>
              </a:rPr>
              <a:t>Use scissors</a:t>
            </a:r>
          </a:p>
          <a:p>
            <a:pPr marL="342900" indent="-342900">
              <a:buAutoNum type="arabicPeriod"/>
            </a:pPr>
            <a:r>
              <a:rPr lang="es-ES" sz="1800" dirty="0">
                <a:solidFill>
                  <a:schemeClr val="tx1"/>
                </a:solidFill>
              </a:rPr>
              <a:t>Use spoon</a:t>
            </a:r>
          </a:p>
          <a:p>
            <a:pPr marL="342900" indent="-342900">
              <a:buAutoNum type="arabicPeriod"/>
            </a:pPr>
            <a:r>
              <a:rPr lang="es-ES" sz="1800" dirty="0">
                <a:solidFill>
                  <a:schemeClr val="tx1"/>
                </a:solidFill>
              </a:rPr>
              <a:t>Upper hand to broom</a:t>
            </a:r>
          </a:p>
          <a:p>
            <a:pPr marL="342900" indent="-342900">
              <a:buAutoNum type="arabicPeriod"/>
            </a:pPr>
            <a:r>
              <a:rPr lang="es-ES" sz="1800" dirty="0">
                <a:solidFill>
                  <a:schemeClr val="tx1"/>
                </a:solidFill>
              </a:rPr>
              <a:t>Strike a match</a:t>
            </a:r>
          </a:p>
          <a:p>
            <a:pPr marL="342900" indent="-342900">
              <a:buAutoNum type="arabicPeriod"/>
            </a:pPr>
            <a:r>
              <a:rPr lang="es-ES" sz="1800" dirty="0">
                <a:solidFill>
                  <a:schemeClr val="tx1"/>
                </a:solidFill>
              </a:rPr>
              <a:t>Open the lid of a box</a:t>
            </a:r>
          </a:p>
        </p:txBody>
      </p:sp>
      <p:sp>
        <p:nvSpPr>
          <p:cNvPr id="74" name="Marcador de número de diapositiva 73">
            <a:extLst>
              <a:ext uri="{FF2B5EF4-FFF2-40B4-BE49-F238E27FC236}">
                <a16:creationId xmlns:a16="http://schemas.microsoft.com/office/drawing/2014/main" id="{84545751-5E43-5E60-4984-1E4D994C76A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4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972223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2" grpId="0"/>
      <p:bldP spid="23" grpId="0"/>
      <p:bldP spid="24" grpId="0"/>
      <p:bldP spid="25" grpId="0"/>
      <p:bldP spid="27" grpId="0" animBg="1"/>
      <p:bldP spid="28" grpId="0" animBg="1"/>
      <p:bldP spid="29" grpId="0" animBg="1"/>
      <p:bldP spid="31" grpId="0" animBg="1"/>
      <p:bldP spid="32" grpId="0"/>
      <p:bldP spid="33" grpId="0" animBg="1"/>
      <p:bldP spid="34" grpId="0" animBg="1"/>
      <p:bldP spid="35" grpId="0" animBg="1"/>
      <p:bldP spid="36" grpId="0" animBg="1"/>
      <p:bldP spid="46" grpId="0" animBg="1"/>
      <p:bldP spid="47" grpId="0"/>
      <p:bldP spid="30" grpId="0"/>
      <p:bldP spid="48" grpId="0"/>
      <p:bldP spid="49" grpId="0"/>
      <p:bldP spid="50" grpId="0"/>
      <p:bldP spid="51" grpId="0"/>
      <p:bldP spid="5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6DEAB86-A19D-1C3B-EB4D-C61FC19D7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213974"/>
            <a:ext cx="8520600" cy="572700"/>
          </a:xfrm>
        </p:spPr>
        <p:txBody>
          <a:bodyPr>
            <a:normAutofit fontScale="90000"/>
          </a:bodyPr>
          <a:lstStyle/>
          <a:p>
            <a:r>
              <a:rPr lang="es-ES" dirty="0"/>
              <a:t>MadManic cohort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F8FFB6F7-7D1C-5A91-D167-FEE9F2151DB2}"/>
              </a:ext>
            </a:extLst>
          </p:cNvPr>
          <p:cNvSpPr txBox="1"/>
          <p:nvPr/>
        </p:nvSpPr>
        <p:spPr>
          <a:xfrm>
            <a:off x="568036" y="1766455"/>
            <a:ext cx="23899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MadManic cohort map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6B7F1D29-42B7-F7C2-1EBA-82B3CC98B5FB}"/>
              </a:ext>
            </a:extLst>
          </p:cNvPr>
          <p:cNvSpPr txBox="1"/>
          <p:nvPr/>
        </p:nvSpPr>
        <p:spPr>
          <a:xfrm>
            <a:off x="3994793" y="846808"/>
            <a:ext cx="4993419" cy="30013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ES" sz="1600" dirty="0"/>
              <a:t>&gt; 400 BD patients, &gt; 1,800 controls</a:t>
            </a:r>
          </a:p>
          <a:p>
            <a:pPr>
              <a:lnSpc>
                <a:spcPct val="150000"/>
              </a:lnSpc>
            </a:pPr>
            <a:r>
              <a:rPr lang="es-ES" sz="1600" b="1" dirty="0"/>
              <a:t>Deep </a:t>
            </a:r>
            <a:r>
              <a:rPr lang="es-ES" sz="1600" b="1" dirty="0" err="1"/>
              <a:t>phenotyping</a:t>
            </a:r>
            <a:endParaRPr lang="es-ES" sz="1600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ES" sz="1600" dirty="0"/>
              <a:t>BD subtype + clinical features (e.g. psychosis, rapid cycling…)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ES" sz="1600" dirty="0"/>
              <a:t>Behaviour -&gt; </a:t>
            </a:r>
            <a:r>
              <a:rPr lang="es-ES" sz="1600" b="1" dirty="0"/>
              <a:t>EHI</a:t>
            </a:r>
          </a:p>
          <a:p>
            <a:pPr>
              <a:lnSpc>
                <a:spcPct val="150000"/>
              </a:lnSpc>
            </a:pPr>
            <a:r>
              <a:rPr lang="es-ES" sz="1600" u="sng" dirty="0"/>
              <a:t>Severity scales</a:t>
            </a:r>
            <a:r>
              <a:rPr lang="es-ES" sz="1600" dirty="0"/>
              <a:t>: WHODAS, CGI, Index of Number of Events and Severity (INES), GAF</a:t>
            </a:r>
          </a:p>
          <a:p>
            <a:pPr>
              <a:lnSpc>
                <a:spcPct val="150000"/>
              </a:lnSpc>
            </a:pPr>
            <a:r>
              <a:rPr lang="es-ES" sz="1600" b="1" dirty="0" err="1"/>
              <a:t>Genotyping</a:t>
            </a:r>
            <a:r>
              <a:rPr lang="es-ES" sz="1600" b="1" dirty="0"/>
              <a:t>, </a:t>
            </a:r>
            <a:r>
              <a:rPr lang="es-ES" sz="1600" b="1" dirty="0" err="1"/>
              <a:t>RNAseq</a:t>
            </a:r>
            <a:r>
              <a:rPr lang="es-ES" sz="1600" b="1" dirty="0"/>
              <a:t>, </a:t>
            </a:r>
            <a:r>
              <a:rPr lang="es-ES" sz="1600" b="1" dirty="0" err="1"/>
              <a:t>epigenomic</a:t>
            </a:r>
            <a:r>
              <a:rPr lang="es-ES" sz="1600" b="1" dirty="0"/>
              <a:t> </a:t>
            </a:r>
            <a:r>
              <a:rPr lang="es-ES" sz="1600" b="1" dirty="0" err="1"/>
              <a:t>profile</a:t>
            </a:r>
            <a:endParaRPr lang="es-ES" sz="1600" b="1" dirty="0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592D348E-52F3-60BD-A177-7AF76077D1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700" y="1017725"/>
            <a:ext cx="3511730" cy="3911801"/>
          </a:xfrm>
          <a:prstGeom prst="rect">
            <a:avLst/>
          </a:prstGeom>
        </p:spPr>
      </p:pic>
      <p:sp>
        <p:nvSpPr>
          <p:cNvPr id="10" name="Google Shape;75;p15">
            <a:extLst>
              <a:ext uri="{FF2B5EF4-FFF2-40B4-BE49-F238E27FC236}">
                <a16:creationId xmlns:a16="http://schemas.microsoft.com/office/drawing/2014/main" id="{224ADD99-F80D-124B-CEF5-5CB2DCD0ECC1}"/>
              </a:ext>
            </a:extLst>
          </p:cNvPr>
          <p:cNvSpPr txBox="1"/>
          <p:nvPr/>
        </p:nvSpPr>
        <p:spPr>
          <a:xfrm>
            <a:off x="7387925" y="19125"/>
            <a:ext cx="1756200" cy="3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500" dirty="0">
                <a:solidFill>
                  <a:srgbClr val="999999"/>
                </a:solidFill>
              </a:rPr>
              <a:t>M&amp;M</a:t>
            </a:r>
            <a:endParaRPr sz="1500" dirty="0">
              <a:solidFill>
                <a:srgbClr val="999999"/>
              </a:solidFill>
            </a:endParaRP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D2787C7D-B9CE-7D2B-661C-E02F2ED2D702}"/>
              </a:ext>
            </a:extLst>
          </p:cNvPr>
          <p:cNvSpPr txBox="1"/>
          <p:nvPr/>
        </p:nvSpPr>
        <p:spPr>
          <a:xfrm>
            <a:off x="4178472" y="4146015"/>
            <a:ext cx="4626060" cy="584775"/>
          </a:xfrm>
          <a:prstGeom prst="rect">
            <a:avLst/>
          </a:prstGeom>
          <a:solidFill>
            <a:srgbClr val="F5FDF9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ES" sz="1600" dirty="0"/>
              <a:t>Do BD patients present atypical handedness patterns?</a:t>
            </a:r>
          </a:p>
        </p:txBody>
      </p:sp>
      <p:sp>
        <p:nvSpPr>
          <p:cNvPr id="12" name="Marcador de número de diapositiva 11">
            <a:extLst>
              <a:ext uri="{FF2B5EF4-FFF2-40B4-BE49-F238E27FC236}">
                <a16:creationId xmlns:a16="http://schemas.microsoft.com/office/drawing/2014/main" id="{CF29D95A-83EA-89D2-B9CB-3594DC70C4B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5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983568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BF0EBD9-7E0D-125C-5AD4-E360C7153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359325"/>
            <a:ext cx="8520600" cy="572700"/>
          </a:xfrm>
        </p:spPr>
        <p:txBody>
          <a:bodyPr>
            <a:normAutofit fontScale="90000"/>
          </a:bodyPr>
          <a:lstStyle/>
          <a:p>
            <a:r>
              <a:rPr lang="es-ES" dirty="0"/>
              <a:t>Exploratory prevalence analysis</a:t>
            </a:r>
          </a:p>
        </p:txBody>
      </p:sp>
      <p:sp>
        <p:nvSpPr>
          <p:cNvPr id="4" name="Google Shape;75;p15">
            <a:extLst>
              <a:ext uri="{FF2B5EF4-FFF2-40B4-BE49-F238E27FC236}">
                <a16:creationId xmlns:a16="http://schemas.microsoft.com/office/drawing/2014/main" id="{CF96547E-080C-4463-F3F8-A704E1E8E6C0}"/>
              </a:ext>
            </a:extLst>
          </p:cNvPr>
          <p:cNvSpPr txBox="1"/>
          <p:nvPr/>
        </p:nvSpPr>
        <p:spPr>
          <a:xfrm>
            <a:off x="7387925" y="19125"/>
            <a:ext cx="1756200" cy="3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500" dirty="0">
                <a:solidFill>
                  <a:srgbClr val="999999"/>
                </a:solidFill>
              </a:rPr>
              <a:t>Results</a:t>
            </a:r>
            <a:endParaRPr sz="1500" dirty="0">
              <a:solidFill>
                <a:srgbClr val="999999"/>
              </a:solidFill>
            </a:endParaRPr>
          </a:p>
        </p:txBody>
      </p:sp>
      <p:pic>
        <p:nvPicPr>
          <p:cNvPr id="8" name="Google Shape;86;p17">
            <a:extLst>
              <a:ext uri="{FF2B5EF4-FFF2-40B4-BE49-F238E27FC236}">
                <a16:creationId xmlns:a16="http://schemas.microsoft.com/office/drawing/2014/main" id="{514D7FD5-C9FC-A541-D0C9-1F3CF97D9F5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3665" y="1078818"/>
            <a:ext cx="1503675" cy="1149075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C36F9CF6-28CD-1BEF-413D-EE7465198410}"/>
              </a:ext>
            </a:extLst>
          </p:cNvPr>
          <p:cNvSpPr txBox="1"/>
          <p:nvPr/>
        </p:nvSpPr>
        <p:spPr>
          <a:xfrm>
            <a:off x="294986" y="2516937"/>
            <a:ext cx="265053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1" dirty="0"/>
              <a:t>Control group (N=1,707)</a:t>
            </a:r>
          </a:p>
          <a:p>
            <a:endParaRPr lang="es-E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Similar left ratios as other studies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Sex differences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Age differences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E3A6BE45-8AA5-A1C6-98FA-C8CAD405064C}"/>
              </a:ext>
            </a:extLst>
          </p:cNvPr>
          <p:cNvSpPr/>
          <p:nvPr/>
        </p:nvSpPr>
        <p:spPr>
          <a:xfrm>
            <a:off x="0" y="4693984"/>
            <a:ext cx="2470355" cy="44214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>
                <a:solidFill>
                  <a:schemeClr val="tx1"/>
                </a:solidFill>
              </a:rPr>
              <a:t>Mixed-handedness [-60, 60]</a:t>
            </a:r>
          </a:p>
        </p:txBody>
      </p:sp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1E538F47-56E3-A8F2-3DD5-E2236EB661B6}"/>
              </a:ext>
            </a:extLst>
          </p:cNvPr>
          <p:cNvCxnSpPr>
            <a:cxnSpLocks/>
          </p:cNvCxnSpPr>
          <p:nvPr/>
        </p:nvCxnSpPr>
        <p:spPr>
          <a:xfrm>
            <a:off x="3016045" y="932025"/>
            <a:ext cx="0" cy="388801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Google Shape;86;p17">
            <a:extLst>
              <a:ext uri="{FF2B5EF4-FFF2-40B4-BE49-F238E27FC236}">
                <a16:creationId xmlns:a16="http://schemas.microsoft.com/office/drawing/2014/main" id="{C0A78BE3-2958-3745-B10C-C35A9F7F1CB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30979" y="932025"/>
            <a:ext cx="1503675" cy="114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85;p17">
            <a:extLst>
              <a:ext uri="{FF2B5EF4-FFF2-40B4-BE49-F238E27FC236}">
                <a16:creationId xmlns:a16="http://schemas.microsoft.com/office/drawing/2014/main" id="{74E3E47A-A681-5DA4-D980-43CE26E23F2B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/>
        </p:blipFill>
        <p:spPr>
          <a:xfrm>
            <a:off x="3964751" y="1152420"/>
            <a:ext cx="1503671" cy="1149074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CuadroTexto 16">
            <a:extLst>
              <a:ext uri="{FF2B5EF4-FFF2-40B4-BE49-F238E27FC236}">
                <a16:creationId xmlns:a16="http://schemas.microsoft.com/office/drawing/2014/main" id="{8018C2F7-D16A-3123-F4CC-81852E2A7236}"/>
              </a:ext>
            </a:extLst>
          </p:cNvPr>
          <p:cNvSpPr txBox="1"/>
          <p:nvPr/>
        </p:nvSpPr>
        <p:spPr>
          <a:xfrm>
            <a:off x="3179993" y="2301494"/>
            <a:ext cx="265053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1" dirty="0"/>
              <a:t>Case-control (433 BD, 433 controls*)</a:t>
            </a:r>
          </a:p>
          <a:p>
            <a:endParaRPr lang="es-E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Subtle increased mixed-handedness in BD (8.31%) compared with controls (4.62%)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Greater preference for left eye and foot</a:t>
            </a:r>
            <a:endParaRPr lang="es-ES" dirty="0"/>
          </a:p>
        </p:txBody>
      </p: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AC9E7D9E-5D2C-EE9E-460D-88505FACA600}"/>
              </a:ext>
            </a:extLst>
          </p:cNvPr>
          <p:cNvCxnSpPr>
            <a:cxnSpLocks/>
          </p:cNvCxnSpPr>
          <p:nvPr/>
        </p:nvCxnSpPr>
        <p:spPr>
          <a:xfrm>
            <a:off x="6111240" y="866336"/>
            <a:ext cx="0" cy="388801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Google Shape;85;p17">
            <a:extLst>
              <a:ext uri="{FF2B5EF4-FFF2-40B4-BE49-F238E27FC236}">
                <a16:creationId xmlns:a16="http://schemas.microsoft.com/office/drawing/2014/main" id="{E9DE3E5C-C15E-44C6-3100-BEE8ACD4B865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/>
        </p:blipFill>
        <p:spPr>
          <a:xfrm>
            <a:off x="6757847" y="932026"/>
            <a:ext cx="1503671" cy="1149074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CuadroTexto 19">
            <a:extLst>
              <a:ext uri="{FF2B5EF4-FFF2-40B4-BE49-F238E27FC236}">
                <a16:creationId xmlns:a16="http://schemas.microsoft.com/office/drawing/2014/main" id="{FA24AE18-5162-B05B-E964-00DA602B2918}"/>
              </a:ext>
            </a:extLst>
          </p:cNvPr>
          <p:cNvSpPr txBox="1"/>
          <p:nvPr/>
        </p:nvSpPr>
        <p:spPr>
          <a:xfrm>
            <a:off x="6275187" y="2301494"/>
            <a:ext cx="2650536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1" dirty="0"/>
              <a:t>Within BD</a:t>
            </a:r>
          </a:p>
          <a:p>
            <a:endParaRPr lang="es-E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No sex differences in hand-use patterns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Trend between BD subtypes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u="sng" dirty="0"/>
              <a:t>Atypical handedness </a:t>
            </a:r>
            <a:r>
              <a:rPr lang="es-ES" u="sng" dirty="0" err="1"/>
              <a:t>associated</a:t>
            </a:r>
            <a:r>
              <a:rPr lang="es-ES" u="sng" dirty="0"/>
              <a:t> to severity</a:t>
            </a:r>
          </a:p>
        </p:txBody>
      </p:sp>
      <p:sp>
        <p:nvSpPr>
          <p:cNvPr id="21" name="Marcador de número de diapositiva 20">
            <a:extLst>
              <a:ext uri="{FF2B5EF4-FFF2-40B4-BE49-F238E27FC236}">
                <a16:creationId xmlns:a16="http://schemas.microsoft.com/office/drawing/2014/main" id="{3773A158-BEA0-CE9D-2C36-43278964B68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6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004001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20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7AD83F-237F-825E-60D4-7D36BB07B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AB8645A-39E5-A177-A23D-E84681FF40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359325"/>
            <a:ext cx="8520600" cy="572700"/>
          </a:xfrm>
        </p:spPr>
        <p:txBody>
          <a:bodyPr>
            <a:normAutofit fontScale="90000"/>
          </a:bodyPr>
          <a:lstStyle/>
          <a:p>
            <a:r>
              <a:rPr lang="es-ES" dirty="0"/>
              <a:t>Severity scales by hand groups</a:t>
            </a:r>
          </a:p>
        </p:txBody>
      </p:sp>
      <p:sp>
        <p:nvSpPr>
          <p:cNvPr id="4" name="Google Shape;75;p15">
            <a:extLst>
              <a:ext uri="{FF2B5EF4-FFF2-40B4-BE49-F238E27FC236}">
                <a16:creationId xmlns:a16="http://schemas.microsoft.com/office/drawing/2014/main" id="{2F7A6AAF-430E-D8B9-BAFA-1CF79EF17ECB}"/>
              </a:ext>
            </a:extLst>
          </p:cNvPr>
          <p:cNvSpPr txBox="1"/>
          <p:nvPr/>
        </p:nvSpPr>
        <p:spPr>
          <a:xfrm>
            <a:off x="7387800" y="-382"/>
            <a:ext cx="1756200" cy="3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500" dirty="0">
                <a:solidFill>
                  <a:srgbClr val="999999"/>
                </a:solidFill>
              </a:rPr>
              <a:t>Results</a:t>
            </a:r>
            <a:endParaRPr sz="1500" dirty="0">
              <a:solidFill>
                <a:srgbClr val="999999"/>
              </a:solidFill>
            </a:endParaRP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73211208-8C36-A086-5B52-A796658FE1F4}"/>
              </a:ext>
            </a:extLst>
          </p:cNvPr>
          <p:cNvSpPr/>
          <p:nvPr/>
        </p:nvSpPr>
        <p:spPr>
          <a:xfrm>
            <a:off x="0" y="4693984"/>
            <a:ext cx="2470355" cy="44214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>
                <a:solidFill>
                  <a:schemeClr val="tx1"/>
                </a:solidFill>
              </a:rPr>
              <a:t>Mixed-handedness [-60, 60]</a:t>
            </a:r>
          </a:p>
        </p:txBody>
      </p:sp>
      <p:pic>
        <p:nvPicPr>
          <p:cNvPr id="19" name="Google Shape;85;p17">
            <a:extLst>
              <a:ext uri="{FF2B5EF4-FFF2-40B4-BE49-F238E27FC236}">
                <a16:creationId xmlns:a16="http://schemas.microsoft.com/office/drawing/2014/main" id="{9B9FFED7-7E96-DEC9-7F32-D3AE7EFFCF5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/>
        </p:blipFill>
        <p:spPr>
          <a:xfrm>
            <a:off x="383635" y="1119374"/>
            <a:ext cx="1503671" cy="1149074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Google Shape;132;p21" title="Boxplot_WHODAS_over_thresholds.png">
            <a:extLst>
              <a:ext uri="{FF2B5EF4-FFF2-40B4-BE49-F238E27FC236}">
                <a16:creationId xmlns:a16="http://schemas.microsoft.com/office/drawing/2014/main" id="{704CC2F5-586D-37F2-0EB1-D7AF6C93E58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l="69670" t="6455" b="48349"/>
          <a:stretch>
            <a:fillRect/>
          </a:stretch>
        </p:blipFill>
        <p:spPr>
          <a:xfrm>
            <a:off x="4017883" y="951532"/>
            <a:ext cx="1503671" cy="2085158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0769DE88-D8DE-877E-2DA6-7B5F6046BC29}"/>
              </a:ext>
            </a:extLst>
          </p:cNvPr>
          <p:cNvSpPr txBox="1"/>
          <p:nvPr/>
        </p:nvSpPr>
        <p:spPr>
          <a:xfrm>
            <a:off x="2141585" y="1558067"/>
            <a:ext cx="208601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/>
              <a:t>WHODAS</a:t>
            </a:r>
          </a:p>
          <a:p>
            <a:pPr algn="ctr"/>
            <a:r>
              <a:rPr lang="es-ES" dirty="0"/>
              <a:t>WHO Disability Assessment Schedule</a:t>
            </a:r>
          </a:p>
          <a:p>
            <a:pPr algn="ctr"/>
            <a:r>
              <a:rPr lang="es-ES" b="1" i="1" dirty="0"/>
              <a:t>P=0.01*</a:t>
            </a:r>
          </a:p>
        </p:txBody>
      </p:sp>
      <p:pic>
        <p:nvPicPr>
          <p:cNvPr id="6" name="Google Shape;142;p22" title="Boxplot_GAF_over_thresholds.png">
            <a:extLst>
              <a:ext uri="{FF2B5EF4-FFF2-40B4-BE49-F238E27FC236}">
                <a16:creationId xmlns:a16="http://schemas.microsoft.com/office/drawing/2014/main" id="{6728082F-B8A0-B984-A295-3961F0CA3643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l="68558" t="6859" r="-1" b="47050"/>
          <a:stretch>
            <a:fillRect/>
          </a:stretch>
        </p:blipFill>
        <p:spPr>
          <a:xfrm>
            <a:off x="3992313" y="3140600"/>
            <a:ext cx="1665701" cy="1971892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1BA46921-7C10-2DD9-E752-EFA3010D80E0}"/>
              </a:ext>
            </a:extLst>
          </p:cNvPr>
          <p:cNvSpPr txBox="1"/>
          <p:nvPr/>
        </p:nvSpPr>
        <p:spPr>
          <a:xfrm>
            <a:off x="2277813" y="3585433"/>
            <a:ext cx="181356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/>
              <a:t>GAF</a:t>
            </a:r>
          </a:p>
          <a:p>
            <a:pPr algn="ctr"/>
            <a:r>
              <a:rPr lang="es-ES" dirty="0"/>
              <a:t>Global Assessment of Functioning</a:t>
            </a:r>
          </a:p>
          <a:p>
            <a:pPr algn="ctr"/>
            <a:r>
              <a:rPr lang="es-ES" b="1" i="1" dirty="0"/>
              <a:t>P=0.01*</a:t>
            </a:r>
          </a:p>
        </p:txBody>
      </p:sp>
      <p:pic>
        <p:nvPicPr>
          <p:cNvPr id="10" name="Google Shape;152;p23" title="Boxplot_INES__over_thresholds.png">
            <a:extLst>
              <a:ext uri="{FF2B5EF4-FFF2-40B4-BE49-F238E27FC236}">
                <a16:creationId xmlns:a16="http://schemas.microsoft.com/office/drawing/2014/main" id="{D16FAC4A-EC61-2DFD-D229-1D2382FFC0AE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 l="68373" t="6683" b="46993"/>
          <a:stretch>
            <a:fillRect/>
          </a:stretch>
        </p:blipFill>
        <p:spPr>
          <a:xfrm>
            <a:off x="7122994" y="959515"/>
            <a:ext cx="1813559" cy="2085159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CuadroTexto 11">
            <a:extLst>
              <a:ext uri="{FF2B5EF4-FFF2-40B4-BE49-F238E27FC236}">
                <a16:creationId xmlns:a16="http://schemas.microsoft.com/office/drawing/2014/main" id="{0A5C8925-CD05-757B-899B-82F113C50BEA}"/>
              </a:ext>
            </a:extLst>
          </p:cNvPr>
          <p:cNvSpPr txBox="1"/>
          <p:nvPr/>
        </p:nvSpPr>
        <p:spPr>
          <a:xfrm>
            <a:off x="5443134" y="1676764"/>
            <a:ext cx="181356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/>
              <a:t>INES</a:t>
            </a:r>
          </a:p>
          <a:p>
            <a:pPr algn="ctr"/>
            <a:r>
              <a:rPr lang="es-ES" dirty="0"/>
              <a:t>Index of Number of Events and Severity</a:t>
            </a:r>
          </a:p>
          <a:p>
            <a:pPr algn="ctr"/>
            <a:r>
              <a:rPr lang="es-ES" b="1" i="1" dirty="0"/>
              <a:t>P=0.007**</a:t>
            </a:r>
          </a:p>
        </p:txBody>
      </p:sp>
      <p:pic>
        <p:nvPicPr>
          <p:cNvPr id="14" name="Google Shape;163;p24" title="Boxplot_CGI_over_thresholds.png">
            <a:extLst>
              <a:ext uri="{FF2B5EF4-FFF2-40B4-BE49-F238E27FC236}">
                <a16:creationId xmlns:a16="http://schemas.microsoft.com/office/drawing/2014/main" id="{CDF80EC1-FF9F-A748-16D8-59E0E59BE804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 l="67333" t="6781" b="47105"/>
          <a:stretch>
            <a:fillRect/>
          </a:stretch>
        </p:blipFill>
        <p:spPr>
          <a:xfrm>
            <a:off x="7196922" y="3046459"/>
            <a:ext cx="1665701" cy="2066033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CuadroTexto 20">
            <a:extLst>
              <a:ext uri="{FF2B5EF4-FFF2-40B4-BE49-F238E27FC236}">
                <a16:creationId xmlns:a16="http://schemas.microsoft.com/office/drawing/2014/main" id="{D8D8F779-0EAE-B67A-1386-680A06F44F6C}"/>
              </a:ext>
            </a:extLst>
          </p:cNvPr>
          <p:cNvSpPr txBox="1"/>
          <p:nvPr/>
        </p:nvSpPr>
        <p:spPr>
          <a:xfrm>
            <a:off x="5574894" y="3546419"/>
            <a:ext cx="181356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CGI</a:t>
            </a:r>
          </a:p>
          <a:p>
            <a:pPr algn="ctr"/>
            <a:r>
              <a:rPr lang="es-E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Clinical Global Impression</a:t>
            </a:r>
          </a:p>
          <a:p>
            <a:pPr algn="ctr"/>
            <a:r>
              <a:rPr lang="es-ES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P=0.1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793E4AD1-97DB-E049-E411-0CD03F7B91EA}"/>
              </a:ext>
            </a:extLst>
          </p:cNvPr>
          <p:cNvSpPr txBox="1"/>
          <p:nvPr/>
        </p:nvSpPr>
        <p:spPr>
          <a:xfrm>
            <a:off x="237770" y="2268448"/>
            <a:ext cx="1966113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1" dirty="0"/>
              <a:t>N= 284-342</a:t>
            </a:r>
          </a:p>
          <a:p>
            <a:endParaRPr lang="es-ES" dirty="0"/>
          </a:p>
          <a:p>
            <a:r>
              <a:rPr lang="es-ES" dirty="0"/>
              <a:t>Test of proportions:</a:t>
            </a:r>
          </a:p>
          <a:p>
            <a:r>
              <a:rPr lang="es-ES" dirty="0"/>
              <a:t>Mixed-handed vs lateralized (left + right)</a:t>
            </a:r>
          </a:p>
        </p:txBody>
      </p:sp>
      <p:sp>
        <p:nvSpPr>
          <p:cNvPr id="23" name="Marcador de número de diapositiva 22">
            <a:extLst>
              <a:ext uri="{FF2B5EF4-FFF2-40B4-BE49-F238E27FC236}">
                <a16:creationId xmlns:a16="http://schemas.microsoft.com/office/drawing/2014/main" id="{070D4214-0407-8BCE-3B40-54BC0041B7C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7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9916875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EE1248-A1EA-5282-B660-1A3C0AD0EE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s-ES" dirty="0"/>
              <a:t>Discussion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DDCAE91-7D1B-9277-414E-C40DDAC17D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492298"/>
            <a:ext cx="3879300" cy="2414385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tx1"/>
                </a:solidFill>
              </a:rPr>
              <a:t>BD </a:t>
            </a:r>
            <a:r>
              <a:rPr lang="es-ES" dirty="0" err="1">
                <a:solidFill>
                  <a:schemeClr val="tx1"/>
                </a:solidFill>
              </a:rPr>
              <a:t>subgroups</a:t>
            </a:r>
            <a:r>
              <a:rPr lang="es-ES" dirty="0">
                <a:solidFill>
                  <a:schemeClr val="tx1"/>
                </a:solidFill>
              </a:rPr>
              <a:t> </a:t>
            </a:r>
            <a:r>
              <a:rPr lang="es-ES" dirty="0" err="1">
                <a:solidFill>
                  <a:schemeClr val="tx1"/>
                </a:solidFill>
              </a:rPr>
              <a:t>present</a:t>
            </a:r>
            <a:r>
              <a:rPr lang="es-ES" dirty="0">
                <a:solidFill>
                  <a:schemeClr val="tx1"/>
                </a:solidFill>
              </a:rPr>
              <a:t> </a:t>
            </a:r>
            <a:r>
              <a:rPr lang="es-ES" dirty="0" err="1">
                <a:solidFill>
                  <a:schemeClr val="tx1"/>
                </a:solidFill>
              </a:rPr>
              <a:t>different</a:t>
            </a:r>
            <a:r>
              <a:rPr lang="es-ES" dirty="0">
                <a:solidFill>
                  <a:schemeClr val="tx1"/>
                </a:solidFill>
              </a:rPr>
              <a:t> </a:t>
            </a:r>
            <a:r>
              <a:rPr lang="es-ES" dirty="0" err="1">
                <a:solidFill>
                  <a:schemeClr val="tx1"/>
                </a:solidFill>
              </a:rPr>
              <a:t>handedness</a:t>
            </a:r>
            <a:r>
              <a:rPr lang="es-ES" dirty="0">
                <a:solidFill>
                  <a:schemeClr val="tx1"/>
                </a:solidFill>
              </a:rPr>
              <a:t> </a:t>
            </a:r>
            <a:r>
              <a:rPr lang="es-ES" dirty="0" err="1">
                <a:solidFill>
                  <a:schemeClr val="tx1"/>
                </a:solidFill>
              </a:rPr>
              <a:t>patterns</a:t>
            </a:r>
            <a:endParaRPr lang="es-ES" dirty="0">
              <a:solidFill>
                <a:schemeClr val="tx1"/>
              </a:solidFill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tx1"/>
                </a:solidFill>
              </a:rPr>
              <a:t>Lack </a:t>
            </a:r>
            <a:r>
              <a:rPr lang="es-ES" dirty="0" err="1">
                <a:solidFill>
                  <a:schemeClr val="tx1"/>
                </a:solidFill>
              </a:rPr>
              <a:t>of</a:t>
            </a:r>
            <a:r>
              <a:rPr lang="es-ES" dirty="0">
                <a:solidFill>
                  <a:schemeClr val="tx1"/>
                </a:solidFill>
              </a:rPr>
              <a:t> sex </a:t>
            </a:r>
            <a:r>
              <a:rPr lang="es-ES" dirty="0" err="1">
                <a:solidFill>
                  <a:schemeClr val="tx1"/>
                </a:solidFill>
              </a:rPr>
              <a:t>differences</a:t>
            </a:r>
            <a:r>
              <a:rPr lang="es-ES" dirty="0">
                <a:solidFill>
                  <a:schemeClr val="tx1"/>
                </a:solidFill>
              </a:rPr>
              <a:t> in </a:t>
            </a:r>
            <a:r>
              <a:rPr lang="es-ES" dirty="0" err="1">
                <a:solidFill>
                  <a:schemeClr val="tx1"/>
                </a:solidFill>
              </a:rPr>
              <a:t>handedness</a:t>
            </a:r>
            <a:r>
              <a:rPr lang="es-ES" dirty="0">
                <a:solidFill>
                  <a:schemeClr val="tx1"/>
                </a:solidFill>
              </a:rPr>
              <a:t> in BD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tx1"/>
                </a:solidFill>
              </a:rPr>
              <a:t>Next step: </a:t>
            </a:r>
            <a:r>
              <a:rPr lang="es-ES" dirty="0" err="1">
                <a:solidFill>
                  <a:schemeClr val="tx1"/>
                </a:solidFill>
              </a:rPr>
              <a:t>integrate</a:t>
            </a:r>
            <a:r>
              <a:rPr lang="es-ES" dirty="0">
                <a:solidFill>
                  <a:schemeClr val="tx1"/>
                </a:solidFill>
              </a:rPr>
              <a:t> PGS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986EBFE-C4B2-DC08-237A-616ADA275C3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8</a:t>
            </a:fld>
            <a:endParaRPr lang="es-ES" dirty="0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F48249C4-9AEB-9344-2380-6BC6D4D55CC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761" r="12586"/>
          <a:stretch>
            <a:fillRect/>
          </a:stretch>
        </p:blipFill>
        <p:spPr>
          <a:xfrm>
            <a:off x="4294414" y="955327"/>
            <a:ext cx="3957608" cy="3324975"/>
          </a:xfrm>
          <a:prstGeom prst="rect">
            <a:avLst/>
          </a:prstGeom>
        </p:spPr>
      </p:pic>
      <p:grpSp>
        <p:nvGrpSpPr>
          <p:cNvPr id="9" name="Grupo 8">
            <a:extLst>
              <a:ext uri="{FF2B5EF4-FFF2-40B4-BE49-F238E27FC236}">
                <a16:creationId xmlns:a16="http://schemas.microsoft.com/office/drawing/2014/main" id="{414AC705-8ABC-E64B-9A7A-406F860458FD}"/>
              </a:ext>
            </a:extLst>
          </p:cNvPr>
          <p:cNvGrpSpPr/>
          <p:nvPr/>
        </p:nvGrpSpPr>
        <p:grpSpPr>
          <a:xfrm>
            <a:off x="8173715" y="2437881"/>
            <a:ext cx="998149" cy="523220"/>
            <a:chOff x="8173715" y="2437881"/>
            <a:chExt cx="998149" cy="523220"/>
          </a:xfrm>
        </p:grpSpPr>
        <p:pic>
          <p:nvPicPr>
            <p:cNvPr id="4" name="Imagen 3">
              <a:extLst>
                <a:ext uri="{FF2B5EF4-FFF2-40B4-BE49-F238E27FC236}">
                  <a16:creationId xmlns:a16="http://schemas.microsoft.com/office/drawing/2014/main" id="{DF3479AD-32AD-4C86-B781-FC45718C620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7882" t="47670" r="7475" b="41611"/>
            <a:stretch>
              <a:fillRect/>
            </a:stretch>
          </p:blipFill>
          <p:spPr>
            <a:xfrm>
              <a:off x="8173715" y="2437881"/>
              <a:ext cx="298744" cy="490564"/>
            </a:xfrm>
            <a:prstGeom prst="rect">
              <a:avLst/>
            </a:prstGeom>
          </p:spPr>
        </p:pic>
        <p:sp>
          <p:nvSpPr>
            <p:cNvPr id="7" name="CuadroTexto 6">
              <a:extLst>
                <a:ext uri="{FF2B5EF4-FFF2-40B4-BE49-F238E27FC236}">
                  <a16:creationId xmlns:a16="http://schemas.microsoft.com/office/drawing/2014/main" id="{2F261F43-ECAC-7B0D-E500-B6EBC7303750}"/>
                </a:ext>
              </a:extLst>
            </p:cNvPr>
            <p:cNvSpPr txBox="1"/>
            <p:nvPr/>
          </p:nvSpPr>
          <p:spPr>
            <a:xfrm>
              <a:off x="8379928" y="2437881"/>
              <a:ext cx="7919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dirty="0"/>
                <a:t>Control</a:t>
              </a:r>
            </a:p>
            <a:p>
              <a:r>
                <a:rPr lang="es-ES" dirty="0"/>
                <a:t>BD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633304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3E3F0C8-4C78-79B5-1F4E-9351BB2B8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2150850"/>
            <a:ext cx="8520600" cy="1171470"/>
          </a:xfrm>
        </p:spPr>
        <p:txBody>
          <a:bodyPr>
            <a:normAutofit fontScale="90000"/>
          </a:bodyPr>
          <a:lstStyle/>
          <a:p>
            <a:r>
              <a:rPr lang="es-ES" dirty="0" err="1"/>
              <a:t>Thank</a:t>
            </a:r>
            <a:r>
              <a:rPr lang="es-ES" dirty="0"/>
              <a:t> you for </a:t>
            </a:r>
            <a:r>
              <a:rPr lang="es-ES" dirty="0" err="1"/>
              <a:t>your</a:t>
            </a:r>
            <a:r>
              <a:rPr lang="es-ES" dirty="0"/>
              <a:t> </a:t>
            </a:r>
            <a:r>
              <a:rPr lang="es-ES" dirty="0" err="1"/>
              <a:t>attention</a:t>
            </a:r>
            <a:r>
              <a:rPr lang="es-ES" dirty="0"/>
              <a:t>!</a:t>
            </a:r>
            <a:br>
              <a:rPr lang="es-ES" dirty="0"/>
            </a:br>
            <a:r>
              <a:rPr lang="es-ES" dirty="0"/>
              <a:t>Any </a:t>
            </a:r>
            <a:r>
              <a:rPr lang="es-ES" dirty="0" err="1"/>
              <a:t>questions</a:t>
            </a:r>
            <a:r>
              <a:rPr lang="es-ES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020580529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498</TotalTime>
  <Words>482</Words>
  <Application>Microsoft Office PowerPoint</Application>
  <PresentationFormat>Presentación en pantalla (16:9)</PresentationFormat>
  <Paragraphs>123</Paragraphs>
  <Slides>9</Slides>
  <Notes>7</Notes>
  <HiddenSlides>0</HiddenSlides>
  <MMClips>0</MMClips>
  <ScaleCrop>false</ScaleCrop>
  <HeadingPairs>
    <vt:vector size="6" baseType="variant">
      <vt:variant>
        <vt:lpstr>Fuentes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1" baseType="lpstr">
      <vt:lpstr>Arial</vt:lpstr>
      <vt:lpstr>Simple Light</vt:lpstr>
      <vt:lpstr>Atypical handedness in bipolar disorder: a genetic and clinical study </vt:lpstr>
      <vt:lpstr>Handedness in general population</vt:lpstr>
      <vt:lpstr>Handedness in neurodevelopmental and psychiatric disorders</vt:lpstr>
      <vt:lpstr>Edinburgh Handedness Inventory</vt:lpstr>
      <vt:lpstr>MadManic cohort</vt:lpstr>
      <vt:lpstr>Exploratory prevalence analysis</vt:lpstr>
      <vt:lpstr>Severity scales by hand groups</vt:lpstr>
      <vt:lpstr>Discussion</vt:lpstr>
      <vt:lpstr>Thank you for your attention! Any 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Ines Knot</cp:lastModifiedBy>
  <cp:revision>10</cp:revision>
  <dcterms:modified xsi:type="dcterms:W3CDTF">2026-05-19T09:43:26Z</dcterms:modified>
</cp:coreProperties>
</file>