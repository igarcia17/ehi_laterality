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5" r:id="rId9"/>
    <p:sldId id="271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DF9"/>
    <a:srgbClr val="DEFAED"/>
    <a:srgbClr val="A5F1CD"/>
    <a:srgbClr val="1CB66D"/>
    <a:srgbClr val="8AD5FA"/>
    <a:srgbClr val="8BC2F9"/>
    <a:srgbClr val="97DAEF"/>
    <a:srgbClr val="9BB6ED"/>
    <a:srgbClr val="BD9DED"/>
    <a:srgbClr val="9EA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 dirty="0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2342f4a7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 dirty="0"/>
          </a:p>
        </p:txBody>
      </p:sp>
      <p:sp>
        <p:nvSpPr>
          <p:cNvPr id="60" name="Google Shape;60;g3e2342f4a7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342f4a7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S" dirty="0"/>
          </a:p>
        </p:txBody>
      </p:sp>
      <p:sp>
        <p:nvSpPr>
          <p:cNvPr id="69" name="Google Shape;69;g3e2342f4a7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Recruitment ongoing</a:t>
            </a:r>
          </a:p>
          <a:p>
            <a:r>
              <a:rPr lang="es-ES" dirty="0"/>
              <a:t>Mention that there are also behavioural scales for controls</a:t>
            </a:r>
          </a:p>
        </p:txBody>
      </p:sp>
    </p:spTree>
    <p:extLst>
      <p:ext uri="{BB962C8B-B14F-4D97-AF65-F5344CB8AC3E}">
        <p14:creationId xmlns:p14="http://schemas.microsoft.com/office/powerpoint/2010/main" val="3561979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The age differences point to the need of age-match data to study comparisons with other groups (BD)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9855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BE87D-27E1-0651-90A1-9C11C839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524BBCE-BE5C-A588-CF3C-6042BF0AD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2939DE-DF95-D0D4-F8F6-90F293EC4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GAF is inverse-scored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4106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920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614225"/>
            <a:ext cx="8520600" cy="32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Atypical handedness in bipolar disorder: a genetic and clinical study 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9308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Inés García-Ortiz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19th May 2026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Neurogenetics lab</a:t>
            </a: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"/>
            <a:ext cx="1808213" cy="7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0325" y="143844"/>
            <a:ext cx="1342150" cy="57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20200" y="232475"/>
            <a:ext cx="646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Handedness in general population</a:t>
            </a:r>
            <a:endParaRPr dirty="0"/>
          </a:p>
        </p:txBody>
      </p:sp>
      <p:sp>
        <p:nvSpPr>
          <p:cNvPr id="65" name="Google Shape;65;p14"/>
          <p:cNvSpPr txBox="1"/>
          <p:nvPr/>
        </p:nvSpPr>
        <p:spPr>
          <a:xfrm>
            <a:off x="7387925" y="19125"/>
            <a:ext cx="1756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999999"/>
                </a:solidFill>
              </a:rPr>
              <a:t>Introduction</a:t>
            </a:r>
            <a:endParaRPr sz="1500" dirty="0">
              <a:solidFill>
                <a:srgbClr val="999999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79701" y="1187336"/>
            <a:ext cx="2924899" cy="210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Left-handed:  </a:t>
            </a:r>
            <a:r>
              <a:rPr lang="es" dirty="0">
                <a:solidFill>
                  <a:schemeClr val="dk1"/>
                </a:solidFill>
              </a:rPr>
              <a:t>around</a:t>
            </a:r>
            <a:r>
              <a:rPr lang="es" b="1" dirty="0">
                <a:solidFill>
                  <a:schemeClr val="dk1"/>
                </a:solidFill>
              </a:rPr>
              <a:t> </a:t>
            </a:r>
            <a:r>
              <a:rPr lang="es" dirty="0">
                <a:solidFill>
                  <a:schemeClr val="dk1"/>
                </a:solidFill>
              </a:rPr>
              <a:t>10%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u="sng" dirty="0">
                <a:solidFill>
                  <a:schemeClr val="dk1"/>
                </a:solidFill>
              </a:rPr>
              <a:t>Sex differences</a:t>
            </a:r>
            <a:r>
              <a:rPr lang="es" dirty="0">
                <a:solidFill>
                  <a:schemeClr val="dk1"/>
                </a:solidFill>
              </a:rPr>
              <a:t>: 12% men, 8% women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b="1" dirty="0">
                <a:solidFill>
                  <a:schemeClr val="dk1"/>
                </a:solidFill>
              </a:rPr>
              <a:t>Non-right-handedness (NRH)</a:t>
            </a:r>
            <a:r>
              <a:rPr lang="es" dirty="0">
                <a:solidFill>
                  <a:schemeClr val="dk1"/>
                </a:solidFill>
              </a:rPr>
              <a:t>: ~18% </a:t>
            </a:r>
          </a:p>
        </p:txBody>
      </p:sp>
      <p:pic>
        <p:nvPicPr>
          <p:cNvPr id="4" name="Imagen 3" descr="Scientists link genes to brain asymmetry | Max Planck Institute">
            <a:extLst>
              <a:ext uri="{FF2B5EF4-FFF2-40B4-BE49-F238E27FC236}">
                <a16:creationId xmlns:a16="http://schemas.microsoft.com/office/drawing/2014/main" id="{2DF8B3E9-8CD1-298F-B742-742B03D0A8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28" r="3361"/>
          <a:stretch>
            <a:fillRect/>
          </a:stretch>
        </p:blipFill>
        <p:spPr>
          <a:xfrm rot="16200000">
            <a:off x="379834" y="3028792"/>
            <a:ext cx="1762432" cy="22959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CE9EBB2-6024-EEF2-F9E0-9D00E45D3E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42" t="1546" r="3501"/>
          <a:stretch>
            <a:fillRect/>
          </a:stretch>
        </p:blipFill>
        <p:spPr>
          <a:xfrm>
            <a:off x="3504600" y="921774"/>
            <a:ext cx="5540845" cy="290543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8AF7209-55B6-D22E-C9A6-A25F52162F3C}"/>
              </a:ext>
            </a:extLst>
          </p:cNvPr>
          <p:cNvSpPr txBox="1"/>
          <p:nvPr/>
        </p:nvSpPr>
        <p:spPr>
          <a:xfrm>
            <a:off x="2693424" y="4246017"/>
            <a:ext cx="4634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" sz="1600" dirty="0">
                <a:solidFill>
                  <a:schemeClr val="dk1"/>
                </a:solidFill>
              </a:rPr>
              <a:t>Different brain asymmetry patterns</a:t>
            </a:r>
            <a:endParaRPr lang="es-ES" sz="160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A55FA13-54CE-3792-96F3-AC7D8EB5E0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2</a:t>
            </a:fld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189214" y="300942"/>
            <a:ext cx="892771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Handedness in neurodevelopmental and psychiatric disorders</a:t>
            </a:r>
            <a:endParaRPr dirty="0"/>
          </a:p>
        </p:txBody>
      </p:sp>
      <p:sp>
        <p:nvSpPr>
          <p:cNvPr id="75" name="Google Shape;75;p15"/>
          <p:cNvSpPr txBox="1"/>
          <p:nvPr/>
        </p:nvSpPr>
        <p:spPr>
          <a:xfrm>
            <a:off x="7387925" y="19125"/>
            <a:ext cx="1756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999999"/>
                </a:solidFill>
              </a:rPr>
              <a:t>Introduction</a:t>
            </a:r>
            <a:endParaRPr sz="1500" dirty="0">
              <a:solidFill>
                <a:srgbClr val="999999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l="25345" t="5525" b="11274"/>
          <a:stretch/>
        </p:blipFill>
        <p:spPr>
          <a:xfrm>
            <a:off x="227073" y="1579806"/>
            <a:ext cx="3278832" cy="294304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258377" y="4396823"/>
            <a:ext cx="2662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CC0000"/>
                </a:solidFill>
              </a:rPr>
              <a:t>0.67 genetic correlation SCZ v BD</a:t>
            </a:r>
            <a:endParaRPr sz="1200" b="1" dirty="0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1155CC"/>
                </a:solidFill>
              </a:rPr>
              <a:t>48 shared symptoms</a:t>
            </a:r>
            <a:endParaRPr sz="1200" b="1" dirty="0">
              <a:solidFill>
                <a:srgbClr val="1155CC"/>
              </a:solidFill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43991FB-BD40-CF4E-A363-8A95B93A6566}"/>
              </a:ext>
            </a:extLst>
          </p:cNvPr>
          <p:cNvGrpSpPr/>
          <p:nvPr/>
        </p:nvGrpSpPr>
        <p:grpSpPr>
          <a:xfrm>
            <a:off x="3870590" y="1166734"/>
            <a:ext cx="2640366" cy="1078923"/>
            <a:chOff x="3864602" y="1504949"/>
            <a:chExt cx="2640366" cy="1078923"/>
          </a:xfrm>
        </p:grpSpPr>
        <p:pic>
          <p:nvPicPr>
            <p:cNvPr id="3" name="Gráfico 2" descr="Persona confundida con relleno sólido">
              <a:extLst>
                <a:ext uri="{FF2B5EF4-FFF2-40B4-BE49-F238E27FC236}">
                  <a16:creationId xmlns:a16="http://schemas.microsoft.com/office/drawing/2014/main" id="{6E10B1DA-A7BD-1AC5-0FE6-A874D2BDE2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3864602" y="1504949"/>
              <a:ext cx="1078923" cy="1078923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9AC7DFD-5540-8C9B-D578-4C74605103ED}"/>
                </a:ext>
              </a:extLst>
            </p:cNvPr>
            <p:cNvSpPr txBox="1"/>
            <p:nvPr/>
          </p:nvSpPr>
          <p:spPr>
            <a:xfrm>
              <a:off x="4819477" y="1597661"/>
              <a:ext cx="16854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Schizophrenia </a:t>
              </a:r>
              <a:r>
                <a:rPr lang="es-ES" dirty="0"/>
                <a:t>(SCZ)</a:t>
              </a:r>
            </a:p>
            <a:p>
              <a:pPr algn="ctr"/>
              <a:r>
                <a:rPr lang="es-ES" dirty="0"/>
                <a:t>Left-</a:t>
              </a:r>
              <a:r>
                <a:rPr lang="en-US" noProof="0" dirty="0"/>
                <a:t>handed</a:t>
              </a:r>
              <a:r>
                <a:rPr lang="es-ES" dirty="0"/>
                <a:t>: ~20%</a:t>
              </a:r>
            </a:p>
            <a:p>
              <a:pPr algn="ctr"/>
              <a:r>
                <a:rPr lang="es-ES" dirty="0"/>
                <a:t>NRH: ~35%</a:t>
              </a:r>
              <a:r>
                <a:rPr lang="es-ES" b="1" dirty="0"/>
                <a:t>**</a:t>
              </a: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86AE06E-B3B6-A868-5BB4-867B2BA12023}"/>
              </a:ext>
            </a:extLst>
          </p:cNvPr>
          <p:cNvGrpSpPr/>
          <p:nvPr/>
        </p:nvGrpSpPr>
        <p:grpSpPr>
          <a:xfrm>
            <a:off x="6705592" y="1042808"/>
            <a:ext cx="1200329" cy="2010342"/>
            <a:chOff x="4977833" y="1709235"/>
            <a:chExt cx="1200329" cy="2010342"/>
          </a:xfrm>
        </p:grpSpPr>
        <p:pic>
          <p:nvPicPr>
            <p:cNvPr id="6" name="Gráfico 5" descr="Persona confundida con relleno sólido">
              <a:extLst>
                <a:ext uri="{FF2B5EF4-FFF2-40B4-BE49-F238E27FC236}">
                  <a16:creationId xmlns:a16="http://schemas.microsoft.com/office/drawing/2014/main" id="{241959DB-4516-B49C-6F88-DF30BF9B0E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4977833" y="1709235"/>
              <a:ext cx="1078922" cy="1078922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0B208FE0-A252-3BEE-7248-5F6ECD1E8CE2}"/>
                </a:ext>
              </a:extLst>
            </p:cNvPr>
            <p:cNvSpPr txBox="1"/>
            <p:nvPr/>
          </p:nvSpPr>
          <p:spPr>
            <a:xfrm>
              <a:off x="4994563" y="2765470"/>
              <a:ext cx="118359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Depression</a:t>
              </a:r>
              <a:r>
                <a:rPr lang="es-ES" dirty="0"/>
                <a:t> (DEP)</a:t>
              </a:r>
            </a:p>
            <a:p>
              <a:pPr algn="ctr"/>
              <a:r>
                <a:rPr lang="es-ES" dirty="0"/>
                <a:t>NRH: 18%</a:t>
              </a:r>
            </a:p>
            <a:p>
              <a:pPr algn="ctr"/>
              <a:endParaRPr lang="es-ES" dirty="0"/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6DB7948C-FAB5-8B2E-05A9-68E2C733614C}"/>
              </a:ext>
            </a:extLst>
          </p:cNvPr>
          <p:cNvGrpSpPr/>
          <p:nvPr/>
        </p:nvGrpSpPr>
        <p:grpSpPr>
          <a:xfrm>
            <a:off x="7818612" y="1503964"/>
            <a:ext cx="1379850" cy="1808952"/>
            <a:chOff x="2892531" y="2558976"/>
            <a:chExt cx="1379850" cy="1808952"/>
          </a:xfrm>
        </p:grpSpPr>
        <p:pic>
          <p:nvPicPr>
            <p:cNvPr id="4" name="Gráfico 3" descr="Persona confundida con relleno sólido">
              <a:extLst>
                <a:ext uri="{FF2B5EF4-FFF2-40B4-BE49-F238E27FC236}">
                  <a16:creationId xmlns:a16="http://schemas.microsoft.com/office/drawing/2014/main" id="{1832DDA5-DE35-0AFE-50E6-B9951FF549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3024013" y="2558976"/>
              <a:ext cx="1078922" cy="1078922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5AB82C21-CFEB-F5F2-0204-426DA9DE4F6F}"/>
                </a:ext>
              </a:extLst>
            </p:cNvPr>
            <p:cNvSpPr txBox="1"/>
            <p:nvPr/>
          </p:nvSpPr>
          <p:spPr>
            <a:xfrm>
              <a:off x="2892531" y="3629264"/>
              <a:ext cx="13798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Autism </a:t>
              </a:r>
              <a:r>
                <a:rPr lang="es-ES" dirty="0"/>
                <a:t>(ASD)</a:t>
              </a:r>
            </a:p>
            <a:p>
              <a:pPr algn="ctr"/>
              <a:r>
                <a:rPr lang="es-ES" dirty="0"/>
                <a:t>NRH: ~35%</a:t>
              </a:r>
              <a:r>
                <a:rPr lang="es-ES" b="1" dirty="0"/>
                <a:t>**</a:t>
              </a:r>
            </a:p>
            <a:p>
              <a:pPr algn="ctr"/>
              <a:endParaRPr lang="es-ES" dirty="0"/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2EE6481-408F-71D4-1137-0DF4FFFBF58D}"/>
              </a:ext>
            </a:extLst>
          </p:cNvPr>
          <p:cNvGrpSpPr/>
          <p:nvPr/>
        </p:nvGrpSpPr>
        <p:grpSpPr>
          <a:xfrm>
            <a:off x="7792172" y="3231665"/>
            <a:ext cx="1250476" cy="1647333"/>
            <a:chOff x="6298559" y="1504949"/>
            <a:chExt cx="1250476" cy="1647333"/>
          </a:xfrm>
        </p:grpSpPr>
        <p:pic>
          <p:nvPicPr>
            <p:cNvPr id="5" name="Gráfico 4" descr="Persona confundida con relleno sólido">
              <a:extLst>
                <a:ext uri="{FF2B5EF4-FFF2-40B4-BE49-F238E27FC236}">
                  <a16:creationId xmlns:a16="http://schemas.microsoft.com/office/drawing/2014/main" id="{78CD5363-E9C7-E8D0-FF44-88B7CE1595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384336" y="1504949"/>
              <a:ext cx="1078923" cy="1078923"/>
            </a:xfrm>
            <a:prstGeom prst="rect">
              <a:avLst/>
            </a:prstGeom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DD7F7974-D189-5E3B-3511-1044205A7774}"/>
                </a:ext>
              </a:extLst>
            </p:cNvPr>
            <p:cNvSpPr txBox="1"/>
            <p:nvPr/>
          </p:nvSpPr>
          <p:spPr>
            <a:xfrm>
              <a:off x="6298559" y="2629062"/>
              <a:ext cx="12504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ADHD</a:t>
              </a:r>
            </a:p>
            <a:p>
              <a:pPr algn="ctr"/>
              <a:r>
                <a:rPr lang="es-ES" dirty="0"/>
                <a:t>NRH: ~25%</a:t>
              </a:r>
              <a:r>
                <a:rPr lang="es-ES" b="1" dirty="0"/>
                <a:t>*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CD7294A-4AAA-12DA-E7DD-64FBB90EEF6A}"/>
              </a:ext>
            </a:extLst>
          </p:cNvPr>
          <p:cNvGrpSpPr/>
          <p:nvPr/>
        </p:nvGrpSpPr>
        <p:grpSpPr>
          <a:xfrm>
            <a:off x="3944699" y="2390486"/>
            <a:ext cx="2602388" cy="1078923"/>
            <a:chOff x="7156667" y="1504948"/>
            <a:chExt cx="2602388" cy="1078923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F5D3924B-DEC9-564D-4C1E-F41BB1233C68}"/>
                </a:ext>
              </a:extLst>
            </p:cNvPr>
            <p:cNvSpPr txBox="1"/>
            <p:nvPr/>
          </p:nvSpPr>
          <p:spPr>
            <a:xfrm>
              <a:off x="8379205" y="1675077"/>
              <a:ext cx="1379850" cy="738664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Bipolar disorder </a:t>
              </a:r>
              <a:r>
                <a:rPr lang="es-ES" dirty="0"/>
                <a:t>(BD)</a:t>
              </a:r>
            </a:p>
            <a:p>
              <a:pPr algn="ctr"/>
              <a:r>
                <a:rPr lang="es-ES" dirty="0"/>
                <a:t>???</a:t>
              </a:r>
            </a:p>
          </p:txBody>
        </p:sp>
        <p:pic>
          <p:nvPicPr>
            <p:cNvPr id="12" name="Gráfico 11" descr="Persona confundida con relleno sólido">
              <a:extLst>
                <a:ext uri="{FF2B5EF4-FFF2-40B4-BE49-F238E27FC236}">
                  <a16:creationId xmlns:a16="http://schemas.microsoft.com/office/drawing/2014/main" id="{82EDE867-4A7B-9045-7C07-044830F4B0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p:blipFill>
          <p:spPr>
            <a:xfrm>
              <a:off x="7156667" y="1504948"/>
              <a:ext cx="1078923" cy="1078923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D0DFF0B-E50B-06BF-66F5-31A1A2654E16}"/>
              </a:ext>
            </a:extLst>
          </p:cNvPr>
          <p:cNvSpPr txBox="1"/>
          <p:nvPr/>
        </p:nvSpPr>
        <p:spPr>
          <a:xfrm>
            <a:off x="4643984" y="3678386"/>
            <a:ext cx="2601069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" sz="1800" u="sng" dirty="0"/>
              <a:t>No concordant pattern:</a:t>
            </a:r>
          </a:p>
          <a:p>
            <a:r>
              <a:rPr lang="es-ES" sz="1800" dirty="0"/>
              <a:t>Small sample sizes</a:t>
            </a:r>
          </a:p>
          <a:p>
            <a:r>
              <a:rPr lang="es-ES" sz="1800" dirty="0"/>
              <a:t>Lack of clinical data</a:t>
            </a:r>
          </a:p>
          <a:p>
            <a:r>
              <a:rPr lang="es-ES" sz="1800" dirty="0"/>
              <a:t>Diverse measurements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BC2538B-C483-ED9B-DB84-F4C08C501670}"/>
              </a:ext>
            </a:extLst>
          </p:cNvPr>
          <p:cNvSpPr txBox="1"/>
          <p:nvPr/>
        </p:nvSpPr>
        <p:spPr>
          <a:xfrm>
            <a:off x="212676" y="1056586"/>
            <a:ext cx="3307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High genetic + clinical overlap between mental disorders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EA711029-0B75-3FFC-1275-C99CAB4FF2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3</a:t>
            </a:fld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37E33-4FCC-457F-BE50-7F9393AE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24" y="27678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s-ES" dirty="0"/>
              <a:t>Edinburgh Handedness Inventory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64CF3307-8C86-A366-8783-07CF0416B4D7}"/>
              </a:ext>
            </a:extLst>
          </p:cNvPr>
          <p:cNvSpPr txBox="1"/>
          <p:nvPr/>
        </p:nvSpPr>
        <p:spPr>
          <a:xfrm>
            <a:off x="7364825" y="28928"/>
            <a:ext cx="1756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rgbClr val="999999"/>
                </a:solidFill>
              </a:rPr>
              <a:t>Introduction</a:t>
            </a:r>
            <a:endParaRPr sz="1500" dirty="0">
              <a:solidFill>
                <a:srgbClr val="999999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CE9B4B-0D98-8B3D-18EB-E0B9047E7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2" t="2729" r="14190" b="27634"/>
          <a:stretch>
            <a:fillRect/>
          </a:stretch>
        </p:blipFill>
        <p:spPr>
          <a:xfrm>
            <a:off x="469815" y="1070925"/>
            <a:ext cx="2287857" cy="2932001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C806430B-2171-247B-CC65-4978EBD59CFC}"/>
              </a:ext>
            </a:extLst>
          </p:cNvPr>
          <p:cNvGrpSpPr/>
          <p:nvPr/>
        </p:nvGrpSpPr>
        <p:grpSpPr>
          <a:xfrm>
            <a:off x="555120" y="4432179"/>
            <a:ext cx="1842655" cy="612155"/>
            <a:chOff x="0" y="3868394"/>
            <a:chExt cx="2369127" cy="612155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2B2F1DE-462B-DB68-A652-BA36A6BA6C13}"/>
                </a:ext>
              </a:extLst>
            </p:cNvPr>
            <p:cNvSpPr txBox="1"/>
            <p:nvPr/>
          </p:nvSpPr>
          <p:spPr>
            <a:xfrm>
              <a:off x="0" y="3868394"/>
              <a:ext cx="2369127" cy="6121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s-ES" sz="1200" i="1" dirty="0"/>
                <a:t>Right Score -Left Score</a:t>
              </a:r>
            </a:p>
            <a:p>
              <a:pPr algn="ctr">
                <a:lnSpc>
                  <a:spcPct val="150000"/>
                </a:lnSpc>
              </a:pPr>
              <a:r>
                <a:rPr lang="es-ES" sz="1200" i="1" dirty="0"/>
                <a:t>Right Score +Left Score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68E59891-FFE6-8B92-07CD-5469A083C2BF}"/>
                </a:ext>
              </a:extLst>
            </p:cNvPr>
            <p:cNvCxnSpPr/>
            <p:nvPr/>
          </p:nvCxnSpPr>
          <p:spPr>
            <a:xfrm>
              <a:off x="166255" y="4202179"/>
              <a:ext cx="200890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7BA36BC-075D-864E-4349-F0F716E3E338}"/>
              </a:ext>
            </a:extLst>
          </p:cNvPr>
          <p:cNvGrpSpPr/>
          <p:nvPr/>
        </p:nvGrpSpPr>
        <p:grpSpPr>
          <a:xfrm>
            <a:off x="2246914" y="4521114"/>
            <a:ext cx="1603663" cy="523220"/>
            <a:chOff x="2175164" y="3956736"/>
            <a:chExt cx="1603663" cy="523220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D80C94A5-96C7-62A6-AB79-DBD829CD0D8B}"/>
                </a:ext>
              </a:extLst>
            </p:cNvPr>
            <p:cNvSpPr txBox="1"/>
            <p:nvPr/>
          </p:nvSpPr>
          <p:spPr>
            <a:xfrm>
              <a:off x="2303318" y="3956736"/>
              <a:ext cx="14755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Lateralization Quotient (LQ)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A2CCF3B5-A1BD-3533-357D-8AA2E1FE3933}"/>
                </a:ext>
              </a:extLst>
            </p:cNvPr>
            <p:cNvSpPr txBox="1"/>
            <p:nvPr/>
          </p:nvSpPr>
          <p:spPr>
            <a:xfrm>
              <a:off x="2175164" y="4080164"/>
              <a:ext cx="1939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=</a:t>
              </a:r>
            </a:p>
          </p:txBody>
        </p:sp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FE6E5B57-FB01-289C-DAB6-A53443319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9" t="50978" r="4005" b="8463"/>
          <a:stretch>
            <a:fillRect/>
          </a:stretch>
        </p:blipFill>
        <p:spPr>
          <a:xfrm>
            <a:off x="4692421" y="1218693"/>
            <a:ext cx="4273670" cy="420706"/>
          </a:xfrm>
          <a:prstGeom prst="rect">
            <a:avLst/>
          </a:prstGeom>
        </p:spPr>
      </p:pic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B33B3AE7-195E-540D-774A-26025E5E9979}"/>
              </a:ext>
            </a:extLst>
          </p:cNvPr>
          <p:cNvCxnSpPr>
            <a:cxnSpLocks/>
          </p:cNvCxnSpPr>
          <p:nvPr/>
        </p:nvCxnSpPr>
        <p:spPr>
          <a:xfrm>
            <a:off x="6818078" y="1033664"/>
            <a:ext cx="12232" cy="1491177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C29CA9F0-6469-A01C-954C-55E393EE6CAE}"/>
              </a:ext>
            </a:extLst>
          </p:cNvPr>
          <p:cNvCxnSpPr>
            <a:cxnSpLocks/>
          </p:cNvCxnSpPr>
          <p:nvPr/>
        </p:nvCxnSpPr>
        <p:spPr>
          <a:xfrm flipV="1">
            <a:off x="7644515" y="1033664"/>
            <a:ext cx="0" cy="2461917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335E6894-0FA8-69ED-16E8-B76AB9699619}"/>
              </a:ext>
            </a:extLst>
          </p:cNvPr>
          <p:cNvCxnSpPr>
            <a:cxnSpLocks/>
          </p:cNvCxnSpPr>
          <p:nvPr/>
        </p:nvCxnSpPr>
        <p:spPr>
          <a:xfrm flipV="1">
            <a:off x="6032275" y="1033664"/>
            <a:ext cx="0" cy="2260447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B577F7F1-0EA0-35C0-1513-DD2622477026}"/>
              </a:ext>
            </a:extLst>
          </p:cNvPr>
          <p:cNvCxnSpPr>
            <a:cxnSpLocks/>
          </p:cNvCxnSpPr>
          <p:nvPr/>
        </p:nvCxnSpPr>
        <p:spPr>
          <a:xfrm flipV="1">
            <a:off x="5779999" y="954154"/>
            <a:ext cx="0" cy="3162645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9D959302-9360-5C33-06B3-D62828EF9A8E}"/>
              </a:ext>
            </a:extLst>
          </p:cNvPr>
          <p:cNvCxnSpPr>
            <a:cxnSpLocks/>
          </p:cNvCxnSpPr>
          <p:nvPr/>
        </p:nvCxnSpPr>
        <p:spPr>
          <a:xfrm flipV="1">
            <a:off x="7892084" y="954154"/>
            <a:ext cx="0" cy="3162645"/>
          </a:xfrm>
          <a:prstGeom prst="line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8B30B59-3710-8408-0FF9-26E4523DE253}"/>
              </a:ext>
            </a:extLst>
          </p:cNvPr>
          <p:cNvSpPr/>
          <p:nvPr/>
        </p:nvSpPr>
        <p:spPr>
          <a:xfrm>
            <a:off x="4692421" y="1917951"/>
            <a:ext cx="4237371" cy="249381"/>
          </a:xfrm>
          <a:prstGeom prst="rect">
            <a:avLst/>
          </a:prstGeom>
          <a:solidFill>
            <a:srgbClr val="A5F1CD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9842625-2368-2298-16FC-95C1E9F693A6}"/>
              </a:ext>
            </a:extLst>
          </p:cNvPr>
          <p:cNvSpPr txBox="1"/>
          <p:nvPr/>
        </p:nvSpPr>
        <p:spPr>
          <a:xfrm>
            <a:off x="4593049" y="1589785"/>
            <a:ext cx="5808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-100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305B41D-F85E-78E4-06BE-80D3D3008C39}"/>
              </a:ext>
            </a:extLst>
          </p:cNvPr>
          <p:cNvSpPr txBox="1"/>
          <p:nvPr/>
        </p:nvSpPr>
        <p:spPr>
          <a:xfrm>
            <a:off x="8426470" y="1589785"/>
            <a:ext cx="736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+100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B8A079C-24B4-2542-E955-CFD84E62C0C1}"/>
              </a:ext>
            </a:extLst>
          </p:cNvPr>
          <p:cNvSpPr txBox="1"/>
          <p:nvPr/>
        </p:nvSpPr>
        <p:spPr>
          <a:xfrm>
            <a:off x="6572760" y="1897562"/>
            <a:ext cx="488419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LQ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0775D89-BB24-D5A9-19DF-A3566A34B0FB}"/>
              </a:ext>
            </a:extLst>
          </p:cNvPr>
          <p:cNvSpPr txBox="1"/>
          <p:nvPr/>
        </p:nvSpPr>
        <p:spPr>
          <a:xfrm>
            <a:off x="6723688" y="1601920"/>
            <a:ext cx="3603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0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B36E3C5-B02C-6780-8E7A-F770EC47C2F9}"/>
              </a:ext>
            </a:extLst>
          </p:cNvPr>
          <p:cNvSpPr/>
          <p:nvPr/>
        </p:nvSpPr>
        <p:spPr>
          <a:xfrm>
            <a:off x="4692421" y="2402369"/>
            <a:ext cx="4237371" cy="249381"/>
          </a:xfrm>
          <a:prstGeom prst="rect">
            <a:avLst/>
          </a:prstGeom>
          <a:solidFill>
            <a:srgbClr val="8AD5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72B5177-3B13-D324-B9CF-09388954421C}"/>
              </a:ext>
            </a:extLst>
          </p:cNvPr>
          <p:cNvSpPr/>
          <p:nvPr/>
        </p:nvSpPr>
        <p:spPr>
          <a:xfrm>
            <a:off x="4722120" y="3287052"/>
            <a:ext cx="4237371" cy="249381"/>
          </a:xfrm>
          <a:prstGeom prst="rect">
            <a:avLst/>
          </a:prstGeom>
          <a:solidFill>
            <a:srgbClr val="C397F3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D0898DA-D1F6-D02E-E3FB-DDAB50534608}"/>
              </a:ext>
            </a:extLst>
          </p:cNvPr>
          <p:cNvSpPr/>
          <p:nvPr/>
        </p:nvSpPr>
        <p:spPr>
          <a:xfrm>
            <a:off x="4728720" y="3932770"/>
            <a:ext cx="4237371" cy="249381"/>
          </a:xfrm>
          <a:prstGeom prst="rect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77B4F48-3B87-95AD-AC32-86712AA4F8F5}"/>
              </a:ext>
            </a:extLst>
          </p:cNvPr>
          <p:cNvSpPr/>
          <p:nvPr/>
        </p:nvSpPr>
        <p:spPr>
          <a:xfrm>
            <a:off x="4692421" y="2400150"/>
            <a:ext cx="2121987" cy="24938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82BC4D1-22AB-7367-B18E-C4867479213E}"/>
              </a:ext>
            </a:extLst>
          </p:cNvPr>
          <p:cNvSpPr txBox="1"/>
          <p:nvPr/>
        </p:nvSpPr>
        <p:spPr>
          <a:xfrm>
            <a:off x="6221145" y="3272936"/>
            <a:ext cx="1143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Mixed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35631AB-E241-C271-E196-FB63799FF9EE}"/>
              </a:ext>
            </a:extLst>
          </p:cNvPr>
          <p:cNvSpPr/>
          <p:nvPr/>
        </p:nvSpPr>
        <p:spPr>
          <a:xfrm>
            <a:off x="4722120" y="3286719"/>
            <a:ext cx="1310155" cy="24938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D26B733-528F-D0F8-7881-23475EA21005}"/>
              </a:ext>
            </a:extLst>
          </p:cNvPr>
          <p:cNvSpPr/>
          <p:nvPr/>
        </p:nvSpPr>
        <p:spPr>
          <a:xfrm>
            <a:off x="7649337" y="3287051"/>
            <a:ext cx="1310155" cy="249381"/>
          </a:xfrm>
          <a:prstGeom prst="rect">
            <a:avLst/>
          </a:prstGeom>
          <a:solidFill>
            <a:srgbClr val="8AD5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72FDDCF5-5872-9C1D-4F81-3A5790D62CFE}"/>
              </a:ext>
            </a:extLst>
          </p:cNvPr>
          <p:cNvSpPr/>
          <p:nvPr/>
        </p:nvSpPr>
        <p:spPr>
          <a:xfrm>
            <a:off x="7892084" y="3933085"/>
            <a:ext cx="1067407" cy="24938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6AC062F-BBA4-C19A-E12B-05CF64D97981}"/>
              </a:ext>
            </a:extLst>
          </p:cNvPr>
          <p:cNvSpPr/>
          <p:nvPr/>
        </p:nvSpPr>
        <p:spPr>
          <a:xfrm>
            <a:off x="4712592" y="3939854"/>
            <a:ext cx="1067407" cy="24938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Abrir llave 45">
            <a:extLst>
              <a:ext uri="{FF2B5EF4-FFF2-40B4-BE49-F238E27FC236}">
                <a16:creationId xmlns:a16="http://schemas.microsoft.com/office/drawing/2014/main" id="{FB940F5B-6199-A806-DFB2-D96A82B90A90}"/>
              </a:ext>
            </a:extLst>
          </p:cNvPr>
          <p:cNvSpPr/>
          <p:nvPr/>
        </p:nvSpPr>
        <p:spPr>
          <a:xfrm rot="5400000">
            <a:off x="6083759" y="1653391"/>
            <a:ext cx="249382" cy="3032057"/>
          </a:xfrm>
          <a:prstGeom prst="leftBrace">
            <a:avLst>
              <a:gd name="adj1" fmla="val 154961"/>
              <a:gd name="adj2" fmla="val 50525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29C0580-010B-60E5-F4D1-EE9203A72873}"/>
              </a:ext>
            </a:extLst>
          </p:cNvPr>
          <p:cNvSpPr txBox="1"/>
          <p:nvPr/>
        </p:nvSpPr>
        <p:spPr>
          <a:xfrm>
            <a:off x="6081366" y="2751909"/>
            <a:ext cx="1143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NRH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0647A86-F9FB-EDD9-6914-F239CCE77608}"/>
              </a:ext>
            </a:extLst>
          </p:cNvPr>
          <p:cNvSpPr txBox="1"/>
          <p:nvPr/>
        </p:nvSpPr>
        <p:spPr>
          <a:xfrm>
            <a:off x="5505556" y="2385677"/>
            <a:ext cx="495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Left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0A64A56-EDE1-A6B9-09D0-0308D6867FE7}"/>
              </a:ext>
            </a:extLst>
          </p:cNvPr>
          <p:cNvSpPr txBox="1"/>
          <p:nvPr/>
        </p:nvSpPr>
        <p:spPr>
          <a:xfrm>
            <a:off x="7556985" y="2364717"/>
            <a:ext cx="649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Right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372777B-3C25-38EB-795B-13C67964997D}"/>
              </a:ext>
            </a:extLst>
          </p:cNvPr>
          <p:cNvSpPr txBox="1"/>
          <p:nvPr/>
        </p:nvSpPr>
        <p:spPr>
          <a:xfrm>
            <a:off x="7984873" y="3257520"/>
            <a:ext cx="6497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Right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FE7E120-00E4-C97C-97B8-FC0F54FAA17B}"/>
              </a:ext>
            </a:extLst>
          </p:cNvPr>
          <p:cNvSpPr txBox="1"/>
          <p:nvPr/>
        </p:nvSpPr>
        <p:spPr>
          <a:xfrm>
            <a:off x="5154037" y="3242043"/>
            <a:ext cx="495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Left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2357752-58C8-30AE-CEE4-6F95B6EDD6BB}"/>
              </a:ext>
            </a:extLst>
          </p:cNvPr>
          <p:cNvSpPr txBox="1"/>
          <p:nvPr/>
        </p:nvSpPr>
        <p:spPr>
          <a:xfrm>
            <a:off x="6108466" y="3903571"/>
            <a:ext cx="1536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Non-lateralized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FBD9CB9-62EE-8A9C-908E-26BB405148A3}"/>
              </a:ext>
            </a:extLst>
          </p:cNvPr>
          <p:cNvSpPr txBox="1"/>
          <p:nvPr/>
        </p:nvSpPr>
        <p:spPr>
          <a:xfrm>
            <a:off x="4883461" y="4599161"/>
            <a:ext cx="1536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Lateralized</a:t>
            </a:r>
          </a:p>
        </p:txBody>
      </p: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75AB3DF5-7B20-A8F7-0198-D68D1521BADD}"/>
              </a:ext>
            </a:extLst>
          </p:cNvPr>
          <p:cNvCxnSpPr>
            <a:endCxn id="36" idx="2"/>
          </p:cNvCxnSpPr>
          <p:nvPr/>
        </p:nvCxnSpPr>
        <p:spPr>
          <a:xfrm flipV="1">
            <a:off x="5377197" y="4211348"/>
            <a:ext cx="0" cy="309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E5CC34AB-D346-755A-F784-537CBB85D1F6}"/>
              </a:ext>
            </a:extLst>
          </p:cNvPr>
          <p:cNvCxnSpPr/>
          <p:nvPr/>
        </p:nvCxnSpPr>
        <p:spPr>
          <a:xfrm flipV="1">
            <a:off x="6001272" y="4211348"/>
            <a:ext cx="2148815" cy="522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ángulo 72">
            <a:extLst>
              <a:ext uri="{FF2B5EF4-FFF2-40B4-BE49-F238E27FC236}">
                <a16:creationId xmlns:a16="http://schemas.microsoft.com/office/drawing/2014/main" id="{D07A7742-AE3A-B1F7-7689-BCECCA0EEDE5}"/>
              </a:ext>
            </a:extLst>
          </p:cNvPr>
          <p:cNvSpPr/>
          <p:nvPr/>
        </p:nvSpPr>
        <p:spPr>
          <a:xfrm>
            <a:off x="375980" y="954154"/>
            <a:ext cx="3654552" cy="3307866"/>
          </a:xfrm>
          <a:prstGeom prst="rect">
            <a:avLst/>
          </a:prstGeom>
          <a:solidFill>
            <a:srgbClr val="F5FD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800" b="1" dirty="0">
                <a:solidFill>
                  <a:schemeClr val="tx1"/>
                </a:solidFill>
              </a:rPr>
              <a:t>EHI</a:t>
            </a:r>
            <a:r>
              <a:rPr lang="es-ES" sz="1800" dirty="0">
                <a:solidFill>
                  <a:schemeClr val="tx1"/>
                </a:solidFill>
              </a:rPr>
              <a:t>: What hand do you use for…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Writing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Drawing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Throw an object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Use a toothbrush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Use a knife (without fork)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Use scissors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Use spoon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Upper hand to broom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Strike a match</a:t>
            </a:r>
          </a:p>
          <a:p>
            <a:pPr marL="342900" indent="-342900">
              <a:buAutoNum type="arabicPeriod"/>
            </a:pPr>
            <a:r>
              <a:rPr lang="es-ES" sz="1800" dirty="0">
                <a:solidFill>
                  <a:schemeClr val="tx1"/>
                </a:solidFill>
              </a:rPr>
              <a:t>Open the lid of a box</a:t>
            </a:r>
          </a:p>
        </p:txBody>
      </p:sp>
      <p:sp>
        <p:nvSpPr>
          <p:cNvPr id="74" name="Marcador de número de diapositiva 73">
            <a:extLst>
              <a:ext uri="{FF2B5EF4-FFF2-40B4-BE49-F238E27FC236}">
                <a16:creationId xmlns:a16="http://schemas.microsoft.com/office/drawing/2014/main" id="{84545751-5E43-5E60-4984-1E4D994C76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222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/>
      <p:bldP spid="23" grpId="0"/>
      <p:bldP spid="24" grpId="0"/>
      <p:bldP spid="25" grpId="0"/>
      <p:bldP spid="27" grpId="0" animBg="1"/>
      <p:bldP spid="28" grpId="0" animBg="1"/>
      <p:bldP spid="29" grpId="0" animBg="1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46" grpId="0" animBg="1"/>
      <p:bldP spid="47" grpId="0"/>
      <p:bldP spid="30" grpId="0"/>
      <p:bldP spid="48" grpId="0"/>
      <p:bldP spid="49" grpId="0"/>
      <p:bldP spid="50" grpId="0"/>
      <p:bldP spid="51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EAB86-A19D-1C3B-EB4D-C61FC19D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397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s-ES" dirty="0"/>
              <a:t>MadManic cohort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FFB6F7-7D1C-5A91-D167-FEE9F2151DB2}"/>
              </a:ext>
            </a:extLst>
          </p:cNvPr>
          <p:cNvSpPr txBox="1"/>
          <p:nvPr/>
        </p:nvSpPr>
        <p:spPr>
          <a:xfrm>
            <a:off x="568036" y="1766455"/>
            <a:ext cx="2389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MadManic cohort map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B7F1D29-42B7-F7C2-1EBA-82B3CC98B5FB}"/>
              </a:ext>
            </a:extLst>
          </p:cNvPr>
          <p:cNvSpPr txBox="1"/>
          <p:nvPr/>
        </p:nvSpPr>
        <p:spPr>
          <a:xfrm>
            <a:off x="3994793" y="846808"/>
            <a:ext cx="4993419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dirty="0"/>
              <a:t>&gt; 400 BD patients, &gt; 1,800 controls</a:t>
            </a:r>
          </a:p>
          <a:p>
            <a:pPr>
              <a:lnSpc>
                <a:spcPct val="150000"/>
              </a:lnSpc>
            </a:pPr>
            <a:r>
              <a:rPr lang="es-ES" sz="1600" b="1" dirty="0"/>
              <a:t>Deep </a:t>
            </a:r>
            <a:r>
              <a:rPr lang="es-ES" sz="1600" b="1" dirty="0" err="1"/>
              <a:t>phenotyping</a:t>
            </a:r>
            <a:endParaRPr lang="es-ES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BD subtype + clinical features (e.g. psychosis, rapid cycling…)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Behaviour -&gt; </a:t>
            </a:r>
            <a:r>
              <a:rPr lang="es-ES" sz="1600" b="1" dirty="0"/>
              <a:t>EHI</a:t>
            </a:r>
          </a:p>
          <a:p>
            <a:pPr>
              <a:lnSpc>
                <a:spcPct val="150000"/>
              </a:lnSpc>
            </a:pPr>
            <a:r>
              <a:rPr lang="es-ES" sz="1600" u="sng" dirty="0"/>
              <a:t>Severity scales</a:t>
            </a:r>
            <a:r>
              <a:rPr lang="es-ES" sz="1600" dirty="0"/>
              <a:t>: WHODAS, CGI, Index of Number of Events and Severity (INES), GAF</a:t>
            </a:r>
          </a:p>
          <a:p>
            <a:pPr>
              <a:lnSpc>
                <a:spcPct val="150000"/>
              </a:lnSpc>
            </a:pPr>
            <a:r>
              <a:rPr lang="es-ES" sz="1600" b="1" dirty="0" err="1"/>
              <a:t>Genotyping</a:t>
            </a:r>
            <a:r>
              <a:rPr lang="es-ES" sz="1600" b="1" dirty="0"/>
              <a:t>, </a:t>
            </a:r>
            <a:r>
              <a:rPr lang="es-ES" sz="1600" b="1" dirty="0" err="1"/>
              <a:t>RNAseq</a:t>
            </a:r>
            <a:r>
              <a:rPr lang="es-ES" sz="1600" b="1" dirty="0"/>
              <a:t>, </a:t>
            </a:r>
            <a:r>
              <a:rPr lang="es-ES" sz="1600" b="1" dirty="0" err="1"/>
              <a:t>epigenomic</a:t>
            </a:r>
            <a:r>
              <a:rPr lang="es-ES" sz="1600" b="1" dirty="0"/>
              <a:t> </a:t>
            </a:r>
            <a:r>
              <a:rPr lang="es-ES" sz="1600" b="1" dirty="0" err="1"/>
              <a:t>profile</a:t>
            </a:r>
            <a:endParaRPr lang="es-ES" sz="1600" b="1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92D348E-52F3-60BD-A177-7AF76077D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17725"/>
            <a:ext cx="3511730" cy="3911801"/>
          </a:xfrm>
          <a:prstGeom prst="rect">
            <a:avLst/>
          </a:prstGeom>
        </p:spPr>
      </p:pic>
      <p:sp>
        <p:nvSpPr>
          <p:cNvPr id="10" name="Google Shape;75;p15">
            <a:extLst>
              <a:ext uri="{FF2B5EF4-FFF2-40B4-BE49-F238E27FC236}">
                <a16:creationId xmlns:a16="http://schemas.microsoft.com/office/drawing/2014/main" id="{224ADD99-F80D-124B-CEF5-5CB2DCD0ECC1}"/>
              </a:ext>
            </a:extLst>
          </p:cNvPr>
          <p:cNvSpPr txBox="1"/>
          <p:nvPr/>
        </p:nvSpPr>
        <p:spPr>
          <a:xfrm>
            <a:off x="7387925" y="19125"/>
            <a:ext cx="1756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rgbClr val="999999"/>
                </a:solidFill>
              </a:rPr>
              <a:t>M&amp;M</a:t>
            </a:r>
            <a:endParaRPr sz="1500" dirty="0">
              <a:solidFill>
                <a:srgbClr val="999999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787C7D-B9CE-7D2B-661C-E02F2ED2D702}"/>
              </a:ext>
            </a:extLst>
          </p:cNvPr>
          <p:cNvSpPr txBox="1"/>
          <p:nvPr/>
        </p:nvSpPr>
        <p:spPr>
          <a:xfrm>
            <a:off x="4178472" y="4146015"/>
            <a:ext cx="4626060" cy="584775"/>
          </a:xfrm>
          <a:prstGeom prst="rect">
            <a:avLst/>
          </a:prstGeom>
          <a:solidFill>
            <a:srgbClr val="F5FDF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1600" dirty="0"/>
              <a:t>Do BD patients present atypical handedness patterns?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CF29D95A-83EA-89D2-B9CB-3594DC70C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356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F0EBD9-7E0D-125C-5AD4-E360C7153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93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s-ES" dirty="0"/>
              <a:t>Exploratory prevalence analysis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CF96547E-080C-4463-F3F8-A704E1E8E6C0}"/>
              </a:ext>
            </a:extLst>
          </p:cNvPr>
          <p:cNvSpPr txBox="1"/>
          <p:nvPr/>
        </p:nvSpPr>
        <p:spPr>
          <a:xfrm>
            <a:off x="7387925" y="19125"/>
            <a:ext cx="1756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rgbClr val="999999"/>
                </a:solidFill>
              </a:rPr>
              <a:t>Results</a:t>
            </a:r>
            <a:endParaRPr sz="1500" dirty="0">
              <a:solidFill>
                <a:srgbClr val="999999"/>
              </a:solidFill>
            </a:endParaRPr>
          </a:p>
        </p:txBody>
      </p:sp>
      <p:pic>
        <p:nvPicPr>
          <p:cNvPr id="8" name="Google Shape;86;p17">
            <a:extLst>
              <a:ext uri="{FF2B5EF4-FFF2-40B4-BE49-F238E27FC236}">
                <a16:creationId xmlns:a16="http://schemas.microsoft.com/office/drawing/2014/main" id="{514D7FD5-C9FC-A541-D0C9-1F3CF97D9F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65" y="1078818"/>
            <a:ext cx="15036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36F9CF6-28CD-1BEF-413D-EE7465198410}"/>
              </a:ext>
            </a:extLst>
          </p:cNvPr>
          <p:cNvSpPr txBox="1"/>
          <p:nvPr/>
        </p:nvSpPr>
        <p:spPr>
          <a:xfrm>
            <a:off x="294986" y="2516937"/>
            <a:ext cx="26505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Control group (N=1,707)</a:t>
            </a:r>
          </a:p>
          <a:p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Similar left ratios as other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Sex differences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Age differences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3A6BE45-8AA5-A1C6-98FA-C8CAD405064C}"/>
              </a:ext>
            </a:extLst>
          </p:cNvPr>
          <p:cNvSpPr/>
          <p:nvPr/>
        </p:nvSpPr>
        <p:spPr>
          <a:xfrm>
            <a:off x="0" y="4693984"/>
            <a:ext cx="2470355" cy="442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Mixed-handedness [-60, 60]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E538F47-56E3-A8F2-3DD5-E2236EB661B6}"/>
              </a:ext>
            </a:extLst>
          </p:cNvPr>
          <p:cNvCxnSpPr>
            <a:cxnSpLocks/>
          </p:cNvCxnSpPr>
          <p:nvPr/>
        </p:nvCxnSpPr>
        <p:spPr>
          <a:xfrm>
            <a:off x="3016045" y="932025"/>
            <a:ext cx="0" cy="3888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oogle Shape;86;p17">
            <a:extLst>
              <a:ext uri="{FF2B5EF4-FFF2-40B4-BE49-F238E27FC236}">
                <a16:creationId xmlns:a16="http://schemas.microsoft.com/office/drawing/2014/main" id="{C0A78BE3-2958-3745-B10C-C35A9F7F1C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979" y="932025"/>
            <a:ext cx="1503675" cy="114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85;p17">
            <a:extLst>
              <a:ext uri="{FF2B5EF4-FFF2-40B4-BE49-F238E27FC236}">
                <a16:creationId xmlns:a16="http://schemas.microsoft.com/office/drawing/2014/main" id="{74E3E47A-A681-5DA4-D980-43CE26E23F2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/>
        </p:blipFill>
        <p:spPr>
          <a:xfrm>
            <a:off x="3964751" y="1152420"/>
            <a:ext cx="1503671" cy="114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018C2F7-D16A-3123-F4CC-81852E2A7236}"/>
              </a:ext>
            </a:extLst>
          </p:cNvPr>
          <p:cNvSpPr txBox="1"/>
          <p:nvPr/>
        </p:nvSpPr>
        <p:spPr>
          <a:xfrm>
            <a:off x="3179993" y="2301494"/>
            <a:ext cx="26505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Case-control (433 BD, 433 controls*)</a:t>
            </a:r>
          </a:p>
          <a:p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Subtle increased mixed-handedness in BD (8.31%) compared with controls (4.62%)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Greater preference for left eye and foot</a:t>
            </a:r>
            <a:endParaRPr lang="es-ES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C9E7D9E-5D2C-EE9E-460D-88505FACA600}"/>
              </a:ext>
            </a:extLst>
          </p:cNvPr>
          <p:cNvCxnSpPr>
            <a:cxnSpLocks/>
          </p:cNvCxnSpPr>
          <p:nvPr/>
        </p:nvCxnSpPr>
        <p:spPr>
          <a:xfrm>
            <a:off x="6111240" y="866336"/>
            <a:ext cx="0" cy="3888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oogle Shape;85;p17">
            <a:extLst>
              <a:ext uri="{FF2B5EF4-FFF2-40B4-BE49-F238E27FC236}">
                <a16:creationId xmlns:a16="http://schemas.microsoft.com/office/drawing/2014/main" id="{E9DE3E5C-C15E-44C6-3100-BEE8ACD4B86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/>
        </p:blipFill>
        <p:spPr>
          <a:xfrm>
            <a:off x="6757847" y="932026"/>
            <a:ext cx="1503671" cy="1149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FA24AE18-5162-B05B-E964-00DA602B2918}"/>
              </a:ext>
            </a:extLst>
          </p:cNvPr>
          <p:cNvSpPr txBox="1"/>
          <p:nvPr/>
        </p:nvSpPr>
        <p:spPr>
          <a:xfrm>
            <a:off x="6275187" y="2301494"/>
            <a:ext cx="26505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Within BD</a:t>
            </a:r>
          </a:p>
          <a:p>
            <a:endParaRPr lang="es-E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No sex differences in hand-use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Trend between BD subtypes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u="sng" dirty="0"/>
              <a:t>Atypical handedness </a:t>
            </a:r>
            <a:r>
              <a:rPr lang="es-ES" u="sng" dirty="0" err="1"/>
              <a:t>associated</a:t>
            </a:r>
            <a:r>
              <a:rPr lang="es-ES" u="sng" dirty="0"/>
              <a:t> to severity</a:t>
            </a:r>
          </a:p>
        </p:txBody>
      </p:sp>
      <p:sp>
        <p:nvSpPr>
          <p:cNvPr id="21" name="Marcador de número de diapositiva 20">
            <a:extLst>
              <a:ext uri="{FF2B5EF4-FFF2-40B4-BE49-F238E27FC236}">
                <a16:creationId xmlns:a16="http://schemas.microsoft.com/office/drawing/2014/main" id="{3773A158-BEA0-CE9D-2C36-43278964B6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400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D83F-237F-825E-60D4-7D36BB07B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8645A-39E5-A177-A23D-E84681FF4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5932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s-ES" dirty="0"/>
              <a:t>Severity scales by hand groups</a:t>
            </a:r>
          </a:p>
        </p:txBody>
      </p:sp>
      <p:sp>
        <p:nvSpPr>
          <p:cNvPr id="4" name="Google Shape;75;p15">
            <a:extLst>
              <a:ext uri="{FF2B5EF4-FFF2-40B4-BE49-F238E27FC236}">
                <a16:creationId xmlns:a16="http://schemas.microsoft.com/office/drawing/2014/main" id="{2F7A6AAF-430E-D8B9-BAFA-1CF79EF17ECB}"/>
              </a:ext>
            </a:extLst>
          </p:cNvPr>
          <p:cNvSpPr txBox="1"/>
          <p:nvPr/>
        </p:nvSpPr>
        <p:spPr>
          <a:xfrm>
            <a:off x="7387800" y="-382"/>
            <a:ext cx="1756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dirty="0">
                <a:solidFill>
                  <a:srgbClr val="999999"/>
                </a:solidFill>
              </a:rPr>
              <a:t>Results</a:t>
            </a:r>
            <a:endParaRPr sz="1500" dirty="0">
              <a:solidFill>
                <a:srgbClr val="999999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3211208-8C36-A086-5B52-A796658FE1F4}"/>
              </a:ext>
            </a:extLst>
          </p:cNvPr>
          <p:cNvSpPr/>
          <p:nvPr/>
        </p:nvSpPr>
        <p:spPr>
          <a:xfrm>
            <a:off x="0" y="4693984"/>
            <a:ext cx="2470355" cy="442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Mixed-handedness [-60, 60]</a:t>
            </a:r>
          </a:p>
        </p:txBody>
      </p:sp>
      <p:pic>
        <p:nvPicPr>
          <p:cNvPr id="19" name="Google Shape;85;p17">
            <a:extLst>
              <a:ext uri="{FF2B5EF4-FFF2-40B4-BE49-F238E27FC236}">
                <a16:creationId xmlns:a16="http://schemas.microsoft.com/office/drawing/2014/main" id="{9B9FFED7-7E96-DEC9-7F32-D3AE7EFFCF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/>
        </p:blipFill>
        <p:spPr>
          <a:xfrm>
            <a:off x="383635" y="1119374"/>
            <a:ext cx="1503671" cy="114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2;p21" title="Boxplot_WHODAS_over_thresholds.png">
            <a:extLst>
              <a:ext uri="{FF2B5EF4-FFF2-40B4-BE49-F238E27FC236}">
                <a16:creationId xmlns:a16="http://schemas.microsoft.com/office/drawing/2014/main" id="{704CC2F5-586D-37F2-0EB1-D7AF6C93E5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69670" t="6455" b="48349"/>
          <a:stretch>
            <a:fillRect/>
          </a:stretch>
        </p:blipFill>
        <p:spPr>
          <a:xfrm>
            <a:off x="4017883" y="951532"/>
            <a:ext cx="1503671" cy="20851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69DE88-D8DE-877E-2DA6-7B5F6046BC29}"/>
              </a:ext>
            </a:extLst>
          </p:cNvPr>
          <p:cNvSpPr txBox="1"/>
          <p:nvPr/>
        </p:nvSpPr>
        <p:spPr>
          <a:xfrm>
            <a:off x="2141585" y="1558067"/>
            <a:ext cx="20860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WHODAS</a:t>
            </a:r>
          </a:p>
          <a:p>
            <a:pPr algn="ctr"/>
            <a:r>
              <a:rPr lang="es-ES" dirty="0"/>
              <a:t>WHO Disability Assessment Schedule</a:t>
            </a:r>
          </a:p>
          <a:p>
            <a:pPr algn="ctr"/>
            <a:r>
              <a:rPr lang="es-ES" b="1" i="1" dirty="0"/>
              <a:t>P=0.01*</a:t>
            </a:r>
          </a:p>
        </p:txBody>
      </p:sp>
      <p:pic>
        <p:nvPicPr>
          <p:cNvPr id="6" name="Google Shape;142;p22" title="Boxplot_GAF_over_thresholds.png">
            <a:extLst>
              <a:ext uri="{FF2B5EF4-FFF2-40B4-BE49-F238E27FC236}">
                <a16:creationId xmlns:a16="http://schemas.microsoft.com/office/drawing/2014/main" id="{6728082F-B8A0-B984-A295-3961F0CA36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8558" t="6859" r="-1" b="47050"/>
          <a:stretch>
            <a:fillRect/>
          </a:stretch>
        </p:blipFill>
        <p:spPr>
          <a:xfrm>
            <a:off x="3992313" y="3140600"/>
            <a:ext cx="1665701" cy="19718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BA46921-7C10-2DD9-E752-EFA3010D80E0}"/>
              </a:ext>
            </a:extLst>
          </p:cNvPr>
          <p:cNvSpPr txBox="1"/>
          <p:nvPr/>
        </p:nvSpPr>
        <p:spPr>
          <a:xfrm>
            <a:off x="2277813" y="3585433"/>
            <a:ext cx="1813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GAF</a:t>
            </a:r>
          </a:p>
          <a:p>
            <a:pPr algn="ctr"/>
            <a:r>
              <a:rPr lang="es-ES" dirty="0"/>
              <a:t>Global Assessment of Functioning</a:t>
            </a:r>
          </a:p>
          <a:p>
            <a:pPr algn="ctr"/>
            <a:r>
              <a:rPr lang="es-ES" b="1" i="1" dirty="0"/>
              <a:t>P=0.01*</a:t>
            </a:r>
          </a:p>
        </p:txBody>
      </p:sp>
      <p:pic>
        <p:nvPicPr>
          <p:cNvPr id="10" name="Google Shape;152;p23" title="Boxplot_INES__over_thresholds.png">
            <a:extLst>
              <a:ext uri="{FF2B5EF4-FFF2-40B4-BE49-F238E27FC236}">
                <a16:creationId xmlns:a16="http://schemas.microsoft.com/office/drawing/2014/main" id="{D16FAC4A-EC61-2DFD-D229-1D2382FFC0A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8373" t="6683" b="46993"/>
          <a:stretch>
            <a:fillRect/>
          </a:stretch>
        </p:blipFill>
        <p:spPr>
          <a:xfrm>
            <a:off x="7122994" y="959515"/>
            <a:ext cx="1813559" cy="20851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A5C8925-CD05-757B-899B-82F113C50BEA}"/>
              </a:ext>
            </a:extLst>
          </p:cNvPr>
          <p:cNvSpPr txBox="1"/>
          <p:nvPr/>
        </p:nvSpPr>
        <p:spPr>
          <a:xfrm>
            <a:off x="5443134" y="1676764"/>
            <a:ext cx="1813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INES</a:t>
            </a:r>
          </a:p>
          <a:p>
            <a:pPr algn="ctr"/>
            <a:r>
              <a:rPr lang="es-ES" dirty="0"/>
              <a:t>Index of Number of Events and Severity</a:t>
            </a:r>
          </a:p>
          <a:p>
            <a:pPr algn="ctr"/>
            <a:r>
              <a:rPr lang="es-ES" b="1" i="1" dirty="0"/>
              <a:t>P=0.007**</a:t>
            </a:r>
          </a:p>
        </p:txBody>
      </p:sp>
      <p:pic>
        <p:nvPicPr>
          <p:cNvPr id="14" name="Google Shape;163;p24" title="Boxplot_CGI_over_thresholds.png">
            <a:extLst>
              <a:ext uri="{FF2B5EF4-FFF2-40B4-BE49-F238E27FC236}">
                <a16:creationId xmlns:a16="http://schemas.microsoft.com/office/drawing/2014/main" id="{CDF80EC1-FF9F-A748-16D8-59E0E59BE8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67333" t="6781" b="47105"/>
          <a:stretch>
            <a:fillRect/>
          </a:stretch>
        </p:blipFill>
        <p:spPr>
          <a:xfrm>
            <a:off x="7196922" y="3046459"/>
            <a:ext cx="1665701" cy="2066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D8D8F779-0EAE-B67A-1386-680A06F44F6C}"/>
              </a:ext>
            </a:extLst>
          </p:cNvPr>
          <p:cNvSpPr txBox="1"/>
          <p:nvPr/>
        </p:nvSpPr>
        <p:spPr>
          <a:xfrm>
            <a:off x="5574894" y="3546419"/>
            <a:ext cx="1813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CGI</a:t>
            </a:r>
          </a:p>
          <a:p>
            <a:pPr algn="ctr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Clinical Global Impression</a:t>
            </a:r>
          </a:p>
          <a:p>
            <a:pPr algn="ctr"/>
            <a:r>
              <a:rPr lang="es-E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P=0.1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3E4AD1-97DB-E049-E411-0CD03F7B91EA}"/>
              </a:ext>
            </a:extLst>
          </p:cNvPr>
          <p:cNvSpPr txBox="1"/>
          <p:nvPr/>
        </p:nvSpPr>
        <p:spPr>
          <a:xfrm>
            <a:off x="237770" y="2268448"/>
            <a:ext cx="196611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N= 284-342</a:t>
            </a:r>
          </a:p>
          <a:p>
            <a:endParaRPr lang="es-ES" dirty="0"/>
          </a:p>
          <a:p>
            <a:r>
              <a:rPr lang="es-ES" dirty="0"/>
              <a:t>Test of proportions:</a:t>
            </a:r>
          </a:p>
          <a:p>
            <a:r>
              <a:rPr lang="es-ES" dirty="0"/>
              <a:t>Mixed-handed vs lateralized (left + right)</a:t>
            </a:r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070D4214-0407-8BCE-3B40-54BC0041B7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1687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E1248-A1EA-5282-B660-1A3C0AD0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Discussion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DCAE91-7D1B-9277-414E-C40DDAC17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92298"/>
            <a:ext cx="3879300" cy="24143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BD </a:t>
            </a:r>
            <a:r>
              <a:rPr lang="es-ES" dirty="0" err="1">
                <a:solidFill>
                  <a:schemeClr val="tx1"/>
                </a:solidFill>
              </a:rPr>
              <a:t>subgroups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present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different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handedness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 err="1">
                <a:solidFill>
                  <a:schemeClr val="tx1"/>
                </a:solidFill>
              </a:rPr>
              <a:t>patterns</a:t>
            </a:r>
            <a:endParaRPr lang="es-E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Lack </a:t>
            </a:r>
            <a:r>
              <a:rPr lang="es-ES" dirty="0" err="1">
                <a:solidFill>
                  <a:schemeClr val="tx1"/>
                </a:solidFill>
              </a:rPr>
              <a:t>of</a:t>
            </a:r>
            <a:r>
              <a:rPr lang="es-ES" dirty="0">
                <a:solidFill>
                  <a:schemeClr val="tx1"/>
                </a:solidFill>
              </a:rPr>
              <a:t> sex </a:t>
            </a:r>
            <a:r>
              <a:rPr lang="es-ES" dirty="0" err="1">
                <a:solidFill>
                  <a:schemeClr val="tx1"/>
                </a:solidFill>
              </a:rPr>
              <a:t>differences</a:t>
            </a:r>
            <a:r>
              <a:rPr lang="es-ES" dirty="0">
                <a:solidFill>
                  <a:schemeClr val="tx1"/>
                </a:solidFill>
              </a:rPr>
              <a:t> in </a:t>
            </a:r>
            <a:r>
              <a:rPr lang="es-ES" dirty="0" err="1">
                <a:solidFill>
                  <a:schemeClr val="tx1"/>
                </a:solidFill>
              </a:rPr>
              <a:t>handedness</a:t>
            </a:r>
            <a:r>
              <a:rPr lang="es-ES" dirty="0">
                <a:solidFill>
                  <a:schemeClr val="tx1"/>
                </a:solidFill>
              </a:rPr>
              <a:t> in BD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tx1"/>
                </a:solidFill>
              </a:rPr>
              <a:t>Next step: </a:t>
            </a:r>
            <a:r>
              <a:rPr lang="es-ES" dirty="0" err="1">
                <a:solidFill>
                  <a:schemeClr val="tx1"/>
                </a:solidFill>
              </a:rPr>
              <a:t>integrate</a:t>
            </a:r>
            <a:r>
              <a:rPr lang="es-ES" dirty="0">
                <a:solidFill>
                  <a:schemeClr val="tx1"/>
                </a:solidFill>
              </a:rPr>
              <a:t> PGS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86EBFE-C4B2-DC08-237A-616ADA275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8</a:t>
            </a:fld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8249C4-9AEB-9344-2380-6BC6D4D5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61" r="12586"/>
          <a:stretch>
            <a:fillRect/>
          </a:stretch>
        </p:blipFill>
        <p:spPr>
          <a:xfrm>
            <a:off x="4294414" y="955327"/>
            <a:ext cx="3957608" cy="3324975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414AC705-8ABC-E64B-9A7A-406F860458FD}"/>
              </a:ext>
            </a:extLst>
          </p:cNvPr>
          <p:cNvGrpSpPr/>
          <p:nvPr/>
        </p:nvGrpSpPr>
        <p:grpSpPr>
          <a:xfrm>
            <a:off x="8173715" y="2437881"/>
            <a:ext cx="998149" cy="523220"/>
            <a:chOff x="8173715" y="2437881"/>
            <a:chExt cx="998149" cy="52322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DF3479AD-32AD-4C86-B781-FC45718C6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7882" t="47670" r="7475" b="41611"/>
            <a:stretch>
              <a:fillRect/>
            </a:stretch>
          </p:blipFill>
          <p:spPr>
            <a:xfrm>
              <a:off x="8173715" y="2437881"/>
              <a:ext cx="298744" cy="490564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F261F43-ECAC-7B0D-E500-B6EBC7303750}"/>
                </a:ext>
              </a:extLst>
            </p:cNvPr>
            <p:cNvSpPr txBox="1"/>
            <p:nvPr/>
          </p:nvSpPr>
          <p:spPr>
            <a:xfrm>
              <a:off x="8379928" y="2437881"/>
              <a:ext cx="7919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Control</a:t>
              </a:r>
            </a:p>
            <a:p>
              <a:r>
                <a:rPr lang="es-ES" dirty="0"/>
                <a:t>BD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330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3F0C8-4C78-79B5-1F4E-9351BB2B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150850"/>
            <a:ext cx="8520600" cy="1171470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Thank</a:t>
            </a:r>
            <a:r>
              <a:rPr lang="es-ES" dirty="0"/>
              <a:t> you for </a:t>
            </a:r>
            <a:r>
              <a:rPr lang="es-ES" dirty="0" err="1"/>
              <a:t>your</a:t>
            </a:r>
            <a:r>
              <a:rPr lang="es-ES" dirty="0"/>
              <a:t> </a:t>
            </a:r>
            <a:r>
              <a:rPr lang="es-ES" dirty="0" err="1"/>
              <a:t>attention</a:t>
            </a:r>
            <a:r>
              <a:rPr lang="es-ES" dirty="0"/>
              <a:t>!</a:t>
            </a:r>
            <a:br>
              <a:rPr lang="es-ES" dirty="0"/>
            </a:br>
            <a:r>
              <a:rPr lang="es-ES" dirty="0"/>
              <a:t>Any </a:t>
            </a:r>
            <a:r>
              <a:rPr lang="es-ES" dirty="0" err="1"/>
              <a:t>questions</a:t>
            </a:r>
            <a:r>
              <a:rPr lang="es-E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2058052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</TotalTime>
  <Words>464</Words>
  <Application>Microsoft Office PowerPoint</Application>
  <PresentationFormat>Presentación en pantalla (16:9)</PresentationFormat>
  <Paragraphs>123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Atypical handedness in bipolar disorder: a genetic and clinical study </vt:lpstr>
      <vt:lpstr>Handedness in general population</vt:lpstr>
      <vt:lpstr>Handedness in neurodevelopmental and psychiatric disorders</vt:lpstr>
      <vt:lpstr>Edinburgh Handedness Inventory</vt:lpstr>
      <vt:lpstr>MadManic cohort</vt:lpstr>
      <vt:lpstr>Exploratory prevalence analysis</vt:lpstr>
      <vt:lpstr>Severity scales by hand groups</vt:lpstr>
      <vt:lpstr>Discussion</vt:lpstr>
      <vt:lpstr>Thank you for your attention!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Atypical handedness in bipolar disorder: a genetic and clinical study </dc:title>
  <cp:lastModifiedBy>CBM</cp:lastModifiedBy>
  <cp:revision>10</cp:revision>
  <dcterms:modified xsi:type="dcterms:W3CDTF">2026-07-29T10:38:13Z</dcterms:modified>
</cp:coreProperties>
</file>