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8" r:id="rId4"/>
    <p:sldId id="257" r:id="rId5"/>
    <p:sldId id="259" r:id="rId6"/>
    <p:sldId id="260" r:id="rId7"/>
    <p:sldId id="261" r:id="rId8"/>
    <p:sldId id="266" r:id="rId9"/>
    <p:sldId id="262" r:id="rId10"/>
    <p:sldId id="263" r:id="rId11"/>
    <p:sldId id="264" r:id="rId12"/>
    <p:sldId id="265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5428" userDrawn="1">
          <p15:clr>
            <a:srgbClr val="A4A3A4"/>
          </p15:clr>
        </p15:guide>
        <p15:guide id="3" pos="3318" userDrawn="1">
          <p15:clr>
            <a:srgbClr val="A4A3A4"/>
          </p15:clr>
        </p15:guide>
        <p15:guide id="4" pos="75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678" y="108"/>
      </p:cViewPr>
      <p:guideLst>
        <p:guide orient="horz" pos="2160"/>
        <p:guide pos="5428"/>
        <p:guide pos="3318"/>
        <p:guide pos="75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B6AF46-4ED5-4A87-8D9F-D0A79E912F4D}" type="datetimeFigureOut">
              <a:rPr lang="en-GB" smtClean="0"/>
              <a:t>29/07/2026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6053207" y="4884354"/>
            <a:ext cx="1470722" cy="430887"/>
          </a:xfrm>
          <a:prstGeom prst="rect">
            <a:avLst/>
          </a:prstGeom>
          <a:ln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AU" sz="2200" dirty="0"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6158628" y="1468674"/>
            <a:ext cx="923503" cy="430887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AU" sz="2200" b="1" dirty="0"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35" descr="Crazy symbol imágenes de stock de arte vectorial | Depositphoto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75" t="8802" r="17584" b="15007"/>
          <a:stretch>
            <a:fillRect/>
          </a:stretch>
        </p:blipFill>
        <p:spPr bwMode="auto">
          <a:xfrm>
            <a:off x="4767522" y="1095762"/>
            <a:ext cx="335744" cy="352659"/>
          </a:xfrm>
          <a:custGeom>
            <a:avLst/>
            <a:gdLst>
              <a:gd name="connsiteX0" fmla="*/ 700184 w 1400368"/>
              <a:gd name="connsiteY0" fmla="*/ 0 h 1676400"/>
              <a:gd name="connsiteX1" fmla="*/ 1400368 w 1400368"/>
              <a:gd name="connsiteY1" fmla="*/ 838200 h 1676400"/>
              <a:gd name="connsiteX2" fmla="*/ 700184 w 1400368"/>
              <a:gd name="connsiteY2" fmla="*/ 1676400 h 1676400"/>
              <a:gd name="connsiteX3" fmla="*/ 0 w 1400368"/>
              <a:gd name="connsiteY3" fmla="*/ 838200 h 1676400"/>
              <a:gd name="connsiteX4" fmla="*/ 700184 w 1400368"/>
              <a:gd name="connsiteY4" fmla="*/ 0 h 167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0368" h="1676400">
                <a:moveTo>
                  <a:pt x="700184" y="0"/>
                </a:moveTo>
                <a:cubicBezTo>
                  <a:pt x="1086885" y="0"/>
                  <a:pt x="1400368" y="375275"/>
                  <a:pt x="1400368" y="838200"/>
                </a:cubicBezTo>
                <a:cubicBezTo>
                  <a:pt x="1400368" y="1301125"/>
                  <a:pt x="1086885" y="1676400"/>
                  <a:pt x="700184" y="1676400"/>
                </a:cubicBezTo>
                <a:cubicBezTo>
                  <a:pt x="313483" y="1676400"/>
                  <a:pt x="0" y="1301125"/>
                  <a:pt x="0" y="838200"/>
                </a:cubicBezTo>
                <a:cubicBezTo>
                  <a:pt x="0" y="375275"/>
                  <a:pt x="313483" y="0"/>
                  <a:pt x="70018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53" descr="Crazy symbol imágenes de stock de arte vectorial | Depositphotos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75" t="8802" r="17584" b="15007"/>
          <a:stretch>
            <a:fillRect/>
          </a:stretch>
        </p:blipFill>
        <p:spPr bwMode="auto">
          <a:xfrm>
            <a:off x="4038465" y="2000141"/>
            <a:ext cx="335744" cy="352659"/>
          </a:xfrm>
          <a:custGeom>
            <a:avLst/>
            <a:gdLst>
              <a:gd name="connsiteX0" fmla="*/ 700184 w 1400368"/>
              <a:gd name="connsiteY0" fmla="*/ 0 h 1676400"/>
              <a:gd name="connsiteX1" fmla="*/ 1400368 w 1400368"/>
              <a:gd name="connsiteY1" fmla="*/ 838200 h 1676400"/>
              <a:gd name="connsiteX2" fmla="*/ 700184 w 1400368"/>
              <a:gd name="connsiteY2" fmla="*/ 1676400 h 1676400"/>
              <a:gd name="connsiteX3" fmla="*/ 0 w 1400368"/>
              <a:gd name="connsiteY3" fmla="*/ 838200 h 1676400"/>
              <a:gd name="connsiteX4" fmla="*/ 700184 w 1400368"/>
              <a:gd name="connsiteY4" fmla="*/ 0 h 167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00368" h="1676400">
                <a:moveTo>
                  <a:pt x="700184" y="0"/>
                </a:moveTo>
                <a:cubicBezTo>
                  <a:pt x="1086885" y="0"/>
                  <a:pt x="1400368" y="375275"/>
                  <a:pt x="1400368" y="838200"/>
                </a:cubicBezTo>
                <a:cubicBezTo>
                  <a:pt x="1400368" y="1301125"/>
                  <a:pt x="1086885" y="1676400"/>
                  <a:pt x="700184" y="1676400"/>
                </a:cubicBezTo>
                <a:cubicBezTo>
                  <a:pt x="313483" y="1676400"/>
                  <a:pt x="0" y="1301125"/>
                  <a:pt x="0" y="838200"/>
                </a:cubicBezTo>
                <a:cubicBezTo>
                  <a:pt x="0" y="375275"/>
                  <a:pt x="313483" y="0"/>
                  <a:pt x="70018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67"/>
          <p:cNvSpPr txBox="1"/>
          <p:nvPr/>
        </p:nvSpPr>
        <p:spPr>
          <a:xfrm>
            <a:off x="3669794" y="1491691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620882" y="1375570"/>
            <a:ext cx="3384053" cy="817214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800" b="1" dirty="0">
                <a:solidFill>
                  <a:schemeClr val="tx1"/>
                </a:solidFill>
              </a:rPr>
              <a:t>Heritability: 80</a:t>
            </a:r>
            <a:r>
              <a:rPr lang="es-ES" sz="2800" b="1" dirty="0" smtClean="0">
                <a:solidFill>
                  <a:schemeClr val="tx1"/>
                </a:solidFill>
              </a:rPr>
              <a:t>%</a:t>
            </a:r>
            <a:endParaRPr lang="es-ES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258618" y="1078972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258618" y="563176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9AC7DFD-5540-8C9B-D578-4C74605103ED}"/>
              </a:ext>
            </a:extLst>
          </p:cNvPr>
          <p:cNvSpPr txBox="1"/>
          <p:nvPr/>
        </p:nvSpPr>
        <p:spPr>
          <a:xfrm>
            <a:off x="5623623" y="4918645"/>
            <a:ext cx="250891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Schizophrenia </a:t>
            </a:r>
            <a:r>
              <a:rPr lang="es-ES" sz="2000" dirty="0"/>
              <a:t>(SCZ)</a:t>
            </a:r>
          </a:p>
          <a:p>
            <a:pPr algn="ctr"/>
            <a:r>
              <a:rPr lang="es-ES" sz="2000" dirty="0"/>
              <a:t>Left-</a:t>
            </a:r>
            <a:r>
              <a:rPr lang="en-US" sz="2000" noProof="0" dirty="0"/>
              <a:t>handed</a:t>
            </a:r>
            <a:r>
              <a:rPr lang="es-ES" sz="2000" dirty="0"/>
              <a:t>: ~20%</a:t>
            </a:r>
          </a:p>
          <a:p>
            <a:pPr algn="ctr"/>
            <a:r>
              <a:rPr lang="es-ES" sz="2000" dirty="0"/>
              <a:t>NRH: ~35%</a:t>
            </a:r>
            <a:r>
              <a:rPr lang="es-ES" sz="2000" b="1" dirty="0"/>
              <a:t>**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5D3924B-DEC9-564D-4C1E-F41BB1233C68}"/>
              </a:ext>
            </a:extLst>
          </p:cNvPr>
          <p:cNvSpPr txBox="1"/>
          <p:nvPr/>
        </p:nvSpPr>
        <p:spPr>
          <a:xfrm>
            <a:off x="9067648" y="4273799"/>
            <a:ext cx="2447221" cy="707886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Bipolar disorder </a:t>
            </a:r>
            <a:r>
              <a:rPr lang="es-ES" sz="2000" dirty="0"/>
              <a:t>(BD)</a:t>
            </a:r>
          </a:p>
          <a:p>
            <a:pPr algn="ctr"/>
            <a:r>
              <a:rPr lang="es-ES" sz="2000" dirty="0"/>
              <a:t>???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B208FE0-A252-3BEE-7248-5F6ECD1E8CE2}"/>
              </a:ext>
            </a:extLst>
          </p:cNvPr>
          <p:cNvSpPr txBox="1"/>
          <p:nvPr/>
        </p:nvSpPr>
        <p:spPr>
          <a:xfrm>
            <a:off x="9180170" y="3161344"/>
            <a:ext cx="22221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Depression</a:t>
            </a:r>
            <a:r>
              <a:rPr lang="es-ES" dirty="0"/>
              <a:t> (DEP)</a:t>
            </a:r>
          </a:p>
          <a:p>
            <a:pPr algn="ctr"/>
            <a:r>
              <a:rPr lang="es-ES" dirty="0"/>
              <a:t>NRH: 18</a:t>
            </a:r>
            <a:r>
              <a:rPr lang="es-ES" dirty="0" smtClean="0"/>
              <a:t>%</a:t>
            </a:r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82C21-CFEB-F5F2-0204-426DA9DE4F6F}"/>
              </a:ext>
            </a:extLst>
          </p:cNvPr>
          <p:cNvSpPr txBox="1"/>
          <p:nvPr/>
        </p:nvSpPr>
        <p:spPr>
          <a:xfrm>
            <a:off x="5791436" y="3764137"/>
            <a:ext cx="2173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Autism </a:t>
            </a:r>
            <a:r>
              <a:rPr lang="es-ES" dirty="0"/>
              <a:t>(ASD)</a:t>
            </a:r>
          </a:p>
          <a:p>
            <a:pPr algn="ctr"/>
            <a:r>
              <a:rPr lang="es-ES" dirty="0"/>
              <a:t>NRH: ~35</a:t>
            </a:r>
            <a:r>
              <a:rPr lang="es-ES" dirty="0" smtClean="0"/>
              <a:t>%</a:t>
            </a:r>
            <a:r>
              <a:rPr lang="es-ES" b="1" dirty="0" smtClean="0"/>
              <a:t>**</a:t>
            </a:r>
            <a:endParaRPr lang="es-ES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5927845" y="2923450"/>
            <a:ext cx="19004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ADHD</a:t>
            </a:r>
          </a:p>
          <a:p>
            <a:pPr algn="ctr"/>
            <a:r>
              <a:rPr lang="es-ES" dirty="0"/>
              <a:t>NRH: ~25%</a:t>
            </a:r>
            <a:r>
              <a:rPr lang="es-ES" b="1" dirty="0"/>
              <a:t>*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8990723" y="5241811"/>
            <a:ext cx="2601069" cy="120032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s-ES" sz="1800" u="sng" dirty="0"/>
              <a:t>No concordant pattern:</a:t>
            </a:r>
          </a:p>
          <a:p>
            <a:r>
              <a:rPr lang="es-ES" sz="1800" dirty="0"/>
              <a:t>Small sample sizes</a:t>
            </a:r>
          </a:p>
          <a:p>
            <a:r>
              <a:rPr lang="es-ES" sz="1800" dirty="0"/>
              <a:t>Lack of clinical data</a:t>
            </a:r>
          </a:p>
          <a:p>
            <a:r>
              <a:rPr lang="es-ES" sz="1800" dirty="0"/>
              <a:t>Diverse measurements</a:t>
            </a:r>
          </a:p>
        </p:txBody>
      </p:sp>
      <p:sp>
        <p:nvSpPr>
          <p:cNvPr id="3" name="CuadroTexto 2"/>
          <p:cNvSpPr txBox="1"/>
          <p:nvPr/>
        </p:nvSpPr>
        <p:spPr>
          <a:xfrm>
            <a:off x="6111212" y="1746093"/>
            <a:ext cx="5151175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&gt; NRH in disorders </a:t>
            </a:r>
            <a:r>
              <a:rPr lang="es-ES" sz="2400" b="1" dirty="0" err="1" smtClean="0"/>
              <a:t>with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early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age</a:t>
            </a:r>
            <a:r>
              <a:rPr lang="es-ES" sz="2400" b="1" dirty="0" smtClean="0"/>
              <a:t> of </a:t>
            </a:r>
            <a:r>
              <a:rPr lang="es-ES" sz="2400" b="1" dirty="0" err="1" smtClean="0"/>
              <a:t>onset</a:t>
            </a:r>
            <a:r>
              <a:rPr lang="es-ES" sz="2400" b="1" dirty="0" smtClean="0"/>
              <a:t> and more </a:t>
            </a:r>
            <a:r>
              <a:rPr lang="es-ES" sz="2400" b="1" dirty="0" err="1" smtClean="0"/>
              <a:t>prevalence</a:t>
            </a:r>
            <a:r>
              <a:rPr lang="es-ES" sz="2400" b="1" dirty="0" smtClean="0"/>
              <a:t> in males</a:t>
            </a:r>
            <a:endParaRPr lang="en-GB" sz="2400" b="1" dirty="0"/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70727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711730" y="1812174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99500" y="2443942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2610196" y="4741963"/>
            <a:ext cx="1579419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= 25%</a:t>
            </a:r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Open 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195568"/>
            <a:chOff x="5267325" y="5440659"/>
            <a:chExt cx="6697662" cy="1195568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5876638" y="6113007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9617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37347" y="5447849"/>
                <a:ext cx="327640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607914" y="6045541"/>
              <a:ext cx="268724" cy="329076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7666269" y="6045541"/>
              <a:ext cx="3936865" cy="402884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37347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25028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err="1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" name="Imagen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2902" y="148527"/>
            <a:ext cx="2105609" cy="2294635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339081" y="6234004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44810" y="2872486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9971415" y="2851021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242300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2423004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</a:t>
            </a:r>
            <a:r>
              <a:rPr lang="es-ES" sz="2400" b="1" dirty="0" err="1" smtClean="0"/>
              <a:t>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287214" y="529493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2024740"/>
            <a:ext cx="294759" cy="3894242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" name="Conector recto de flecha 17"/>
          <p:cNvCxnSpPr/>
          <p:nvPr/>
        </p:nvCxnSpPr>
        <p:spPr>
          <a:xfrm>
            <a:off x="10979173" y="3933771"/>
            <a:ext cx="17755" cy="1316381"/>
          </a:xfrm>
          <a:prstGeom prst="straightConnector1">
            <a:avLst/>
          </a:prstGeom>
          <a:ln w="5715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/>
          <p:cNvSpPr txBox="1"/>
          <p:nvPr/>
        </p:nvSpPr>
        <p:spPr>
          <a:xfrm>
            <a:off x="8172859" y="4164024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NRH in </a:t>
            </a:r>
            <a:r>
              <a:rPr lang="es-ES" dirty="0" err="1" smtClean="0"/>
              <a:t>Spanish</a:t>
            </a:r>
            <a:r>
              <a:rPr lang="es-ES" dirty="0" smtClean="0"/>
              <a:t> </a:t>
            </a:r>
            <a:r>
              <a:rPr lang="es-ES" dirty="0" err="1" smtClean="0"/>
              <a:t>population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Demographics</a:t>
            </a:r>
            <a:r>
              <a:rPr lang="es-ES" dirty="0" smtClean="0"/>
              <a:t> and </a:t>
            </a:r>
            <a:r>
              <a:rPr lang="es-ES" dirty="0" err="1" smtClean="0"/>
              <a:t>need</a:t>
            </a:r>
            <a:r>
              <a:rPr lang="es-ES" dirty="0" smtClean="0"/>
              <a:t> of </a:t>
            </a:r>
            <a:r>
              <a:rPr lang="es-ES" dirty="0" err="1" smtClean="0"/>
              <a:t>age</a:t>
            </a:r>
            <a:r>
              <a:rPr lang="es-ES" dirty="0" smtClean="0"/>
              <a:t> match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18094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Case-control </a:t>
            </a:r>
            <a:r>
              <a:rPr lang="es-ES" dirty="0" err="1" smtClean="0"/>
              <a:t>handedness</a:t>
            </a:r>
            <a:r>
              <a:rPr lang="es-ES" dirty="0" smtClean="0"/>
              <a:t> </a:t>
            </a:r>
            <a:r>
              <a:rPr lang="es-ES" dirty="0" err="1" smtClean="0"/>
              <a:t>study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Within</a:t>
            </a:r>
            <a:r>
              <a:rPr lang="es-ES" dirty="0" smtClean="0"/>
              <a:t> BD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PRS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Discussion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 smtClean="0"/>
              <a:t>Acknowledgements</a:t>
            </a:r>
            <a:endParaRPr lang="en-GB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240029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273</Words>
  <Application>Microsoft Office PowerPoint</Application>
  <PresentationFormat>Panorámica</PresentationFormat>
  <Paragraphs>79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Tema de Office</vt:lpstr>
      <vt:lpstr>Atypical handedness as a marker of altered brain lateralization: genetic and clinical study in bipolar disorder</vt:lpstr>
      <vt:lpstr>Bipolar disorder</vt:lpstr>
      <vt:lpstr>Handedness in neurodevelopmental/psychiatric disorders</vt:lpstr>
      <vt:lpstr>Handedness in general population</vt:lpstr>
      <vt:lpstr>Edinburgh Handedness Inventory</vt:lpstr>
      <vt:lpstr>MadManic cohort</vt:lpstr>
      <vt:lpstr>NRH in Spanish population</vt:lpstr>
      <vt:lpstr>Demographics and need of age match</vt:lpstr>
      <vt:lpstr>Case-control handedness study</vt:lpstr>
      <vt:lpstr>Within BD</vt:lpstr>
      <vt:lpstr>PRS</vt:lpstr>
      <vt:lpstr>Discussion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16</cp:revision>
  <dcterms:created xsi:type="dcterms:W3CDTF">2026-06-30T10:32:29Z</dcterms:created>
  <dcterms:modified xsi:type="dcterms:W3CDTF">2026-07-29T10:38:06Z</dcterms:modified>
</cp:coreProperties>
</file>