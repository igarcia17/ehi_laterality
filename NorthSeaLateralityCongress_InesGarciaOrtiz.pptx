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8" r:id="rId4"/>
    <p:sldId id="257" r:id="rId5"/>
    <p:sldId id="259" r:id="rId6"/>
    <p:sldId id="260" r:id="rId7"/>
    <p:sldId id="270" r:id="rId8"/>
    <p:sldId id="261" r:id="rId9"/>
    <p:sldId id="262" r:id="rId10"/>
    <p:sldId id="263" r:id="rId11"/>
    <p:sldId id="264" r:id="rId12"/>
    <p:sldId id="265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428" userDrawn="1">
          <p15:clr>
            <a:srgbClr val="A4A3A4"/>
          </p15:clr>
        </p15:guide>
        <p15:guide id="3" pos="1209" userDrawn="1">
          <p15:clr>
            <a:srgbClr val="A4A3A4"/>
          </p15:clr>
        </p15:guide>
        <p15:guide id="4" pos="75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678" y="138"/>
      </p:cViewPr>
      <p:guideLst>
        <p:guide orient="horz" pos="2160"/>
        <p:guide pos="5428"/>
        <p:guide pos="1209"/>
        <p:guide pos="75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6AF46-4ED5-4A87-8D9F-D0A79E912F4D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eg"/><Relationship Id="rId3" Type="http://schemas.openxmlformats.org/officeDocument/2006/relationships/image" Target="../media/image14.png"/><Relationship Id="rId7" Type="http://schemas.openxmlformats.org/officeDocument/2006/relationships/image" Target="../media/image18.jpg"/><Relationship Id="rId12" Type="http://schemas.openxmlformats.org/officeDocument/2006/relationships/image" Target="../media/image2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11" Type="http://schemas.openxmlformats.org/officeDocument/2006/relationships/image" Target="../media/image22.jpeg"/><Relationship Id="rId5" Type="http://schemas.openxmlformats.org/officeDocument/2006/relationships/image" Target="../media/image16.jpeg"/><Relationship Id="rId10" Type="http://schemas.openxmlformats.org/officeDocument/2006/relationships/image" Target="../media/image21.png"/><Relationship Id="rId4" Type="http://schemas.openxmlformats.org/officeDocument/2006/relationships/image" Target="../media/image15.jpeg"/><Relationship Id="rId9" Type="http://schemas.openxmlformats.org/officeDocument/2006/relationships/image" Target="../media/image2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Heritability: 80</a:t>
            </a:r>
            <a:r>
              <a:rPr lang="es-ES" sz="2000" b="1" dirty="0" smtClean="0">
                <a:solidFill>
                  <a:schemeClr val="tx1"/>
                </a:solidFill>
              </a:rPr>
              <a:t>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err="1" smtClean="0">
                <a:solidFill>
                  <a:schemeClr val="tx1"/>
                </a:solidFill>
              </a:rPr>
              <a:t>Prevalence</a:t>
            </a:r>
            <a:r>
              <a:rPr lang="es-ES" sz="2000" b="1" dirty="0" smtClean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smtClean="0">
                <a:solidFill>
                  <a:schemeClr val="tx1"/>
                </a:solidFill>
              </a:rPr>
              <a:t>50% </a:t>
            </a:r>
            <a:r>
              <a:rPr lang="es-ES" sz="2000" b="1" dirty="0" err="1" smtClean="0">
                <a:solidFill>
                  <a:schemeClr val="tx1"/>
                </a:solidFill>
              </a:rPr>
              <a:t>suicidal</a:t>
            </a:r>
            <a:r>
              <a:rPr lang="es-ES" sz="2000" b="1" dirty="0" smtClean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behaviour</a:t>
            </a: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/>
              <a:t>Suicide behaviour</a:t>
            </a:r>
            <a:endParaRPr lang="en-AU" b="1" dirty="0"/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258618" y="1078972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258618" y="563176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9AC7DFD-5540-8C9B-D578-4C74605103ED}"/>
              </a:ext>
            </a:extLst>
          </p:cNvPr>
          <p:cNvSpPr txBox="1"/>
          <p:nvPr/>
        </p:nvSpPr>
        <p:spPr>
          <a:xfrm>
            <a:off x="5623623" y="4918645"/>
            <a:ext cx="250891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Schizophrenia </a:t>
            </a:r>
            <a:r>
              <a:rPr lang="es-ES" sz="2000" dirty="0"/>
              <a:t>(SCZ)</a:t>
            </a:r>
          </a:p>
          <a:p>
            <a:pPr algn="ctr"/>
            <a:r>
              <a:rPr lang="es-ES" sz="2000" dirty="0"/>
              <a:t>Left-</a:t>
            </a:r>
            <a:r>
              <a:rPr lang="en-US" sz="2000" noProof="0" dirty="0"/>
              <a:t>handed</a:t>
            </a:r>
            <a:r>
              <a:rPr lang="es-ES" sz="2000" dirty="0"/>
              <a:t>: ~20%</a:t>
            </a:r>
          </a:p>
          <a:p>
            <a:pPr algn="ctr"/>
            <a:r>
              <a:rPr lang="es-ES" sz="2000" dirty="0"/>
              <a:t>NRH: ~35%</a:t>
            </a:r>
            <a:r>
              <a:rPr lang="es-ES" sz="2000" b="1" dirty="0"/>
              <a:t>**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5D3924B-DEC9-564D-4C1E-F41BB1233C68}"/>
              </a:ext>
            </a:extLst>
          </p:cNvPr>
          <p:cNvSpPr txBox="1"/>
          <p:nvPr/>
        </p:nvSpPr>
        <p:spPr>
          <a:xfrm>
            <a:off x="9067648" y="4273799"/>
            <a:ext cx="2447221" cy="7078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Bipolar disorder </a:t>
            </a:r>
            <a:r>
              <a:rPr lang="es-ES" sz="2000" dirty="0"/>
              <a:t>(BD)</a:t>
            </a:r>
          </a:p>
          <a:p>
            <a:pPr algn="ctr"/>
            <a:r>
              <a:rPr lang="es-ES" sz="2000" dirty="0"/>
              <a:t>???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B208FE0-A252-3BEE-7248-5F6ECD1E8CE2}"/>
              </a:ext>
            </a:extLst>
          </p:cNvPr>
          <p:cNvSpPr txBox="1"/>
          <p:nvPr/>
        </p:nvSpPr>
        <p:spPr>
          <a:xfrm>
            <a:off x="9180170" y="3161344"/>
            <a:ext cx="22221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Depression</a:t>
            </a:r>
            <a:r>
              <a:rPr lang="es-ES" dirty="0"/>
              <a:t> (DEP)</a:t>
            </a:r>
          </a:p>
          <a:p>
            <a:pPr algn="ctr"/>
            <a:r>
              <a:rPr lang="es-ES" dirty="0"/>
              <a:t>NRH: 18</a:t>
            </a:r>
            <a:r>
              <a:rPr lang="es-ES" dirty="0" smtClean="0"/>
              <a:t>%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82C21-CFEB-F5F2-0204-426DA9DE4F6F}"/>
              </a:ext>
            </a:extLst>
          </p:cNvPr>
          <p:cNvSpPr txBox="1"/>
          <p:nvPr/>
        </p:nvSpPr>
        <p:spPr>
          <a:xfrm>
            <a:off x="5791436" y="3764137"/>
            <a:ext cx="2173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Autism </a:t>
            </a:r>
            <a:r>
              <a:rPr lang="es-ES" dirty="0"/>
              <a:t>(ASD)</a:t>
            </a:r>
          </a:p>
          <a:p>
            <a:pPr algn="ctr"/>
            <a:r>
              <a:rPr lang="es-ES" dirty="0"/>
              <a:t>NRH: ~35</a:t>
            </a:r>
            <a:r>
              <a:rPr lang="es-ES" dirty="0" smtClean="0"/>
              <a:t>%</a:t>
            </a:r>
            <a:r>
              <a:rPr lang="es-ES" b="1" dirty="0" smtClean="0"/>
              <a:t>**</a:t>
            </a:r>
            <a:endParaRPr lang="es-ES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5927845" y="2923450"/>
            <a:ext cx="1900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ADHD</a:t>
            </a:r>
          </a:p>
          <a:p>
            <a:pPr algn="ctr"/>
            <a:r>
              <a:rPr lang="es-ES" dirty="0"/>
              <a:t>NRH: ~25%</a:t>
            </a:r>
            <a:r>
              <a:rPr lang="es-ES" b="1" dirty="0"/>
              <a:t>*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8990723" y="5241811"/>
            <a:ext cx="2601069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800" u="sng" dirty="0"/>
              <a:t>No concordant pattern:</a:t>
            </a:r>
          </a:p>
          <a:p>
            <a:r>
              <a:rPr lang="es-ES" sz="1800" dirty="0"/>
              <a:t>Small sample sizes</a:t>
            </a:r>
          </a:p>
          <a:p>
            <a:r>
              <a:rPr lang="es-ES" sz="1800" dirty="0"/>
              <a:t>Lack of clinical data</a:t>
            </a:r>
          </a:p>
          <a:p>
            <a:r>
              <a:rPr lang="es-ES" sz="1800" dirty="0"/>
              <a:t>Diverse measurements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6111212" y="1746093"/>
            <a:ext cx="515117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&gt; NRH in disorders </a:t>
            </a:r>
            <a:r>
              <a:rPr lang="es-ES" sz="2400" b="1" dirty="0" err="1" smtClean="0"/>
              <a:t>with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early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age</a:t>
            </a:r>
            <a:r>
              <a:rPr lang="es-ES" sz="2400" b="1" dirty="0" smtClean="0"/>
              <a:t> of </a:t>
            </a:r>
            <a:r>
              <a:rPr lang="es-ES" sz="2400" b="1" dirty="0" err="1" smtClean="0"/>
              <a:t>onset</a:t>
            </a:r>
            <a:r>
              <a:rPr lang="es-ES" sz="2400" b="1" dirty="0" smtClean="0"/>
              <a:t> and more </a:t>
            </a:r>
            <a:r>
              <a:rPr lang="es-ES" sz="2400" b="1" dirty="0" err="1" smtClean="0"/>
              <a:t>prevalence</a:t>
            </a:r>
            <a:r>
              <a:rPr lang="es-ES" sz="2400" b="1" dirty="0" smtClean="0"/>
              <a:t> in males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2574685" y="4422366"/>
            <a:ext cx="1579419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= 25%</a:t>
            </a:r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195568"/>
            <a:chOff x="5267325" y="5440659"/>
            <a:chExt cx="6697662" cy="1195568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5876638" y="6113007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9617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37347" y="5447849"/>
                <a:ext cx="327640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607914" y="6045541"/>
              <a:ext cx="268724" cy="329076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7666269" y="6045541"/>
              <a:ext cx="3936865" cy="402884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37347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25028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err="1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Imagen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902" y="148527"/>
            <a:ext cx="2105609" cy="2294635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339081" y="6234004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4810" y="2872486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9971415" y="2851021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242300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2423004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</a:t>
            </a:r>
            <a:r>
              <a:rPr lang="es-ES" sz="2400" b="1" dirty="0" err="1" smtClean="0"/>
              <a:t>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287214" y="529493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2024740"/>
            <a:ext cx="294759" cy="38942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Conector recto de flecha 17"/>
          <p:cNvCxnSpPr/>
          <p:nvPr/>
        </p:nvCxnSpPr>
        <p:spPr>
          <a:xfrm>
            <a:off x="10979173" y="3933771"/>
            <a:ext cx="17755" cy="131638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/>
          <p:cNvSpPr txBox="1"/>
          <p:nvPr/>
        </p:nvSpPr>
        <p:spPr>
          <a:xfrm>
            <a:off x="8172859" y="4164024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3" name="CuadroTexto 12"/>
          <p:cNvSpPr txBox="1"/>
          <p:nvPr/>
        </p:nvSpPr>
        <p:spPr>
          <a:xfrm>
            <a:off x="6723581" y="1120511"/>
            <a:ext cx="111357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P &lt;1E-16</a:t>
            </a:r>
            <a:endParaRPr lang="en-GB" dirty="0"/>
          </a:p>
        </p:txBody>
      </p:sp>
      <p:sp>
        <p:nvSpPr>
          <p:cNvPr id="8" name="CuadroTexto 7"/>
          <p:cNvSpPr txBox="1"/>
          <p:nvPr/>
        </p:nvSpPr>
        <p:spPr>
          <a:xfrm>
            <a:off x="73446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</a:t>
            </a:r>
            <a:r>
              <a:rPr lang="es-ES" sz="2400" b="1" dirty="0" err="1" smtClean="0"/>
              <a:t>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680429" y="3471169"/>
            <a:ext cx="422709" cy="700923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uadroTexto 14"/>
          <p:cNvSpPr txBox="1"/>
          <p:nvPr/>
        </p:nvSpPr>
        <p:spPr>
          <a:xfrm>
            <a:off x="5897288" y="1058052"/>
            <a:ext cx="10502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6039485" y="1635924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969628" y="4172092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9232777" y="3370775"/>
            <a:ext cx="2959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Age</a:t>
            </a:r>
            <a:r>
              <a:rPr lang="es-ES" dirty="0" smtClean="0"/>
              <a:t> </a:t>
            </a:r>
            <a:r>
              <a:rPr lang="es-ES" dirty="0" err="1" smtClean="0"/>
              <a:t>matching</a:t>
            </a:r>
            <a:r>
              <a:rPr lang="es-ES" dirty="0" smtClean="0"/>
              <a:t> </a:t>
            </a:r>
            <a:r>
              <a:rPr lang="es-ES" dirty="0" err="1" smtClean="0"/>
              <a:t>for</a:t>
            </a:r>
            <a:r>
              <a:rPr lang="es-ES" dirty="0" smtClean="0"/>
              <a:t> case-control </a:t>
            </a:r>
            <a:r>
              <a:rPr lang="es-ES" dirty="0" err="1" smtClean="0"/>
              <a:t>studies</a:t>
            </a:r>
            <a:endParaRPr lang="en-GB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602443" y="3139604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583933" y="1789063"/>
            <a:ext cx="1397410" cy="938143"/>
            <a:chOff x="10704056" y="1425775"/>
            <a:chExt cx="139741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err="1"/>
                <a:t>C</a:t>
              </a:r>
              <a:r>
                <a:rPr lang="es-ES" dirty="0" err="1" smtClean="0"/>
                <a:t>ontrols</a:t>
              </a:r>
              <a:endParaRPr lang="es-ES" dirty="0" smtClean="0"/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522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BD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487018" y="2890075"/>
            <a:ext cx="5040228" cy="3458828"/>
            <a:chOff x="248574" y="3692786"/>
            <a:chExt cx="4521865" cy="2865060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22729" b="30094"/>
            <a:stretch/>
          </p:blipFill>
          <p:spPr>
            <a:xfrm>
              <a:off x="248574" y="3692786"/>
              <a:ext cx="3172596" cy="28650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3421169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3421169" y="4605235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3489694" y="5298332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err="1" smtClean="0"/>
                <a:t>Age</a:t>
              </a:r>
              <a:endParaRPr lang="es-ES" dirty="0" smtClean="0"/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3489694" y="5998257"/>
              <a:ext cx="1280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BD status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421193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Correlation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between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traits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</a:t>
            </a:r>
            <a:r>
              <a:rPr lang="es-ES" b="1" dirty="0" err="1"/>
              <a:t>Spanish</a:t>
            </a:r>
            <a:r>
              <a:rPr lang="es-ES" b="1" dirty="0"/>
              <a:t> </a:t>
            </a:r>
            <a:r>
              <a:rPr lang="es-ES" b="1" dirty="0" err="1"/>
              <a:t>population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Within</a:t>
            </a:r>
            <a:r>
              <a:rPr lang="es-ES" dirty="0" smtClean="0"/>
              <a:t> BD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PRS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Discussion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982237" y="4070763"/>
            <a:ext cx="3841298" cy="903751"/>
            <a:chOff x="302284" y="5040495"/>
            <a:chExt cx="2777258" cy="689375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2849" y="5074732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124" y="5080482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4042" y="5140273"/>
            <a:ext cx="1897391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6" y="5262298"/>
            <a:ext cx="1503876" cy="430333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30177" y="1053056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030531"/>
            <a:ext cx="865142" cy="1153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668145" y="4192672"/>
            <a:ext cx="2256897" cy="968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575939" y="1016400"/>
            <a:ext cx="4599097" cy="3060937"/>
          </a:xfrm>
          <a:prstGeom prst="rect">
            <a:avLst/>
          </a:prstGeom>
        </p:spPr>
      </p:pic>
      <p:sp>
        <p:nvSpPr>
          <p:cNvPr id="4" name="CuadroTexto 3"/>
          <p:cNvSpPr txBox="1"/>
          <p:nvPr/>
        </p:nvSpPr>
        <p:spPr>
          <a:xfrm>
            <a:off x="2503504" y="5262298"/>
            <a:ext cx="5898186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dirty="0" smtClean="0"/>
              <a:t>Espacio extra</a:t>
            </a:r>
          </a:p>
          <a:p>
            <a:endParaRPr lang="es-ES" dirty="0"/>
          </a:p>
          <a:p>
            <a:endParaRPr lang="es-ES" dirty="0" smtClean="0"/>
          </a:p>
          <a:p>
            <a:endParaRPr lang="es-E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312</Words>
  <Application>Microsoft Office PowerPoint</Application>
  <PresentationFormat>Panorámica</PresentationFormat>
  <Paragraphs>105</Paragraphs>
  <Slides>13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Tema de Office</vt:lpstr>
      <vt:lpstr>Atypical handedness as a marker of altered brain lateralization: genetic and clinical study in bipolar disorder</vt:lpstr>
      <vt:lpstr>Bipolar disorder</vt:lpstr>
      <vt:lpstr>Handedness in neurodevelopmental/psychiatric disorders</vt:lpstr>
      <vt:lpstr>Handedness in general population</vt:lpstr>
      <vt:lpstr>Edinburgh Handedness Inventory</vt:lpstr>
      <vt:lpstr>MadManic cohort</vt:lpstr>
      <vt:lpstr>Presentación de PowerPoint</vt:lpstr>
      <vt:lpstr>NRH in Spanish population</vt:lpstr>
      <vt:lpstr>Case-control handedness study</vt:lpstr>
      <vt:lpstr>Within BD</vt:lpstr>
      <vt:lpstr>PRS</vt:lpstr>
      <vt:lpstr>Discussion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34</cp:revision>
  <dcterms:created xsi:type="dcterms:W3CDTF">2026-06-30T10:32:29Z</dcterms:created>
  <dcterms:modified xsi:type="dcterms:W3CDTF">2026-07-31T10:26:12Z</dcterms:modified>
</cp:coreProperties>
</file>