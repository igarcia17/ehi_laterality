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1"/>
  </p:notesMasterIdLst>
  <p:sldIdLst>
    <p:sldId id="256" r:id="rId2"/>
    <p:sldId id="267" r:id="rId3"/>
    <p:sldId id="274" r:id="rId4"/>
    <p:sldId id="257" r:id="rId5"/>
    <p:sldId id="275" r:id="rId6"/>
    <p:sldId id="258" r:id="rId7"/>
    <p:sldId id="279" r:id="rId8"/>
    <p:sldId id="260" r:id="rId9"/>
    <p:sldId id="259" r:id="rId10"/>
    <p:sldId id="270" r:id="rId11"/>
    <p:sldId id="261" r:id="rId12"/>
    <p:sldId id="262" r:id="rId13"/>
    <p:sldId id="278" r:id="rId14"/>
    <p:sldId id="277" r:id="rId15"/>
    <p:sldId id="263" r:id="rId16"/>
    <p:sldId id="276" r:id="rId17"/>
    <p:sldId id="264" r:id="rId18"/>
    <p:sldId id="265" r:id="rId19"/>
    <p:sldId id="26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4999"/>
    <a:srgbClr val="CCCCFF"/>
    <a:srgbClr val="FCC8C4"/>
    <a:srgbClr val="99E3AF"/>
    <a:srgbClr val="E7E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82" autoAdjust="0"/>
    <p:restoredTop sz="94660"/>
  </p:normalViewPr>
  <p:slideViewPr>
    <p:cSldViewPr snapToGrid="0" showGuides="1">
      <p:cViewPr varScale="1">
        <p:scale>
          <a:sx n="108" d="100"/>
          <a:sy n="108" d="100"/>
        </p:scale>
        <p:origin x="6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6CCF0CF-D9EE-4002-865B-7B47988BC41D}" type="doc">
      <dgm:prSet loTypeId="urn:microsoft.com/office/officeart/2005/8/layout/vList2" loCatId="list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es-ES"/>
        </a:p>
      </dgm:t>
    </dgm:pt>
    <dgm:pt modelId="{038A4985-DD4B-4EFF-97CD-D00D3F71F521}">
      <dgm:prSet phldrT="[Texto]"/>
      <dgm:spPr>
        <a:ln w="57150">
          <a:solidFill>
            <a:srgbClr val="FF0000"/>
          </a:solidFill>
        </a:ln>
      </dgm:spPr>
      <dgm:t>
        <a:bodyPr/>
        <a:lstStyle/>
        <a:p>
          <a:r>
            <a:rPr lang="es-ES" b="1" smtClean="0"/>
            <a:t>Handedness differences between BD and controls, if present, are subtle</a:t>
          </a:r>
          <a:endParaRPr lang="es-ES" b="1" dirty="0"/>
        </a:p>
      </dgm:t>
    </dgm:pt>
    <dgm:pt modelId="{2701FAE0-6720-4899-AD99-6E9BED6C7995}" type="parTrans" cxnId="{E6CCB7F3-64D6-432F-A8E6-055488814BA0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98584E70-9FF9-4D48-B9E8-ED0A48E9B74E}" type="sibTrans" cxnId="{E6CCB7F3-64D6-432F-A8E6-055488814BA0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44E94AFD-8536-4967-9B47-CF008682C1B6}">
      <dgm:prSet phldrT="[Texto]"/>
      <dgm:spPr>
        <a:ln w="57150">
          <a:solidFill>
            <a:srgbClr val="FF0000"/>
          </a:solidFill>
        </a:ln>
      </dgm:spPr>
      <dgm:t>
        <a:bodyPr/>
        <a:lstStyle/>
        <a:p>
          <a:r>
            <a:rPr lang="es-ES" b="1" dirty="0" err="1" smtClean="0"/>
            <a:t>Mixed-hand</a:t>
          </a:r>
          <a:r>
            <a:rPr lang="es-ES" b="1" dirty="0" smtClean="0"/>
            <a:t> </a:t>
          </a:r>
          <a:r>
            <a:rPr lang="es-ES" b="1" dirty="0" smtClean="0"/>
            <a:t>BD </a:t>
          </a:r>
          <a:r>
            <a:rPr lang="es-ES" b="1" dirty="0" err="1" smtClean="0"/>
            <a:t>patients</a:t>
          </a:r>
          <a:r>
            <a:rPr lang="es-ES" b="1" dirty="0" smtClean="0"/>
            <a:t> </a:t>
          </a:r>
          <a:r>
            <a:rPr lang="es-ES" b="1" dirty="0" err="1" smtClean="0"/>
            <a:t>present</a:t>
          </a:r>
          <a:r>
            <a:rPr lang="es-ES" b="1" dirty="0" smtClean="0"/>
            <a:t> </a:t>
          </a:r>
          <a:r>
            <a:rPr lang="es-ES" b="1" dirty="0" err="1" smtClean="0"/>
            <a:t>higher</a:t>
          </a:r>
          <a:r>
            <a:rPr lang="es-ES" b="1" dirty="0" smtClean="0"/>
            <a:t> </a:t>
          </a:r>
          <a:r>
            <a:rPr lang="es-ES" b="1" dirty="0" err="1" smtClean="0"/>
            <a:t>severity</a:t>
          </a:r>
          <a:endParaRPr lang="es-ES" b="1" dirty="0"/>
        </a:p>
      </dgm:t>
    </dgm:pt>
    <dgm:pt modelId="{01B79F96-F2BD-49D2-8BD5-D9D98659AD9F}" type="parTrans" cxnId="{143AF04C-3D81-42C2-9E04-B0B57A32C30B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F2777B79-4CC5-4907-B713-3746EDE642E7}" type="sibTrans" cxnId="{143AF04C-3D81-42C2-9E04-B0B57A32C30B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0C2C703D-9702-4200-9F0E-7EB0B757BBFD}">
      <dgm:prSet phldrT="[Texto]"/>
      <dgm:spPr>
        <a:ln w="57150">
          <a:solidFill>
            <a:srgbClr val="FF0000"/>
          </a:solidFill>
        </a:ln>
      </dgm:spPr>
      <dgm:t>
        <a:bodyPr/>
        <a:lstStyle/>
        <a:p>
          <a:r>
            <a:rPr lang="es-ES" b="1" dirty="0" err="1" smtClean="0"/>
            <a:t>Left-handed</a:t>
          </a:r>
          <a:r>
            <a:rPr lang="es-ES" b="1" dirty="0" smtClean="0"/>
            <a:t> </a:t>
          </a:r>
          <a:r>
            <a:rPr lang="es-ES" b="1" dirty="0" smtClean="0"/>
            <a:t>BD </a:t>
          </a:r>
          <a:r>
            <a:rPr lang="es-ES" b="1" dirty="0" err="1" smtClean="0"/>
            <a:t>patients</a:t>
          </a:r>
          <a:r>
            <a:rPr lang="es-ES" b="1" dirty="0" smtClean="0"/>
            <a:t> </a:t>
          </a:r>
          <a:r>
            <a:rPr lang="es-ES" b="1" dirty="0" err="1" smtClean="0"/>
            <a:t>present</a:t>
          </a:r>
          <a:r>
            <a:rPr lang="es-ES" b="1" dirty="0" smtClean="0"/>
            <a:t> </a:t>
          </a:r>
          <a:r>
            <a:rPr lang="es-ES" b="1" dirty="0" err="1" smtClean="0"/>
            <a:t>lower</a:t>
          </a:r>
          <a:r>
            <a:rPr lang="es-ES" b="1" dirty="0" smtClean="0"/>
            <a:t> </a:t>
          </a:r>
          <a:r>
            <a:rPr lang="es-ES" b="1" dirty="0" err="1" smtClean="0"/>
            <a:t>polygenic</a:t>
          </a:r>
          <a:r>
            <a:rPr lang="es-ES" b="1" dirty="0" smtClean="0"/>
            <a:t> </a:t>
          </a:r>
          <a:r>
            <a:rPr lang="es-ES" b="1" dirty="0" err="1" smtClean="0"/>
            <a:t>liability</a:t>
          </a:r>
          <a:r>
            <a:rPr lang="es-ES" b="1" dirty="0" smtClean="0"/>
            <a:t> </a:t>
          </a:r>
          <a:r>
            <a:rPr lang="es-ES" b="1" dirty="0" err="1" smtClean="0"/>
            <a:t>for</a:t>
          </a:r>
          <a:r>
            <a:rPr lang="es-ES" b="1" dirty="0" smtClean="0"/>
            <a:t> BD</a:t>
          </a:r>
          <a:endParaRPr lang="es-ES" b="1" dirty="0"/>
        </a:p>
      </dgm:t>
    </dgm:pt>
    <dgm:pt modelId="{9354A89E-BD41-45C7-B01C-E6CFDAA00054}" type="parTrans" cxnId="{67BA2FA5-6585-43F2-A5D7-CF05DC89D6CA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4D588980-41C0-4591-B844-E38C975EC639}" type="sibTrans" cxnId="{67BA2FA5-6585-43F2-A5D7-CF05DC89D6CA}">
      <dgm:prSet/>
      <dgm:spPr/>
      <dgm:t>
        <a:bodyPr/>
        <a:lstStyle/>
        <a:p>
          <a:endParaRPr lang="es-ES" b="1">
            <a:solidFill>
              <a:schemeClr val="tx1"/>
            </a:solidFill>
          </a:endParaRPr>
        </a:p>
      </dgm:t>
    </dgm:pt>
    <dgm:pt modelId="{B4B1D5F2-292C-4B3E-8F85-CC41B41C12E4}" type="pres">
      <dgm:prSet presAssocID="{26CCF0CF-D9EE-4002-865B-7B47988BC41D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23A9201D-7A39-424E-9F89-76D306C379D9}" type="pres">
      <dgm:prSet presAssocID="{038A4985-DD4B-4EFF-97CD-D00D3F71F521}" presName="parentText" presStyleLbl="node1" presStyleIdx="0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75E9B594-253F-476C-9710-DA98BFCF895C}" type="pres">
      <dgm:prSet presAssocID="{98584E70-9FF9-4D48-B9E8-ED0A48E9B74E}" presName="spacer" presStyleCnt="0"/>
      <dgm:spPr/>
    </dgm:pt>
    <dgm:pt modelId="{4551E88F-15DD-4F15-8CC7-6380587AD5D7}" type="pres">
      <dgm:prSet presAssocID="{44E94AFD-8536-4967-9B47-CF008682C1B6}" presName="parentText" presStyleLbl="node1" presStyleIdx="1" presStyleCnt="3">
        <dgm:presLayoutVars>
          <dgm:chMax val="0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9A7896E7-DCD7-4BBB-8F4C-C96ED20C64C7}" type="pres">
      <dgm:prSet presAssocID="{F2777B79-4CC5-4907-B713-3746EDE642E7}" presName="spacer" presStyleCnt="0"/>
      <dgm:spPr/>
    </dgm:pt>
    <dgm:pt modelId="{3D86D8CC-FC8B-46CF-BEC6-0D0CA33849DD}" type="pres">
      <dgm:prSet presAssocID="{0C2C703D-9702-4200-9F0E-7EB0B757BBFD}" presName="parentText" presStyleLbl="node1" presStyleIdx="2" presStyleCnt="3" custLinFactNeighborX="-84" custLinFactNeighborY="11416">
        <dgm:presLayoutVars>
          <dgm:chMax val="0"/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143AF04C-3D81-42C2-9E04-B0B57A32C30B}" srcId="{26CCF0CF-D9EE-4002-865B-7B47988BC41D}" destId="{44E94AFD-8536-4967-9B47-CF008682C1B6}" srcOrd="1" destOrd="0" parTransId="{01B79F96-F2BD-49D2-8BD5-D9D98659AD9F}" sibTransId="{F2777B79-4CC5-4907-B713-3746EDE642E7}"/>
    <dgm:cxn modelId="{E6CCB7F3-64D6-432F-A8E6-055488814BA0}" srcId="{26CCF0CF-D9EE-4002-865B-7B47988BC41D}" destId="{038A4985-DD4B-4EFF-97CD-D00D3F71F521}" srcOrd="0" destOrd="0" parTransId="{2701FAE0-6720-4899-AD99-6E9BED6C7995}" sibTransId="{98584E70-9FF9-4D48-B9E8-ED0A48E9B74E}"/>
    <dgm:cxn modelId="{5A612E8D-ACB5-468C-BFB5-49B71D70367B}" type="presOf" srcId="{038A4985-DD4B-4EFF-97CD-D00D3F71F521}" destId="{23A9201D-7A39-424E-9F89-76D306C379D9}" srcOrd="0" destOrd="0" presId="urn:microsoft.com/office/officeart/2005/8/layout/vList2"/>
    <dgm:cxn modelId="{7893E806-FA6F-459D-8960-AC8BFA8A3FEC}" type="presOf" srcId="{26CCF0CF-D9EE-4002-865B-7B47988BC41D}" destId="{B4B1D5F2-292C-4B3E-8F85-CC41B41C12E4}" srcOrd="0" destOrd="0" presId="urn:microsoft.com/office/officeart/2005/8/layout/vList2"/>
    <dgm:cxn modelId="{C507E4F2-E9FD-4DC3-A78B-B6DD7B1100D9}" type="presOf" srcId="{0C2C703D-9702-4200-9F0E-7EB0B757BBFD}" destId="{3D86D8CC-FC8B-46CF-BEC6-0D0CA33849DD}" srcOrd="0" destOrd="0" presId="urn:microsoft.com/office/officeart/2005/8/layout/vList2"/>
    <dgm:cxn modelId="{5CF592BB-88BA-4AE6-882A-5B932A850575}" type="presOf" srcId="{44E94AFD-8536-4967-9B47-CF008682C1B6}" destId="{4551E88F-15DD-4F15-8CC7-6380587AD5D7}" srcOrd="0" destOrd="0" presId="urn:microsoft.com/office/officeart/2005/8/layout/vList2"/>
    <dgm:cxn modelId="{67BA2FA5-6585-43F2-A5D7-CF05DC89D6CA}" srcId="{26CCF0CF-D9EE-4002-865B-7B47988BC41D}" destId="{0C2C703D-9702-4200-9F0E-7EB0B757BBFD}" srcOrd="2" destOrd="0" parTransId="{9354A89E-BD41-45C7-B01C-E6CFDAA00054}" sibTransId="{4D588980-41C0-4591-B844-E38C975EC639}"/>
    <dgm:cxn modelId="{9ABAC53B-1BDC-40F0-8E8D-B090F4D009E7}" type="presParOf" srcId="{B4B1D5F2-292C-4B3E-8F85-CC41B41C12E4}" destId="{23A9201D-7A39-424E-9F89-76D306C379D9}" srcOrd="0" destOrd="0" presId="urn:microsoft.com/office/officeart/2005/8/layout/vList2"/>
    <dgm:cxn modelId="{8832E19E-AAAA-4A68-A017-82AAB67A9DB7}" type="presParOf" srcId="{B4B1D5F2-292C-4B3E-8F85-CC41B41C12E4}" destId="{75E9B594-253F-476C-9710-DA98BFCF895C}" srcOrd="1" destOrd="0" presId="urn:microsoft.com/office/officeart/2005/8/layout/vList2"/>
    <dgm:cxn modelId="{FDDED71F-73B7-4B4C-A2A2-12A6189ED660}" type="presParOf" srcId="{B4B1D5F2-292C-4B3E-8F85-CC41B41C12E4}" destId="{4551E88F-15DD-4F15-8CC7-6380587AD5D7}" srcOrd="2" destOrd="0" presId="urn:microsoft.com/office/officeart/2005/8/layout/vList2"/>
    <dgm:cxn modelId="{1F54793E-D173-42B6-84F0-6624A888D22F}" type="presParOf" srcId="{B4B1D5F2-292C-4B3E-8F85-CC41B41C12E4}" destId="{9A7896E7-DCD7-4BBB-8F4C-C96ED20C64C7}" srcOrd="3" destOrd="0" presId="urn:microsoft.com/office/officeart/2005/8/layout/vList2"/>
    <dgm:cxn modelId="{D7343277-A600-4741-B610-9F509562F465}" type="presParOf" srcId="{B4B1D5F2-292C-4B3E-8F85-CC41B41C12E4}" destId="{3D86D8CC-FC8B-46CF-BEC6-0D0CA33849DD}" srcOrd="4" destOrd="0" presId="urn:microsoft.com/office/officeart/2005/8/layout/vList2"/>
  </dgm:cxnLst>
  <dgm:bg/>
  <dgm:whole>
    <a:ln w="76200"/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3A9201D-7A39-424E-9F89-76D306C379D9}">
      <dsp:nvSpPr>
        <dsp:cNvPr id="0" name=""/>
        <dsp:cNvSpPr/>
      </dsp:nvSpPr>
      <dsp:spPr>
        <a:xfrm>
          <a:off x="0" y="17257"/>
          <a:ext cx="10515600" cy="13525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5715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lvl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3400" b="1" kern="1200" smtClean="0"/>
            <a:t>Handedness differences between BD and controls, if present, are subtle</a:t>
          </a:r>
          <a:endParaRPr lang="es-ES" sz="3400" b="1" kern="1200" dirty="0"/>
        </a:p>
      </dsp:txBody>
      <dsp:txXfrm>
        <a:off x="66025" y="83282"/>
        <a:ext cx="10383550" cy="1220470"/>
      </dsp:txXfrm>
    </dsp:sp>
    <dsp:sp modelId="{4551E88F-15DD-4F15-8CC7-6380587AD5D7}">
      <dsp:nvSpPr>
        <dsp:cNvPr id="0" name=""/>
        <dsp:cNvSpPr/>
      </dsp:nvSpPr>
      <dsp:spPr>
        <a:xfrm>
          <a:off x="0" y="1467697"/>
          <a:ext cx="10515600" cy="13525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5715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lvl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3400" b="1" kern="1200" dirty="0" err="1" smtClean="0"/>
            <a:t>Mixed-hand</a:t>
          </a:r>
          <a:r>
            <a:rPr lang="es-ES" sz="3400" b="1" kern="1200" dirty="0" smtClean="0"/>
            <a:t> </a:t>
          </a:r>
          <a:r>
            <a:rPr lang="es-ES" sz="3400" b="1" kern="1200" dirty="0" smtClean="0"/>
            <a:t>BD </a:t>
          </a:r>
          <a:r>
            <a:rPr lang="es-ES" sz="3400" b="1" kern="1200" dirty="0" err="1" smtClean="0"/>
            <a:t>patients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present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higher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severity</a:t>
          </a:r>
          <a:endParaRPr lang="es-ES" sz="3400" b="1" kern="1200" dirty="0"/>
        </a:p>
      </dsp:txBody>
      <dsp:txXfrm>
        <a:off x="66025" y="1533722"/>
        <a:ext cx="10383550" cy="1220470"/>
      </dsp:txXfrm>
    </dsp:sp>
    <dsp:sp modelId="{3D86D8CC-FC8B-46CF-BEC6-0D0CA33849DD}">
      <dsp:nvSpPr>
        <dsp:cNvPr id="0" name=""/>
        <dsp:cNvSpPr/>
      </dsp:nvSpPr>
      <dsp:spPr>
        <a:xfrm>
          <a:off x="0" y="2929316"/>
          <a:ext cx="10515600" cy="1352520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5715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lvl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3400" b="1" kern="1200" dirty="0" err="1" smtClean="0"/>
            <a:t>Left-handed</a:t>
          </a:r>
          <a:r>
            <a:rPr lang="es-ES" sz="3400" b="1" kern="1200" dirty="0" smtClean="0"/>
            <a:t> </a:t>
          </a:r>
          <a:r>
            <a:rPr lang="es-ES" sz="3400" b="1" kern="1200" dirty="0" smtClean="0"/>
            <a:t>BD </a:t>
          </a:r>
          <a:r>
            <a:rPr lang="es-ES" sz="3400" b="1" kern="1200" dirty="0" err="1" smtClean="0"/>
            <a:t>patients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present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lower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polygenic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liability</a:t>
          </a:r>
          <a:r>
            <a:rPr lang="es-ES" sz="3400" b="1" kern="1200" dirty="0" smtClean="0"/>
            <a:t> </a:t>
          </a:r>
          <a:r>
            <a:rPr lang="es-ES" sz="3400" b="1" kern="1200" dirty="0" err="1" smtClean="0"/>
            <a:t>for</a:t>
          </a:r>
          <a:r>
            <a:rPr lang="es-ES" sz="3400" b="1" kern="1200" dirty="0" smtClean="0"/>
            <a:t> BD</a:t>
          </a:r>
          <a:endParaRPr lang="es-ES" sz="3400" b="1" kern="1200" dirty="0"/>
        </a:p>
      </dsp:txBody>
      <dsp:txXfrm>
        <a:off x="66025" y="2995341"/>
        <a:ext cx="10383550" cy="122047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429232-80D2-4D0C-9CF8-9240E390AFC1}" type="datetimeFigureOut">
              <a:rPr lang="en-GB" smtClean="0"/>
              <a:t>11/08/2026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45F14-0841-498C-8B3E-B08368038B08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62363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65699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smtClean="0"/>
              <a:t>Reference EUR </a:t>
            </a:r>
            <a:r>
              <a:rPr lang="es-ES" dirty="0" err="1" smtClean="0"/>
              <a:t>estimates</a:t>
            </a:r>
            <a:r>
              <a:rPr lang="es-ES" dirty="0" smtClean="0"/>
              <a:t>: </a:t>
            </a:r>
            <a:r>
              <a:rPr lang="en-GB" dirty="0" err="1" smtClean="0"/>
              <a:t>Papadatou-Pastou</a:t>
            </a:r>
            <a:r>
              <a:rPr lang="en-GB" dirty="0" smtClean="0"/>
              <a:t> M, </a:t>
            </a:r>
            <a:r>
              <a:rPr lang="en-GB" dirty="0" err="1" smtClean="0"/>
              <a:t>Ntolka</a:t>
            </a:r>
            <a:r>
              <a:rPr lang="en-GB" dirty="0" smtClean="0"/>
              <a:t> E, Schmitz J, et al. Human handedness: A meta-analysis. Psychological Bulletin. 2020;146(6):481–524. doi:10.1037/bul0000229.</a:t>
            </a:r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98882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1068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smtClean="0"/>
              <a:t>Reference EUR </a:t>
            </a:r>
            <a:r>
              <a:rPr lang="es-ES" dirty="0" err="1" smtClean="0"/>
              <a:t>estimates</a:t>
            </a:r>
            <a:r>
              <a:rPr lang="es-ES" dirty="0" smtClean="0"/>
              <a:t>: </a:t>
            </a:r>
            <a:r>
              <a:rPr lang="en-GB" dirty="0" err="1" smtClean="0"/>
              <a:t>Papadatou-Pastou</a:t>
            </a:r>
            <a:r>
              <a:rPr lang="en-GB" dirty="0" smtClean="0"/>
              <a:t> M, </a:t>
            </a:r>
            <a:r>
              <a:rPr lang="en-GB" dirty="0" err="1" smtClean="0"/>
              <a:t>Ntolka</a:t>
            </a:r>
            <a:r>
              <a:rPr lang="en-GB" dirty="0" smtClean="0"/>
              <a:t> E, Schmitz J, et al. Human handedness: A meta-analysis. Psychological Bulletin. 2020;146(6):481–524. doi:10.1037/bul0000229.</a:t>
            </a:r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045F14-0841-498C-8B3E-B08368038B0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54960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908CE70-8464-4F5E-93AD-97151A563D6A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s-E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2642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36C88-14FE-4590-910E-32AC315C0871}" type="datetime1">
              <a:rPr lang="en-GB" smtClean="0"/>
              <a:t>11/08/2026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44742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54AB07-332F-4C67-9A40-A71119FA40B7}" type="datetime1">
              <a:rPr lang="en-GB" smtClean="0"/>
              <a:t>11/08/2026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119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90D09-73B1-400B-A0DA-B631939D8320}" type="datetime1">
              <a:rPr lang="en-GB" smtClean="0"/>
              <a:t>11/08/2026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28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45E0C4-90D1-4C45-B93A-37A9F8691C8C}" type="datetime1">
              <a:rPr lang="en-GB" smtClean="0"/>
              <a:t>11/08/2026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3565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78916-976E-40AF-A205-991F683BA890}" type="datetime1">
              <a:rPr lang="en-GB" smtClean="0"/>
              <a:t>11/08/2026</a:t>
            </a:fld>
            <a:endParaRPr lang="en-GB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8377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C085C-5C81-434F-A8EA-484D4E830405}" type="datetime1">
              <a:rPr lang="en-GB" smtClean="0"/>
              <a:t>11/08/2026</a:t>
            </a:fld>
            <a:endParaRPr lang="en-GB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4721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B8FDE-2A06-4D71-883A-19F73AC6C873}" type="datetime1">
              <a:rPr lang="en-GB" smtClean="0"/>
              <a:t>11/08/2026</a:t>
            </a:fld>
            <a:endParaRPr lang="en-GB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85908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5FD4E-E365-42B4-AE08-6A8E1AD1A30A}" type="datetime1">
              <a:rPr lang="en-GB" smtClean="0"/>
              <a:t>11/08/2026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97547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D468E-F943-4648-BCAE-49E38DE2B555}" type="datetime1">
              <a:rPr lang="en-GB" smtClean="0"/>
              <a:t>11/08/2026</a:t>
            </a:fld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9667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8253D-D11D-4844-A5FF-334ED5277ADF}" type="datetime1">
              <a:rPr lang="en-GB" smtClean="0"/>
              <a:t>11/08/2026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9472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1AC705-0EF9-43F8-BB56-2CFB25D1B083}" type="datetime1">
              <a:rPr lang="en-GB" smtClean="0"/>
              <a:t>11/08/2026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9002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GB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68D115-CA30-41FC-9559-69B0665B674A}" type="datetime1">
              <a:rPr lang="en-GB" smtClean="0"/>
              <a:t>11/08/2026</a:t>
            </a:fld>
            <a:endParaRPr lang="en-GB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5E948B-A4EA-4562-B7E6-FE17413622D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39825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10.png"/><Relationship Id="rId7" Type="http://schemas.openxmlformats.org/officeDocument/2006/relationships/image" Target="../media/image1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microsoft.com/office/2007/relationships/hdphoto" Target="../media/hdphoto2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28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jpeg"/><Relationship Id="rId13" Type="http://schemas.microsoft.com/office/2007/relationships/hdphoto" Target="../media/hdphoto4.wdp"/><Relationship Id="rId3" Type="http://schemas.openxmlformats.org/officeDocument/2006/relationships/image" Target="../media/image31.png"/><Relationship Id="rId7" Type="http://schemas.openxmlformats.org/officeDocument/2006/relationships/image" Target="../media/image35.jpg"/><Relationship Id="rId12" Type="http://schemas.openxmlformats.org/officeDocument/2006/relationships/image" Target="../media/image4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jpeg"/><Relationship Id="rId11" Type="http://schemas.openxmlformats.org/officeDocument/2006/relationships/image" Target="../media/image39.jpeg"/><Relationship Id="rId5" Type="http://schemas.openxmlformats.org/officeDocument/2006/relationships/image" Target="../media/image33.jpeg"/><Relationship Id="rId10" Type="http://schemas.openxmlformats.org/officeDocument/2006/relationships/image" Target="../media/image38.png"/><Relationship Id="rId4" Type="http://schemas.openxmlformats.org/officeDocument/2006/relationships/image" Target="../media/image32.jpeg"/><Relationship Id="rId9" Type="http://schemas.openxmlformats.org/officeDocument/2006/relationships/image" Target="../media/image3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3491" y="1034467"/>
            <a:ext cx="10834254" cy="3630035"/>
          </a:xfrm>
        </p:spPr>
        <p:txBody>
          <a:bodyPr>
            <a:noAutofit/>
          </a:bodyPr>
          <a:lstStyle/>
          <a:p>
            <a:r>
              <a:rPr lang="en-AU" b="1" dirty="0"/>
              <a:t>Atypical handedness as a marker of altered brain lateralization</a:t>
            </a:r>
            <a:r>
              <a:rPr lang="en-GB" b="1" dirty="0"/>
              <a:t>: genetic and clinical study in bipolar </a:t>
            </a:r>
            <a:r>
              <a:rPr lang="en-GB" b="1" dirty="0" smtClean="0"/>
              <a:t>disorder</a:t>
            </a:r>
            <a:endParaRPr lang="en-GB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3224067" y="5015802"/>
            <a:ext cx="5753101" cy="1433489"/>
          </a:xfrm>
        </p:spPr>
        <p:txBody>
          <a:bodyPr/>
          <a:lstStyle/>
          <a:p>
            <a:r>
              <a:rPr lang="es-ES" dirty="0" smtClean="0"/>
              <a:t>Inés García-Ortiz</a:t>
            </a:r>
          </a:p>
          <a:p>
            <a:r>
              <a:rPr lang="en-GB" sz="2000" dirty="0" smtClean="0"/>
              <a:t>10</a:t>
            </a:r>
            <a:r>
              <a:rPr lang="en-GB" sz="2000" baseline="30000" dirty="0" smtClean="0"/>
              <a:t>th</a:t>
            </a:r>
            <a:r>
              <a:rPr lang="en-GB" sz="2000" dirty="0" smtClean="0"/>
              <a:t> North Sea Meeting on Laterality</a:t>
            </a:r>
          </a:p>
          <a:p>
            <a:r>
              <a:rPr lang="en-GB" sz="2000" dirty="0" smtClean="0"/>
              <a:t>19</a:t>
            </a:r>
            <a:r>
              <a:rPr lang="en-GB" sz="2000" baseline="30000" dirty="0" smtClean="0"/>
              <a:t>th</a:t>
            </a:r>
            <a:r>
              <a:rPr lang="en-GB" sz="2000" dirty="0" smtClean="0"/>
              <a:t> – 22</a:t>
            </a:r>
            <a:r>
              <a:rPr lang="en-GB" sz="2000" baseline="30000" dirty="0" smtClean="0"/>
              <a:t>nd</a:t>
            </a:r>
            <a:r>
              <a:rPr lang="en-GB" sz="2000" dirty="0" smtClean="0"/>
              <a:t> August 2026, Brighton</a:t>
            </a:r>
            <a:endParaRPr lang="en-GB" sz="2000" dirty="0"/>
          </a:p>
        </p:txBody>
      </p:sp>
      <p:pic>
        <p:nvPicPr>
          <p:cNvPr id="4" name="Google Shape;56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8"/>
            <a:ext cx="1808213" cy="79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5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71452" y="109417"/>
            <a:ext cx="1342150" cy="573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42299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47077" y="109048"/>
            <a:ext cx="10515600" cy="986714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/>
              <a:t>Bipolar </a:t>
            </a:r>
            <a:r>
              <a:rPr lang="es-ES" sz="4000" b="1" dirty="0" err="1"/>
              <a:t>disorder</a:t>
            </a:r>
            <a:endParaRPr lang="en-GB" sz="4000" b="1" dirty="0"/>
          </a:p>
        </p:txBody>
      </p:sp>
      <p:cxnSp>
        <p:nvCxnSpPr>
          <p:cNvPr id="4" name="Straight Connector 4"/>
          <p:cNvCxnSpPr/>
          <p:nvPr/>
        </p:nvCxnSpPr>
        <p:spPr>
          <a:xfrm flipH="1">
            <a:off x="932055" y="1448421"/>
            <a:ext cx="4665" cy="44557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" name="Straight Connector 6"/>
          <p:cNvCxnSpPr/>
          <p:nvPr/>
        </p:nvCxnSpPr>
        <p:spPr>
          <a:xfrm>
            <a:off x="932055" y="3689817"/>
            <a:ext cx="742716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7"/>
          <p:cNvSpPr txBox="1"/>
          <p:nvPr/>
        </p:nvSpPr>
        <p:spPr>
          <a:xfrm>
            <a:off x="956565" y="2802615"/>
            <a:ext cx="918855" cy="43088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AU" sz="2200" b="1" dirty="0"/>
              <a:t>Mood</a:t>
            </a:r>
          </a:p>
        </p:txBody>
      </p:sp>
      <p:sp>
        <p:nvSpPr>
          <p:cNvPr id="7" name="TextBox 8"/>
          <p:cNvSpPr txBox="1"/>
          <p:nvPr/>
        </p:nvSpPr>
        <p:spPr>
          <a:xfrm>
            <a:off x="956565" y="6256822"/>
            <a:ext cx="1858719" cy="430887"/>
          </a:xfrm>
          <a:prstGeom prst="rect">
            <a:avLst/>
          </a:prstGeom>
          <a:solidFill>
            <a:schemeClr val="tx1"/>
          </a:solidFill>
          <a:ln/>
          <a:effec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AU" sz="2200" b="1" dirty="0">
                <a:solidFill>
                  <a:srgbClr val="FFC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Depression</a:t>
            </a:r>
          </a:p>
        </p:txBody>
      </p:sp>
      <p:sp>
        <p:nvSpPr>
          <p:cNvPr id="8" name="TextBox 9"/>
          <p:cNvSpPr txBox="1"/>
          <p:nvPr/>
        </p:nvSpPr>
        <p:spPr>
          <a:xfrm>
            <a:off x="956565" y="835546"/>
            <a:ext cx="1715864" cy="430887"/>
          </a:xfrm>
          <a:prstGeom prst="rect">
            <a:avLst/>
          </a:prstGeom>
          <a:solidFill>
            <a:srgbClr val="FFC000"/>
          </a:solidFill>
          <a:ln/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AU" sz="2200" b="1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Mania</a:t>
            </a:r>
          </a:p>
        </p:txBody>
      </p:sp>
      <p:sp>
        <p:nvSpPr>
          <p:cNvPr id="9" name="Freeform 22"/>
          <p:cNvSpPr/>
          <p:nvPr/>
        </p:nvSpPr>
        <p:spPr>
          <a:xfrm>
            <a:off x="932055" y="1327373"/>
            <a:ext cx="7152435" cy="4697838"/>
          </a:xfrm>
          <a:custGeom>
            <a:avLst/>
            <a:gdLst>
              <a:gd name="connsiteX0" fmla="*/ 0 w 7124700"/>
              <a:gd name="connsiteY0" fmla="*/ 2007845 h 3964665"/>
              <a:gd name="connsiteX1" fmla="*/ 472440 w 7124700"/>
              <a:gd name="connsiteY1" fmla="*/ 2099285 h 3964665"/>
              <a:gd name="connsiteX2" fmla="*/ 853440 w 7124700"/>
              <a:gd name="connsiteY2" fmla="*/ 3211805 h 3964665"/>
              <a:gd name="connsiteX3" fmla="*/ 1196340 w 7124700"/>
              <a:gd name="connsiteY3" fmla="*/ 3785 h 3964665"/>
              <a:gd name="connsiteX4" fmla="*/ 1645920 w 7124700"/>
              <a:gd name="connsiteY4" fmla="*/ 3958565 h 3964665"/>
              <a:gd name="connsiteX5" fmla="*/ 1950720 w 7124700"/>
              <a:gd name="connsiteY5" fmla="*/ 956285 h 3964665"/>
              <a:gd name="connsiteX6" fmla="*/ 2247900 w 7124700"/>
              <a:gd name="connsiteY6" fmla="*/ 2937485 h 3964665"/>
              <a:gd name="connsiteX7" fmla="*/ 2674620 w 7124700"/>
              <a:gd name="connsiteY7" fmla="*/ 41885 h 3964665"/>
              <a:gd name="connsiteX8" fmla="*/ 2910840 w 7124700"/>
              <a:gd name="connsiteY8" fmla="*/ 3950945 h 3964665"/>
              <a:gd name="connsiteX9" fmla="*/ 3268980 w 7124700"/>
              <a:gd name="connsiteY9" fmla="*/ 941045 h 3964665"/>
              <a:gd name="connsiteX10" fmla="*/ 3703320 w 7124700"/>
              <a:gd name="connsiteY10" fmla="*/ 3851885 h 3964665"/>
              <a:gd name="connsiteX11" fmla="*/ 3947160 w 7124700"/>
              <a:gd name="connsiteY11" fmla="*/ 133325 h 3964665"/>
              <a:gd name="connsiteX12" fmla="*/ 4038600 w 7124700"/>
              <a:gd name="connsiteY12" fmla="*/ 3783305 h 3964665"/>
              <a:gd name="connsiteX13" fmla="*/ 4274820 w 7124700"/>
              <a:gd name="connsiteY13" fmla="*/ 194285 h 3964665"/>
              <a:gd name="connsiteX14" fmla="*/ 4358640 w 7124700"/>
              <a:gd name="connsiteY14" fmla="*/ 3798545 h 3964665"/>
              <a:gd name="connsiteX15" fmla="*/ 4579620 w 7124700"/>
              <a:gd name="connsiteY15" fmla="*/ 232385 h 3964665"/>
              <a:gd name="connsiteX16" fmla="*/ 4648200 w 7124700"/>
              <a:gd name="connsiteY16" fmla="*/ 3783305 h 3964665"/>
              <a:gd name="connsiteX17" fmla="*/ 4899660 w 7124700"/>
              <a:gd name="connsiteY17" fmla="*/ 1322045 h 3964665"/>
              <a:gd name="connsiteX18" fmla="*/ 5273040 w 7124700"/>
              <a:gd name="connsiteY18" fmla="*/ 2228825 h 3964665"/>
              <a:gd name="connsiteX19" fmla="*/ 5905500 w 7124700"/>
              <a:gd name="connsiteY19" fmla="*/ 2007845 h 3964665"/>
              <a:gd name="connsiteX20" fmla="*/ 7124700 w 7124700"/>
              <a:gd name="connsiteY20" fmla="*/ 1977365 h 3964665"/>
              <a:gd name="connsiteX21" fmla="*/ 7124700 w 7124700"/>
              <a:gd name="connsiteY21" fmla="*/ 1977365 h 3964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7124700" h="3964665">
                <a:moveTo>
                  <a:pt x="0" y="2007845"/>
                </a:moveTo>
                <a:cubicBezTo>
                  <a:pt x="165100" y="1953235"/>
                  <a:pt x="330200" y="1898625"/>
                  <a:pt x="472440" y="2099285"/>
                </a:cubicBezTo>
                <a:cubicBezTo>
                  <a:pt x="614680" y="2299945"/>
                  <a:pt x="732790" y="3561055"/>
                  <a:pt x="853440" y="3211805"/>
                </a:cubicBezTo>
                <a:cubicBezTo>
                  <a:pt x="974090" y="2862555"/>
                  <a:pt x="1064260" y="-120675"/>
                  <a:pt x="1196340" y="3785"/>
                </a:cubicBezTo>
                <a:cubicBezTo>
                  <a:pt x="1328420" y="128245"/>
                  <a:pt x="1520190" y="3799815"/>
                  <a:pt x="1645920" y="3958565"/>
                </a:cubicBezTo>
                <a:cubicBezTo>
                  <a:pt x="1771650" y="4117315"/>
                  <a:pt x="1850390" y="1126465"/>
                  <a:pt x="1950720" y="956285"/>
                </a:cubicBezTo>
                <a:cubicBezTo>
                  <a:pt x="2051050" y="786105"/>
                  <a:pt x="2127250" y="3089885"/>
                  <a:pt x="2247900" y="2937485"/>
                </a:cubicBezTo>
                <a:cubicBezTo>
                  <a:pt x="2368550" y="2785085"/>
                  <a:pt x="2564130" y="-127025"/>
                  <a:pt x="2674620" y="41885"/>
                </a:cubicBezTo>
                <a:cubicBezTo>
                  <a:pt x="2785110" y="210795"/>
                  <a:pt x="2811780" y="3801085"/>
                  <a:pt x="2910840" y="3950945"/>
                </a:cubicBezTo>
                <a:cubicBezTo>
                  <a:pt x="3009900" y="4100805"/>
                  <a:pt x="3136900" y="957555"/>
                  <a:pt x="3268980" y="941045"/>
                </a:cubicBezTo>
                <a:cubicBezTo>
                  <a:pt x="3401060" y="924535"/>
                  <a:pt x="3590290" y="3986505"/>
                  <a:pt x="3703320" y="3851885"/>
                </a:cubicBezTo>
                <a:cubicBezTo>
                  <a:pt x="3816350" y="3717265"/>
                  <a:pt x="3891280" y="144755"/>
                  <a:pt x="3947160" y="133325"/>
                </a:cubicBezTo>
                <a:cubicBezTo>
                  <a:pt x="4003040" y="121895"/>
                  <a:pt x="3983990" y="3773145"/>
                  <a:pt x="4038600" y="3783305"/>
                </a:cubicBezTo>
                <a:cubicBezTo>
                  <a:pt x="4093210" y="3793465"/>
                  <a:pt x="4221480" y="191745"/>
                  <a:pt x="4274820" y="194285"/>
                </a:cubicBezTo>
                <a:cubicBezTo>
                  <a:pt x="4328160" y="196825"/>
                  <a:pt x="4307840" y="3792195"/>
                  <a:pt x="4358640" y="3798545"/>
                </a:cubicBezTo>
                <a:cubicBezTo>
                  <a:pt x="4409440" y="3804895"/>
                  <a:pt x="4531360" y="234925"/>
                  <a:pt x="4579620" y="232385"/>
                </a:cubicBezTo>
                <a:cubicBezTo>
                  <a:pt x="4627880" y="229845"/>
                  <a:pt x="4594860" y="3601695"/>
                  <a:pt x="4648200" y="3783305"/>
                </a:cubicBezTo>
                <a:cubicBezTo>
                  <a:pt x="4701540" y="3964915"/>
                  <a:pt x="4795520" y="1581125"/>
                  <a:pt x="4899660" y="1322045"/>
                </a:cubicBezTo>
                <a:cubicBezTo>
                  <a:pt x="5003800" y="1062965"/>
                  <a:pt x="5105400" y="2114525"/>
                  <a:pt x="5273040" y="2228825"/>
                </a:cubicBezTo>
                <a:cubicBezTo>
                  <a:pt x="5440680" y="2343125"/>
                  <a:pt x="5596890" y="2049755"/>
                  <a:pt x="5905500" y="2007845"/>
                </a:cubicBezTo>
                <a:cubicBezTo>
                  <a:pt x="6214110" y="1965935"/>
                  <a:pt x="7124700" y="1977365"/>
                  <a:pt x="7124700" y="1977365"/>
                </a:cubicBezTo>
                <a:lnTo>
                  <a:pt x="7124700" y="1977365"/>
                </a:lnTo>
              </a:path>
            </a:pathLst>
          </a:custGeom>
          <a:noFill/>
          <a:ln w="28575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10" name="Straight Connector 25"/>
          <p:cNvCxnSpPr/>
          <p:nvPr/>
        </p:nvCxnSpPr>
        <p:spPr>
          <a:xfrm flipH="1">
            <a:off x="936255" y="1972244"/>
            <a:ext cx="21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67"/>
          <p:cNvSpPr txBox="1"/>
          <p:nvPr/>
        </p:nvSpPr>
        <p:spPr>
          <a:xfrm>
            <a:off x="3936869" y="1061126"/>
            <a:ext cx="11428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b="1" dirty="0">
                <a:solidFill>
                  <a:srgbClr val="C00000"/>
                </a:solidFill>
              </a:rPr>
              <a:t>Psychosis</a:t>
            </a:r>
          </a:p>
        </p:txBody>
      </p:sp>
      <p:sp>
        <p:nvSpPr>
          <p:cNvPr id="14" name="Rectángulo: esquinas redondeadas 1">
            <a:extLst>
              <a:ext uri="{FF2B5EF4-FFF2-40B4-BE49-F238E27FC236}">
                <a16:creationId xmlns:a16="http://schemas.microsoft.com/office/drawing/2014/main" id="{A04DDA6C-336C-9838-DCF9-C6858B1D8DAA}"/>
              </a:ext>
            </a:extLst>
          </p:cNvPr>
          <p:cNvSpPr/>
          <p:nvPr/>
        </p:nvSpPr>
        <p:spPr>
          <a:xfrm>
            <a:off x="8513768" y="2925859"/>
            <a:ext cx="3078461" cy="150086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lnSpc>
                <a:spcPct val="150000"/>
              </a:lnSpc>
            </a:pPr>
            <a:r>
              <a:rPr lang="es-ES" sz="2000" b="1" dirty="0">
                <a:solidFill>
                  <a:schemeClr val="tx1"/>
                </a:solidFill>
              </a:rPr>
              <a:t>Heritability: 80</a:t>
            </a:r>
            <a:r>
              <a:rPr lang="es-ES" sz="2000" b="1" dirty="0" smtClean="0">
                <a:solidFill>
                  <a:schemeClr val="tx1"/>
                </a:solidFill>
              </a:rPr>
              <a:t>%</a:t>
            </a:r>
          </a:p>
          <a:p>
            <a:pPr algn="ctr">
              <a:lnSpc>
                <a:spcPct val="150000"/>
              </a:lnSpc>
            </a:pPr>
            <a:r>
              <a:rPr lang="es-ES" sz="2000" b="1" dirty="0" err="1" smtClean="0">
                <a:solidFill>
                  <a:schemeClr val="tx1"/>
                </a:solidFill>
              </a:rPr>
              <a:t>Prevalence</a:t>
            </a:r>
            <a:r>
              <a:rPr lang="es-ES" sz="2000" b="1" dirty="0" smtClean="0">
                <a:solidFill>
                  <a:schemeClr val="tx1"/>
                </a:solidFill>
              </a:rPr>
              <a:t> ~1%</a:t>
            </a:r>
          </a:p>
          <a:p>
            <a:pPr algn="ctr">
              <a:lnSpc>
                <a:spcPct val="150000"/>
              </a:lnSpc>
            </a:pPr>
            <a:r>
              <a:rPr lang="es-ES" sz="2000" b="1" dirty="0" smtClean="0">
                <a:solidFill>
                  <a:schemeClr val="tx1"/>
                </a:solidFill>
              </a:rPr>
              <a:t>50% </a:t>
            </a:r>
            <a:r>
              <a:rPr lang="es-ES" sz="2000" b="1" dirty="0" err="1" smtClean="0">
                <a:solidFill>
                  <a:schemeClr val="tx1"/>
                </a:solidFill>
              </a:rPr>
              <a:t>suicidal</a:t>
            </a:r>
            <a:r>
              <a:rPr lang="es-ES" sz="2000" b="1" dirty="0" smtClean="0">
                <a:solidFill>
                  <a:schemeClr val="tx1"/>
                </a:solidFill>
              </a:rPr>
              <a:t> </a:t>
            </a:r>
            <a:r>
              <a:rPr lang="es-ES" sz="2000" b="1" dirty="0" err="1" smtClean="0">
                <a:solidFill>
                  <a:schemeClr val="tx1"/>
                </a:solidFill>
              </a:rPr>
              <a:t>behaviour</a:t>
            </a:r>
            <a:endParaRPr lang="es-ES" sz="2000" b="1" dirty="0">
              <a:solidFill>
                <a:schemeClr val="tx1"/>
              </a:solidFill>
            </a:endParaRPr>
          </a:p>
        </p:txBody>
      </p:sp>
      <p:sp>
        <p:nvSpPr>
          <p:cNvPr id="3" name="Igual que 2"/>
          <p:cNvSpPr/>
          <p:nvPr/>
        </p:nvSpPr>
        <p:spPr>
          <a:xfrm rot="19154186">
            <a:off x="6840650" y="3521141"/>
            <a:ext cx="923277" cy="337351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Igual que 14"/>
          <p:cNvSpPr/>
          <p:nvPr/>
        </p:nvSpPr>
        <p:spPr>
          <a:xfrm rot="19154186">
            <a:off x="4068891" y="4541705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Igual que 15"/>
          <p:cNvSpPr/>
          <p:nvPr/>
        </p:nvSpPr>
        <p:spPr>
          <a:xfrm rot="19154186">
            <a:off x="2061114" y="5231049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Igual que 16"/>
          <p:cNvSpPr/>
          <p:nvPr/>
        </p:nvSpPr>
        <p:spPr>
          <a:xfrm rot="19154186">
            <a:off x="2930600" y="2895937"/>
            <a:ext cx="747701" cy="265565"/>
          </a:xfrm>
          <a:prstGeom prst="mathEqual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TextBox 67"/>
          <p:cNvSpPr txBox="1"/>
          <p:nvPr/>
        </p:nvSpPr>
        <p:spPr>
          <a:xfrm>
            <a:off x="6377975" y="4031323"/>
            <a:ext cx="11428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b="1" dirty="0" smtClean="0"/>
              <a:t>Suicide behaviour</a:t>
            </a:r>
            <a:endParaRPr lang="en-AU" b="1" dirty="0"/>
          </a:p>
        </p:txBody>
      </p:sp>
      <p:pic>
        <p:nvPicPr>
          <p:cNvPr id="2050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3872833" y="1760432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5538875" y="1046807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Marcador de número de diapositiva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2</a:t>
            </a:fld>
            <a:endParaRPr lang="en-GB"/>
          </a:p>
        </p:txBody>
      </p:sp>
      <p:sp>
        <p:nvSpPr>
          <p:cNvPr id="12" name="CuadroTexto 11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22" name="Picture 2" descr="Psychosis linear icon. Paranoid and scared person. Confused mind.  Schizophrenia. Depression. Mental disorder. Thin line illustration. Contour  symbol Stock Vector Image &amp; Art - Alamy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66227" l="12667" r="88000">
                        <a14:foregroundMark x1="34000" y1="23483" x2="34000" y2="23483"/>
                        <a14:foregroundMark x1="45000" y1="19525" x2="45000" y2="19525"/>
                        <a14:foregroundMark x1="51333" y1="18470" x2="51333" y2="18470"/>
                        <a14:foregroundMark x1="50000" y1="26649" x2="50000" y2="26649"/>
                      </a14:backgroundRemoval>
                    </a14:imgEffect>
                    <a14:imgEffect>
                      <a14:sharpenSoften amount="50000"/>
                    </a14:imgEffect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780" r="10619" b="33764"/>
          <a:stretch/>
        </p:blipFill>
        <p:spPr bwMode="auto">
          <a:xfrm>
            <a:off x="2844853" y="4480812"/>
            <a:ext cx="593999" cy="632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3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" grpId="0" animBg="1"/>
      <p:bldP spid="15" grpId="0" animBg="1"/>
      <p:bldP spid="16" grpId="0" animBg="1"/>
      <p:bldP spid="17" grpId="0" animBg="1"/>
      <p:bldP spid="1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63285"/>
            <a:ext cx="12192000" cy="1087522"/>
          </a:xfrm>
        </p:spPr>
        <p:txBody>
          <a:bodyPr>
            <a:normAutofit/>
          </a:bodyPr>
          <a:lstStyle/>
          <a:p>
            <a:pPr algn="ctr"/>
            <a:r>
              <a:rPr lang="en-GB" sz="4000" b="1" dirty="0"/>
              <a:t>GWAS in BD (PGC-4): </a:t>
            </a:r>
            <a:r>
              <a:rPr lang="en-US" sz="4000" b="1" dirty="0">
                <a:ea typeface="Cambria" panose="02040503050406030204" pitchFamily="18" charset="0"/>
                <a:cs typeface="Arial" panose="020B0604020202020204" pitchFamily="34" charset="0"/>
              </a:rPr>
              <a:t>158,000 cases and </a:t>
            </a:r>
            <a:r>
              <a:rPr lang="en-US" sz="4000" b="1" dirty="0" smtClean="0">
                <a:ea typeface="Cambria" panose="02040503050406030204" pitchFamily="18" charset="0"/>
                <a:cs typeface="Arial" panose="020B0604020202020204" pitchFamily="34" charset="0"/>
              </a:rPr>
              <a:t>2.8 </a:t>
            </a:r>
            <a:r>
              <a:rPr lang="en-US" sz="4000" b="1" dirty="0">
                <a:ea typeface="Cambria" panose="02040503050406030204" pitchFamily="18" charset="0"/>
                <a:cs typeface="Arial" panose="020B0604020202020204" pitchFamily="34" charset="0"/>
              </a:rPr>
              <a:t>M </a:t>
            </a:r>
            <a:r>
              <a:rPr lang="en-US" sz="4000" b="1" dirty="0" smtClean="0">
                <a:ea typeface="Cambria" panose="02040503050406030204" pitchFamily="18" charset="0"/>
                <a:cs typeface="Arial" panose="020B0604020202020204" pitchFamily="34" charset="0"/>
              </a:rPr>
              <a:t>controls</a:t>
            </a:r>
            <a:endParaRPr lang="en-GB" sz="4000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3</a:t>
            </a:fld>
            <a:endParaRPr lang="en-GB"/>
          </a:p>
        </p:txBody>
      </p:sp>
      <p:pic>
        <p:nvPicPr>
          <p:cNvPr id="6" name="Picture 2" descr="Extended Data Fig.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526" y="1487283"/>
            <a:ext cx="10606598" cy="48977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05A5D37A-792B-A350-3EB4-E0967F65F848}"/>
              </a:ext>
            </a:extLst>
          </p:cNvPr>
          <p:cNvSpPr txBox="1">
            <a:spLocks/>
          </p:cNvSpPr>
          <p:nvPr/>
        </p:nvSpPr>
        <p:spPr>
          <a:xfrm>
            <a:off x="10420051" y="2109829"/>
            <a:ext cx="1183064" cy="429185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cs typeface="Arial"/>
              </a:rPr>
              <a:t>298 loci</a:t>
            </a:r>
            <a:endParaRPr lang="es-ES" sz="2400" b="1" dirty="0">
              <a:cs typeface="Arial"/>
            </a:endParaRPr>
          </a:p>
        </p:txBody>
      </p:sp>
      <p:sp>
        <p:nvSpPr>
          <p:cNvPr id="8" name="TextBox 2"/>
          <p:cNvSpPr txBox="1"/>
          <p:nvPr/>
        </p:nvSpPr>
        <p:spPr>
          <a:xfrm>
            <a:off x="9093735" y="5492446"/>
            <a:ext cx="2343815" cy="89255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GB" sz="1300" b="1" dirty="0"/>
              <a:t>European (229 GWS loci)</a:t>
            </a:r>
          </a:p>
          <a:p>
            <a:r>
              <a:rPr lang="en-GB" sz="1300" b="1" dirty="0">
                <a:solidFill>
                  <a:srgbClr val="00B050"/>
                </a:solidFill>
              </a:rPr>
              <a:t>Latino (0 GWS loci)</a:t>
            </a:r>
          </a:p>
          <a:p>
            <a:r>
              <a:rPr lang="en-GB" sz="1300" b="1" dirty="0">
                <a:solidFill>
                  <a:srgbClr val="FF0000"/>
                </a:solidFill>
              </a:rPr>
              <a:t>East Asian (1 GWS loci)</a:t>
            </a:r>
          </a:p>
          <a:p>
            <a:r>
              <a:rPr lang="en-GB" sz="1300" b="1" dirty="0">
                <a:solidFill>
                  <a:srgbClr val="7030A0"/>
                </a:solidFill>
              </a:rPr>
              <a:t>African American (0 GWS loci)</a:t>
            </a:r>
          </a:p>
        </p:txBody>
      </p:sp>
      <p:sp>
        <p:nvSpPr>
          <p:cNvPr id="10" name="CuadroTexto 9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068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/>
          <a:lstStyle/>
          <a:p>
            <a:pPr algn="ctr"/>
            <a:r>
              <a:rPr lang="es-ES" b="1" dirty="0" err="1" smtClean="0"/>
              <a:t>Handedness</a:t>
            </a:r>
            <a:r>
              <a:rPr lang="es-ES" b="1" dirty="0" smtClean="0"/>
              <a:t> in general </a:t>
            </a:r>
            <a:r>
              <a:rPr lang="es-ES" b="1" dirty="0" err="1" smtClean="0"/>
              <a:t>population</a:t>
            </a:r>
            <a:endParaRPr lang="en-GB" b="1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CE9EBB2-6024-EEF2-F9E0-9D00E45D3E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42" t="1546" r="3501"/>
          <a:stretch>
            <a:fillRect/>
          </a:stretch>
        </p:blipFill>
        <p:spPr>
          <a:xfrm>
            <a:off x="5676219" y="1492577"/>
            <a:ext cx="6442671" cy="3378319"/>
          </a:xfrm>
          <a:prstGeom prst="rect">
            <a:avLst/>
          </a:prstGeom>
        </p:spPr>
      </p:pic>
      <p:sp>
        <p:nvSpPr>
          <p:cNvPr id="5" name="CuadroTexto 4"/>
          <p:cNvSpPr txBox="1"/>
          <p:nvPr/>
        </p:nvSpPr>
        <p:spPr>
          <a:xfrm>
            <a:off x="163989" y="2124345"/>
            <a:ext cx="554548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 smtClean="0"/>
              <a:t>Left-handed (LH)</a:t>
            </a:r>
            <a:r>
              <a:rPr lang="en-GB" sz="2800" dirty="0" smtClean="0"/>
              <a:t>:  ~ 10%</a:t>
            </a:r>
          </a:p>
          <a:p>
            <a:r>
              <a:rPr lang="en-GB" sz="2800" b="1" dirty="0" smtClean="0"/>
              <a:t>Sex differences</a:t>
            </a:r>
            <a:r>
              <a:rPr lang="en-GB" sz="2800" dirty="0" smtClean="0"/>
              <a:t>: 12% men, 8% women</a:t>
            </a:r>
          </a:p>
          <a:p>
            <a:r>
              <a:rPr lang="en-GB" sz="2800" b="1" dirty="0" smtClean="0"/>
              <a:t>Non-right-handedness (NRH)</a:t>
            </a:r>
            <a:r>
              <a:rPr lang="en-GB" sz="2800" dirty="0" smtClean="0"/>
              <a:t>: ~18% </a:t>
            </a:r>
          </a:p>
        </p:txBody>
      </p:sp>
      <p:sp>
        <p:nvSpPr>
          <p:cNvPr id="6" name="CuadroTexto 5"/>
          <p:cNvSpPr txBox="1"/>
          <p:nvPr/>
        </p:nvSpPr>
        <p:spPr>
          <a:xfrm>
            <a:off x="599402" y="5672632"/>
            <a:ext cx="10291156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err="1" smtClean="0"/>
              <a:t>Different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brain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assymetry</a:t>
            </a:r>
            <a:r>
              <a:rPr lang="es-ES" sz="3200" b="1" dirty="0" smtClean="0"/>
              <a:t> </a:t>
            </a:r>
            <a:r>
              <a:rPr lang="es-ES" sz="3200" b="1" dirty="0" err="1" smtClean="0"/>
              <a:t>patterns</a:t>
            </a:r>
            <a:r>
              <a:rPr lang="es-ES" sz="3200" b="1" dirty="0" smtClean="0"/>
              <a:t> in NRH </a:t>
            </a:r>
            <a:r>
              <a:rPr lang="es-ES" sz="3200" b="1" dirty="0" err="1" smtClean="0"/>
              <a:t>individuals</a:t>
            </a:r>
            <a:endParaRPr lang="en-GB" sz="3200" b="1" dirty="0"/>
          </a:p>
        </p:txBody>
      </p:sp>
      <p:sp>
        <p:nvSpPr>
          <p:cNvPr id="3" name="Rectángulo 2"/>
          <p:cNvSpPr/>
          <p:nvPr/>
        </p:nvSpPr>
        <p:spPr>
          <a:xfrm>
            <a:off x="2574685" y="4422366"/>
            <a:ext cx="1579419" cy="7065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i="1" dirty="0" smtClean="0">
                <a:solidFill>
                  <a:schemeClr val="tx1"/>
                </a:solidFill>
              </a:rPr>
              <a:t>H</a:t>
            </a:r>
            <a:r>
              <a:rPr lang="es-ES" sz="2800" b="1" i="1" baseline="30000" dirty="0" smtClean="0">
                <a:solidFill>
                  <a:schemeClr val="tx1"/>
                </a:solidFill>
              </a:rPr>
              <a:t>2</a:t>
            </a:r>
            <a:r>
              <a:rPr lang="es-ES" sz="2800" b="1" dirty="0" smtClean="0">
                <a:solidFill>
                  <a:schemeClr val="tx1"/>
                </a:solidFill>
              </a:rPr>
              <a:t> = 25%</a:t>
            </a:r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4</a:t>
            </a:fld>
            <a:endParaRPr lang="en-GB"/>
          </a:p>
        </p:txBody>
      </p:sp>
      <p:sp>
        <p:nvSpPr>
          <p:cNvPr id="8" name="CuadroTexto 7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CuadroTexto 8"/>
          <p:cNvSpPr txBox="1"/>
          <p:nvPr/>
        </p:nvSpPr>
        <p:spPr>
          <a:xfrm>
            <a:off x="7900386" y="4870896"/>
            <a:ext cx="413699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100" dirty="0" err="1" smtClean="0"/>
              <a:t>Fernandez</a:t>
            </a:r>
            <a:r>
              <a:rPr lang="es-ES" sz="1100" dirty="0" smtClean="0"/>
              <a:t>-Velasco et al. 2023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2394819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247547"/>
            <a:ext cx="12192000" cy="1325563"/>
          </a:xfrm>
        </p:spPr>
        <p:txBody>
          <a:bodyPr/>
          <a:lstStyle/>
          <a:p>
            <a:pPr algn="ctr"/>
            <a:r>
              <a:rPr lang="es-ES" b="1" dirty="0" smtClean="0"/>
              <a:t>GWAS of </a:t>
            </a:r>
            <a:r>
              <a:rPr lang="es-ES" b="1" dirty="0" err="1" smtClean="0"/>
              <a:t>handedness</a:t>
            </a:r>
            <a:r>
              <a:rPr lang="es-ES" b="1" dirty="0" smtClean="0"/>
              <a:t>: </a:t>
            </a:r>
            <a:r>
              <a:rPr lang="en-GB" b="1" dirty="0" smtClean="0"/>
              <a:t>194K left-handers, 1.5 M controls </a:t>
            </a:r>
            <a:endParaRPr lang="en-GB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5</a:t>
            </a:fld>
            <a:endParaRPr lang="en-GB"/>
          </a:p>
        </p:txBody>
      </p:sp>
      <p:pic>
        <p:nvPicPr>
          <p:cNvPr id="1026" name="Picture 2" descr="Fig.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0225" y="1562474"/>
            <a:ext cx="8734887" cy="5295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Rectángulo 4"/>
          <p:cNvSpPr/>
          <p:nvPr/>
        </p:nvSpPr>
        <p:spPr>
          <a:xfrm>
            <a:off x="9099612" y="1946765"/>
            <a:ext cx="2513621" cy="1346010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s-ES" sz="2400" b="1" dirty="0">
                <a:cs typeface="Arial"/>
              </a:rPr>
              <a:t>48 </a:t>
            </a:r>
            <a:r>
              <a:rPr lang="es-ES" sz="2400" b="1" dirty="0" err="1">
                <a:cs typeface="Arial"/>
              </a:rPr>
              <a:t>loci</a:t>
            </a:r>
            <a:endParaRPr lang="en-GB" sz="2400" b="1" dirty="0">
              <a:cs typeface="Arial"/>
            </a:endParaRPr>
          </a:p>
          <a:p>
            <a:pPr algn="ctr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GB" sz="2400" b="1" dirty="0">
                <a:cs typeface="Arial"/>
              </a:rPr>
              <a:t>3.45% SNP-based </a:t>
            </a:r>
            <a:r>
              <a:rPr lang="en-GB" sz="2400" b="1" dirty="0" smtClean="0">
                <a:cs typeface="Arial"/>
              </a:rPr>
              <a:t>heritability</a:t>
            </a:r>
            <a:endParaRPr lang="en-GB" sz="2400" b="1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42692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 err="1" smtClean="0"/>
              <a:t>Handedness</a:t>
            </a:r>
            <a:r>
              <a:rPr lang="es-ES" sz="4000" b="1" dirty="0" smtClean="0"/>
              <a:t> in </a:t>
            </a:r>
            <a:r>
              <a:rPr lang="es-ES" sz="4000" b="1" dirty="0" err="1" smtClean="0"/>
              <a:t>neurodevelopmental</a:t>
            </a:r>
            <a:r>
              <a:rPr lang="es-ES" sz="4000" b="1" dirty="0" smtClean="0"/>
              <a:t>/</a:t>
            </a:r>
            <a:r>
              <a:rPr lang="es-ES" sz="4000" b="1" dirty="0" err="1" smtClean="0"/>
              <a:t>psychiatric</a:t>
            </a:r>
            <a:r>
              <a:rPr lang="es-ES" sz="4000" b="1" dirty="0" smtClean="0"/>
              <a:t> disorders</a:t>
            </a:r>
            <a:endParaRPr lang="en-GB" sz="4000" b="1" dirty="0"/>
          </a:p>
        </p:txBody>
      </p:sp>
      <p:pic>
        <p:nvPicPr>
          <p:cNvPr id="4" name="Google Shape;76;p15"/>
          <p:cNvPicPr preferRelativeResize="0"/>
          <p:nvPr/>
        </p:nvPicPr>
        <p:blipFill rotWithShape="1">
          <a:blip r:embed="rId2">
            <a:alphaModFix/>
          </a:blip>
          <a:srcRect l="25345" t="5525" b="11274"/>
          <a:stretch/>
        </p:blipFill>
        <p:spPr>
          <a:xfrm>
            <a:off x="1173018" y="1148139"/>
            <a:ext cx="4922982" cy="448362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uadroTexto 4"/>
          <p:cNvSpPr txBox="1"/>
          <p:nvPr/>
        </p:nvSpPr>
        <p:spPr>
          <a:xfrm>
            <a:off x="1169141" y="5652847"/>
            <a:ext cx="46181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 smtClean="0"/>
              <a:t>High </a:t>
            </a:r>
            <a:r>
              <a:rPr lang="es-ES" sz="2800" b="1" u="sng" dirty="0" smtClean="0">
                <a:uFill>
                  <a:solidFill>
                    <a:srgbClr val="FF0000"/>
                  </a:solidFill>
                </a:uFill>
              </a:rPr>
              <a:t>genetic</a:t>
            </a:r>
            <a:r>
              <a:rPr lang="es-ES" sz="2800" b="1" dirty="0" smtClean="0"/>
              <a:t> + </a:t>
            </a:r>
            <a:r>
              <a:rPr lang="es-ES" sz="2800" b="1" u="sng" dirty="0" smtClean="0">
                <a:uFill>
                  <a:solidFill>
                    <a:schemeClr val="accent1"/>
                  </a:solidFill>
                </a:uFill>
              </a:rPr>
              <a:t>clinical</a:t>
            </a:r>
            <a:r>
              <a:rPr lang="es-ES" sz="2800" b="1" dirty="0" smtClean="0"/>
              <a:t> overlap in mental disorders</a:t>
            </a: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6</a:t>
            </a:fld>
            <a:endParaRPr lang="en-GB"/>
          </a:p>
        </p:txBody>
      </p:sp>
      <p:sp>
        <p:nvSpPr>
          <p:cNvPr id="29" name="CuadroTexto 28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D7F7974-D189-5E3B-3511-1044205A7774}"/>
              </a:ext>
            </a:extLst>
          </p:cNvPr>
          <p:cNvSpPr txBox="1"/>
          <p:nvPr/>
        </p:nvSpPr>
        <p:spPr>
          <a:xfrm>
            <a:off x="8993029" y="1148139"/>
            <a:ext cx="190046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s-ES" sz="2400" b="1" dirty="0" smtClean="0"/>
              <a:t>NRH</a:t>
            </a:r>
          </a:p>
          <a:p>
            <a:pPr algn="ctr">
              <a:lnSpc>
                <a:spcPct val="150000"/>
              </a:lnSpc>
            </a:pPr>
            <a:r>
              <a:rPr lang="es-ES" sz="2400" dirty="0" smtClean="0"/>
              <a:t>18%</a:t>
            </a:r>
            <a:endParaRPr lang="es-ES" sz="2400" dirty="0"/>
          </a:p>
          <a:p>
            <a:pPr algn="ctr">
              <a:lnSpc>
                <a:spcPct val="150000"/>
              </a:lnSpc>
            </a:pPr>
            <a:r>
              <a:rPr lang="es-ES" sz="2400" dirty="0" smtClean="0"/>
              <a:t>25%*</a:t>
            </a:r>
          </a:p>
          <a:p>
            <a:pPr algn="ctr">
              <a:lnSpc>
                <a:spcPct val="150000"/>
              </a:lnSpc>
            </a:pPr>
            <a:r>
              <a:rPr lang="es-ES" sz="2400" dirty="0" smtClean="0"/>
              <a:t>35% **</a:t>
            </a:r>
          </a:p>
          <a:p>
            <a:pPr algn="ctr">
              <a:lnSpc>
                <a:spcPct val="150000"/>
              </a:lnSpc>
            </a:pPr>
            <a:r>
              <a:rPr lang="es-ES" sz="2400" dirty="0" smtClean="0"/>
              <a:t>18%</a:t>
            </a:r>
          </a:p>
          <a:p>
            <a:pPr algn="ctr">
              <a:lnSpc>
                <a:spcPct val="150000"/>
              </a:lnSpc>
            </a:pPr>
            <a:r>
              <a:rPr lang="es-ES" sz="2400" b="1" dirty="0" smtClean="0"/>
              <a:t>35%**</a:t>
            </a:r>
          </a:p>
          <a:p>
            <a:pPr algn="ctr">
              <a:lnSpc>
                <a:spcPct val="150000"/>
              </a:lnSpc>
            </a:pPr>
            <a:r>
              <a:rPr lang="es-ES" sz="2400" b="1" dirty="0" smtClean="0"/>
              <a:t>???</a:t>
            </a:r>
            <a:endParaRPr lang="es-ES" sz="2400" b="1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DD7F7974-D189-5E3B-3511-1044205A7774}"/>
              </a:ext>
            </a:extLst>
          </p:cNvPr>
          <p:cNvSpPr txBox="1"/>
          <p:nvPr/>
        </p:nvSpPr>
        <p:spPr>
          <a:xfrm>
            <a:off x="6353427" y="1132565"/>
            <a:ext cx="294828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endParaRPr lang="es-ES" sz="2400" b="1" dirty="0" smtClean="0"/>
          </a:p>
          <a:p>
            <a:pPr algn="r">
              <a:lnSpc>
                <a:spcPct val="150000"/>
              </a:lnSpc>
            </a:pPr>
            <a:r>
              <a:rPr lang="es-ES" sz="2400" dirty="0" err="1" smtClean="0"/>
              <a:t>Controls</a:t>
            </a:r>
            <a:endParaRPr lang="es-ES" sz="2400" dirty="0"/>
          </a:p>
          <a:p>
            <a:pPr algn="r">
              <a:lnSpc>
                <a:spcPct val="150000"/>
              </a:lnSpc>
            </a:pPr>
            <a:r>
              <a:rPr lang="es-ES" sz="2400" dirty="0" smtClean="0"/>
              <a:t>ADHD</a:t>
            </a:r>
          </a:p>
          <a:p>
            <a:pPr algn="r">
              <a:lnSpc>
                <a:spcPct val="150000"/>
              </a:lnSpc>
            </a:pPr>
            <a:r>
              <a:rPr lang="es-ES" sz="2400" dirty="0" err="1" smtClean="0"/>
              <a:t>Autism</a:t>
            </a:r>
            <a:r>
              <a:rPr lang="es-ES" sz="2400" dirty="0" smtClean="0"/>
              <a:t> (ASD)</a:t>
            </a:r>
          </a:p>
          <a:p>
            <a:pPr algn="r">
              <a:lnSpc>
                <a:spcPct val="150000"/>
              </a:lnSpc>
            </a:pPr>
            <a:r>
              <a:rPr lang="es-ES" sz="2400" dirty="0" err="1" smtClean="0"/>
              <a:t>Depression</a:t>
            </a:r>
            <a:r>
              <a:rPr lang="es-ES" sz="2400" dirty="0" smtClean="0"/>
              <a:t> (DEP)</a:t>
            </a:r>
          </a:p>
          <a:p>
            <a:pPr algn="r">
              <a:lnSpc>
                <a:spcPct val="150000"/>
              </a:lnSpc>
            </a:pPr>
            <a:r>
              <a:rPr lang="es-ES" sz="2400" b="1" dirty="0" err="1" smtClean="0"/>
              <a:t>Schizophrenia</a:t>
            </a:r>
            <a:r>
              <a:rPr lang="es-ES" sz="2400" b="1" dirty="0" smtClean="0"/>
              <a:t> (SCZ)</a:t>
            </a:r>
          </a:p>
          <a:p>
            <a:pPr algn="r">
              <a:lnSpc>
                <a:spcPct val="150000"/>
              </a:lnSpc>
            </a:pPr>
            <a:r>
              <a:rPr lang="es-ES" sz="2400" b="1" dirty="0" smtClean="0"/>
              <a:t>BD</a:t>
            </a:r>
            <a:endParaRPr lang="es-ES" sz="2400" b="1" dirty="0"/>
          </a:p>
        </p:txBody>
      </p:sp>
      <p:sp>
        <p:nvSpPr>
          <p:cNvPr id="3" name="Elipse 2"/>
          <p:cNvSpPr/>
          <p:nvPr/>
        </p:nvSpPr>
        <p:spPr>
          <a:xfrm>
            <a:off x="2441360" y="1148139"/>
            <a:ext cx="1562469" cy="1568428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Elipse 15"/>
          <p:cNvSpPr/>
          <p:nvPr/>
        </p:nvSpPr>
        <p:spPr>
          <a:xfrm>
            <a:off x="4490936" y="2543413"/>
            <a:ext cx="1562469" cy="1568428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D0DFF0B-E50B-06BF-66F5-31A1A2654E16}"/>
              </a:ext>
            </a:extLst>
          </p:cNvPr>
          <p:cNvSpPr txBox="1"/>
          <p:nvPr/>
        </p:nvSpPr>
        <p:spPr>
          <a:xfrm>
            <a:off x="7679781" y="5037294"/>
            <a:ext cx="3213716" cy="156966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u="sng" dirty="0"/>
              <a:t>No concordant pattern</a:t>
            </a:r>
            <a:r>
              <a:rPr lang="es-ES" sz="2400" u="sng" dirty="0"/>
              <a:t>:</a:t>
            </a:r>
          </a:p>
          <a:p>
            <a:pPr algn="ctr"/>
            <a:r>
              <a:rPr lang="es-ES" sz="2400" dirty="0"/>
              <a:t>Small sample sizes</a:t>
            </a:r>
          </a:p>
          <a:p>
            <a:pPr algn="ctr"/>
            <a:r>
              <a:rPr lang="es-ES" sz="2400" dirty="0"/>
              <a:t>Lack of clinical data</a:t>
            </a:r>
          </a:p>
          <a:p>
            <a:pPr algn="ctr"/>
            <a:r>
              <a:rPr lang="es-ES" sz="2400" dirty="0"/>
              <a:t>Diverse measurements</a:t>
            </a:r>
          </a:p>
        </p:txBody>
      </p:sp>
    </p:spTree>
    <p:extLst>
      <p:ext uri="{BB962C8B-B14F-4D97-AF65-F5344CB8AC3E}">
        <p14:creationId xmlns:p14="http://schemas.microsoft.com/office/powerpoint/2010/main" val="3899370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3" grpId="0" animBg="1"/>
      <p:bldP spid="16" grpId="0" animBg="1"/>
      <p:bldP spid="1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25563"/>
          </a:xfrm>
        </p:spPr>
        <p:txBody>
          <a:bodyPr>
            <a:normAutofit/>
          </a:bodyPr>
          <a:lstStyle/>
          <a:p>
            <a:pPr algn="ctr"/>
            <a:r>
              <a:rPr lang="es-ES" sz="4000" b="1" dirty="0" err="1" smtClean="0"/>
              <a:t>Handedness</a:t>
            </a:r>
            <a:r>
              <a:rPr lang="es-ES" sz="4000" b="1" dirty="0" smtClean="0"/>
              <a:t> in </a:t>
            </a:r>
            <a:r>
              <a:rPr lang="es-ES" sz="4000" b="1" dirty="0" err="1" smtClean="0"/>
              <a:t>neurodevelopmental</a:t>
            </a:r>
            <a:r>
              <a:rPr lang="es-ES" sz="4000" b="1" dirty="0" smtClean="0"/>
              <a:t>/</a:t>
            </a:r>
            <a:r>
              <a:rPr lang="es-ES" sz="4000" b="1" dirty="0" err="1" smtClean="0"/>
              <a:t>psychiatric</a:t>
            </a:r>
            <a:r>
              <a:rPr lang="es-ES" sz="4000" b="1" dirty="0" smtClean="0"/>
              <a:t> disorders</a:t>
            </a:r>
            <a:endParaRPr lang="en-GB" sz="4000" b="1" dirty="0"/>
          </a:p>
        </p:txBody>
      </p:sp>
      <p:pic>
        <p:nvPicPr>
          <p:cNvPr id="4" name="Google Shape;76;p15"/>
          <p:cNvPicPr preferRelativeResize="0"/>
          <p:nvPr/>
        </p:nvPicPr>
        <p:blipFill rotWithShape="1">
          <a:blip r:embed="rId2">
            <a:alphaModFix/>
          </a:blip>
          <a:srcRect l="25345" t="5525" b="11274"/>
          <a:stretch/>
        </p:blipFill>
        <p:spPr>
          <a:xfrm>
            <a:off x="258618" y="1078972"/>
            <a:ext cx="4922982" cy="448362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uadroTexto 4"/>
          <p:cNvSpPr txBox="1"/>
          <p:nvPr/>
        </p:nvSpPr>
        <p:spPr>
          <a:xfrm>
            <a:off x="258618" y="5631767"/>
            <a:ext cx="46181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 smtClean="0"/>
              <a:t>High </a:t>
            </a:r>
            <a:r>
              <a:rPr lang="es-ES" sz="2800" b="1" u="sng" dirty="0" smtClean="0">
                <a:uFill>
                  <a:solidFill>
                    <a:srgbClr val="FF0000"/>
                  </a:solidFill>
                </a:uFill>
              </a:rPr>
              <a:t>genetic</a:t>
            </a:r>
            <a:r>
              <a:rPr lang="es-ES" sz="2800" b="1" dirty="0" smtClean="0"/>
              <a:t> + </a:t>
            </a:r>
            <a:r>
              <a:rPr lang="es-ES" sz="2800" b="1" u="sng" dirty="0" smtClean="0">
                <a:uFill>
                  <a:solidFill>
                    <a:schemeClr val="accent1"/>
                  </a:solidFill>
                </a:uFill>
              </a:rPr>
              <a:t>clinical</a:t>
            </a:r>
            <a:r>
              <a:rPr lang="es-ES" sz="2800" b="1" dirty="0" smtClean="0"/>
              <a:t> overlap in mental disorders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9AC7DFD-5540-8C9B-D578-4C74605103ED}"/>
              </a:ext>
            </a:extLst>
          </p:cNvPr>
          <p:cNvSpPr txBox="1"/>
          <p:nvPr/>
        </p:nvSpPr>
        <p:spPr>
          <a:xfrm>
            <a:off x="5416033" y="4231551"/>
            <a:ext cx="2587644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Schizophrenia </a:t>
            </a:r>
            <a:r>
              <a:rPr lang="es-ES" sz="2400" dirty="0"/>
              <a:t>(SCZ)</a:t>
            </a:r>
          </a:p>
          <a:p>
            <a:pPr algn="ctr"/>
            <a:r>
              <a:rPr lang="es-ES" sz="2400" dirty="0"/>
              <a:t>Left-</a:t>
            </a:r>
            <a:r>
              <a:rPr lang="en-US" sz="2400" noProof="0" dirty="0"/>
              <a:t>handed</a:t>
            </a:r>
            <a:r>
              <a:rPr lang="es-ES" sz="2400" dirty="0"/>
              <a:t>: ~20%</a:t>
            </a:r>
          </a:p>
          <a:p>
            <a:pPr algn="ctr"/>
            <a:r>
              <a:rPr lang="es-ES" sz="2400" dirty="0"/>
              <a:t>NRH: ~35%</a:t>
            </a:r>
            <a:r>
              <a:rPr lang="es-ES" sz="2400" b="1" dirty="0"/>
              <a:t>**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5D3924B-DEC9-564D-4C1E-F41BB1233C68}"/>
              </a:ext>
            </a:extLst>
          </p:cNvPr>
          <p:cNvSpPr txBox="1"/>
          <p:nvPr/>
        </p:nvSpPr>
        <p:spPr>
          <a:xfrm>
            <a:off x="8800703" y="3030237"/>
            <a:ext cx="2524017" cy="1200329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Bipolar disorder </a:t>
            </a:r>
            <a:r>
              <a:rPr lang="es-ES" sz="2400" dirty="0"/>
              <a:t>(BD)</a:t>
            </a:r>
          </a:p>
          <a:p>
            <a:pPr algn="ctr"/>
            <a:r>
              <a:rPr lang="es-ES" sz="2400" dirty="0"/>
              <a:t>???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B208FE0-A252-3BEE-7248-5F6ECD1E8CE2}"/>
              </a:ext>
            </a:extLst>
          </p:cNvPr>
          <p:cNvSpPr txBox="1"/>
          <p:nvPr/>
        </p:nvSpPr>
        <p:spPr>
          <a:xfrm>
            <a:off x="8666841" y="1827954"/>
            <a:ext cx="27917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Depression</a:t>
            </a:r>
            <a:r>
              <a:rPr lang="es-ES" sz="2400" dirty="0"/>
              <a:t> (DEP)</a:t>
            </a:r>
          </a:p>
          <a:p>
            <a:pPr algn="ctr"/>
            <a:r>
              <a:rPr lang="es-ES" sz="2400" dirty="0"/>
              <a:t>NRH: 18</a:t>
            </a:r>
            <a:r>
              <a:rPr lang="es-ES" sz="2400" dirty="0" smtClean="0"/>
              <a:t>%</a:t>
            </a:r>
            <a:endParaRPr lang="es-ES" sz="240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5AB82C21-CFEB-F5F2-0204-426DA9DE4F6F}"/>
              </a:ext>
            </a:extLst>
          </p:cNvPr>
          <p:cNvSpPr txBox="1"/>
          <p:nvPr/>
        </p:nvSpPr>
        <p:spPr>
          <a:xfrm>
            <a:off x="5623714" y="2987592"/>
            <a:ext cx="21732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Autism </a:t>
            </a:r>
            <a:r>
              <a:rPr lang="es-ES" sz="2400" dirty="0"/>
              <a:t>(ASD)</a:t>
            </a:r>
          </a:p>
          <a:p>
            <a:pPr algn="ctr"/>
            <a:r>
              <a:rPr lang="es-ES" sz="2400" dirty="0"/>
              <a:t>NRH: ~35</a:t>
            </a:r>
            <a:r>
              <a:rPr lang="es-ES" sz="2400" dirty="0" smtClean="0"/>
              <a:t>%</a:t>
            </a:r>
            <a:r>
              <a:rPr lang="es-ES" sz="2400" b="1" dirty="0" smtClean="0"/>
              <a:t>**</a:t>
            </a:r>
            <a:endParaRPr lang="es-ES" sz="2400" b="1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DD7F7974-D189-5E3B-3511-1044205A7774}"/>
              </a:ext>
            </a:extLst>
          </p:cNvPr>
          <p:cNvSpPr txBox="1"/>
          <p:nvPr/>
        </p:nvSpPr>
        <p:spPr>
          <a:xfrm>
            <a:off x="5865137" y="1870531"/>
            <a:ext cx="19004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ADHD</a:t>
            </a:r>
          </a:p>
          <a:p>
            <a:pPr algn="ctr"/>
            <a:r>
              <a:rPr lang="es-ES" sz="2400" dirty="0"/>
              <a:t>NRH: ~25%</a:t>
            </a:r>
            <a:r>
              <a:rPr lang="es-ES" sz="2400" b="1" dirty="0"/>
              <a:t>*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D0DFF0B-E50B-06BF-66F5-31A1A2654E16}"/>
              </a:ext>
            </a:extLst>
          </p:cNvPr>
          <p:cNvSpPr txBox="1"/>
          <p:nvPr/>
        </p:nvSpPr>
        <p:spPr>
          <a:xfrm>
            <a:off x="8455853" y="4777770"/>
            <a:ext cx="3213716" cy="156966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algn="r"/>
            <a:r>
              <a:rPr lang="es-ES" sz="2400" u="sng" dirty="0"/>
              <a:t>No concordant pattern:</a:t>
            </a:r>
          </a:p>
          <a:p>
            <a:pPr algn="r"/>
            <a:r>
              <a:rPr lang="es-ES" sz="2400" dirty="0"/>
              <a:t>Small sample sizes</a:t>
            </a:r>
          </a:p>
          <a:p>
            <a:pPr algn="r"/>
            <a:r>
              <a:rPr lang="es-ES" sz="2400" dirty="0"/>
              <a:t>Lack of clinical data</a:t>
            </a:r>
          </a:p>
          <a:p>
            <a:pPr algn="r"/>
            <a:r>
              <a:rPr lang="es-ES" sz="2400" dirty="0"/>
              <a:t>Diverse measurements</a:t>
            </a: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7</a:t>
            </a:fld>
            <a:endParaRPr lang="en-GB"/>
          </a:p>
        </p:txBody>
      </p:sp>
      <p:sp>
        <p:nvSpPr>
          <p:cNvPr id="29" name="CuadroTexto 28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Introduction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1748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/>
      <p:bldP spid="11" grpId="0"/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14288"/>
            <a:ext cx="12192000" cy="1325563"/>
          </a:xfrm>
        </p:spPr>
        <p:txBody>
          <a:bodyPr/>
          <a:lstStyle/>
          <a:p>
            <a:pPr algn="ctr"/>
            <a:r>
              <a:rPr lang="es-ES" b="1" dirty="0" err="1" smtClean="0"/>
              <a:t>MadManic</a:t>
            </a:r>
            <a:r>
              <a:rPr lang="es-ES" b="1" dirty="0" smtClean="0"/>
              <a:t> </a:t>
            </a:r>
            <a:r>
              <a:rPr lang="es-ES" b="1" dirty="0" err="1" smtClean="0"/>
              <a:t>cohort</a:t>
            </a:r>
            <a:endParaRPr lang="en-GB" b="1" dirty="0"/>
          </a:p>
        </p:txBody>
      </p:sp>
      <p:grpSp>
        <p:nvGrpSpPr>
          <p:cNvPr id="7" name="Grupo 6"/>
          <p:cNvGrpSpPr/>
          <p:nvPr/>
        </p:nvGrpSpPr>
        <p:grpSpPr>
          <a:xfrm>
            <a:off x="339081" y="1633538"/>
            <a:ext cx="6882799" cy="4600466"/>
            <a:chOff x="520056" y="1690688"/>
            <a:chExt cx="6882799" cy="4600466"/>
          </a:xfrm>
        </p:grpSpPr>
        <p:pic>
          <p:nvPicPr>
            <p:cNvPr id="4" name="Imagen 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056" y="1690688"/>
              <a:ext cx="6882799" cy="4600466"/>
            </a:xfrm>
            <a:prstGeom prst="rect">
              <a:avLst/>
            </a:prstGeom>
          </p:spPr>
        </p:pic>
        <p:sp>
          <p:nvSpPr>
            <p:cNvPr id="6" name="Rectángulo 5"/>
            <p:cNvSpPr/>
            <p:nvPr/>
          </p:nvSpPr>
          <p:spPr>
            <a:xfrm>
              <a:off x="4229100" y="2257425"/>
              <a:ext cx="1419225" cy="3714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5" name="Google Shape;57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143374" y="2009775"/>
              <a:ext cx="1590675" cy="70121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" name="CuadroTexto 8"/>
          <p:cNvSpPr txBox="1"/>
          <p:nvPr/>
        </p:nvSpPr>
        <p:spPr>
          <a:xfrm>
            <a:off x="339081" y="6234004"/>
            <a:ext cx="15716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 smtClean="0"/>
              <a:t>García-Ortiz et al. 2026</a:t>
            </a:r>
            <a:endParaRPr lang="en-GB" sz="1100" dirty="0"/>
          </a:p>
        </p:txBody>
      </p:sp>
      <p:pic>
        <p:nvPicPr>
          <p:cNvPr id="11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44810" y="2206660"/>
            <a:ext cx="1503675" cy="114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/>
        </p:blipFill>
        <p:spPr>
          <a:xfrm>
            <a:off x="9971415" y="2185195"/>
            <a:ext cx="1503671" cy="1149074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CuadroTexto 12"/>
          <p:cNvSpPr txBox="1"/>
          <p:nvPr/>
        </p:nvSpPr>
        <p:spPr>
          <a:xfrm>
            <a:off x="10108842" y="1757177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433 BD</a:t>
            </a:r>
            <a:endParaRPr lang="en-GB" sz="2400" b="1" dirty="0"/>
          </a:p>
        </p:txBody>
      </p:sp>
      <p:sp>
        <p:nvSpPr>
          <p:cNvPr id="14" name="CuadroTexto 13"/>
          <p:cNvSpPr txBox="1"/>
          <p:nvPr/>
        </p:nvSpPr>
        <p:spPr>
          <a:xfrm>
            <a:off x="7580843" y="1757178"/>
            <a:ext cx="2079107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1,480 controls</a:t>
            </a:r>
            <a:endParaRPr lang="en-GB" sz="2400" b="1" dirty="0"/>
          </a:p>
        </p:txBody>
      </p:sp>
      <p:sp>
        <p:nvSpPr>
          <p:cNvPr id="15" name="CuadroTexto 14"/>
          <p:cNvSpPr txBox="1"/>
          <p:nvPr/>
        </p:nvSpPr>
        <p:spPr>
          <a:xfrm>
            <a:off x="9483372" y="5033675"/>
            <a:ext cx="2312180" cy="1200329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b="1"/>
            </a:lvl1pPr>
          </a:lstStyle>
          <a:p>
            <a:r>
              <a:rPr lang="es-ES" sz="2400" dirty="0"/>
              <a:t>BD </a:t>
            </a:r>
            <a:r>
              <a:rPr lang="es-ES" sz="2400" dirty="0" err="1"/>
              <a:t>subtype</a:t>
            </a:r>
            <a:endParaRPr lang="es-ES" sz="2400" dirty="0"/>
          </a:p>
          <a:p>
            <a:r>
              <a:rPr lang="es-ES" sz="2400" dirty="0" err="1"/>
              <a:t>Clinical</a:t>
            </a:r>
            <a:r>
              <a:rPr lang="es-ES" sz="2400" dirty="0"/>
              <a:t> </a:t>
            </a:r>
            <a:r>
              <a:rPr lang="es-ES" sz="2400" dirty="0" err="1"/>
              <a:t>history</a:t>
            </a:r>
            <a:endParaRPr lang="es-ES" sz="2400" dirty="0"/>
          </a:p>
          <a:p>
            <a:r>
              <a:rPr lang="es-ES" sz="2400" dirty="0" err="1"/>
              <a:t>Severity</a:t>
            </a:r>
            <a:r>
              <a:rPr lang="es-ES" sz="2400" dirty="0"/>
              <a:t> </a:t>
            </a:r>
            <a:r>
              <a:rPr lang="es-ES" sz="2400" dirty="0" err="1"/>
              <a:t>scales</a:t>
            </a:r>
            <a:endParaRPr lang="es-ES" sz="2400" dirty="0"/>
          </a:p>
        </p:txBody>
      </p:sp>
      <p:sp>
        <p:nvSpPr>
          <p:cNvPr id="16" name="Cerrar llave 15"/>
          <p:cNvSpPr/>
          <p:nvPr/>
        </p:nvSpPr>
        <p:spPr>
          <a:xfrm rot="5400000">
            <a:off x="9380584" y="1358914"/>
            <a:ext cx="294759" cy="3894242"/>
          </a:xfrm>
          <a:prstGeom prst="rightBrace">
            <a:avLst>
              <a:gd name="adj1" fmla="val 41463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CuadroTexto 2"/>
          <p:cNvSpPr txBox="1"/>
          <p:nvPr/>
        </p:nvSpPr>
        <p:spPr>
          <a:xfrm>
            <a:off x="8172859" y="3683833"/>
            <a:ext cx="2710207" cy="830997"/>
          </a:xfrm>
          <a:prstGeom prst="rect">
            <a:avLst/>
          </a:prstGeom>
          <a:solidFill>
            <a:schemeClr val="bg1"/>
          </a:solidFill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EHI</a:t>
            </a:r>
          </a:p>
          <a:p>
            <a:pPr algn="ctr"/>
            <a:r>
              <a:rPr lang="es-ES" sz="2400" b="1" dirty="0" err="1" smtClean="0"/>
              <a:t>preferred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foot</a:t>
            </a:r>
            <a:r>
              <a:rPr lang="es-ES" sz="2400" b="1" dirty="0" smtClean="0"/>
              <a:t>/</a:t>
            </a:r>
            <a:r>
              <a:rPr lang="es-ES" sz="2400" b="1" dirty="0" err="1" smtClean="0"/>
              <a:t>eye</a:t>
            </a:r>
            <a:r>
              <a:rPr lang="es-ES" sz="2400" b="1" dirty="0" smtClean="0"/>
              <a:t> </a:t>
            </a:r>
          </a:p>
        </p:txBody>
      </p:sp>
      <p:sp>
        <p:nvSpPr>
          <p:cNvPr id="10" name="Marcador de número de diapositiva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8</a:t>
            </a:fld>
            <a:endParaRPr lang="en-GB"/>
          </a:p>
        </p:txBody>
      </p:sp>
      <p:sp>
        <p:nvSpPr>
          <p:cNvPr id="19" name="CuadroTexto 18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smtClean="0">
                <a:solidFill>
                  <a:schemeClr val="bg1">
                    <a:lumMod val="75000"/>
                  </a:schemeClr>
                </a:solidFill>
              </a:rPr>
              <a:t>M&amp;M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9" name="AutoShape 2" descr="DNA Icon SVG Vector &amp; PNG Free Download | UXWi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Cerrar llave 15"/>
          <p:cNvSpPr/>
          <p:nvPr/>
        </p:nvSpPr>
        <p:spPr>
          <a:xfrm rot="5400000" flipH="1">
            <a:off x="9358459" y="3015877"/>
            <a:ext cx="249827" cy="3708569"/>
          </a:xfrm>
          <a:prstGeom prst="rightBrace">
            <a:avLst>
              <a:gd name="adj1" fmla="val 41463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CuadroTexto 7"/>
          <p:cNvSpPr txBox="1"/>
          <p:nvPr/>
        </p:nvSpPr>
        <p:spPr>
          <a:xfrm>
            <a:off x="7580842" y="5060272"/>
            <a:ext cx="1509892" cy="1569660"/>
          </a:xfrm>
          <a:prstGeom prst="rect">
            <a:avLst/>
          </a:prstGeom>
          <a:noFill/>
          <a:ln w="38100">
            <a:solidFill>
              <a:schemeClr val="bg2"/>
            </a:solidFill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/>
            </a:lvl1pPr>
          </a:lstStyle>
          <a:p>
            <a:r>
              <a:rPr lang="es-ES" dirty="0"/>
              <a:t>SNP </a:t>
            </a:r>
            <a:r>
              <a:rPr lang="es-ES" dirty="0" smtClean="0"/>
              <a:t>data</a:t>
            </a:r>
          </a:p>
          <a:p>
            <a:endParaRPr lang="es-ES" dirty="0"/>
          </a:p>
          <a:p>
            <a:endParaRPr lang="es-ES" dirty="0" smtClean="0"/>
          </a:p>
          <a:p>
            <a:endParaRPr lang="es-ES" dirty="0" smtClean="0"/>
          </a:p>
        </p:txBody>
      </p:sp>
      <p:pic>
        <p:nvPicPr>
          <p:cNvPr id="18" name="Imagen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506" y="5552008"/>
            <a:ext cx="952708" cy="943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7849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B33B3AE7-195E-540D-774A-26025E5E9979}"/>
              </a:ext>
            </a:extLst>
          </p:cNvPr>
          <p:cNvCxnSpPr>
            <a:cxnSpLocks/>
            <a:endCxn id="14" idx="2"/>
          </p:cNvCxnSpPr>
          <p:nvPr/>
        </p:nvCxnSpPr>
        <p:spPr>
          <a:xfrm flipH="1">
            <a:off x="8612827" y="1485664"/>
            <a:ext cx="25520" cy="242946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05370" y="32998"/>
            <a:ext cx="12192000" cy="1325563"/>
          </a:xfrm>
        </p:spPr>
        <p:txBody>
          <a:bodyPr/>
          <a:lstStyle/>
          <a:p>
            <a:pPr algn="ctr"/>
            <a:r>
              <a:rPr lang="es-ES" b="1" dirty="0" smtClean="0"/>
              <a:t>Edinburgh </a:t>
            </a:r>
            <a:r>
              <a:rPr lang="es-ES" b="1" dirty="0" err="1" smtClean="0"/>
              <a:t>Handedness</a:t>
            </a:r>
            <a:r>
              <a:rPr lang="es-ES" b="1" dirty="0" smtClean="0"/>
              <a:t> </a:t>
            </a:r>
            <a:r>
              <a:rPr lang="es-ES" b="1" dirty="0" err="1" smtClean="0"/>
              <a:t>Inventory</a:t>
            </a:r>
            <a:endParaRPr lang="en-GB" b="1" dirty="0"/>
          </a:p>
        </p:txBody>
      </p: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C29CA9F0-6469-A01C-954C-55E393EE6CAE}"/>
              </a:ext>
            </a:extLst>
          </p:cNvPr>
          <p:cNvCxnSpPr>
            <a:cxnSpLocks/>
          </p:cNvCxnSpPr>
          <p:nvPr/>
        </p:nvCxnSpPr>
        <p:spPr>
          <a:xfrm flipV="1">
            <a:off x="10308102" y="1416560"/>
            <a:ext cx="0" cy="280680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335E6894-0FA8-69ED-16E8-B76AB9699619}"/>
              </a:ext>
            </a:extLst>
          </p:cNvPr>
          <p:cNvCxnSpPr>
            <a:cxnSpLocks/>
          </p:cNvCxnSpPr>
          <p:nvPr/>
        </p:nvCxnSpPr>
        <p:spPr>
          <a:xfrm flipH="1" flipV="1">
            <a:off x="6989121" y="1485664"/>
            <a:ext cx="2" cy="2785758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7">
            <a:extLst>
              <a:ext uri="{FF2B5EF4-FFF2-40B4-BE49-F238E27FC236}">
                <a16:creationId xmlns:a16="http://schemas.microsoft.com/office/drawing/2014/main" id="{B577F7F1-0EA0-35C0-1513-DD2622477026}"/>
              </a:ext>
            </a:extLst>
          </p:cNvPr>
          <p:cNvCxnSpPr>
            <a:cxnSpLocks/>
          </p:cNvCxnSpPr>
          <p:nvPr/>
        </p:nvCxnSpPr>
        <p:spPr>
          <a:xfrm flipH="1" flipV="1">
            <a:off x="5600701" y="1358562"/>
            <a:ext cx="11201" cy="4628912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07A7742-AE3A-B1F7-7689-BCECCA0EEDE5}"/>
              </a:ext>
            </a:extLst>
          </p:cNvPr>
          <p:cNvSpPr/>
          <p:nvPr/>
        </p:nvSpPr>
        <p:spPr>
          <a:xfrm>
            <a:off x="454242" y="1485664"/>
            <a:ext cx="3996515" cy="4121609"/>
          </a:xfrm>
          <a:prstGeom prst="rect">
            <a:avLst/>
          </a:prstGeom>
          <a:solidFill>
            <a:srgbClr val="F5FDF9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2400" b="1" dirty="0" err="1" smtClean="0">
                <a:solidFill>
                  <a:schemeClr val="tx1"/>
                </a:solidFill>
              </a:rPr>
              <a:t>Which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hand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>
                <a:solidFill>
                  <a:schemeClr val="tx1"/>
                </a:solidFill>
              </a:rPr>
              <a:t>do you use for…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Writing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Drawing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Throw an object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toothbrush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a knife (without fork)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scissors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Use spoon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Upper hand to broom</a:t>
            </a:r>
          </a:p>
          <a:p>
            <a:pPr marL="342900" indent="-342900">
              <a:buAutoNum type="arabicPeriod"/>
            </a:pPr>
            <a:r>
              <a:rPr lang="es-ES" sz="2400" dirty="0">
                <a:solidFill>
                  <a:schemeClr val="tx1"/>
                </a:solidFill>
              </a:rPr>
              <a:t>Strike a match</a:t>
            </a:r>
          </a:p>
          <a:p>
            <a:pPr marL="342900" indent="-342900">
              <a:buAutoNum type="arabicPeriod"/>
            </a:pPr>
            <a:r>
              <a:rPr lang="es-ES" sz="2400" dirty="0" smtClean="0">
                <a:solidFill>
                  <a:schemeClr val="tx1"/>
                </a:solidFill>
              </a:rPr>
              <a:t> Open </a:t>
            </a:r>
            <a:r>
              <a:rPr lang="es-ES" sz="2400" dirty="0">
                <a:solidFill>
                  <a:schemeClr val="tx1"/>
                </a:solidFill>
              </a:rPr>
              <a:t>the lid of a box</a:t>
            </a:r>
          </a:p>
        </p:txBody>
      </p:sp>
      <p:grpSp>
        <p:nvGrpSpPr>
          <p:cNvPr id="40" name="Grupo 39">
            <a:extLst>
              <a:ext uri="{FF2B5EF4-FFF2-40B4-BE49-F238E27FC236}">
                <a16:creationId xmlns:a16="http://schemas.microsoft.com/office/drawing/2014/main" id="{C806430B-2171-247B-CC65-4978EBD59CFC}"/>
              </a:ext>
            </a:extLst>
          </p:cNvPr>
          <p:cNvGrpSpPr/>
          <p:nvPr/>
        </p:nvGrpSpPr>
        <p:grpSpPr>
          <a:xfrm>
            <a:off x="75940" y="5734376"/>
            <a:ext cx="2717142" cy="880369"/>
            <a:chOff x="0" y="3734287"/>
            <a:chExt cx="2369127" cy="880369"/>
          </a:xfrm>
        </p:grpSpPr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72B2F1DE-462B-DB68-A652-BA36A6BA6C13}"/>
                </a:ext>
              </a:extLst>
            </p:cNvPr>
            <p:cNvSpPr txBox="1"/>
            <p:nvPr/>
          </p:nvSpPr>
          <p:spPr>
            <a:xfrm>
              <a:off x="0" y="3734287"/>
              <a:ext cx="2369127" cy="880369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</a:t>
              </a:r>
              <a:r>
                <a:rPr lang="es-ES" b="1" i="1" dirty="0" smtClean="0"/>
                <a:t>- Left </a:t>
              </a:r>
              <a:r>
                <a:rPr lang="es-ES" b="1" i="1" dirty="0"/>
                <a:t>Score</a:t>
              </a:r>
            </a:p>
            <a:p>
              <a:pPr algn="ctr">
                <a:lnSpc>
                  <a:spcPct val="150000"/>
                </a:lnSpc>
              </a:pPr>
              <a:r>
                <a:rPr lang="es-ES" b="1" i="1" dirty="0"/>
                <a:t>Right Score </a:t>
              </a:r>
              <a:r>
                <a:rPr lang="es-ES" b="1" i="1" dirty="0" smtClean="0"/>
                <a:t>+ Left </a:t>
              </a:r>
              <a:r>
                <a:rPr lang="es-ES" b="1" i="1" dirty="0"/>
                <a:t>Score</a:t>
              </a:r>
            </a:p>
          </p:txBody>
        </p:sp>
        <p:cxnSp>
          <p:nvCxnSpPr>
            <p:cNvPr id="42" name="Conector recto 41">
              <a:extLst>
                <a:ext uri="{FF2B5EF4-FFF2-40B4-BE49-F238E27FC236}">
                  <a16:creationId xmlns:a16="http://schemas.microsoft.com/office/drawing/2014/main" id="{68E59891-FFE6-8B92-07CD-5469A083C2BF}"/>
                </a:ext>
              </a:extLst>
            </p:cNvPr>
            <p:cNvCxnSpPr/>
            <p:nvPr/>
          </p:nvCxnSpPr>
          <p:spPr>
            <a:xfrm>
              <a:off x="166255" y="4202179"/>
              <a:ext cx="200890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3" name="Grupo 42">
            <a:extLst>
              <a:ext uri="{FF2B5EF4-FFF2-40B4-BE49-F238E27FC236}">
                <a16:creationId xmlns:a16="http://schemas.microsoft.com/office/drawing/2014/main" id="{A7BA36BC-075D-864E-4349-F0F716E3E338}"/>
              </a:ext>
            </a:extLst>
          </p:cNvPr>
          <p:cNvGrpSpPr/>
          <p:nvPr/>
        </p:nvGrpSpPr>
        <p:grpSpPr>
          <a:xfrm>
            <a:off x="2627757" y="5759062"/>
            <a:ext cx="2174118" cy="830997"/>
            <a:chOff x="2175164" y="3867801"/>
            <a:chExt cx="1669472" cy="830997"/>
          </a:xfrm>
        </p:grpSpPr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D80C94A5-96C7-62A6-AB79-DBD829CD0D8B}"/>
                </a:ext>
              </a:extLst>
            </p:cNvPr>
            <p:cNvSpPr txBox="1"/>
            <p:nvPr/>
          </p:nvSpPr>
          <p:spPr>
            <a:xfrm>
              <a:off x="2369127" y="3867801"/>
              <a:ext cx="147550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/>
                <a:t>Lateralization Quotient (LQ)</a:t>
              </a:r>
            </a:p>
          </p:txBody>
        </p:sp>
        <p:sp>
          <p:nvSpPr>
            <p:cNvPr id="45" name="CuadroTexto 44">
              <a:extLst>
                <a:ext uri="{FF2B5EF4-FFF2-40B4-BE49-F238E27FC236}">
                  <a16:creationId xmlns:a16="http://schemas.microsoft.com/office/drawing/2014/main" id="{A2CCF3B5-A1BD-3533-357D-8AA2E1FE3933}"/>
                </a:ext>
              </a:extLst>
            </p:cNvPr>
            <p:cNvSpPr txBox="1"/>
            <p:nvPr/>
          </p:nvSpPr>
          <p:spPr>
            <a:xfrm>
              <a:off x="2175164" y="4080164"/>
              <a:ext cx="19396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400" dirty="0"/>
                <a:t>=</a:t>
              </a:r>
            </a:p>
          </p:txBody>
        </p:sp>
      </p:grpSp>
      <p:grpSp>
        <p:nvGrpSpPr>
          <p:cNvPr id="90" name="Grupo 89"/>
          <p:cNvGrpSpPr/>
          <p:nvPr/>
        </p:nvGrpSpPr>
        <p:grpSpPr>
          <a:xfrm>
            <a:off x="5267325" y="5440659"/>
            <a:ext cx="6697662" cy="1069972"/>
            <a:chOff x="5267325" y="5440659"/>
            <a:chExt cx="6697662" cy="1069972"/>
          </a:xfrm>
        </p:grpSpPr>
        <p:sp>
          <p:nvSpPr>
            <p:cNvPr id="30" name="CuadroTexto 29">
              <a:extLst>
                <a:ext uri="{FF2B5EF4-FFF2-40B4-BE49-F238E27FC236}">
                  <a16:creationId xmlns:a16="http://schemas.microsoft.com/office/drawing/2014/main" id="{5FBD9CB9-62EE-8A9C-908E-26BB405148A3}"/>
                </a:ext>
              </a:extLst>
            </p:cNvPr>
            <p:cNvSpPr txBox="1"/>
            <p:nvPr/>
          </p:nvSpPr>
          <p:spPr>
            <a:xfrm>
              <a:off x="7676628" y="5987411"/>
              <a:ext cx="28837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r>
                <a:rPr lang="es-ES" sz="2800" dirty="0"/>
                <a:t>Lateralized</a:t>
              </a:r>
            </a:p>
          </p:txBody>
        </p:sp>
        <p:grpSp>
          <p:nvGrpSpPr>
            <p:cNvPr id="89" name="Grupo 88"/>
            <p:cNvGrpSpPr/>
            <p:nvPr/>
          </p:nvGrpSpPr>
          <p:grpSpPr>
            <a:xfrm>
              <a:off x="5267325" y="5440659"/>
              <a:ext cx="6697662" cy="546815"/>
              <a:chOff x="5267325" y="5440659"/>
              <a:chExt cx="6697662" cy="546815"/>
            </a:xfrm>
          </p:grpSpPr>
          <p:sp>
            <p:nvSpPr>
              <p:cNvPr id="16" name="Rectángulo 15">
                <a:extLst>
                  <a:ext uri="{FF2B5EF4-FFF2-40B4-BE49-F238E27FC236}">
                    <a16:creationId xmlns:a16="http://schemas.microsoft.com/office/drawing/2014/main" id="{ED0898DA-D1F6-D02E-E3FB-DDAB50534608}"/>
                  </a:ext>
                </a:extLst>
              </p:cNvPr>
              <p:cNvSpPr/>
              <p:nvPr/>
            </p:nvSpPr>
            <p:spPr>
              <a:xfrm>
                <a:off x="5267325" y="5447851"/>
                <a:ext cx="6697662" cy="525241"/>
              </a:xfrm>
              <a:prstGeom prst="rect">
                <a:avLst/>
              </a:prstGeom>
              <a:solidFill>
                <a:srgbClr val="FFFF00"/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22" name="Rectángulo 21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5270739" y="5440659"/>
                <a:ext cx="328297" cy="53243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4" name="Rectángulo 63">
                <a:extLst>
                  <a:ext uri="{FF2B5EF4-FFF2-40B4-BE49-F238E27FC236}">
                    <a16:creationId xmlns:a16="http://schemas.microsoft.com/office/drawing/2014/main" id="{B6AC062F-BBA4-C19A-E12B-05CF64D97981}"/>
                  </a:ext>
                </a:extLst>
              </p:cNvPr>
              <p:cNvSpPr/>
              <p:nvPr/>
            </p:nvSpPr>
            <p:spPr>
              <a:xfrm>
                <a:off x="11619591" y="5447849"/>
                <a:ext cx="345396" cy="525243"/>
              </a:xfrm>
              <a:prstGeom prst="rect">
                <a:avLst/>
              </a:prstGeom>
              <a:solidFill>
                <a:srgbClr val="00206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66" name="CuadroTexto 65">
                <a:extLst>
                  <a:ext uri="{FF2B5EF4-FFF2-40B4-BE49-F238E27FC236}">
                    <a16:creationId xmlns:a16="http://schemas.microsoft.com/office/drawing/2014/main" id="{5FBD9CB9-62EE-8A9C-908E-26BB405148A3}"/>
                  </a:ext>
                </a:extLst>
              </p:cNvPr>
              <p:cNvSpPr txBox="1"/>
              <p:nvPr/>
            </p:nvSpPr>
            <p:spPr>
              <a:xfrm>
                <a:off x="7150597" y="5464254"/>
                <a:ext cx="288374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3200" b="1"/>
                </a:lvl1pPr>
              </a:lstStyle>
              <a:p>
                <a:pPr algn="ctr"/>
                <a:r>
                  <a:rPr lang="es-ES" sz="2800" dirty="0" smtClean="0"/>
                  <a:t>Non-</a:t>
                </a:r>
                <a:r>
                  <a:rPr lang="es-ES" sz="2800" dirty="0" err="1" smtClean="0"/>
                  <a:t>lateralized</a:t>
                </a:r>
                <a:endParaRPr lang="es-ES" sz="2800" dirty="0"/>
              </a:p>
            </p:txBody>
          </p:sp>
        </p:grpSp>
        <p:cxnSp>
          <p:nvCxnSpPr>
            <p:cNvPr id="68" name="Conector recto de flecha 67"/>
            <p:cNvCxnSpPr>
              <a:stCxn id="30" idx="1"/>
            </p:cNvCxnSpPr>
            <p:nvPr/>
          </p:nvCxnSpPr>
          <p:spPr>
            <a:xfrm flipH="1" flipV="1">
              <a:off x="5475546" y="6036951"/>
              <a:ext cx="2201082" cy="212070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de flecha 69"/>
            <p:cNvCxnSpPr/>
            <p:nvPr/>
          </p:nvCxnSpPr>
          <p:spPr>
            <a:xfrm flipV="1">
              <a:off x="9472630" y="6045541"/>
              <a:ext cx="2130504" cy="217799"/>
            </a:xfrm>
            <a:prstGeom prst="straightConnector1">
              <a:avLst/>
            </a:prstGeom>
            <a:ln>
              <a:solidFill>
                <a:schemeClr val="bg2">
                  <a:lumMod val="1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8" name="Grupo 87"/>
          <p:cNvGrpSpPr/>
          <p:nvPr/>
        </p:nvGrpSpPr>
        <p:grpSpPr>
          <a:xfrm>
            <a:off x="5350655" y="4809860"/>
            <a:ext cx="4957445" cy="667503"/>
            <a:chOff x="5350655" y="4809860"/>
            <a:chExt cx="4957445" cy="667503"/>
          </a:xfrm>
        </p:grpSpPr>
        <p:grpSp>
          <p:nvGrpSpPr>
            <p:cNvPr id="74" name="Grupo 73"/>
            <p:cNvGrpSpPr/>
            <p:nvPr/>
          </p:nvGrpSpPr>
          <p:grpSpPr>
            <a:xfrm>
              <a:off x="5350655" y="4809860"/>
              <a:ext cx="4957445" cy="532703"/>
              <a:chOff x="5350655" y="4809860"/>
              <a:chExt cx="4957445" cy="532703"/>
            </a:xfrm>
          </p:grpSpPr>
          <p:sp>
            <p:nvSpPr>
              <p:cNvPr id="72" name="Cerrar llave 71"/>
              <p:cNvSpPr/>
              <p:nvPr/>
            </p:nvSpPr>
            <p:spPr>
              <a:xfrm rot="5400000">
                <a:off x="7753045" y="2407470"/>
                <a:ext cx="152666" cy="4957445"/>
              </a:xfrm>
              <a:prstGeom prst="rightBrace">
                <a:avLst>
                  <a:gd name="adj1" fmla="val 66093"/>
                  <a:gd name="adj2" fmla="val 51832"/>
                </a:avLst>
              </a:prstGeom>
              <a:ln w="57150">
                <a:solidFill>
                  <a:schemeClr val="bg2">
                    <a:lumMod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3" name="Rectángulo 72"/>
              <p:cNvSpPr/>
              <p:nvPr/>
            </p:nvSpPr>
            <p:spPr>
              <a:xfrm>
                <a:off x="7191070" y="5000824"/>
                <a:ext cx="1151965" cy="34173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71" name="CuadroTexto 70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176703" y="4892588"/>
              <a:ext cx="102569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pic>
        <p:nvPicPr>
          <p:cNvPr id="46" name="Imagen 4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5226337" y="876123"/>
            <a:ext cx="6857184" cy="1219082"/>
          </a:xfrm>
          <a:prstGeom prst="rect">
            <a:avLst/>
          </a:prstGeom>
        </p:spPr>
      </p:pic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9D959302-9360-5C33-06B3-D62828EF9A8E}"/>
              </a:ext>
            </a:extLst>
          </p:cNvPr>
          <p:cNvCxnSpPr>
            <a:cxnSpLocks/>
          </p:cNvCxnSpPr>
          <p:nvPr/>
        </p:nvCxnSpPr>
        <p:spPr>
          <a:xfrm flipV="1">
            <a:off x="11646225" y="876123"/>
            <a:ext cx="20700" cy="5111351"/>
          </a:xfrm>
          <a:prstGeom prst="line">
            <a:avLst/>
          </a:prstGeom>
          <a:ln w="38100">
            <a:solidFill>
              <a:schemeClr val="bg2">
                <a:lumMod val="1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o 84"/>
          <p:cNvGrpSpPr/>
          <p:nvPr/>
        </p:nvGrpSpPr>
        <p:grpSpPr>
          <a:xfrm>
            <a:off x="5269325" y="2443785"/>
            <a:ext cx="6875505" cy="591247"/>
            <a:chOff x="5269325" y="2443785"/>
            <a:chExt cx="6875505" cy="591247"/>
          </a:xfrm>
        </p:grpSpPr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08B30B59-3710-8408-0FF9-26E4523DE253}"/>
                </a:ext>
              </a:extLst>
            </p:cNvPr>
            <p:cNvSpPr/>
            <p:nvPr/>
          </p:nvSpPr>
          <p:spPr>
            <a:xfrm>
              <a:off x="5271894" y="2443785"/>
              <a:ext cx="6693093" cy="591247"/>
            </a:xfrm>
            <a:prstGeom prst="rect">
              <a:avLst/>
            </a:prstGeom>
            <a:solidFill>
              <a:srgbClr val="A5F1CD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5269325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-100</a:t>
              </a: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B8A079C-24B4-2542-E955-CFD84E62C0C1}"/>
                </a:ext>
              </a:extLst>
            </p:cNvPr>
            <p:cNvSpPr txBox="1"/>
            <p:nvPr/>
          </p:nvSpPr>
          <p:spPr>
            <a:xfrm>
              <a:off x="8162364" y="2495194"/>
              <a:ext cx="956137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800" b="1" dirty="0"/>
                <a:t>LQ</a:t>
              </a:r>
            </a:p>
          </p:txBody>
        </p: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09842625-2368-2298-16FC-95C1E9F693A6}"/>
                </a:ext>
              </a:extLst>
            </p:cNvPr>
            <p:cNvSpPr txBox="1"/>
            <p:nvPr/>
          </p:nvSpPr>
          <p:spPr>
            <a:xfrm>
              <a:off x="11034806" y="2477086"/>
              <a:ext cx="111002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800" dirty="0"/>
                <a:t>+</a:t>
              </a:r>
              <a:r>
                <a:rPr lang="es-ES" sz="2800" dirty="0" smtClean="0"/>
                <a:t>100</a:t>
              </a:r>
              <a:endParaRPr lang="es-ES" sz="2800" dirty="0"/>
            </a:p>
          </p:txBody>
        </p:sp>
      </p:grpSp>
      <p:grpSp>
        <p:nvGrpSpPr>
          <p:cNvPr id="86" name="Grupo 85"/>
          <p:cNvGrpSpPr/>
          <p:nvPr/>
        </p:nvGrpSpPr>
        <p:grpSpPr>
          <a:xfrm>
            <a:off x="5267059" y="3374992"/>
            <a:ext cx="6691536" cy="591381"/>
            <a:chOff x="5267059" y="3374992"/>
            <a:chExt cx="6691536" cy="591381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67059" y="3433084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5281080" y="3433906"/>
              <a:ext cx="3323975" cy="48480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305347" y="3381598"/>
              <a:ext cx="185488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024153" y="337499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</p:grpSp>
      <p:grpSp>
        <p:nvGrpSpPr>
          <p:cNvPr id="87" name="Grupo 86"/>
          <p:cNvGrpSpPr/>
          <p:nvPr/>
        </p:nvGrpSpPr>
        <p:grpSpPr>
          <a:xfrm>
            <a:off x="5273061" y="4181698"/>
            <a:ext cx="6694004" cy="635530"/>
            <a:chOff x="5273061" y="4181698"/>
            <a:chExt cx="6694004" cy="635530"/>
          </a:xfrm>
        </p:grpSpPr>
        <p:sp>
          <p:nvSpPr>
            <p:cNvPr id="23" name="Abrir llave 22">
              <a:extLst>
                <a:ext uri="{FF2B5EF4-FFF2-40B4-BE49-F238E27FC236}">
                  <a16:creationId xmlns:a16="http://schemas.microsoft.com/office/drawing/2014/main" id="{FB940F5B-6199-A806-DFB2-D96A82B90A90}"/>
                </a:ext>
              </a:extLst>
            </p:cNvPr>
            <p:cNvSpPr/>
            <p:nvPr/>
          </p:nvSpPr>
          <p:spPr>
            <a:xfrm rot="5400000">
              <a:off x="8777083" y="3083180"/>
              <a:ext cx="249382" cy="3032057"/>
            </a:xfrm>
            <a:prstGeom prst="leftBrace">
              <a:avLst>
                <a:gd name="adj1" fmla="val 154961"/>
                <a:gd name="adj2" fmla="val 50525"/>
              </a:avLst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29C0580-010B-60E5-F4D1-EE9203A72873}"/>
                </a:ext>
              </a:extLst>
            </p:cNvPr>
            <p:cNvSpPr txBox="1"/>
            <p:nvPr/>
          </p:nvSpPr>
          <p:spPr>
            <a:xfrm>
              <a:off x="8774690" y="4181698"/>
              <a:ext cx="11436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/>
                <a:t>NRH</a:t>
              </a:r>
            </a:p>
          </p:txBody>
        </p:sp>
        <p:sp>
          <p:nvSpPr>
            <p:cNvPr id="52" name="Rectángulo 51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5275529" y="4271421"/>
              <a:ext cx="6691536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5273061" y="4269592"/>
              <a:ext cx="5035041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9" name="Rectángulo 18">
              <a:extLst>
                <a:ext uri="{FF2B5EF4-FFF2-40B4-BE49-F238E27FC236}">
                  <a16:creationId xmlns:a16="http://schemas.microsoft.com/office/drawing/2014/main" id="{D35631AB-E241-C271-E196-FB63799FF9EE}"/>
                </a:ext>
              </a:extLst>
            </p:cNvPr>
            <p:cNvSpPr/>
            <p:nvPr/>
          </p:nvSpPr>
          <p:spPr>
            <a:xfrm>
              <a:off x="5288915" y="4279479"/>
              <a:ext cx="1700206" cy="473984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6" name="CuadroTexto 5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10743141" y="4232453"/>
              <a:ext cx="120526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r"/>
              <a:r>
                <a:rPr lang="es-ES" dirty="0"/>
                <a:t>Right</a:t>
              </a:r>
            </a:p>
          </p:txBody>
        </p:sp>
        <p:sp>
          <p:nvSpPr>
            <p:cNvPr id="57" name="CuadroTexto 56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7666269" y="4223362"/>
              <a:ext cx="191406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Mixed</a:t>
              </a:r>
              <a:endParaRPr lang="es-ES" dirty="0"/>
            </a:p>
          </p:txBody>
        </p:sp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5285636" y="4232453"/>
              <a:ext cx="102633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sp>
        <p:nvSpPr>
          <p:cNvPr id="3" name="Marcador de número de diapositiva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9</a:t>
            </a:fld>
            <a:endParaRPr lang="en-GB"/>
          </a:p>
        </p:txBody>
      </p:sp>
      <p:sp>
        <p:nvSpPr>
          <p:cNvPr id="50" name="CuadroTexto 49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smtClean="0">
                <a:solidFill>
                  <a:schemeClr val="bg1">
                    <a:lumMod val="75000"/>
                  </a:schemeClr>
                </a:solidFill>
              </a:rPr>
              <a:t>M&amp;M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8" name="Rectángulo redondeado 17"/>
          <p:cNvSpPr/>
          <p:nvPr/>
        </p:nvSpPr>
        <p:spPr>
          <a:xfrm>
            <a:off x="8629322" y="3391412"/>
            <a:ext cx="221942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smtClean="0">
                <a:solidFill>
                  <a:schemeClr val="tx1"/>
                </a:solidFill>
                <a:latin typeface="Arial Black" panose="020B0A04020102020204" pitchFamily="34" charset="0"/>
              </a:rPr>
              <a:t>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55" name="Rectángulo redondeado 54"/>
          <p:cNvSpPr/>
          <p:nvPr/>
        </p:nvSpPr>
        <p:spPr>
          <a:xfrm>
            <a:off x="6482113" y="4224035"/>
            <a:ext cx="623013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smtClean="0">
                <a:solidFill>
                  <a:schemeClr val="tx1"/>
                </a:solidFill>
                <a:latin typeface="Arial Black" panose="020B0A04020102020204" pitchFamily="34" charset="0"/>
              </a:rPr>
              <a:t>-60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59" name="Rectángulo redondeado 58"/>
          <p:cNvSpPr/>
          <p:nvPr/>
        </p:nvSpPr>
        <p:spPr>
          <a:xfrm>
            <a:off x="10170610" y="4214442"/>
            <a:ext cx="623013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smtClean="0">
                <a:solidFill>
                  <a:schemeClr val="tx1"/>
                </a:solidFill>
                <a:latin typeface="Arial Black" panose="020B0A04020102020204" pitchFamily="34" charset="0"/>
              </a:rPr>
              <a:t>60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60" name="Rectángulo redondeado 59"/>
          <p:cNvSpPr/>
          <p:nvPr/>
        </p:nvSpPr>
        <p:spPr>
          <a:xfrm>
            <a:off x="5503776" y="5398374"/>
            <a:ext cx="623013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smtClean="0">
                <a:solidFill>
                  <a:schemeClr val="tx1"/>
                </a:solidFill>
                <a:latin typeface="Arial Black" panose="020B0A04020102020204" pitchFamily="34" charset="0"/>
              </a:rPr>
              <a:t>-90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  <p:sp>
        <p:nvSpPr>
          <p:cNvPr id="61" name="Rectángulo redondeado 60"/>
          <p:cNvSpPr/>
          <p:nvPr/>
        </p:nvSpPr>
        <p:spPr>
          <a:xfrm>
            <a:off x="11128806" y="5400610"/>
            <a:ext cx="623013" cy="376519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b="1" dirty="0" smtClean="0">
                <a:solidFill>
                  <a:schemeClr val="tx1"/>
                </a:solidFill>
                <a:latin typeface="Arial Black" panose="020B0A04020102020204" pitchFamily="34" charset="0"/>
              </a:rPr>
              <a:t>90</a:t>
            </a:r>
            <a:endParaRPr lang="en-GB" b="1" dirty="0">
              <a:solidFill>
                <a:schemeClr val="tx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874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55" grpId="0"/>
      <p:bldP spid="59" grpId="0"/>
      <p:bldP spid="60" grpId="0"/>
      <p:bldP spid="6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/>
          <p:cNvSpPr txBox="1">
            <a:spLocks/>
          </p:cNvSpPr>
          <p:nvPr/>
        </p:nvSpPr>
        <p:spPr>
          <a:xfrm>
            <a:off x="0" y="14289"/>
            <a:ext cx="12192000" cy="9272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s-ES" b="1" dirty="0" err="1" smtClean="0"/>
              <a:t>Sample</a:t>
            </a:r>
            <a:r>
              <a:rPr lang="es-ES" b="1" dirty="0" smtClean="0"/>
              <a:t> </a:t>
            </a:r>
            <a:r>
              <a:rPr lang="es-ES" b="1" dirty="0" err="1" smtClean="0"/>
              <a:t>characteristics</a:t>
            </a:r>
            <a:endParaRPr lang="en-GB" b="1" dirty="0"/>
          </a:p>
        </p:txBody>
      </p:sp>
      <p:pic>
        <p:nvPicPr>
          <p:cNvPr id="5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232097" y="1151419"/>
            <a:ext cx="900486" cy="687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/>
        </p:blipFill>
        <p:spPr>
          <a:xfrm>
            <a:off x="2909412" y="1133740"/>
            <a:ext cx="884242" cy="6876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/>
          <p:cNvSpPr txBox="1"/>
          <p:nvPr/>
        </p:nvSpPr>
        <p:spPr>
          <a:xfrm>
            <a:off x="2758745" y="1789063"/>
            <a:ext cx="1228815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436 BD</a:t>
            </a:r>
            <a:endParaRPr lang="en-GB" sz="2400" b="1" dirty="0"/>
          </a:p>
        </p:txBody>
      </p:sp>
      <p:sp>
        <p:nvSpPr>
          <p:cNvPr id="8" name="CuadroTexto 7"/>
          <p:cNvSpPr txBox="1"/>
          <p:nvPr/>
        </p:nvSpPr>
        <p:spPr>
          <a:xfrm>
            <a:off x="688741" y="1796223"/>
            <a:ext cx="1976158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1,480 controls</a:t>
            </a:r>
            <a:endParaRPr lang="en-GB" sz="2400" b="1" dirty="0"/>
          </a:p>
        </p:txBody>
      </p:sp>
      <p:sp>
        <p:nvSpPr>
          <p:cNvPr id="14" name="Flecha abajo 13"/>
          <p:cNvSpPr/>
          <p:nvPr/>
        </p:nvSpPr>
        <p:spPr>
          <a:xfrm>
            <a:off x="8379616" y="3193230"/>
            <a:ext cx="422709" cy="459156"/>
          </a:xfrm>
          <a:prstGeom prst="downArrow">
            <a:avLst>
              <a:gd name="adj1" fmla="val 37149"/>
              <a:gd name="adj2" fmla="val 62850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CuadroTexto 14"/>
          <p:cNvSpPr txBox="1"/>
          <p:nvPr/>
        </p:nvSpPr>
        <p:spPr>
          <a:xfrm>
            <a:off x="4704426" y="1089642"/>
            <a:ext cx="1050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b="1" dirty="0" err="1" smtClean="0"/>
              <a:t>Age</a:t>
            </a:r>
            <a:endParaRPr lang="en-GB" sz="2400" b="1" dirty="0"/>
          </a:p>
        </p:txBody>
      </p:sp>
      <p:grpSp>
        <p:nvGrpSpPr>
          <p:cNvPr id="34" name="Grupo 33"/>
          <p:cNvGrpSpPr/>
          <p:nvPr/>
        </p:nvGrpSpPr>
        <p:grpSpPr>
          <a:xfrm>
            <a:off x="5754628" y="1369533"/>
            <a:ext cx="5347154" cy="1873012"/>
            <a:chOff x="5308776" y="1438698"/>
            <a:chExt cx="5347154" cy="1873012"/>
          </a:xfrm>
        </p:grpSpPr>
        <p:pic>
          <p:nvPicPr>
            <p:cNvPr id="3" name="Imagen 2"/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915" r="10702" b="14341"/>
            <a:stretch/>
          </p:blipFill>
          <p:spPr>
            <a:xfrm>
              <a:off x="5308776" y="1438698"/>
              <a:ext cx="5347154" cy="1594004"/>
            </a:xfrm>
            <a:prstGeom prst="rect">
              <a:avLst/>
            </a:prstGeom>
          </p:spPr>
        </p:pic>
        <p:sp>
          <p:nvSpPr>
            <p:cNvPr id="16" name="CuadroTexto 15"/>
            <p:cNvSpPr txBox="1"/>
            <p:nvPr/>
          </p:nvSpPr>
          <p:spPr>
            <a:xfrm>
              <a:off x="6437014" y="2942378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25</a:t>
              </a:r>
              <a:endParaRPr lang="en-GB" dirty="0"/>
            </a:p>
          </p:txBody>
        </p:sp>
        <p:sp>
          <p:nvSpPr>
            <p:cNvPr id="17" name="CuadroTexto 16"/>
            <p:cNvSpPr txBox="1"/>
            <p:nvPr/>
          </p:nvSpPr>
          <p:spPr>
            <a:xfrm>
              <a:off x="7888690" y="291464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50</a:t>
              </a:r>
            </a:p>
          </p:txBody>
        </p:sp>
        <p:sp>
          <p:nvSpPr>
            <p:cNvPr id="18" name="CuadroTexto 17"/>
            <p:cNvSpPr txBox="1"/>
            <p:nvPr/>
          </p:nvSpPr>
          <p:spPr>
            <a:xfrm>
              <a:off x="9328123" y="2923698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75</a:t>
              </a:r>
            </a:p>
          </p:txBody>
        </p:sp>
      </p:grpSp>
      <p:grpSp>
        <p:nvGrpSpPr>
          <p:cNvPr id="33" name="Grupo 32"/>
          <p:cNvGrpSpPr/>
          <p:nvPr/>
        </p:nvGrpSpPr>
        <p:grpSpPr>
          <a:xfrm>
            <a:off x="5800660" y="3692396"/>
            <a:ext cx="5443644" cy="1985933"/>
            <a:chOff x="5308776" y="4010258"/>
            <a:chExt cx="5443644" cy="1985933"/>
          </a:xfrm>
        </p:grpSpPr>
        <p:pic>
          <p:nvPicPr>
            <p:cNvPr id="2" name="Imagen 1"/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865" r="8126" b="12393"/>
            <a:stretch/>
          </p:blipFill>
          <p:spPr>
            <a:xfrm>
              <a:off x="5308776" y="4010258"/>
              <a:ext cx="5443644" cy="1638894"/>
            </a:xfrm>
            <a:prstGeom prst="rect">
              <a:avLst/>
            </a:prstGeom>
          </p:spPr>
        </p:pic>
        <p:sp>
          <p:nvSpPr>
            <p:cNvPr id="19" name="CuadroTexto 18"/>
            <p:cNvSpPr txBox="1"/>
            <p:nvPr/>
          </p:nvSpPr>
          <p:spPr>
            <a:xfrm>
              <a:off x="5649363" y="559637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20</a:t>
              </a:r>
              <a:endParaRPr lang="en-GB" dirty="0"/>
            </a:p>
          </p:txBody>
        </p:sp>
        <p:sp>
          <p:nvSpPr>
            <p:cNvPr id="20" name="CuadroTexto 19"/>
            <p:cNvSpPr txBox="1"/>
            <p:nvPr/>
          </p:nvSpPr>
          <p:spPr>
            <a:xfrm>
              <a:off x="6934972" y="5596375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4</a:t>
              </a:r>
              <a:r>
                <a:rPr lang="es-ES" dirty="0" smtClean="0"/>
                <a:t>0</a:t>
              </a:r>
              <a:endParaRPr lang="en-GB" dirty="0"/>
            </a:p>
          </p:txBody>
        </p:sp>
        <p:sp>
          <p:nvSpPr>
            <p:cNvPr id="21" name="CuadroTexto 20"/>
            <p:cNvSpPr txBox="1"/>
            <p:nvPr/>
          </p:nvSpPr>
          <p:spPr>
            <a:xfrm>
              <a:off x="8232689" y="5580693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/>
                <a:t>6</a:t>
              </a:r>
              <a:r>
                <a:rPr lang="es-ES" dirty="0" smtClean="0"/>
                <a:t>0</a:t>
              </a:r>
              <a:endParaRPr lang="en-GB" dirty="0"/>
            </a:p>
          </p:txBody>
        </p:sp>
        <p:sp>
          <p:nvSpPr>
            <p:cNvPr id="22" name="CuadroTexto 21"/>
            <p:cNvSpPr txBox="1"/>
            <p:nvPr/>
          </p:nvSpPr>
          <p:spPr>
            <a:xfrm>
              <a:off x="9518247" y="5626859"/>
              <a:ext cx="5251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dirty="0" smtClean="0"/>
                <a:t>80</a:t>
              </a:r>
              <a:endParaRPr lang="en-GB" dirty="0"/>
            </a:p>
          </p:txBody>
        </p:sp>
      </p:grpSp>
      <p:sp>
        <p:nvSpPr>
          <p:cNvPr id="23" name="CuadroTexto 22"/>
          <p:cNvSpPr txBox="1"/>
          <p:nvPr/>
        </p:nvSpPr>
        <p:spPr>
          <a:xfrm>
            <a:off x="6801294" y="3179674"/>
            <a:ext cx="1551232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b="1" dirty="0" err="1" smtClean="0"/>
              <a:t>Age</a:t>
            </a:r>
            <a:r>
              <a:rPr lang="es-ES" b="1" dirty="0" smtClean="0"/>
              <a:t> </a:t>
            </a:r>
            <a:r>
              <a:rPr lang="es-ES" b="1" dirty="0" err="1" smtClean="0"/>
              <a:t>matching</a:t>
            </a:r>
            <a:endParaRPr lang="en-GB" b="1" dirty="0"/>
          </a:p>
        </p:txBody>
      </p:sp>
      <p:pic>
        <p:nvPicPr>
          <p:cNvPr id="24" name="Imagen 23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202" b="66514"/>
          <a:stretch/>
        </p:blipFill>
        <p:spPr>
          <a:xfrm>
            <a:off x="4098599" y="3074835"/>
            <a:ext cx="402263" cy="1530982"/>
          </a:xfrm>
          <a:prstGeom prst="rect">
            <a:avLst/>
          </a:prstGeom>
        </p:spPr>
      </p:pic>
      <p:grpSp>
        <p:nvGrpSpPr>
          <p:cNvPr id="35" name="Grupo 34"/>
          <p:cNvGrpSpPr/>
          <p:nvPr/>
        </p:nvGrpSpPr>
        <p:grpSpPr>
          <a:xfrm>
            <a:off x="10058832" y="1402024"/>
            <a:ext cx="2093380" cy="938143"/>
            <a:chOff x="10704056" y="1425775"/>
            <a:chExt cx="2093380" cy="938143"/>
          </a:xfrm>
        </p:grpSpPr>
        <p:pic>
          <p:nvPicPr>
            <p:cNvPr id="12" name="Imagen 11"/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1326" t="44415" r="5430" b="39073"/>
            <a:stretch/>
          </p:blipFill>
          <p:spPr>
            <a:xfrm>
              <a:off x="10704056" y="1425775"/>
              <a:ext cx="531294" cy="938143"/>
            </a:xfrm>
            <a:prstGeom prst="rect">
              <a:avLst/>
            </a:prstGeom>
          </p:spPr>
        </p:pic>
        <p:sp>
          <p:nvSpPr>
            <p:cNvPr id="25" name="CuadroTexto 24"/>
            <p:cNvSpPr txBox="1"/>
            <p:nvPr/>
          </p:nvSpPr>
          <p:spPr>
            <a:xfrm>
              <a:off x="11055895" y="1445390"/>
              <a:ext cx="17415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 err="1" smtClean="0"/>
                <a:t>Controls</a:t>
              </a:r>
              <a:r>
                <a:rPr lang="es-ES" b="1" dirty="0" smtClean="0"/>
                <a:t> = 1,480</a:t>
              </a:r>
            </a:p>
          </p:txBody>
        </p:sp>
        <p:sp>
          <p:nvSpPr>
            <p:cNvPr id="26" name="CuadroTexto 25"/>
            <p:cNvSpPr txBox="1"/>
            <p:nvPr/>
          </p:nvSpPr>
          <p:spPr>
            <a:xfrm>
              <a:off x="11082251" y="1759724"/>
              <a:ext cx="10752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 smtClean="0"/>
                <a:t>BD= 436</a:t>
              </a:r>
            </a:p>
          </p:txBody>
        </p:sp>
      </p:grpSp>
      <p:grpSp>
        <p:nvGrpSpPr>
          <p:cNvPr id="32" name="Grupo 31"/>
          <p:cNvGrpSpPr/>
          <p:nvPr/>
        </p:nvGrpSpPr>
        <p:grpSpPr>
          <a:xfrm>
            <a:off x="529525" y="2882004"/>
            <a:ext cx="4356646" cy="3458828"/>
            <a:chOff x="248574" y="3692786"/>
            <a:chExt cx="3908584" cy="2865060"/>
          </a:xfrm>
        </p:grpSpPr>
        <p:pic>
          <p:nvPicPr>
            <p:cNvPr id="11" name="Imagen 10"/>
            <p:cNvPicPr>
              <a:picLocks noChangeAspect="1"/>
            </p:cNvPicPr>
            <p:nvPr/>
          </p:nvPicPr>
          <p:blipFill rotWithShape="1"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8" t="1260" r="38223" b="30094"/>
            <a:stretch/>
          </p:blipFill>
          <p:spPr>
            <a:xfrm>
              <a:off x="248574" y="3692786"/>
              <a:ext cx="2525917" cy="286506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7" name="CuadroTexto 26"/>
            <p:cNvSpPr txBox="1"/>
            <p:nvPr/>
          </p:nvSpPr>
          <p:spPr>
            <a:xfrm>
              <a:off x="2807890" y="3883834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smtClean="0"/>
                <a:t>LQ</a:t>
              </a:r>
            </a:p>
          </p:txBody>
        </p:sp>
        <p:sp>
          <p:nvSpPr>
            <p:cNvPr id="28" name="CuadroTexto 27"/>
            <p:cNvSpPr txBox="1"/>
            <p:nvPr/>
          </p:nvSpPr>
          <p:spPr>
            <a:xfrm>
              <a:off x="2807890" y="4605235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smtClean="0"/>
                <a:t>Sex</a:t>
              </a:r>
            </a:p>
          </p:txBody>
        </p:sp>
        <p:sp>
          <p:nvSpPr>
            <p:cNvPr id="29" name="CuadroTexto 28"/>
            <p:cNvSpPr txBox="1"/>
            <p:nvPr/>
          </p:nvSpPr>
          <p:spPr>
            <a:xfrm>
              <a:off x="2876413" y="5298332"/>
              <a:ext cx="1045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err="1" smtClean="0"/>
                <a:t>Age</a:t>
              </a:r>
              <a:endParaRPr lang="es-ES" dirty="0" smtClean="0"/>
            </a:p>
          </p:txBody>
        </p:sp>
        <p:sp>
          <p:nvSpPr>
            <p:cNvPr id="30" name="CuadroTexto 29"/>
            <p:cNvSpPr txBox="1"/>
            <p:nvPr/>
          </p:nvSpPr>
          <p:spPr>
            <a:xfrm>
              <a:off x="2876413" y="5998257"/>
              <a:ext cx="12807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dirty="0" smtClean="0"/>
                <a:t>BD status</a:t>
              </a:r>
            </a:p>
          </p:txBody>
        </p:sp>
      </p:grpSp>
      <p:sp>
        <p:nvSpPr>
          <p:cNvPr id="31" name="CuadroTexto 30"/>
          <p:cNvSpPr txBox="1"/>
          <p:nvPr/>
        </p:nvSpPr>
        <p:spPr>
          <a:xfrm>
            <a:off x="506918" y="2421193"/>
            <a:ext cx="3688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 err="1" smtClean="0"/>
              <a:t>Correlation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between</a:t>
            </a:r>
            <a:r>
              <a:rPr lang="es-ES" sz="2400" b="1" dirty="0" smtClean="0"/>
              <a:t> </a:t>
            </a:r>
            <a:r>
              <a:rPr lang="es-ES" sz="2400" b="1" dirty="0" err="1" smtClean="0"/>
              <a:t>traits</a:t>
            </a:r>
            <a:endParaRPr lang="en-GB" sz="2400" b="1" dirty="0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10</a:t>
            </a:fld>
            <a:endParaRPr lang="en-GB"/>
          </a:p>
        </p:txBody>
      </p:sp>
      <p:sp>
        <p:nvSpPr>
          <p:cNvPr id="36" name="CuadroTexto 35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37" name="Grupo 36"/>
          <p:cNvGrpSpPr/>
          <p:nvPr/>
        </p:nvGrpSpPr>
        <p:grpSpPr>
          <a:xfrm>
            <a:off x="10010131" y="3640867"/>
            <a:ext cx="1931527" cy="938143"/>
            <a:chOff x="10704056" y="1425775"/>
            <a:chExt cx="1931527" cy="938143"/>
          </a:xfrm>
        </p:grpSpPr>
        <p:pic>
          <p:nvPicPr>
            <p:cNvPr id="38" name="Imagen 37"/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1326" t="44415" r="5430" b="39073"/>
            <a:stretch/>
          </p:blipFill>
          <p:spPr>
            <a:xfrm>
              <a:off x="10704056" y="1425775"/>
              <a:ext cx="531294" cy="938143"/>
            </a:xfrm>
            <a:prstGeom prst="rect">
              <a:avLst/>
            </a:prstGeom>
          </p:spPr>
        </p:pic>
        <p:sp>
          <p:nvSpPr>
            <p:cNvPr id="39" name="CuadroTexto 38"/>
            <p:cNvSpPr txBox="1"/>
            <p:nvPr/>
          </p:nvSpPr>
          <p:spPr>
            <a:xfrm>
              <a:off x="11055895" y="1445390"/>
              <a:ext cx="15796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 err="1" smtClean="0"/>
                <a:t>Controls</a:t>
              </a:r>
              <a:r>
                <a:rPr lang="es-ES" b="1" dirty="0" smtClean="0"/>
                <a:t> =436</a:t>
              </a:r>
            </a:p>
          </p:txBody>
        </p:sp>
        <p:sp>
          <p:nvSpPr>
            <p:cNvPr id="40" name="CuadroTexto 39"/>
            <p:cNvSpPr txBox="1"/>
            <p:nvPr/>
          </p:nvSpPr>
          <p:spPr>
            <a:xfrm>
              <a:off x="11082251" y="1759724"/>
              <a:ext cx="111023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b="1" dirty="0" smtClean="0"/>
                <a:t>BD = 436</a:t>
              </a:r>
            </a:p>
          </p:txBody>
        </p:sp>
      </p:grpSp>
      <p:sp>
        <p:nvSpPr>
          <p:cNvPr id="10" name="Rectángulo redondeado 9"/>
          <p:cNvSpPr/>
          <p:nvPr/>
        </p:nvSpPr>
        <p:spPr>
          <a:xfrm>
            <a:off x="4992243" y="5742894"/>
            <a:ext cx="7029796" cy="70562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 smtClean="0">
                <a:solidFill>
                  <a:schemeClr val="tx1"/>
                </a:solidFill>
              </a:rPr>
              <a:t>Controls for </a:t>
            </a:r>
            <a:r>
              <a:rPr lang="en-GB" sz="2400" dirty="0">
                <a:solidFill>
                  <a:schemeClr val="tx1"/>
                </a:solidFill>
              </a:rPr>
              <a:t>age-dependent changes in handedness and generational effects.</a:t>
            </a:r>
            <a:endParaRPr lang="en-GB" sz="2400" b="1" dirty="0">
              <a:solidFill>
                <a:schemeClr val="tx1"/>
              </a:solidFill>
            </a:endParaRPr>
          </a:p>
        </p:txBody>
      </p:sp>
      <p:sp>
        <p:nvSpPr>
          <p:cNvPr id="13" name="CuadroTexto 12"/>
          <p:cNvSpPr txBox="1"/>
          <p:nvPr/>
        </p:nvSpPr>
        <p:spPr>
          <a:xfrm>
            <a:off x="5874093" y="968730"/>
            <a:ext cx="1397344" cy="4616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i="1" dirty="0"/>
              <a:t>P</a:t>
            </a:r>
            <a:r>
              <a:rPr lang="es-ES" sz="2400" dirty="0"/>
              <a:t> &lt;1E-16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28377972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23" grpId="0"/>
      <p:bldP spid="10" grpId="0" animBg="1"/>
      <p:bldP spid="13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2448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NRH in </a:t>
            </a:r>
            <a:r>
              <a:rPr lang="es-ES" b="1" dirty="0" err="1"/>
              <a:t>Spanish</a:t>
            </a:r>
            <a:r>
              <a:rPr lang="es-ES" b="1" dirty="0"/>
              <a:t> </a:t>
            </a:r>
            <a:r>
              <a:rPr lang="es-ES" b="1" dirty="0" err="1"/>
              <a:t>population</a:t>
            </a:r>
            <a:endParaRPr lang="en-GB" b="1" dirty="0"/>
          </a:p>
        </p:txBody>
      </p:sp>
      <p:sp>
        <p:nvSpPr>
          <p:cNvPr id="9" name="CuadroTexto 8"/>
          <p:cNvSpPr txBox="1"/>
          <p:nvPr/>
        </p:nvSpPr>
        <p:spPr>
          <a:xfrm>
            <a:off x="2542559" y="2443366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 smtClean="0"/>
              <a:t>8.04 %</a:t>
            </a:r>
          </a:p>
          <a:p>
            <a:pPr algn="ctr"/>
            <a:r>
              <a:rPr lang="es-ES" sz="3600" b="1" dirty="0" smtClean="0"/>
              <a:t>12.03 %</a:t>
            </a:r>
          </a:p>
          <a:p>
            <a:pPr algn="ctr"/>
            <a:r>
              <a:rPr lang="es-ES" sz="3600" b="1" dirty="0" smtClean="0"/>
              <a:t>49.19%</a:t>
            </a:r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349537" y="1196163"/>
            <a:ext cx="1461106" cy="1219082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08B30B59-3710-8408-0FF9-26E4523DE253}"/>
              </a:ext>
            </a:extLst>
          </p:cNvPr>
          <p:cNvSpPr/>
          <p:nvPr/>
        </p:nvSpPr>
        <p:spPr>
          <a:xfrm>
            <a:off x="456032" y="1497735"/>
            <a:ext cx="659191" cy="591247"/>
          </a:xfrm>
          <a:prstGeom prst="rect">
            <a:avLst/>
          </a:prstGeom>
          <a:solidFill>
            <a:srgbClr val="A5F1CD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B8A079C-24B4-2542-E955-CFD84E62C0C1}"/>
              </a:ext>
            </a:extLst>
          </p:cNvPr>
          <p:cNvSpPr txBox="1"/>
          <p:nvPr/>
        </p:nvSpPr>
        <p:spPr>
          <a:xfrm>
            <a:off x="459717" y="1504265"/>
            <a:ext cx="612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/>
              <a:t>LQ</a:t>
            </a:r>
          </a:p>
        </p:txBody>
      </p:sp>
      <p:pic>
        <p:nvPicPr>
          <p:cNvPr id="19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62463" y="1001589"/>
            <a:ext cx="1859717" cy="1349212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CuadroTexto 19"/>
          <p:cNvSpPr txBox="1"/>
          <p:nvPr/>
        </p:nvSpPr>
        <p:spPr>
          <a:xfrm>
            <a:off x="2304829" y="1858591"/>
            <a:ext cx="2661917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1,480 controls</a:t>
            </a:r>
            <a:endParaRPr lang="en-GB" sz="3200" b="1" dirty="0"/>
          </a:p>
        </p:txBody>
      </p:sp>
      <p:sp>
        <p:nvSpPr>
          <p:cNvPr id="28" name="Rectángulo redondeado 27"/>
          <p:cNvSpPr/>
          <p:nvPr/>
        </p:nvSpPr>
        <p:spPr>
          <a:xfrm>
            <a:off x="2304829" y="4376691"/>
            <a:ext cx="2780406" cy="198876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smtClean="0">
                <a:solidFill>
                  <a:schemeClr val="tx1"/>
                </a:solidFill>
              </a:rPr>
              <a:t>EUR </a:t>
            </a:r>
            <a:r>
              <a:rPr lang="es-ES" sz="2800" b="1" dirty="0" err="1" smtClean="0">
                <a:solidFill>
                  <a:schemeClr val="tx1"/>
                </a:solidFill>
              </a:rPr>
              <a:t>population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s-ES" sz="2800" b="1" dirty="0" smtClean="0">
                <a:solidFill>
                  <a:schemeClr val="tx1"/>
                </a:solidFill>
              </a:rPr>
              <a:t>10.6% </a:t>
            </a:r>
          </a:p>
          <a:p>
            <a:pPr algn="ctr"/>
            <a:r>
              <a:rPr lang="es-ES" sz="2800" b="1" dirty="0" smtClean="0">
                <a:solidFill>
                  <a:schemeClr val="tx1"/>
                </a:solidFill>
              </a:rPr>
              <a:t>18%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31" name="Rectángulo redondeado 30"/>
          <p:cNvSpPr/>
          <p:nvPr/>
        </p:nvSpPr>
        <p:spPr>
          <a:xfrm>
            <a:off x="5773999" y="5483291"/>
            <a:ext cx="5579801" cy="949002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err="1" smtClean="0">
                <a:solidFill>
                  <a:schemeClr val="tx1"/>
                </a:solidFill>
              </a:rPr>
              <a:t>Lateralization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increases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with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age</a:t>
            </a:r>
            <a:endParaRPr lang="es-ES" sz="2800" b="1" dirty="0" smtClean="0">
              <a:solidFill>
                <a:schemeClr val="tx1"/>
              </a:solidFill>
            </a:endParaRPr>
          </a:p>
          <a:p>
            <a:pPr algn="ctr"/>
            <a:r>
              <a:rPr lang="es-ES" sz="2800" b="1" i="1" dirty="0" smtClean="0">
                <a:solidFill>
                  <a:schemeClr val="tx1"/>
                </a:solidFill>
              </a:rPr>
              <a:t>P</a:t>
            </a:r>
            <a:r>
              <a:rPr lang="es-ES" sz="2800" b="1" dirty="0" smtClean="0">
                <a:solidFill>
                  <a:schemeClr val="tx1"/>
                </a:solidFill>
              </a:rPr>
              <a:t> = 1.8E-08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3" name="Marcador de número de diapositiva 2"/>
          <p:cNvSpPr>
            <a:spLocks noGrp="1"/>
          </p:cNvSpPr>
          <p:nvPr>
            <p:ph type="sldNum" sz="quarter" idx="12"/>
          </p:nvPr>
        </p:nvSpPr>
        <p:spPr>
          <a:xfrm>
            <a:off x="9285305" y="6498397"/>
            <a:ext cx="2743200" cy="365125"/>
          </a:xfrm>
        </p:spPr>
        <p:txBody>
          <a:bodyPr/>
          <a:lstStyle/>
          <a:p>
            <a:fld id="{0F5E948B-A4EA-4562-B7E6-FE17413622D9}" type="slidenum">
              <a:rPr lang="en-GB" smtClean="0"/>
              <a:t>11</a:t>
            </a:fld>
            <a:endParaRPr lang="en-GB"/>
          </a:p>
        </p:txBody>
      </p:sp>
      <p:sp>
        <p:nvSpPr>
          <p:cNvPr id="35" name="CuadroTexto 34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7" name="Grupo 6"/>
          <p:cNvGrpSpPr/>
          <p:nvPr/>
        </p:nvGrpSpPr>
        <p:grpSpPr>
          <a:xfrm>
            <a:off x="318121" y="2548177"/>
            <a:ext cx="1483691" cy="584775"/>
            <a:chOff x="344755" y="2548177"/>
            <a:chExt cx="1483691" cy="584775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8" name="Grupo 7"/>
          <p:cNvGrpSpPr/>
          <p:nvPr/>
        </p:nvGrpSpPr>
        <p:grpSpPr>
          <a:xfrm>
            <a:off x="304461" y="3064075"/>
            <a:ext cx="1506182" cy="584775"/>
            <a:chOff x="326999" y="3152666"/>
            <a:chExt cx="1506182" cy="584775"/>
          </a:xfrm>
        </p:grpSpPr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grpSp>
        <p:nvGrpSpPr>
          <p:cNvPr id="21" name="Grupo 20"/>
          <p:cNvGrpSpPr/>
          <p:nvPr/>
        </p:nvGrpSpPr>
        <p:grpSpPr>
          <a:xfrm>
            <a:off x="296912" y="3577701"/>
            <a:ext cx="1601110" cy="584775"/>
            <a:chOff x="314668" y="3781782"/>
            <a:chExt cx="1601110" cy="584775"/>
          </a:xfrm>
        </p:grpSpPr>
        <p:sp>
          <p:nvSpPr>
            <p:cNvPr id="38" name="Rectángulo 37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3935" y="3833149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" name="Rectángulo 4"/>
            <p:cNvSpPr/>
            <p:nvPr/>
          </p:nvSpPr>
          <p:spPr>
            <a:xfrm>
              <a:off x="398902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Rectángulo 38"/>
            <p:cNvSpPr/>
            <p:nvPr/>
          </p:nvSpPr>
          <p:spPr>
            <a:xfrm>
              <a:off x="1659177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CuadroTexto 39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14668" y="3781782"/>
              <a:ext cx="16011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LAT</a:t>
              </a:r>
              <a:endParaRPr lang="es-ES" dirty="0"/>
            </a:p>
          </p:txBody>
        </p:sp>
      </p:grpSp>
      <p:grpSp>
        <p:nvGrpSpPr>
          <p:cNvPr id="41" name="Grupo 40"/>
          <p:cNvGrpSpPr/>
          <p:nvPr/>
        </p:nvGrpSpPr>
        <p:grpSpPr>
          <a:xfrm>
            <a:off x="304461" y="5103566"/>
            <a:ext cx="1483691" cy="584775"/>
            <a:chOff x="344755" y="2548177"/>
            <a:chExt cx="1483691" cy="584775"/>
          </a:xfrm>
        </p:grpSpPr>
        <p:sp>
          <p:nvSpPr>
            <p:cNvPr id="42" name="Rectángulo 41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3" name="Rectángulo 42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4" name="CuadroTexto 43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45" name="Grupo 44"/>
          <p:cNvGrpSpPr/>
          <p:nvPr/>
        </p:nvGrpSpPr>
        <p:grpSpPr>
          <a:xfrm>
            <a:off x="290801" y="5619464"/>
            <a:ext cx="1506182" cy="584775"/>
            <a:chOff x="326999" y="3152666"/>
            <a:chExt cx="1506182" cy="584775"/>
          </a:xfrm>
        </p:grpSpPr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7" name="Rectángulo 46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8" name="CuadroTexto 47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pic>
        <p:nvPicPr>
          <p:cNvPr id="4" name="Imagen 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4000" y="675443"/>
            <a:ext cx="5298919" cy="477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7300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/>
              <a:t>Case-control </a:t>
            </a:r>
            <a:r>
              <a:rPr lang="es-ES" b="1" dirty="0" err="1"/>
              <a:t>handedness</a:t>
            </a:r>
            <a:r>
              <a:rPr lang="es-ES" b="1" dirty="0"/>
              <a:t> </a:t>
            </a:r>
            <a:r>
              <a:rPr lang="es-ES" b="1" dirty="0" err="1"/>
              <a:t>study</a:t>
            </a:r>
            <a:endParaRPr lang="en-GB" b="1" dirty="0"/>
          </a:p>
        </p:txBody>
      </p:sp>
      <p:pic>
        <p:nvPicPr>
          <p:cNvPr id="4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18825" y="1542796"/>
            <a:ext cx="2348857" cy="1820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/>
        </p:blipFill>
        <p:spPr>
          <a:xfrm>
            <a:off x="5020925" y="1588260"/>
            <a:ext cx="2325950" cy="18216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CuadroTexto 5"/>
          <p:cNvSpPr txBox="1"/>
          <p:nvPr/>
        </p:nvSpPr>
        <p:spPr>
          <a:xfrm>
            <a:off x="2378584" y="2825085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436 controls</a:t>
            </a:r>
            <a:endParaRPr lang="en-GB" sz="3200" b="1" dirty="0"/>
          </a:p>
        </p:txBody>
      </p:sp>
      <p:sp>
        <p:nvSpPr>
          <p:cNvPr id="7" name="CuadroTexto 6"/>
          <p:cNvSpPr txBox="1"/>
          <p:nvPr/>
        </p:nvSpPr>
        <p:spPr>
          <a:xfrm>
            <a:off x="4969231" y="2825085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436 BD</a:t>
            </a:r>
            <a:endParaRPr lang="en-GB" sz="3200" b="1" dirty="0"/>
          </a:p>
        </p:txBody>
      </p:sp>
      <p:sp>
        <p:nvSpPr>
          <p:cNvPr id="3" name="Marcador de número de diapositiva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12</a:t>
            </a:fld>
            <a:endParaRPr lang="en-GB"/>
          </a:p>
        </p:txBody>
      </p:sp>
      <p:sp>
        <p:nvSpPr>
          <p:cNvPr id="9" name="CuadroTexto 8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/>
        </p:blipFill>
        <p:spPr>
          <a:xfrm>
            <a:off x="7651812" y="1588260"/>
            <a:ext cx="2325950" cy="182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CuadroTexto 10"/>
          <p:cNvSpPr txBox="1"/>
          <p:nvPr/>
        </p:nvSpPr>
        <p:spPr>
          <a:xfrm>
            <a:off x="7600118" y="2825085"/>
            <a:ext cx="2429338" cy="584775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157 SCZ</a:t>
            </a:r>
            <a:endParaRPr lang="en-GB" sz="3200" b="1" dirty="0"/>
          </a:p>
        </p:txBody>
      </p:sp>
      <p:pic>
        <p:nvPicPr>
          <p:cNvPr id="12" name="Imagen 11"/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580" t="64646" r="4030" b="8831"/>
          <a:stretch/>
        </p:blipFill>
        <p:spPr>
          <a:xfrm>
            <a:off x="693974" y="2239088"/>
            <a:ext cx="1461106" cy="1219082"/>
          </a:xfrm>
          <a:prstGeom prst="rect">
            <a:avLst/>
          </a:prstGeom>
        </p:spPr>
      </p:pic>
      <p:sp>
        <p:nvSpPr>
          <p:cNvPr id="13" name="Rectángulo 12">
            <a:extLst>
              <a:ext uri="{FF2B5EF4-FFF2-40B4-BE49-F238E27FC236}">
                <a16:creationId xmlns:a16="http://schemas.microsoft.com/office/drawing/2014/main" id="{08B30B59-3710-8408-0FF9-26E4523DE253}"/>
              </a:ext>
            </a:extLst>
          </p:cNvPr>
          <p:cNvSpPr/>
          <p:nvPr/>
        </p:nvSpPr>
        <p:spPr>
          <a:xfrm>
            <a:off x="800469" y="2540660"/>
            <a:ext cx="659191" cy="591247"/>
          </a:xfrm>
          <a:prstGeom prst="rect">
            <a:avLst/>
          </a:prstGeom>
          <a:solidFill>
            <a:srgbClr val="A5F1CD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B8A079C-24B4-2542-E955-CFD84E62C0C1}"/>
              </a:ext>
            </a:extLst>
          </p:cNvPr>
          <p:cNvSpPr txBox="1"/>
          <p:nvPr/>
        </p:nvSpPr>
        <p:spPr>
          <a:xfrm>
            <a:off x="804154" y="2547190"/>
            <a:ext cx="612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/>
              <a:t>LQ</a:t>
            </a:r>
          </a:p>
        </p:txBody>
      </p:sp>
      <p:grpSp>
        <p:nvGrpSpPr>
          <p:cNvPr id="15" name="Grupo 14"/>
          <p:cNvGrpSpPr/>
          <p:nvPr/>
        </p:nvGrpSpPr>
        <p:grpSpPr>
          <a:xfrm>
            <a:off x="662558" y="3591102"/>
            <a:ext cx="1483691" cy="584775"/>
            <a:chOff x="344755" y="2548177"/>
            <a:chExt cx="1483691" cy="584775"/>
          </a:xfrm>
        </p:grpSpPr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19" name="Grupo 18"/>
          <p:cNvGrpSpPr/>
          <p:nvPr/>
        </p:nvGrpSpPr>
        <p:grpSpPr>
          <a:xfrm>
            <a:off x="648898" y="4107000"/>
            <a:ext cx="1506182" cy="584775"/>
            <a:chOff x="326999" y="3152666"/>
            <a:chExt cx="1506182" cy="584775"/>
          </a:xfrm>
        </p:grpSpPr>
        <p:sp>
          <p:nvSpPr>
            <p:cNvPr id="20" name="Rectángulo 19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grpSp>
        <p:nvGrpSpPr>
          <p:cNvPr id="23" name="Grupo 22"/>
          <p:cNvGrpSpPr/>
          <p:nvPr/>
        </p:nvGrpSpPr>
        <p:grpSpPr>
          <a:xfrm>
            <a:off x="641349" y="4620626"/>
            <a:ext cx="1601110" cy="584775"/>
            <a:chOff x="314668" y="3781782"/>
            <a:chExt cx="1601110" cy="584775"/>
          </a:xfrm>
        </p:grpSpPr>
        <p:sp>
          <p:nvSpPr>
            <p:cNvPr id="24" name="Rectángulo 23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3935" y="3833149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25" name="Rectángulo 24"/>
            <p:cNvSpPr/>
            <p:nvPr/>
          </p:nvSpPr>
          <p:spPr>
            <a:xfrm>
              <a:off x="398902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6" name="Rectángulo 25"/>
            <p:cNvSpPr/>
            <p:nvPr/>
          </p:nvSpPr>
          <p:spPr>
            <a:xfrm>
              <a:off x="1659177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7" name="CuadroTexto 26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14668" y="3781782"/>
              <a:ext cx="16011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LAT</a:t>
              </a:r>
              <a:endParaRPr lang="es-ES" dirty="0"/>
            </a:p>
          </p:txBody>
        </p:sp>
      </p:grpSp>
      <p:sp>
        <p:nvSpPr>
          <p:cNvPr id="28" name="CuadroTexto 27"/>
          <p:cNvSpPr txBox="1"/>
          <p:nvPr/>
        </p:nvSpPr>
        <p:spPr>
          <a:xfrm>
            <a:off x="2378584" y="3458170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 smtClean="0"/>
              <a:t>6.65 %</a:t>
            </a:r>
          </a:p>
          <a:p>
            <a:pPr algn="ctr"/>
            <a:r>
              <a:rPr lang="es-ES" sz="3600" b="1" dirty="0" smtClean="0"/>
              <a:t>10.09 %</a:t>
            </a:r>
          </a:p>
          <a:p>
            <a:pPr algn="ctr"/>
            <a:r>
              <a:rPr lang="es-ES" sz="3600" b="1" dirty="0" smtClean="0"/>
              <a:t>58.26%</a:t>
            </a:r>
          </a:p>
        </p:txBody>
      </p:sp>
      <p:sp>
        <p:nvSpPr>
          <p:cNvPr id="29" name="CuadroTexto 28"/>
          <p:cNvSpPr txBox="1"/>
          <p:nvPr/>
        </p:nvSpPr>
        <p:spPr>
          <a:xfrm>
            <a:off x="5031426" y="3458170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 smtClean="0"/>
              <a:t>7.34 %</a:t>
            </a:r>
          </a:p>
          <a:p>
            <a:pPr algn="ctr"/>
            <a:r>
              <a:rPr lang="es-ES" sz="3600" b="1" dirty="0" smtClean="0"/>
              <a:t>12.16 %</a:t>
            </a:r>
          </a:p>
          <a:p>
            <a:pPr algn="ctr"/>
            <a:r>
              <a:rPr lang="es-ES" sz="3600" b="1" dirty="0" smtClean="0"/>
              <a:t>67.43%</a:t>
            </a:r>
          </a:p>
        </p:txBody>
      </p:sp>
      <p:sp>
        <p:nvSpPr>
          <p:cNvPr id="30" name="CuadroTexto 29"/>
          <p:cNvSpPr txBox="1"/>
          <p:nvPr/>
        </p:nvSpPr>
        <p:spPr>
          <a:xfrm>
            <a:off x="7600118" y="3458170"/>
            <a:ext cx="23049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600" b="1" dirty="0" smtClean="0"/>
              <a:t>10.19 %</a:t>
            </a:r>
          </a:p>
          <a:p>
            <a:pPr algn="ctr"/>
            <a:r>
              <a:rPr lang="es-ES" sz="3600" b="1" dirty="0" smtClean="0"/>
              <a:t>26.11 %</a:t>
            </a:r>
          </a:p>
          <a:p>
            <a:pPr algn="ctr"/>
            <a:r>
              <a:rPr lang="es-ES" sz="3600" b="1" dirty="0" smtClean="0"/>
              <a:t>25.48%</a:t>
            </a:r>
          </a:p>
        </p:txBody>
      </p:sp>
      <p:sp>
        <p:nvSpPr>
          <p:cNvPr id="31" name="Cerrar llave 30"/>
          <p:cNvSpPr/>
          <p:nvPr/>
        </p:nvSpPr>
        <p:spPr>
          <a:xfrm rot="5400000">
            <a:off x="4914766" y="3183332"/>
            <a:ext cx="264255" cy="4599963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CuadroTexto 31"/>
          <p:cNvSpPr txBox="1"/>
          <p:nvPr/>
        </p:nvSpPr>
        <p:spPr>
          <a:xfrm>
            <a:off x="4731225" y="5548147"/>
            <a:ext cx="621408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ES" sz="2400" dirty="0" smtClean="0"/>
              <a:t>NS</a:t>
            </a:r>
            <a:endParaRPr lang="en-GB" sz="2400" dirty="0"/>
          </a:p>
        </p:txBody>
      </p:sp>
      <p:sp>
        <p:nvSpPr>
          <p:cNvPr id="33" name="Cerrar llave 32"/>
          <p:cNvSpPr/>
          <p:nvPr/>
        </p:nvSpPr>
        <p:spPr>
          <a:xfrm rot="5400000">
            <a:off x="6238522" y="2368540"/>
            <a:ext cx="195936" cy="7282544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CuadroTexto 33"/>
          <p:cNvSpPr txBox="1"/>
          <p:nvPr/>
        </p:nvSpPr>
        <p:spPr>
          <a:xfrm>
            <a:off x="5729155" y="6288379"/>
            <a:ext cx="1214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***</a:t>
            </a:r>
            <a:endParaRPr lang="en-GB" sz="3200" b="1" dirty="0"/>
          </a:p>
        </p:txBody>
      </p:sp>
      <p:sp>
        <p:nvSpPr>
          <p:cNvPr id="8" name="Rectángulo redondeado 7"/>
          <p:cNvSpPr/>
          <p:nvPr/>
        </p:nvSpPr>
        <p:spPr>
          <a:xfrm>
            <a:off x="2695218" y="4596496"/>
            <a:ext cx="4389163" cy="616000"/>
          </a:xfrm>
          <a:prstGeom prst="roundRect">
            <a:avLst/>
          </a:prstGeom>
          <a:noFill/>
          <a:ln w="57150">
            <a:solidFill>
              <a:srgbClr val="FFC00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ángulo redondeado 35"/>
          <p:cNvSpPr/>
          <p:nvPr/>
        </p:nvSpPr>
        <p:spPr>
          <a:xfrm>
            <a:off x="9977762" y="4427402"/>
            <a:ext cx="1687497" cy="785094"/>
          </a:xfrm>
          <a:prstGeom prst="round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i="1" dirty="0" smtClean="0">
                <a:solidFill>
                  <a:schemeClr val="tx1"/>
                </a:solidFill>
              </a:rPr>
              <a:t>P </a:t>
            </a:r>
            <a:r>
              <a:rPr lang="es-ES" sz="2800" b="1" dirty="0" smtClean="0">
                <a:solidFill>
                  <a:schemeClr val="tx1"/>
                </a:solidFill>
              </a:rPr>
              <a:t>= 0.012</a:t>
            </a:r>
            <a:endParaRPr lang="en-GB" sz="28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2295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3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upo 29"/>
          <p:cNvGrpSpPr/>
          <p:nvPr/>
        </p:nvGrpSpPr>
        <p:grpSpPr>
          <a:xfrm>
            <a:off x="6598763" y="1417009"/>
            <a:ext cx="3517641" cy="4328243"/>
            <a:chOff x="6208144" y="1417009"/>
            <a:chExt cx="3517641" cy="4328243"/>
          </a:xfrm>
        </p:grpSpPr>
        <p:pic>
          <p:nvPicPr>
            <p:cNvPr id="7" name="Imagen 6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7856" r="12689" b="5721"/>
            <a:stretch/>
          </p:blipFill>
          <p:spPr>
            <a:xfrm flipH="1">
              <a:off x="6208144" y="1417009"/>
              <a:ext cx="3517641" cy="4328243"/>
            </a:xfrm>
            <a:prstGeom prst="rect">
              <a:avLst/>
            </a:prstGeom>
          </p:spPr>
        </p:pic>
        <p:sp>
          <p:nvSpPr>
            <p:cNvPr id="29" name="Rectángulo redondeado 28"/>
            <p:cNvSpPr/>
            <p:nvPr/>
          </p:nvSpPr>
          <p:spPr>
            <a:xfrm>
              <a:off x="7877656" y="5481618"/>
              <a:ext cx="417251" cy="26363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1" name="Grupo 30"/>
          <p:cNvGrpSpPr/>
          <p:nvPr/>
        </p:nvGrpSpPr>
        <p:grpSpPr>
          <a:xfrm>
            <a:off x="2673792" y="1318729"/>
            <a:ext cx="3400619" cy="4426522"/>
            <a:chOff x="2283173" y="1318729"/>
            <a:chExt cx="3400619" cy="4426522"/>
          </a:xfrm>
        </p:grpSpPr>
        <p:pic>
          <p:nvPicPr>
            <p:cNvPr id="5" name="Imagen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554" r="52991" b="6300"/>
            <a:stretch/>
          </p:blipFill>
          <p:spPr>
            <a:xfrm flipH="1">
              <a:off x="2283173" y="1318729"/>
              <a:ext cx="3400619" cy="4402973"/>
            </a:xfrm>
            <a:prstGeom prst="rect">
              <a:avLst/>
            </a:prstGeom>
          </p:spPr>
        </p:pic>
        <p:sp>
          <p:nvSpPr>
            <p:cNvPr id="28" name="Rectángulo redondeado 27"/>
            <p:cNvSpPr/>
            <p:nvPr/>
          </p:nvSpPr>
          <p:spPr>
            <a:xfrm>
              <a:off x="3755254" y="5481618"/>
              <a:ext cx="417251" cy="26363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-6834"/>
            <a:ext cx="121920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 err="1"/>
              <a:t>Stronger</a:t>
            </a:r>
            <a:r>
              <a:rPr lang="es-ES" b="1" dirty="0"/>
              <a:t> </a:t>
            </a:r>
            <a:r>
              <a:rPr lang="es-ES" b="1" dirty="0" err="1" smtClean="0"/>
              <a:t>lateralization</a:t>
            </a:r>
            <a:r>
              <a:rPr lang="es-ES" b="1" dirty="0" smtClean="0"/>
              <a:t> of </a:t>
            </a:r>
            <a:r>
              <a:rPr lang="es-ES" b="1" dirty="0" err="1"/>
              <a:t>foot</a:t>
            </a:r>
            <a:r>
              <a:rPr lang="es-ES" b="1" dirty="0"/>
              <a:t> and </a:t>
            </a:r>
            <a:r>
              <a:rPr lang="es-ES" b="1" dirty="0" err="1"/>
              <a:t>eye</a:t>
            </a:r>
            <a:r>
              <a:rPr lang="es-ES" b="1" dirty="0"/>
              <a:t> in BD </a:t>
            </a:r>
            <a:r>
              <a:rPr lang="es-ES" b="1" dirty="0" err="1"/>
              <a:t>patients</a:t>
            </a:r>
            <a:endParaRPr lang="en-GB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13</a:t>
            </a:fld>
            <a:endParaRPr lang="en-GB"/>
          </a:p>
        </p:txBody>
      </p:sp>
      <p:grpSp>
        <p:nvGrpSpPr>
          <p:cNvPr id="13" name="Grupo 12"/>
          <p:cNvGrpSpPr/>
          <p:nvPr/>
        </p:nvGrpSpPr>
        <p:grpSpPr>
          <a:xfrm>
            <a:off x="778308" y="2418568"/>
            <a:ext cx="1636918" cy="1249621"/>
            <a:chOff x="26909" y="1432051"/>
            <a:chExt cx="1636918" cy="1249621"/>
          </a:xfrm>
        </p:grpSpPr>
        <p:pic>
          <p:nvPicPr>
            <p:cNvPr id="8" name="Google Shape;86;p17">
              <a:extLst>
                <a:ext uri="{FF2B5EF4-FFF2-40B4-BE49-F238E27FC236}">
                  <a16:creationId xmlns:a16="http://schemas.microsoft.com/office/drawing/2014/main" id="{C0A78BE3-2958-3745-B10C-C35A9F7F1CB6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51827" y="1432051"/>
              <a:ext cx="1512000" cy="108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CuadroTexto 9"/>
            <p:cNvSpPr txBox="1"/>
            <p:nvPr/>
          </p:nvSpPr>
          <p:spPr>
            <a:xfrm>
              <a:off x="26909" y="2281562"/>
              <a:ext cx="1633308" cy="400110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b="1" dirty="0" smtClean="0"/>
                <a:t>436 controls</a:t>
              </a:r>
              <a:endParaRPr lang="en-GB" sz="2000" b="1" dirty="0"/>
            </a:p>
          </p:txBody>
        </p:sp>
      </p:grpSp>
      <p:grpSp>
        <p:nvGrpSpPr>
          <p:cNvPr id="12" name="Grupo 11"/>
          <p:cNvGrpSpPr/>
          <p:nvPr/>
        </p:nvGrpSpPr>
        <p:grpSpPr>
          <a:xfrm>
            <a:off x="847927" y="3797878"/>
            <a:ext cx="1532692" cy="1277136"/>
            <a:chOff x="100592" y="3209364"/>
            <a:chExt cx="1532692" cy="1277136"/>
          </a:xfrm>
        </p:grpSpPr>
        <p:pic>
          <p:nvPicPr>
            <p:cNvPr id="9" name="Google Shape;85;p17">
              <a:extLst>
                <a:ext uri="{FF2B5EF4-FFF2-40B4-BE49-F238E27FC236}">
                  <a16:creationId xmlns:a16="http://schemas.microsoft.com/office/drawing/2014/main" id="{74E3E47A-A681-5DA4-D980-43CE26E23F2B}"/>
                </a:ext>
              </a:extLst>
            </p:cNvPr>
            <p:cNvPicPr preferRelativeResize="0"/>
            <p:nvPr/>
          </p:nvPicPr>
          <p:blipFill>
            <a:blip r:embed="rId4">
              <a:alphaModFix/>
            </a:blip>
            <a:stretch/>
          </p:blipFill>
          <p:spPr>
            <a:xfrm>
              <a:off x="110938" y="3209364"/>
              <a:ext cx="1512000" cy="1080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" name="CuadroTexto 10"/>
            <p:cNvSpPr txBox="1"/>
            <p:nvPr/>
          </p:nvSpPr>
          <p:spPr>
            <a:xfrm>
              <a:off x="100592" y="4086390"/>
              <a:ext cx="1532692" cy="400110"/>
            </a:xfrm>
            <a:prstGeom prst="rect">
              <a:avLst/>
            </a:prstGeom>
            <a:noFill/>
            <a:ln w="3810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b="1" dirty="0" smtClean="0"/>
                <a:t>436 BD</a:t>
              </a:r>
              <a:endParaRPr lang="en-GB" sz="2000" b="1" dirty="0"/>
            </a:p>
          </p:txBody>
        </p:sp>
      </p:grpSp>
      <p:sp>
        <p:nvSpPr>
          <p:cNvPr id="14" name="Rectángulo 13"/>
          <p:cNvSpPr/>
          <p:nvPr/>
        </p:nvSpPr>
        <p:spPr>
          <a:xfrm>
            <a:off x="3277710" y="1275154"/>
            <a:ext cx="2192785" cy="5249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err="1" smtClean="0">
                <a:solidFill>
                  <a:schemeClr val="tx1"/>
                </a:solidFill>
              </a:rPr>
              <a:t>Preferred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foot</a:t>
            </a:r>
            <a:endParaRPr lang="en-GB" sz="2400" b="1" dirty="0">
              <a:solidFill>
                <a:schemeClr val="tx1"/>
              </a:solidFill>
            </a:endParaRPr>
          </a:p>
        </p:txBody>
      </p:sp>
      <p:sp>
        <p:nvSpPr>
          <p:cNvPr id="15" name="Rectángulo 14"/>
          <p:cNvSpPr/>
          <p:nvPr/>
        </p:nvSpPr>
        <p:spPr>
          <a:xfrm>
            <a:off x="7413682" y="1306556"/>
            <a:ext cx="2192785" cy="52499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err="1" smtClean="0">
                <a:solidFill>
                  <a:schemeClr val="tx1"/>
                </a:solidFill>
              </a:rPr>
              <a:t>Preferred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eye</a:t>
            </a:r>
            <a:endParaRPr lang="en-GB" sz="2400" b="1" dirty="0">
              <a:solidFill>
                <a:schemeClr val="tx1"/>
              </a:solidFill>
            </a:endParaRPr>
          </a:p>
        </p:txBody>
      </p:sp>
      <p:grpSp>
        <p:nvGrpSpPr>
          <p:cNvPr id="22" name="Grupo 21"/>
          <p:cNvGrpSpPr/>
          <p:nvPr/>
        </p:nvGrpSpPr>
        <p:grpSpPr>
          <a:xfrm>
            <a:off x="6770387" y="5375762"/>
            <a:ext cx="3307147" cy="608325"/>
            <a:chOff x="2389251" y="5429314"/>
            <a:chExt cx="3307147" cy="608325"/>
          </a:xfrm>
        </p:grpSpPr>
        <p:grpSp>
          <p:nvGrpSpPr>
            <p:cNvPr id="23" name="Grupo 22"/>
            <p:cNvGrpSpPr/>
            <p:nvPr/>
          </p:nvGrpSpPr>
          <p:grpSpPr>
            <a:xfrm>
              <a:off x="2389251" y="5452864"/>
              <a:ext cx="3248733" cy="584775"/>
              <a:chOff x="452243" y="2491937"/>
              <a:chExt cx="3248733" cy="584775"/>
            </a:xfrm>
          </p:grpSpPr>
          <p:sp>
            <p:nvSpPr>
              <p:cNvPr id="25" name="Rectángulo 24">
                <a:extLst>
                  <a:ext uri="{FF2B5EF4-FFF2-40B4-BE49-F238E27FC236}">
                    <a16:creationId xmlns:a16="http://schemas.microsoft.com/office/drawing/2014/main" id="{7B36E3C5-B02C-6780-8E7A-F770EC47C2F9}"/>
                  </a:ext>
                </a:extLst>
              </p:cNvPr>
              <p:cNvSpPr/>
              <p:nvPr/>
            </p:nvSpPr>
            <p:spPr>
              <a:xfrm>
                <a:off x="2741524" y="2548177"/>
                <a:ext cx="959452" cy="482042"/>
              </a:xfrm>
              <a:prstGeom prst="rect">
                <a:avLst/>
              </a:prstGeom>
              <a:solidFill>
                <a:srgbClr val="8AD5FA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26" name="Rectángulo 25">
                <a:extLst>
                  <a:ext uri="{FF2B5EF4-FFF2-40B4-BE49-F238E27FC236}">
                    <a16:creationId xmlns:a16="http://schemas.microsoft.com/office/drawing/2014/main" id="{D77B4F48-3B87-95AD-AC32-86712AA4F8F5}"/>
                  </a:ext>
                </a:extLst>
              </p:cNvPr>
              <p:cNvSpPr/>
              <p:nvPr/>
            </p:nvSpPr>
            <p:spPr>
              <a:xfrm>
                <a:off x="452243" y="2520691"/>
                <a:ext cx="950009" cy="4801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27" name="CuadroTexto 26">
                <a:extLst>
                  <a:ext uri="{FF2B5EF4-FFF2-40B4-BE49-F238E27FC236}">
                    <a16:creationId xmlns:a16="http://schemas.microsoft.com/office/drawing/2014/main" id="{F0647A86-F9FB-EDD9-6914-F239CCE77608}"/>
                  </a:ext>
                </a:extLst>
              </p:cNvPr>
              <p:cNvSpPr txBox="1"/>
              <p:nvPr/>
            </p:nvSpPr>
            <p:spPr>
              <a:xfrm>
                <a:off x="452243" y="2491937"/>
                <a:ext cx="83149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3200" b="1" dirty="0"/>
                  <a:t>Left</a:t>
                </a:r>
              </a:p>
            </p:txBody>
          </p:sp>
        </p:grp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4620117" y="5429314"/>
              <a:ext cx="107628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3200" b="1" dirty="0" err="1" smtClean="0"/>
                <a:t>Right</a:t>
              </a:r>
              <a:endParaRPr lang="es-ES" sz="3200" b="1" dirty="0"/>
            </a:p>
          </p:txBody>
        </p:sp>
      </p:grpSp>
      <p:grpSp>
        <p:nvGrpSpPr>
          <p:cNvPr id="21" name="Grupo 20"/>
          <p:cNvGrpSpPr/>
          <p:nvPr/>
        </p:nvGrpSpPr>
        <p:grpSpPr>
          <a:xfrm>
            <a:off x="2779870" y="5429314"/>
            <a:ext cx="3307147" cy="608325"/>
            <a:chOff x="2389251" y="5429314"/>
            <a:chExt cx="3307147" cy="608325"/>
          </a:xfrm>
        </p:grpSpPr>
        <p:grpSp>
          <p:nvGrpSpPr>
            <p:cNvPr id="16" name="Grupo 15"/>
            <p:cNvGrpSpPr/>
            <p:nvPr/>
          </p:nvGrpSpPr>
          <p:grpSpPr>
            <a:xfrm>
              <a:off x="2389251" y="5452864"/>
              <a:ext cx="3248733" cy="584775"/>
              <a:chOff x="452243" y="2491937"/>
              <a:chExt cx="3248733" cy="584775"/>
            </a:xfrm>
          </p:grpSpPr>
          <p:sp>
            <p:nvSpPr>
              <p:cNvPr id="17" name="Rectángulo 16">
                <a:extLst>
                  <a:ext uri="{FF2B5EF4-FFF2-40B4-BE49-F238E27FC236}">
                    <a16:creationId xmlns:a16="http://schemas.microsoft.com/office/drawing/2014/main" id="{7B36E3C5-B02C-6780-8E7A-F770EC47C2F9}"/>
                  </a:ext>
                </a:extLst>
              </p:cNvPr>
              <p:cNvSpPr/>
              <p:nvPr/>
            </p:nvSpPr>
            <p:spPr>
              <a:xfrm>
                <a:off x="2741524" y="2548177"/>
                <a:ext cx="959452" cy="482042"/>
              </a:xfrm>
              <a:prstGeom prst="rect">
                <a:avLst/>
              </a:prstGeom>
              <a:solidFill>
                <a:srgbClr val="8AD5FA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18" name="Rectángulo 17">
                <a:extLst>
                  <a:ext uri="{FF2B5EF4-FFF2-40B4-BE49-F238E27FC236}">
                    <a16:creationId xmlns:a16="http://schemas.microsoft.com/office/drawing/2014/main" id="{D77B4F48-3B87-95AD-AC32-86712AA4F8F5}"/>
                  </a:ext>
                </a:extLst>
              </p:cNvPr>
              <p:cNvSpPr/>
              <p:nvPr/>
            </p:nvSpPr>
            <p:spPr>
              <a:xfrm>
                <a:off x="452243" y="2520691"/>
                <a:ext cx="950009" cy="480165"/>
              </a:xfrm>
              <a:prstGeom prst="rect">
                <a:avLst/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dirty="0"/>
              </a:p>
            </p:txBody>
          </p:sp>
          <p:sp>
            <p:nvSpPr>
              <p:cNvPr id="19" name="CuadroTexto 18">
                <a:extLst>
                  <a:ext uri="{FF2B5EF4-FFF2-40B4-BE49-F238E27FC236}">
                    <a16:creationId xmlns:a16="http://schemas.microsoft.com/office/drawing/2014/main" id="{F0647A86-F9FB-EDD9-6914-F239CCE77608}"/>
                  </a:ext>
                </a:extLst>
              </p:cNvPr>
              <p:cNvSpPr txBox="1"/>
              <p:nvPr/>
            </p:nvSpPr>
            <p:spPr>
              <a:xfrm>
                <a:off x="452243" y="2491937"/>
                <a:ext cx="83149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s-ES" sz="3200" b="1" dirty="0"/>
                  <a:t>Left</a:t>
                </a:r>
              </a:p>
            </p:txBody>
          </p:sp>
        </p:grp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4620117" y="5429314"/>
              <a:ext cx="107628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s-ES" sz="3200" b="1" dirty="0" err="1" smtClean="0"/>
                <a:t>Right</a:t>
              </a:r>
              <a:endParaRPr lang="es-ES" sz="3200" b="1" dirty="0"/>
            </a:p>
          </p:txBody>
        </p:sp>
      </p:grpSp>
      <p:sp>
        <p:nvSpPr>
          <p:cNvPr id="32" name="CuadroTexto 31"/>
          <p:cNvSpPr txBox="1"/>
          <p:nvPr/>
        </p:nvSpPr>
        <p:spPr>
          <a:xfrm>
            <a:off x="2779870" y="6171684"/>
            <a:ext cx="27964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 err="1" smtClean="0"/>
              <a:t>Wilcox</a:t>
            </a:r>
            <a:r>
              <a:rPr lang="es-ES" sz="2400" b="1" dirty="0" smtClean="0"/>
              <a:t> </a:t>
            </a:r>
            <a:r>
              <a:rPr lang="es-ES" sz="2400" b="1" i="1" dirty="0" smtClean="0"/>
              <a:t>P</a:t>
            </a:r>
            <a:r>
              <a:rPr lang="es-ES" sz="2400" b="1" dirty="0" smtClean="0"/>
              <a:t> = 6.57E-05</a:t>
            </a:r>
            <a:endParaRPr lang="en-GB" sz="2400" b="1" dirty="0"/>
          </a:p>
        </p:txBody>
      </p:sp>
      <p:sp>
        <p:nvSpPr>
          <p:cNvPr id="34" name="CuadroTexto 33"/>
          <p:cNvSpPr txBox="1"/>
          <p:nvPr/>
        </p:nvSpPr>
        <p:spPr>
          <a:xfrm>
            <a:off x="6935371" y="6171684"/>
            <a:ext cx="27964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 err="1" smtClean="0"/>
              <a:t>Wilcox</a:t>
            </a:r>
            <a:r>
              <a:rPr lang="es-ES" sz="2400" b="1" dirty="0" smtClean="0"/>
              <a:t> </a:t>
            </a:r>
            <a:r>
              <a:rPr lang="es-ES" sz="2400" b="1" i="1" dirty="0" smtClean="0"/>
              <a:t>P</a:t>
            </a:r>
            <a:r>
              <a:rPr lang="es-ES" sz="2400" b="1" dirty="0" smtClean="0"/>
              <a:t> = 0.015</a:t>
            </a:r>
            <a:endParaRPr lang="en-GB" sz="2400" b="1" dirty="0"/>
          </a:p>
        </p:txBody>
      </p:sp>
      <p:pic>
        <p:nvPicPr>
          <p:cNvPr id="35" name="Imagen 3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365" t="43952" r="6442" b="48863"/>
          <a:stretch/>
        </p:blipFill>
        <p:spPr>
          <a:xfrm>
            <a:off x="206996" y="2517485"/>
            <a:ext cx="800226" cy="726965"/>
          </a:xfrm>
          <a:prstGeom prst="rect">
            <a:avLst/>
          </a:prstGeom>
        </p:spPr>
      </p:pic>
      <p:pic>
        <p:nvPicPr>
          <p:cNvPr id="36" name="Imagen 3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365" t="51157" r="6701" b="42227"/>
          <a:stretch/>
        </p:blipFill>
        <p:spPr>
          <a:xfrm>
            <a:off x="206996" y="3944741"/>
            <a:ext cx="733388" cy="653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2762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82448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 smtClean="0"/>
              <a:t>Sex-</a:t>
            </a:r>
            <a:r>
              <a:rPr lang="es-ES" b="1" dirty="0" err="1" smtClean="0"/>
              <a:t>stratified</a:t>
            </a:r>
            <a:r>
              <a:rPr lang="es-ES" b="1" dirty="0" smtClean="0"/>
              <a:t> </a:t>
            </a:r>
            <a:r>
              <a:rPr lang="es-ES" b="1" dirty="0" err="1" smtClean="0"/>
              <a:t>analyses</a:t>
            </a:r>
            <a:endParaRPr lang="en-GB" b="1" dirty="0"/>
          </a:p>
        </p:txBody>
      </p:sp>
      <p:pic>
        <p:nvPicPr>
          <p:cNvPr id="22" name="Imagen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0374" y="849130"/>
            <a:ext cx="1547674" cy="1175682"/>
          </a:xfrm>
          <a:prstGeom prst="rect">
            <a:avLst/>
          </a:prstGeom>
        </p:spPr>
      </p:pic>
      <p:pic>
        <p:nvPicPr>
          <p:cNvPr id="23" name="Imagen 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8111" y="871851"/>
            <a:ext cx="1481887" cy="1177200"/>
          </a:xfrm>
          <a:prstGeom prst="rect">
            <a:avLst/>
          </a:prstGeom>
        </p:spPr>
      </p:pic>
      <p:sp>
        <p:nvSpPr>
          <p:cNvPr id="24" name="CuadroTexto 23"/>
          <p:cNvSpPr txBox="1"/>
          <p:nvPr/>
        </p:nvSpPr>
        <p:spPr>
          <a:xfrm>
            <a:off x="2728816" y="1622995"/>
            <a:ext cx="2331112" cy="461665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262 </a:t>
            </a:r>
            <a:r>
              <a:rPr lang="es-ES" sz="2400" b="1" dirty="0" err="1" smtClean="0"/>
              <a:t>females</a:t>
            </a:r>
            <a:endParaRPr lang="en-GB" sz="2400" b="1" dirty="0"/>
          </a:p>
        </p:txBody>
      </p:sp>
      <p:sp>
        <p:nvSpPr>
          <p:cNvPr id="25" name="CuadroTexto 24"/>
          <p:cNvSpPr txBox="1"/>
          <p:nvPr/>
        </p:nvSpPr>
        <p:spPr>
          <a:xfrm>
            <a:off x="5160256" y="1618882"/>
            <a:ext cx="2128261" cy="461665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/>
            </a:lvl1pPr>
          </a:lstStyle>
          <a:p>
            <a:r>
              <a:rPr lang="es-ES" dirty="0"/>
              <a:t>174 males</a:t>
            </a:r>
            <a:endParaRPr lang="en-GB" dirty="0"/>
          </a:p>
        </p:txBody>
      </p:sp>
      <p:sp>
        <p:nvSpPr>
          <p:cNvPr id="26" name="CuadroTexto 25"/>
          <p:cNvSpPr txBox="1"/>
          <p:nvPr/>
        </p:nvSpPr>
        <p:spPr>
          <a:xfrm>
            <a:off x="2675976" y="2153165"/>
            <a:ext cx="23049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4.96 %</a:t>
            </a:r>
          </a:p>
          <a:p>
            <a:pPr algn="ctr"/>
            <a:r>
              <a:rPr lang="es-ES" sz="3200" b="1" dirty="0" smtClean="0"/>
              <a:t>7.25 %</a:t>
            </a:r>
          </a:p>
          <a:p>
            <a:pPr algn="ctr"/>
            <a:r>
              <a:rPr lang="es-ES" sz="3200" b="1" dirty="0" smtClean="0"/>
              <a:t>63.22 %</a:t>
            </a:r>
          </a:p>
        </p:txBody>
      </p:sp>
      <p:sp>
        <p:nvSpPr>
          <p:cNvPr id="27" name="CuadroTexto 26"/>
          <p:cNvSpPr txBox="1"/>
          <p:nvPr/>
        </p:nvSpPr>
        <p:spPr>
          <a:xfrm>
            <a:off x="5098831" y="2100382"/>
            <a:ext cx="23049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9.20 %</a:t>
            </a:r>
          </a:p>
          <a:p>
            <a:pPr algn="ctr"/>
            <a:r>
              <a:rPr lang="es-ES" sz="3200" b="1" dirty="0" smtClean="0"/>
              <a:t>14.37 %</a:t>
            </a:r>
          </a:p>
          <a:p>
            <a:pPr algn="ctr"/>
            <a:r>
              <a:rPr lang="es-ES" sz="3200" b="1" dirty="0" smtClean="0"/>
              <a:t>51.15%</a:t>
            </a:r>
          </a:p>
        </p:txBody>
      </p:sp>
      <p:sp>
        <p:nvSpPr>
          <p:cNvPr id="3" name="Marcador de número de diapositiva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14</a:t>
            </a:fld>
            <a:endParaRPr lang="en-GB"/>
          </a:p>
        </p:txBody>
      </p:sp>
      <p:sp>
        <p:nvSpPr>
          <p:cNvPr id="35" name="CuadroTexto 34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39" name="Grupo 38"/>
          <p:cNvGrpSpPr/>
          <p:nvPr/>
        </p:nvGrpSpPr>
        <p:grpSpPr>
          <a:xfrm>
            <a:off x="1079433" y="2194467"/>
            <a:ext cx="1483691" cy="584775"/>
            <a:chOff x="344755" y="2548177"/>
            <a:chExt cx="1483691" cy="584775"/>
          </a:xfrm>
        </p:grpSpPr>
        <p:sp>
          <p:nvSpPr>
            <p:cNvPr id="40" name="Rectángulo 39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1" name="Rectángulo 40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2" name="CuadroTexto 41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43" name="Grupo 42"/>
          <p:cNvGrpSpPr/>
          <p:nvPr/>
        </p:nvGrpSpPr>
        <p:grpSpPr>
          <a:xfrm>
            <a:off x="1065773" y="2710365"/>
            <a:ext cx="1506182" cy="584775"/>
            <a:chOff x="326999" y="3152666"/>
            <a:chExt cx="1506182" cy="584775"/>
          </a:xfrm>
        </p:grpSpPr>
        <p:sp>
          <p:nvSpPr>
            <p:cNvPr id="44" name="Rectángulo 43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5" name="Rectángulo 44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6" name="CuadroTexto 45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grpSp>
        <p:nvGrpSpPr>
          <p:cNvPr id="47" name="Grupo 46"/>
          <p:cNvGrpSpPr/>
          <p:nvPr/>
        </p:nvGrpSpPr>
        <p:grpSpPr>
          <a:xfrm>
            <a:off x="1058224" y="3223991"/>
            <a:ext cx="1601110" cy="584775"/>
            <a:chOff x="314668" y="3781782"/>
            <a:chExt cx="1601110" cy="584775"/>
          </a:xfrm>
        </p:grpSpPr>
        <p:sp>
          <p:nvSpPr>
            <p:cNvPr id="48" name="Rectángulo 47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3935" y="3833149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49" name="Rectángulo 48"/>
            <p:cNvSpPr/>
            <p:nvPr/>
          </p:nvSpPr>
          <p:spPr>
            <a:xfrm>
              <a:off x="398902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Rectángulo 49"/>
            <p:cNvSpPr/>
            <p:nvPr/>
          </p:nvSpPr>
          <p:spPr>
            <a:xfrm>
              <a:off x="1659177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14668" y="3781782"/>
              <a:ext cx="16011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LAT</a:t>
              </a:r>
              <a:endParaRPr lang="es-ES" dirty="0"/>
            </a:p>
          </p:txBody>
        </p:sp>
      </p:grpSp>
      <p:grpSp>
        <p:nvGrpSpPr>
          <p:cNvPr id="52" name="Grupo 51"/>
          <p:cNvGrpSpPr/>
          <p:nvPr/>
        </p:nvGrpSpPr>
        <p:grpSpPr>
          <a:xfrm>
            <a:off x="1079433" y="4859897"/>
            <a:ext cx="1483691" cy="584775"/>
            <a:chOff x="344755" y="2548177"/>
            <a:chExt cx="1483691" cy="584775"/>
          </a:xfrm>
        </p:grpSpPr>
        <p:sp>
          <p:nvSpPr>
            <p:cNvPr id="53" name="Rectángulo 52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2636" y="2602458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4" name="Rectángulo 53">
              <a:extLst>
                <a:ext uri="{FF2B5EF4-FFF2-40B4-BE49-F238E27FC236}">
                  <a16:creationId xmlns:a16="http://schemas.microsoft.com/office/drawing/2014/main" id="{D77B4F48-3B87-95AD-AC32-86712AA4F8F5}"/>
                </a:ext>
              </a:extLst>
            </p:cNvPr>
            <p:cNvSpPr/>
            <p:nvPr/>
          </p:nvSpPr>
          <p:spPr>
            <a:xfrm>
              <a:off x="407780" y="2599040"/>
              <a:ext cx="708262" cy="480165"/>
            </a:xfrm>
            <a:prstGeom prst="rect">
              <a:avLst/>
            </a:prstGeom>
            <a:solidFill>
              <a:srgbClr val="FF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F0647A86-F9FB-EDD9-6914-F239CCE77608}"/>
                </a:ext>
              </a:extLst>
            </p:cNvPr>
            <p:cNvSpPr txBox="1"/>
            <p:nvPr/>
          </p:nvSpPr>
          <p:spPr>
            <a:xfrm>
              <a:off x="344755" y="2548177"/>
              <a:ext cx="83149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3200" b="1" dirty="0"/>
                <a:t>Left</a:t>
              </a:r>
            </a:p>
          </p:txBody>
        </p:sp>
      </p:grpSp>
      <p:grpSp>
        <p:nvGrpSpPr>
          <p:cNvPr id="56" name="Grupo 55"/>
          <p:cNvGrpSpPr/>
          <p:nvPr/>
        </p:nvGrpSpPr>
        <p:grpSpPr>
          <a:xfrm>
            <a:off x="1065773" y="5375795"/>
            <a:ext cx="1506182" cy="584775"/>
            <a:chOff x="326999" y="3152666"/>
            <a:chExt cx="1506182" cy="584775"/>
          </a:xfrm>
        </p:grpSpPr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7371" y="3207144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8" name="Rectángulo 57">
              <a:extLst>
                <a:ext uri="{FF2B5EF4-FFF2-40B4-BE49-F238E27FC236}">
                  <a16:creationId xmlns:a16="http://schemas.microsoft.com/office/drawing/2014/main" id="{672B5177-3B13-D324-B9CF-09388954421C}"/>
                </a:ext>
              </a:extLst>
            </p:cNvPr>
            <p:cNvSpPr/>
            <p:nvPr/>
          </p:nvSpPr>
          <p:spPr>
            <a:xfrm>
              <a:off x="398902" y="3204339"/>
              <a:ext cx="1072850" cy="481430"/>
            </a:xfrm>
            <a:prstGeom prst="rect">
              <a:avLst/>
            </a:prstGeom>
            <a:solidFill>
              <a:srgbClr val="C397F3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26999" y="3152666"/>
              <a:ext cx="111710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NRH</a:t>
              </a:r>
              <a:endParaRPr lang="es-ES" dirty="0"/>
            </a:p>
          </p:txBody>
        </p:sp>
      </p:grpSp>
      <p:grpSp>
        <p:nvGrpSpPr>
          <p:cNvPr id="60" name="Grupo 59"/>
          <p:cNvGrpSpPr/>
          <p:nvPr/>
        </p:nvGrpSpPr>
        <p:grpSpPr>
          <a:xfrm>
            <a:off x="1058224" y="5889421"/>
            <a:ext cx="1601110" cy="584775"/>
            <a:chOff x="314668" y="3781782"/>
            <a:chExt cx="1601110" cy="584775"/>
          </a:xfrm>
        </p:grpSpPr>
        <p:sp>
          <p:nvSpPr>
            <p:cNvPr id="61" name="Rectángulo 60">
              <a:extLst>
                <a:ext uri="{FF2B5EF4-FFF2-40B4-BE49-F238E27FC236}">
                  <a16:creationId xmlns:a16="http://schemas.microsoft.com/office/drawing/2014/main" id="{7B36E3C5-B02C-6780-8E7A-F770EC47C2F9}"/>
                </a:ext>
              </a:extLst>
            </p:cNvPr>
            <p:cNvSpPr/>
            <p:nvPr/>
          </p:nvSpPr>
          <p:spPr>
            <a:xfrm>
              <a:off x="403935" y="3833149"/>
              <a:ext cx="1425810" cy="482042"/>
            </a:xfrm>
            <a:prstGeom prst="rect">
              <a:avLst/>
            </a:prstGeom>
            <a:solidFill>
              <a:srgbClr val="8AD5F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sp>
          <p:nvSpPr>
            <p:cNvPr id="62" name="Rectángulo 61"/>
            <p:cNvSpPr/>
            <p:nvPr/>
          </p:nvSpPr>
          <p:spPr>
            <a:xfrm>
              <a:off x="398902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Rectángulo 62"/>
            <p:cNvSpPr/>
            <p:nvPr/>
          </p:nvSpPr>
          <p:spPr>
            <a:xfrm>
              <a:off x="1659177" y="3833149"/>
              <a:ext cx="169269" cy="48204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80A64A56-EDE1-A6B9-09D0-0308D6867FE7}"/>
                </a:ext>
              </a:extLst>
            </p:cNvPr>
            <p:cNvSpPr txBox="1"/>
            <p:nvPr/>
          </p:nvSpPr>
          <p:spPr>
            <a:xfrm>
              <a:off x="314668" y="3781782"/>
              <a:ext cx="160111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3200" b="1"/>
              </a:lvl1pPr>
            </a:lstStyle>
            <a:p>
              <a:pPr algn="ctr"/>
              <a:r>
                <a:rPr lang="es-ES" dirty="0" smtClean="0"/>
                <a:t>LAT</a:t>
              </a:r>
              <a:endParaRPr lang="es-ES" dirty="0"/>
            </a:p>
          </p:txBody>
        </p:sp>
      </p:grpSp>
      <p:pic>
        <p:nvPicPr>
          <p:cNvPr id="65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5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/>
        </p:blipFill>
        <p:spPr>
          <a:xfrm>
            <a:off x="5509146" y="3663315"/>
            <a:ext cx="1479600" cy="11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4668" y="3670042"/>
            <a:ext cx="1479408" cy="1152000"/>
          </a:xfrm>
          <a:prstGeom prst="rect">
            <a:avLst/>
          </a:prstGeom>
        </p:spPr>
      </p:pic>
      <p:sp>
        <p:nvSpPr>
          <p:cNvPr id="67" name="CuadroTexto 66"/>
          <p:cNvSpPr txBox="1"/>
          <p:nvPr/>
        </p:nvSpPr>
        <p:spPr>
          <a:xfrm>
            <a:off x="651485" y="1579082"/>
            <a:ext cx="179668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 err="1" smtClean="0"/>
              <a:t>Controls</a:t>
            </a:r>
            <a:endParaRPr lang="en-GB" sz="2800" b="1" dirty="0"/>
          </a:p>
        </p:txBody>
      </p:sp>
      <p:sp>
        <p:nvSpPr>
          <p:cNvPr id="68" name="CuadroTexto 67"/>
          <p:cNvSpPr txBox="1"/>
          <p:nvPr/>
        </p:nvSpPr>
        <p:spPr>
          <a:xfrm>
            <a:off x="254489" y="4309537"/>
            <a:ext cx="1796681" cy="52322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 smtClean="0"/>
              <a:t>BD</a:t>
            </a:r>
            <a:endParaRPr lang="en-GB" sz="2800" b="1" dirty="0"/>
          </a:p>
        </p:txBody>
      </p:sp>
      <p:sp>
        <p:nvSpPr>
          <p:cNvPr id="69" name="CuadroTexto 68"/>
          <p:cNvSpPr txBox="1"/>
          <p:nvPr/>
        </p:nvSpPr>
        <p:spPr>
          <a:xfrm>
            <a:off x="5098831" y="4447175"/>
            <a:ext cx="2128261" cy="461665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/>
            </a:lvl1pPr>
          </a:lstStyle>
          <a:p>
            <a:r>
              <a:rPr lang="es-ES" dirty="0"/>
              <a:t>166 males</a:t>
            </a:r>
            <a:endParaRPr lang="en-GB" dirty="0"/>
          </a:p>
        </p:txBody>
      </p:sp>
      <p:sp>
        <p:nvSpPr>
          <p:cNvPr id="70" name="CuadroTexto 69"/>
          <p:cNvSpPr txBox="1"/>
          <p:nvPr/>
        </p:nvSpPr>
        <p:spPr>
          <a:xfrm>
            <a:off x="2659334" y="4429532"/>
            <a:ext cx="2331112" cy="461665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/>
            </a:lvl1pPr>
          </a:lstStyle>
          <a:p>
            <a:r>
              <a:rPr lang="es-ES" dirty="0"/>
              <a:t>270 </a:t>
            </a:r>
            <a:r>
              <a:rPr lang="es-ES" dirty="0" err="1"/>
              <a:t>females</a:t>
            </a:r>
            <a:endParaRPr lang="en-GB" dirty="0"/>
          </a:p>
        </p:txBody>
      </p:sp>
      <p:sp>
        <p:nvSpPr>
          <p:cNvPr id="71" name="CuadroTexto 70"/>
          <p:cNvSpPr txBox="1"/>
          <p:nvPr/>
        </p:nvSpPr>
        <p:spPr>
          <a:xfrm>
            <a:off x="2713682" y="4910760"/>
            <a:ext cx="23049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6.67 %</a:t>
            </a:r>
          </a:p>
          <a:p>
            <a:pPr algn="ctr"/>
            <a:r>
              <a:rPr lang="es-ES" sz="3200" b="1" dirty="0" smtClean="0"/>
              <a:t>10.37 %</a:t>
            </a:r>
          </a:p>
          <a:p>
            <a:pPr algn="ctr"/>
            <a:r>
              <a:rPr lang="es-ES" sz="3200" b="1" dirty="0" smtClean="0"/>
              <a:t>69.63 %</a:t>
            </a:r>
          </a:p>
        </p:txBody>
      </p:sp>
      <p:sp>
        <p:nvSpPr>
          <p:cNvPr id="72" name="CuadroTexto 71"/>
          <p:cNvSpPr txBox="1"/>
          <p:nvPr/>
        </p:nvSpPr>
        <p:spPr>
          <a:xfrm>
            <a:off x="5078566" y="4893677"/>
            <a:ext cx="23049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8.43 %</a:t>
            </a:r>
          </a:p>
          <a:p>
            <a:pPr algn="ctr"/>
            <a:r>
              <a:rPr lang="es-ES" sz="3200" b="1" dirty="0" smtClean="0"/>
              <a:t>15.06 %</a:t>
            </a:r>
          </a:p>
          <a:p>
            <a:pPr algn="ctr"/>
            <a:r>
              <a:rPr lang="es-ES" sz="3200" b="1" dirty="0" smtClean="0"/>
              <a:t>63.83%</a:t>
            </a:r>
          </a:p>
        </p:txBody>
      </p:sp>
      <p:sp>
        <p:nvSpPr>
          <p:cNvPr id="5" name="Rectángulo redondeado 4"/>
          <p:cNvSpPr/>
          <p:nvPr/>
        </p:nvSpPr>
        <p:spPr>
          <a:xfrm>
            <a:off x="2713682" y="719091"/>
            <a:ext cx="4690096" cy="3038309"/>
          </a:xfrm>
          <a:prstGeom prst="roundRect">
            <a:avLst/>
          </a:prstGeom>
          <a:noFill/>
          <a:ln w="57150">
            <a:solidFill>
              <a:srgbClr val="FFC00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CuadroTexto 5"/>
          <p:cNvSpPr txBox="1"/>
          <p:nvPr/>
        </p:nvSpPr>
        <p:spPr>
          <a:xfrm>
            <a:off x="7831961" y="1314914"/>
            <a:ext cx="3637989" cy="1384995"/>
          </a:xfrm>
          <a:prstGeom prst="rect">
            <a:avLst/>
          </a:prstGeom>
          <a:noFill/>
          <a:ln w="5715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 err="1" smtClean="0"/>
              <a:t>Higher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prevalence</a:t>
            </a:r>
            <a:r>
              <a:rPr lang="es-ES" sz="2800" b="1" dirty="0" smtClean="0"/>
              <a:t> of </a:t>
            </a:r>
            <a:r>
              <a:rPr lang="es-ES" sz="2800" b="1" dirty="0" err="1" smtClean="0"/>
              <a:t>atypical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handedness</a:t>
            </a:r>
            <a:r>
              <a:rPr lang="es-ES" sz="2800" b="1" dirty="0" smtClean="0"/>
              <a:t> (AH) in males</a:t>
            </a:r>
            <a:endParaRPr lang="en-GB" sz="2800" b="1" dirty="0"/>
          </a:p>
        </p:txBody>
      </p:sp>
      <p:sp>
        <p:nvSpPr>
          <p:cNvPr id="73" name="Rectángulo redondeado 72"/>
          <p:cNvSpPr/>
          <p:nvPr/>
        </p:nvSpPr>
        <p:spPr>
          <a:xfrm>
            <a:off x="2761149" y="3804768"/>
            <a:ext cx="4690096" cy="2952480"/>
          </a:xfrm>
          <a:prstGeom prst="roundRect">
            <a:avLst/>
          </a:prstGeom>
          <a:noFill/>
          <a:ln w="57150">
            <a:solidFill>
              <a:srgbClr val="7030A0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CuadroTexto 73"/>
          <p:cNvSpPr txBox="1"/>
          <p:nvPr/>
        </p:nvSpPr>
        <p:spPr>
          <a:xfrm>
            <a:off x="7862602" y="2850661"/>
            <a:ext cx="3607348" cy="954107"/>
          </a:xfrm>
          <a:prstGeom prst="rect">
            <a:avLst/>
          </a:prstGeom>
          <a:noFill/>
          <a:ln w="57150"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 smtClean="0"/>
              <a:t>Non-</a:t>
            </a:r>
            <a:r>
              <a:rPr lang="es-ES" sz="2800" b="1" dirty="0" err="1" smtClean="0"/>
              <a:t>significant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differences</a:t>
            </a:r>
            <a:endParaRPr lang="en-GB" sz="2800" b="1" dirty="0"/>
          </a:p>
        </p:txBody>
      </p:sp>
      <p:sp>
        <p:nvSpPr>
          <p:cNvPr id="75" name="CuadroTexto 74"/>
          <p:cNvSpPr txBox="1"/>
          <p:nvPr/>
        </p:nvSpPr>
        <p:spPr>
          <a:xfrm>
            <a:off x="7862602" y="3955520"/>
            <a:ext cx="3607348" cy="954107"/>
          </a:xfrm>
          <a:prstGeom prst="rect">
            <a:avLst/>
          </a:prstGeom>
          <a:noFill/>
          <a:ln w="57150">
            <a:solidFill>
              <a:srgbClr val="E94999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 smtClean="0"/>
              <a:t>BD </a:t>
            </a:r>
            <a:r>
              <a:rPr lang="es-ES" sz="2800" b="1" dirty="0" err="1" smtClean="0"/>
              <a:t>females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slighly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higher</a:t>
            </a:r>
            <a:r>
              <a:rPr lang="es-ES" sz="2800" b="1" dirty="0" smtClean="0"/>
              <a:t> AH</a:t>
            </a:r>
            <a:r>
              <a:rPr lang="es-ES" sz="2800" b="1" dirty="0"/>
              <a:t>, </a:t>
            </a:r>
            <a:r>
              <a:rPr lang="es-ES" sz="2800" b="1" dirty="0" err="1"/>
              <a:t>but</a:t>
            </a:r>
            <a:r>
              <a:rPr lang="es-ES" sz="2800" b="1" dirty="0"/>
              <a:t> NS</a:t>
            </a:r>
            <a:endParaRPr lang="en-GB" sz="2800" b="1" dirty="0"/>
          </a:p>
        </p:txBody>
      </p:sp>
      <p:sp>
        <p:nvSpPr>
          <p:cNvPr id="76" name="Rectángulo redondeado 75"/>
          <p:cNvSpPr/>
          <p:nvPr/>
        </p:nvSpPr>
        <p:spPr>
          <a:xfrm>
            <a:off x="2804154" y="753668"/>
            <a:ext cx="2178401" cy="6003580"/>
          </a:xfrm>
          <a:prstGeom prst="roundRect">
            <a:avLst/>
          </a:prstGeom>
          <a:noFill/>
          <a:ln w="57150">
            <a:solidFill>
              <a:srgbClr val="E94999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CuadroTexto 76"/>
          <p:cNvSpPr txBox="1"/>
          <p:nvPr/>
        </p:nvSpPr>
        <p:spPr>
          <a:xfrm>
            <a:off x="7847281" y="5141479"/>
            <a:ext cx="3607347" cy="954107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s-ES" sz="2800" b="1" dirty="0" smtClean="0"/>
              <a:t>BD males </a:t>
            </a:r>
            <a:r>
              <a:rPr lang="es-ES" sz="2800" b="1" dirty="0" err="1" smtClean="0"/>
              <a:t>slighly</a:t>
            </a:r>
            <a:r>
              <a:rPr lang="es-ES" sz="2800" b="1" dirty="0" smtClean="0"/>
              <a:t> </a:t>
            </a:r>
            <a:r>
              <a:rPr lang="es-ES" sz="2800" b="1" dirty="0" err="1" smtClean="0"/>
              <a:t>lower</a:t>
            </a:r>
            <a:r>
              <a:rPr lang="es-ES" sz="2800" b="1" dirty="0" smtClean="0"/>
              <a:t> AH</a:t>
            </a:r>
            <a:r>
              <a:rPr lang="es-ES" sz="2800" b="1" dirty="0"/>
              <a:t>, </a:t>
            </a:r>
            <a:r>
              <a:rPr lang="es-ES" sz="2800" b="1" dirty="0" err="1"/>
              <a:t>but</a:t>
            </a:r>
            <a:r>
              <a:rPr lang="es-ES" sz="2800" b="1" dirty="0"/>
              <a:t> NS</a:t>
            </a:r>
            <a:endParaRPr lang="en-GB" sz="2800" b="1" dirty="0"/>
          </a:p>
        </p:txBody>
      </p:sp>
      <p:sp>
        <p:nvSpPr>
          <p:cNvPr id="78" name="Rectángulo redondeado 77"/>
          <p:cNvSpPr/>
          <p:nvPr/>
        </p:nvSpPr>
        <p:spPr>
          <a:xfrm>
            <a:off x="5122650" y="735615"/>
            <a:ext cx="2178401" cy="6003580"/>
          </a:xfrm>
          <a:prstGeom prst="roundRect">
            <a:avLst/>
          </a:prstGeom>
          <a:noFill/>
          <a:ln w="57150">
            <a:solidFill>
              <a:schemeClr val="accent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48101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73710" y="1"/>
            <a:ext cx="10515600" cy="87559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 err="1" smtClean="0"/>
              <a:t>Mixed-users</a:t>
            </a:r>
            <a:r>
              <a:rPr lang="es-ES" b="1" dirty="0" smtClean="0"/>
              <a:t> </a:t>
            </a:r>
            <a:r>
              <a:rPr lang="es-ES" b="1" dirty="0" err="1" smtClean="0"/>
              <a:t>present</a:t>
            </a:r>
            <a:r>
              <a:rPr lang="es-ES" b="1" dirty="0" smtClean="0"/>
              <a:t> </a:t>
            </a:r>
            <a:r>
              <a:rPr lang="es-ES" b="1" dirty="0" err="1" smtClean="0"/>
              <a:t>higher</a:t>
            </a:r>
            <a:r>
              <a:rPr lang="es-ES" b="1" dirty="0" smtClean="0"/>
              <a:t> </a:t>
            </a:r>
            <a:r>
              <a:rPr lang="es-ES" b="1" dirty="0" err="1" smtClean="0"/>
              <a:t>severity</a:t>
            </a:r>
            <a:endParaRPr lang="en-GB" b="1" dirty="0"/>
          </a:p>
        </p:txBody>
      </p:sp>
      <p:pic>
        <p:nvPicPr>
          <p:cNvPr id="3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/>
        </p:blipFill>
        <p:spPr>
          <a:xfrm>
            <a:off x="49862" y="2473381"/>
            <a:ext cx="1369981" cy="119600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CuadroTexto 3"/>
          <p:cNvSpPr txBox="1"/>
          <p:nvPr/>
        </p:nvSpPr>
        <p:spPr>
          <a:xfrm>
            <a:off x="301993" y="3370501"/>
            <a:ext cx="825349" cy="1077218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436 BD</a:t>
            </a:r>
            <a:endParaRPr lang="en-GB" sz="3200" b="1" dirty="0"/>
          </a:p>
        </p:txBody>
      </p:sp>
      <p:pic>
        <p:nvPicPr>
          <p:cNvPr id="6" name="Google Shape;132;p21" title="Boxplot_WHODAS_over_thresholds.png">
            <a:extLst>
              <a:ext uri="{FF2B5EF4-FFF2-40B4-BE49-F238E27FC236}">
                <a16:creationId xmlns:a16="http://schemas.microsoft.com/office/drawing/2014/main" id="{704CC2F5-586D-37F2-0EB1-D7AF6C93E5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69670" t="8643" b="52035"/>
          <a:stretch/>
        </p:blipFill>
        <p:spPr>
          <a:xfrm>
            <a:off x="3247503" y="904214"/>
            <a:ext cx="205200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0769DE88-D8DE-877E-2DA6-7B5F6046BC29}"/>
              </a:ext>
            </a:extLst>
          </p:cNvPr>
          <p:cNvSpPr txBox="1"/>
          <p:nvPr/>
        </p:nvSpPr>
        <p:spPr>
          <a:xfrm>
            <a:off x="1433984" y="1366899"/>
            <a:ext cx="16309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WHODAS</a:t>
            </a:r>
          </a:p>
          <a:p>
            <a:pPr algn="ctr"/>
            <a:r>
              <a:rPr lang="es-ES" sz="2000" dirty="0"/>
              <a:t>WHO Disability Assessment Schedule</a:t>
            </a:r>
          </a:p>
          <a:p>
            <a:pPr algn="ctr"/>
            <a:r>
              <a:rPr lang="es-ES" sz="2000" b="1" i="1" dirty="0" smtClean="0"/>
              <a:t>P=0.03*</a:t>
            </a:r>
            <a:endParaRPr lang="es-ES" sz="2000" b="1" i="1" dirty="0"/>
          </a:p>
        </p:txBody>
      </p:sp>
      <p:pic>
        <p:nvPicPr>
          <p:cNvPr id="8" name="Google Shape;142;p22" title="Boxplot_GAF_over_thresholds.png">
            <a:extLst>
              <a:ext uri="{FF2B5EF4-FFF2-40B4-BE49-F238E27FC236}">
                <a16:creationId xmlns:a16="http://schemas.microsoft.com/office/drawing/2014/main" id="{6728082F-B8A0-B984-A295-3961F0CA364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l="68169" t="8747" b="51050"/>
          <a:stretch/>
        </p:blipFill>
        <p:spPr>
          <a:xfrm>
            <a:off x="3270162" y="3863845"/>
            <a:ext cx="205200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1BA46921-7C10-2DD9-E752-EFA3010D80E0}"/>
              </a:ext>
            </a:extLst>
          </p:cNvPr>
          <p:cNvSpPr txBox="1"/>
          <p:nvPr/>
        </p:nvSpPr>
        <p:spPr>
          <a:xfrm>
            <a:off x="1405350" y="4208802"/>
            <a:ext cx="168822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GAF</a:t>
            </a:r>
          </a:p>
          <a:p>
            <a:pPr algn="ctr"/>
            <a:r>
              <a:rPr lang="es-ES" sz="2000" dirty="0"/>
              <a:t>Global Assessment of Functioning</a:t>
            </a:r>
          </a:p>
          <a:p>
            <a:pPr algn="ctr"/>
            <a:r>
              <a:rPr lang="es-ES" sz="2000" b="1" i="1" dirty="0" smtClean="0"/>
              <a:t>P=0.03*</a:t>
            </a:r>
            <a:endParaRPr lang="es-ES" sz="2000" b="1" i="1" dirty="0"/>
          </a:p>
        </p:txBody>
      </p:sp>
      <p:pic>
        <p:nvPicPr>
          <p:cNvPr id="10" name="Google Shape;152;p23" title="Boxplot_INES__over_thresholds.png">
            <a:extLst>
              <a:ext uri="{FF2B5EF4-FFF2-40B4-BE49-F238E27FC236}">
                <a16:creationId xmlns:a16="http://schemas.microsoft.com/office/drawing/2014/main" id="{D16FAC4A-EC61-2DFD-D229-1D2382FFC0A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68373" t="9054" b="51537"/>
          <a:stretch/>
        </p:blipFill>
        <p:spPr>
          <a:xfrm>
            <a:off x="7069634" y="1190299"/>
            <a:ext cx="205200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0A5C8925-CD05-757B-899B-82F113C50BEA}"/>
              </a:ext>
            </a:extLst>
          </p:cNvPr>
          <p:cNvSpPr txBox="1"/>
          <p:nvPr/>
        </p:nvSpPr>
        <p:spPr>
          <a:xfrm>
            <a:off x="5327785" y="1431509"/>
            <a:ext cx="174184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INES</a:t>
            </a:r>
          </a:p>
          <a:p>
            <a:pPr algn="ctr"/>
            <a:r>
              <a:rPr lang="es-ES" sz="2000" dirty="0"/>
              <a:t>Index of Number of Events and Severity</a:t>
            </a:r>
          </a:p>
          <a:p>
            <a:pPr algn="ctr"/>
            <a:r>
              <a:rPr lang="es-ES" sz="2000" b="1" i="1" dirty="0" smtClean="0"/>
              <a:t>P=0.016**</a:t>
            </a:r>
            <a:endParaRPr lang="es-ES" sz="2000" b="1" i="1" dirty="0"/>
          </a:p>
        </p:txBody>
      </p:sp>
      <p:pic>
        <p:nvPicPr>
          <p:cNvPr id="12" name="Google Shape;163;p24" title="Boxplot_CGI_over_thresholds.png">
            <a:extLst>
              <a:ext uri="{FF2B5EF4-FFF2-40B4-BE49-F238E27FC236}">
                <a16:creationId xmlns:a16="http://schemas.microsoft.com/office/drawing/2014/main" id="{CDF80EC1-FF9F-A748-16D8-59E0E59BE80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l="67333" t="9367" b="50731"/>
          <a:stretch/>
        </p:blipFill>
        <p:spPr>
          <a:xfrm>
            <a:off x="6980858" y="3900504"/>
            <a:ext cx="2052000" cy="25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D8D8F779-0EAE-B67A-1386-680A06F44F6C}"/>
              </a:ext>
            </a:extLst>
          </p:cNvPr>
          <p:cNvSpPr txBox="1"/>
          <p:nvPr/>
        </p:nvSpPr>
        <p:spPr>
          <a:xfrm>
            <a:off x="5455606" y="4208802"/>
            <a:ext cx="161402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/>
              <a:t>CGI</a:t>
            </a:r>
          </a:p>
          <a:p>
            <a:pPr algn="ctr"/>
            <a:r>
              <a:rPr lang="es-ES" sz="2000" dirty="0"/>
              <a:t>Clinical Global Impression</a:t>
            </a:r>
          </a:p>
          <a:p>
            <a:pPr algn="ctr"/>
            <a:r>
              <a:rPr lang="es-ES" sz="2000" b="1" i="1" dirty="0" smtClean="0"/>
              <a:t>P=0.04</a:t>
            </a:r>
            <a:endParaRPr lang="es-ES" sz="2000" b="1" i="1" dirty="0"/>
          </a:p>
        </p:txBody>
      </p:sp>
      <p:sp>
        <p:nvSpPr>
          <p:cNvPr id="24" name="Rectángulo redondeado 23"/>
          <p:cNvSpPr/>
          <p:nvPr/>
        </p:nvSpPr>
        <p:spPr>
          <a:xfrm>
            <a:off x="9342326" y="3974453"/>
            <a:ext cx="2655786" cy="2372103"/>
          </a:xfrm>
          <a:prstGeom prst="roundRect">
            <a:avLst>
              <a:gd name="adj" fmla="val 0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smtClean="0">
                <a:solidFill>
                  <a:schemeClr val="tx1"/>
                </a:solidFill>
              </a:rPr>
              <a:t>NRH, and </a:t>
            </a:r>
            <a:r>
              <a:rPr lang="es-ES" sz="2400" b="1" dirty="0" err="1" smtClean="0">
                <a:solidFill>
                  <a:schemeClr val="tx1"/>
                </a:solidFill>
              </a:rPr>
              <a:t>specifically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u="sng" dirty="0" err="1" smtClean="0">
                <a:solidFill>
                  <a:schemeClr val="tx1"/>
                </a:solidFill>
              </a:rPr>
              <a:t>mixed-users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individuals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presented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higher</a:t>
            </a:r>
            <a:r>
              <a:rPr lang="es-ES" sz="2400" b="1" dirty="0" smtClean="0">
                <a:solidFill>
                  <a:schemeClr val="tx1"/>
                </a:solidFill>
              </a:rPr>
              <a:t> </a:t>
            </a:r>
            <a:r>
              <a:rPr lang="es-ES" sz="2400" b="1" dirty="0" err="1" smtClean="0">
                <a:solidFill>
                  <a:schemeClr val="tx1"/>
                </a:solidFill>
              </a:rPr>
              <a:t>severity</a:t>
            </a:r>
            <a:r>
              <a:rPr lang="es-ES" sz="2400" b="1" dirty="0" smtClean="0">
                <a:solidFill>
                  <a:schemeClr val="tx1"/>
                </a:solidFill>
              </a:rPr>
              <a:t> scores</a:t>
            </a:r>
            <a:endParaRPr lang="en-GB" sz="2400" b="1" dirty="0">
              <a:solidFill>
                <a:schemeClr val="tx1"/>
              </a:solidFill>
            </a:endParaRPr>
          </a:p>
        </p:txBody>
      </p:sp>
      <p:grpSp>
        <p:nvGrpSpPr>
          <p:cNvPr id="43" name="Grupo 42"/>
          <p:cNvGrpSpPr/>
          <p:nvPr/>
        </p:nvGrpSpPr>
        <p:grpSpPr>
          <a:xfrm>
            <a:off x="9564950" y="2181246"/>
            <a:ext cx="2627050" cy="1323439"/>
            <a:chOff x="873710" y="4139739"/>
            <a:chExt cx="2364149" cy="1323439"/>
          </a:xfrm>
        </p:grpSpPr>
        <p:sp>
          <p:nvSpPr>
            <p:cNvPr id="39" name="Rectángulo 38"/>
            <p:cNvSpPr/>
            <p:nvPr/>
          </p:nvSpPr>
          <p:spPr>
            <a:xfrm>
              <a:off x="873710" y="4139739"/>
              <a:ext cx="269290" cy="292135"/>
            </a:xfrm>
            <a:prstGeom prst="rect">
              <a:avLst/>
            </a:prstGeom>
            <a:solidFill>
              <a:srgbClr val="FCC8C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Rectángulo 39"/>
            <p:cNvSpPr/>
            <p:nvPr/>
          </p:nvSpPr>
          <p:spPr>
            <a:xfrm>
              <a:off x="873710" y="4496606"/>
              <a:ext cx="269290" cy="292135"/>
            </a:xfrm>
            <a:prstGeom prst="rect">
              <a:avLst/>
            </a:prstGeom>
            <a:solidFill>
              <a:srgbClr val="99E3A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ángulo 40"/>
            <p:cNvSpPr/>
            <p:nvPr/>
          </p:nvSpPr>
          <p:spPr>
            <a:xfrm>
              <a:off x="873710" y="4853473"/>
              <a:ext cx="269290" cy="29213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CuadroTexto 41"/>
            <p:cNvSpPr txBox="1"/>
            <p:nvPr/>
          </p:nvSpPr>
          <p:spPr>
            <a:xfrm>
              <a:off x="1273628" y="4139739"/>
              <a:ext cx="1964231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2000" dirty="0" err="1" smtClean="0"/>
                <a:t>Left</a:t>
              </a:r>
              <a:r>
                <a:rPr lang="es-ES" sz="2000" dirty="0" smtClean="0"/>
                <a:t> (N=7-14)</a:t>
              </a:r>
            </a:p>
            <a:p>
              <a:r>
                <a:rPr lang="es-ES" sz="2000" dirty="0" err="1" smtClean="0"/>
                <a:t>Mixed</a:t>
              </a:r>
              <a:r>
                <a:rPr lang="es-ES" sz="2000" dirty="0" smtClean="0"/>
                <a:t> </a:t>
              </a:r>
              <a:r>
                <a:rPr lang="es-ES" sz="2000" dirty="0"/>
                <a:t>(N=20-24</a:t>
              </a:r>
              <a:r>
                <a:rPr lang="es-ES" sz="2000" dirty="0" smtClean="0"/>
                <a:t>)</a:t>
              </a:r>
            </a:p>
            <a:p>
              <a:r>
                <a:rPr lang="es-ES" sz="2000" dirty="0" err="1" smtClean="0"/>
                <a:t>Right</a:t>
              </a:r>
              <a:r>
                <a:rPr lang="es-ES" sz="2000" dirty="0" smtClean="0"/>
                <a:t> </a:t>
              </a:r>
              <a:r>
                <a:rPr lang="es-ES" sz="2000" dirty="0"/>
                <a:t>(N=257-304</a:t>
              </a:r>
              <a:r>
                <a:rPr lang="es-ES" sz="2000" dirty="0" smtClean="0"/>
                <a:t>)</a:t>
              </a:r>
              <a:endParaRPr lang="en-GB" sz="2000" dirty="0"/>
            </a:p>
          </p:txBody>
        </p:sp>
      </p:grpSp>
      <p:sp>
        <p:nvSpPr>
          <p:cNvPr id="14" name="Marcador de número de diapositiva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15</a:t>
            </a:fld>
            <a:endParaRPr lang="en-GB"/>
          </a:p>
        </p:txBody>
      </p:sp>
      <p:sp>
        <p:nvSpPr>
          <p:cNvPr id="22" name="CuadroTexto 21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1658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-1" y="76830"/>
            <a:ext cx="12192001" cy="682440"/>
          </a:xfrm>
        </p:spPr>
        <p:txBody>
          <a:bodyPr>
            <a:noAutofit/>
          </a:bodyPr>
          <a:lstStyle/>
          <a:p>
            <a:pPr algn="ctr"/>
            <a:r>
              <a:rPr lang="es-ES" sz="3800" b="1" dirty="0" err="1" smtClean="0"/>
              <a:t>Polygenic</a:t>
            </a:r>
            <a:r>
              <a:rPr lang="es-ES" sz="3800" b="1" dirty="0" smtClean="0"/>
              <a:t> </a:t>
            </a:r>
            <a:r>
              <a:rPr lang="es-ES" sz="3800" b="1" dirty="0" err="1" smtClean="0"/>
              <a:t>Risk</a:t>
            </a:r>
            <a:r>
              <a:rPr lang="es-ES" sz="3800" b="1" dirty="0" smtClean="0"/>
              <a:t> Score (PRS): </a:t>
            </a:r>
            <a:r>
              <a:rPr lang="es-ES" sz="3800" b="1" dirty="0"/>
              <a:t>individual </a:t>
            </a:r>
            <a:r>
              <a:rPr lang="es-ES" sz="3800" b="1" dirty="0" err="1"/>
              <a:t>genetic</a:t>
            </a:r>
            <a:r>
              <a:rPr lang="es-ES" sz="3800" b="1" dirty="0"/>
              <a:t> </a:t>
            </a:r>
            <a:r>
              <a:rPr lang="es-ES" sz="3800" b="1" dirty="0" err="1"/>
              <a:t>liability</a:t>
            </a:r>
            <a:r>
              <a:rPr lang="es-ES" sz="3800" b="1" dirty="0"/>
              <a:t> to a </a:t>
            </a:r>
            <a:r>
              <a:rPr lang="es-ES" sz="3800" b="1" dirty="0" err="1"/>
              <a:t>trait</a:t>
            </a:r>
            <a:endParaRPr lang="en-GB" sz="3800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16</a:t>
            </a:fld>
            <a:endParaRPr lang="en-GB"/>
          </a:p>
        </p:txBody>
      </p:sp>
      <p:pic>
        <p:nvPicPr>
          <p:cNvPr id="7" name="Imagen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995" t="7039" r="8863" b="56352"/>
          <a:stretch/>
        </p:blipFill>
        <p:spPr>
          <a:xfrm>
            <a:off x="902464" y="4062742"/>
            <a:ext cx="5408290" cy="2407759"/>
          </a:xfrm>
          <a:prstGeom prst="rect">
            <a:avLst/>
          </a:prstGeom>
        </p:spPr>
      </p:pic>
      <p:sp>
        <p:nvSpPr>
          <p:cNvPr id="10" name="Left Brace 33"/>
          <p:cNvSpPr/>
          <p:nvPr/>
        </p:nvSpPr>
        <p:spPr>
          <a:xfrm rot="16200000">
            <a:off x="3364182" y="1147723"/>
            <a:ext cx="484855" cy="4982546"/>
          </a:xfrm>
          <a:prstGeom prst="lef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CuadroTexto 30"/>
          <p:cNvSpPr txBox="1"/>
          <p:nvPr/>
        </p:nvSpPr>
        <p:spPr>
          <a:xfrm>
            <a:off x="3349812" y="2096896"/>
            <a:ext cx="7763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4000" b="1" dirty="0" smtClean="0">
                <a:latin typeface="Didot"/>
              </a:rPr>
              <a:t>+</a:t>
            </a:r>
            <a:endParaRPr lang="en-GB" sz="4000" b="1" dirty="0">
              <a:latin typeface="Didot"/>
            </a:endParaRPr>
          </a:p>
        </p:txBody>
      </p:sp>
      <p:sp>
        <p:nvSpPr>
          <p:cNvPr id="13" name="Rectángulo redondeado 12"/>
          <p:cNvSpPr/>
          <p:nvPr/>
        </p:nvSpPr>
        <p:spPr>
          <a:xfrm>
            <a:off x="4345148" y="2914990"/>
            <a:ext cx="1384126" cy="487471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smtClean="0">
                <a:solidFill>
                  <a:schemeClr val="tx1"/>
                </a:solidFill>
              </a:rPr>
              <a:t>SNP data</a:t>
            </a:r>
            <a:endParaRPr lang="en-GB" sz="2400" b="1" dirty="0">
              <a:solidFill>
                <a:schemeClr val="tx1"/>
              </a:solidFill>
            </a:endParaRPr>
          </a:p>
        </p:txBody>
      </p:sp>
      <p:pic>
        <p:nvPicPr>
          <p:cNvPr id="15" name="Picture 2" descr="Fig. 1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034" y="1170162"/>
            <a:ext cx="2056043" cy="7885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Extended Data Fig. 4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799"/>
          <a:stretch/>
        </p:blipFill>
        <p:spPr bwMode="auto">
          <a:xfrm>
            <a:off x="1371175" y="2014373"/>
            <a:ext cx="1949762" cy="844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Rectángulo redondeado 16"/>
          <p:cNvSpPr/>
          <p:nvPr/>
        </p:nvSpPr>
        <p:spPr>
          <a:xfrm>
            <a:off x="1497960" y="2891468"/>
            <a:ext cx="1673799" cy="487471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400" b="1" dirty="0" smtClean="0">
                <a:solidFill>
                  <a:schemeClr val="tx1"/>
                </a:solidFill>
              </a:rPr>
              <a:t>GWAS data</a:t>
            </a:r>
            <a:endParaRPr lang="en-GB" sz="2400" b="1" dirty="0">
              <a:solidFill>
                <a:schemeClr val="tx1"/>
              </a:solidFill>
            </a:endParaRPr>
          </a:p>
        </p:txBody>
      </p:sp>
      <p:pic>
        <p:nvPicPr>
          <p:cNvPr id="19" name="Google Shape;86;p17">
            <a:extLst>
              <a:ext uri="{FF2B5EF4-FFF2-40B4-BE49-F238E27FC236}">
                <a16:creationId xmlns:a16="http://schemas.microsoft.com/office/drawing/2014/main" id="{C0A78BE3-2958-3745-B10C-C35A9F7F1CB6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45148" y="1345048"/>
            <a:ext cx="1684867" cy="11763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85;p17">
            <a:extLst>
              <a:ext uri="{FF2B5EF4-FFF2-40B4-BE49-F238E27FC236}">
                <a16:creationId xmlns:a16="http://schemas.microsoft.com/office/drawing/2014/main" id="{74E3E47A-A681-5DA4-D980-43CE26E23F2B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/>
        </p:blipFill>
        <p:spPr>
          <a:xfrm>
            <a:off x="3960771" y="1876952"/>
            <a:ext cx="1668435" cy="1177361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Flecha derecha 20"/>
          <p:cNvSpPr/>
          <p:nvPr/>
        </p:nvSpPr>
        <p:spPr>
          <a:xfrm>
            <a:off x="6287524" y="3601193"/>
            <a:ext cx="594610" cy="370890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tángulo redondeado 21"/>
          <p:cNvSpPr/>
          <p:nvPr/>
        </p:nvSpPr>
        <p:spPr>
          <a:xfrm>
            <a:off x="6902662" y="2604288"/>
            <a:ext cx="4598633" cy="106182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err="1" smtClean="0">
                <a:solidFill>
                  <a:schemeClr val="tx1"/>
                </a:solidFill>
              </a:rPr>
              <a:t>Is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handedness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influenced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by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genetic</a:t>
            </a:r>
            <a:r>
              <a:rPr lang="es-ES" sz="2800" b="1" dirty="0" smtClean="0">
                <a:solidFill>
                  <a:schemeClr val="tx1"/>
                </a:solidFill>
              </a:rPr>
              <a:t> </a:t>
            </a:r>
            <a:r>
              <a:rPr lang="es-ES" sz="2800" b="1" dirty="0" err="1" smtClean="0">
                <a:solidFill>
                  <a:schemeClr val="tx1"/>
                </a:solidFill>
              </a:rPr>
              <a:t>liability</a:t>
            </a:r>
            <a:r>
              <a:rPr lang="es-ES" sz="2800" b="1" dirty="0" smtClean="0">
                <a:solidFill>
                  <a:schemeClr val="tx1"/>
                </a:solidFill>
              </a:rPr>
              <a:t> to BD?</a:t>
            </a:r>
            <a:endParaRPr lang="en-GB" sz="2800" b="1" dirty="0">
              <a:solidFill>
                <a:schemeClr val="tx1"/>
              </a:solidFill>
            </a:endParaRPr>
          </a:p>
        </p:txBody>
      </p:sp>
      <p:sp>
        <p:nvSpPr>
          <p:cNvPr id="23" name="Rectángulo redondeado 22"/>
          <p:cNvSpPr/>
          <p:nvPr/>
        </p:nvSpPr>
        <p:spPr>
          <a:xfrm>
            <a:off x="6902662" y="3881424"/>
            <a:ext cx="4598633" cy="106182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2800" b="1" dirty="0" err="1">
                <a:solidFill>
                  <a:schemeClr val="tx1"/>
                </a:solidFill>
              </a:rPr>
              <a:t>Is</a:t>
            </a:r>
            <a:r>
              <a:rPr lang="es-ES" sz="2800" b="1" dirty="0">
                <a:solidFill>
                  <a:schemeClr val="tx1"/>
                </a:solidFill>
              </a:rPr>
              <a:t> BD </a:t>
            </a:r>
            <a:r>
              <a:rPr lang="es-ES" sz="2800" b="1" dirty="0" err="1">
                <a:solidFill>
                  <a:schemeClr val="tx1"/>
                </a:solidFill>
              </a:rPr>
              <a:t>influenced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by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genetic</a:t>
            </a:r>
            <a:r>
              <a:rPr lang="es-ES" sz="2800" b="1" dirty="0">
                <a:solidFill>
                  <a:schemeClr val="tx1"/>
                </a:solidFill>
              </a:rPr>
              <a:t> </a:t>
            </a:r>
            <a:r>
              <a:rPr lang="es-ES" sz="2800" b="1" dirty="0" err="1">
                <a:solidFill>
                  <a:schemeClr val="tx1"/>
                </a:solidFill>
              </a:rPr>
              <a:t>liability</a:t>
            </a:r>
            <a:r>
              <a:rPr lang="es-ES" sz="2800" b="1" dirty="0">
                <a:solidFill>
                  <a:schemeClr val="tx1"/>
                </a:solidFill>
              </a:rPr>
              <a:t> to </a:t>
            </a:r>
            <a:r>
              <a:rPr lang="es-ES" sz="2800" b="1" dirty="0" err="1">
                <a:solidFill>
                  <a:schemeClr val="tx1"/>
                </a:solidFill>
              </a:rPr>
              <a:t>handedness</a:t>
            </a:r>
            <a:r>
              <a:rPr lang="es-ES" sz="2800" b="1" dirty="0">
                <a:solidFill>
                  <a:schemeClr val="tx1"/>
                </a:solidFill>
              </a:rPr>
              <a:t>?</a:t>
            </a:r>
            <a:endParaRPr lang="en-GB" sz="28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45922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 err="1" smtClean="0"/>
              <a:t>Polygenic</a:t>
            </a:r>
            <a:r>
              <a:rPr lang="es-ES" b="1" dirty="0" smtClean="0"/>
              <a:t> </a:t>
            </a:r>
            <a:r>
              <a:rPr lang="es-ES" b="1" dirty="0" err="1" smtClean="0"/>
              <a:t>Risk</a:t>
            </a:r>
            <a:r>
              <a:rPr lang="es-ES" b="1" dirty="0" smtClean="0"/>
              <a:t> Score</a:t>
            </a:r>
            <a:endParaRPr lang="en-GB" b="1" dirty="0"/>
          </a:p>
        </p:txBody>
      </p:sp>
      <p:sp>
        <p:nvSpPr>
          <p:cNvPr id="26" name="Marcador de número de diapositiva 2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17</a:t>
            </a:fld>
            <a:endParaRPr lang="en-GB"/>
          </a:p>
        </p:txBody>
      </p:sp>
      <p:sp>
        <p:nvSpPr>
          <p:cNvPr id="27" name="CuadroTexto 26"/>
          <p:cNvSpPr txBox="1"/>
          <p:nvPr/>
        </p:nvSpPr>
        <p:spPr>
          <a:xfrm>
            <a:off x="10670219" y="109048"/>
            <a:ext cx="13671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1200" dirty="0" err="1" smtClean="0">
                <a:solidFill>
                  <a:schemeClr val="bg1">
                    <a:lumMod val="75000"/>
                  </a:schemeClr>
                </a:solidFill>
              </a:rPr>
              <a:t>Results</a:t>
            </a:r>
            <a:endParaRPr lang="en-GB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" name="CuadroTexto 8"/>
          <p:cNvSpPr txBox="1"/>
          <p:nvPr/>
        </p:nvSpPr>
        <p:spPr>
          <a:xfrm>
            <a:off x="1688049" y="1600383"/>
            <a:ext cx="32669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PRS </a:t>
            </a:r>
            <a:r>
              <a:rPr lang="es-ES" sz="2400" b="1" dirty="0" err="1" smtClean="0"/>
              <a:t>handedness</a:t>
            </a:r>
            <a:endParaRPr lang="en-GB" sz="2400" b="1" dirty="0"/>
          </a:p>
        </p:txBody>
      </p:sp>
      <p:sp>
        <p:nvSpPr>
          <p:cNvPr id="21" name="CuadroTexto 20"/>
          <p:cNvSpPr txBox="1"/>
          <p:nvPr/>
        </p:nvSpPr>
        <p:spPr>
          <a:xfrm>
            <a:off x="7084564" y="1600382"/>
            <a:ext cx="32669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 smtClean="0"/>
              <a:t>PRS BD</a:t>
            </a:r>
            <a:endParaRPr lang="en-GB" sz="2400" b="1" dirty="0"/>
          </a:p>
        </p:txBody>
      </p:sp>
      <p:grpSp>
        <p:nvGrpSpPr>
          <p:cNvPr id="3" name="Grupo 2"/>
          <p:cNvGrpSpPr/>
          <p:nvPr/>
        </p:nvGrpSpPr>
        <p:grpSpPr>
          <a:xfrm>
            <a:off x="523783" y="2523713"/>
            <a:ext cx="5353603" cy="1933338"/>
            <a:chOff x="838200" y="2769833"/>
            <a:chExt cx="4632091" cy="1598640"/>
          </a:xfrm>
        </p:grpSpPr>
        <p:pic>
          <p:nvPicPr>
            <p:cNvPr id="8" name="Imagen 7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3769" b="64904"/>
            <a:stretch/>
          </p:blipFill>
          <p:spPr>
            <a:xfrm>
              <a:off x="838200" y="2769833"/>
              <a:ext cx="4632091" cy="550416"/>
            </a:xfrm>
            <a:prstGeom prst="rect">
              <a:avLst/>
            </a:prstGeom>
          </p:spPr>
        </p:pic>
        <p:pic>
          <p:nvPicPr>
            <p:cNvPr id="10" name="Imagen 9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8548"/>
            <a:stretch/>
          </p:blipFill>
          <p:spPr>
            <a:xfrm>
              <a:off x="838200" y="3326051"/>
              <a:ext cx="4632091" cy="1042422"/>
            </a:xfrm>
            <a:prstGeom prst="rect">
              <a:avLst/>
            </a:prstGeom>
          </p:spPr>
        </p:pic>
      </p:grpSp>
      <p:grpSp>
        <p:nvGrpSpPr>
          <p:cNvPr id="4" name="Grupo 3"/>
          <p:cNvGrpSpPr/>
          <p:nvPr/>
        </p:nvGrpSpPr>
        <p:grpSpPr>
          <a:xfrm>
            <a:off x="5877386" y="2062047"/>
            <a:ext cx="5122047" cy="2474441"/>
            <a:chOff x="5877386" y="2062048"/>
            <a:chExt cx="4953372" cy="2334795"/>
          </a:xfrm>
        </p:grpSpPr>
        <p:pic>
          <p:nvPicPr>
            <p:cNvPr id="12" name="Imagen 11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75661"/>
            <a:stretch/>
          </p:blipFill>
          <p:spPr>
            <a:xfrm>
              <a:off x="5877386" y="2062048"/>
              <a:ext cx="4953372" cy="1134018"/>
            </a:xfrm>
            <a:prstGeom prst="rect">
              <a:avLst/>
            </a:prstGeom>
          </p:spPr>
        </p:pic>
        <p:pic>
          <p:nvPicPr>
            <p:cNvPr id="11" name="Imagen 10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4228"/>
            <a:stretch/>
          </p:blipFill>
          <p:spPr>
            <a:xfrm>
              <a:off x="5877386" y="3196066"/>
              <a:ext cx="4953372" cy="1200777"/>
            </a:xfrm>
            <a:prstGeom prst="rect">
              <a:avLst/>
            </a:prstGeom>
          </p:spPr>
        </p:pic>
      </p:grpSp>
      <p:sp>
        <p:nvSpPr>
          <p:cNvPr id="5" name="Rectángulo redondeado 4"/>
          <p:cNvSpPr/>
          <p:nvPr/>
        </p:nvSpPr>
        <p:spPr>
          <a:xfrm>
            <a:off x="838200" y="4780624"/>
            <a:ext cx="10356542" cy="1420366"/>
          </a:xfrm>
          <a:prstGeom prst="round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3200" b="1" dirty="0" smtClean="0">
                <a:solidFill>
                  <a:schemeClr val="tx1"/>
                </a:solidFill>
              </a:rPr>
              <a:t>PRS to BD </a:t>
            </a:r>
            <a:r>
              <a:rPr lang="es-ES" sz="3200" b="1" dirty="0" err="1" smtClean="0">
                <a:solidFill>
                  <a:schemeClr val="tx1"/>
                </a:solidFill>
              </a:rPr>
              <a:t>contributes</a:t>
            </a:r>
            <a:r>
              <a:rPr lang="es-ES" sz="3200" b="1" dirty="0" smtClean="0">
                <a:solidFill>
                  <a:schemeClr val="tx1"/>
                </a:solidFill>
              </a:rPr>
              <a:t> </a:t>
            </a:r>
            <a:r>
              <a:rPr lang="es-ES" sz="3200" b="1" dirty="0" err="1" smtClean="0">
                <a:solidFill>
                  <a:schemeClr val="tx1"/>
                </a:solidFill>
              </a:rPr>
              <a:t>marginally</a:t>
            </a:r>
            <a:r>
              <a:rPr lang="es-ES" sz="3200" b="1" dirty="0" smtClean="0">
                <a:solidFill>
                  <a:schemeClr val="tx1"/>
                </a:solidFill>
              </a:rPr>
              <a:t> in </a:t>
            </a:r>
            <a:r>
              <a:rPr lang="es-ES" sz="3200" b="1" dirty="0" err="1" smtClean="0">
                <a:solidFill>
                  <a:schemeClr val="tx1"/>
                </a:solidFill>
              </a:rPr>
              <a:t>left-handedness</a:t>
            </a:r>
            <a:r>
              <a:rPr lang="es-ES" sz="3200" b="1" dirty="0" smtClean="0">
                <a:solidFill>
                  <a:schemeClr val="tx1"/>
                </a:solidFill>
              </a:rPr>
              <a:t> </a:t>
            </a:r>
            <a:r>
              <a:rPr lang="es-ES" sz="3200" b="1" dirty="0" err="1" smtClean="0">
                <a:solidFill>
                  <a:schemeClr val="tx1"/>
                </a:solidFill>
              </a:rPr>
              <a:t>when</a:t>
            </a:r>
            <a:r>
              <a:rPr lang="es-ES" sz="3200" b="1" dirty="0" smtClean="0">
                <a:solidFill>
                  <a:schemeClr val="tx1"/>
                </a:solidFill>
              </a:rPr>
              <a:t> </a:t>
            </a:r>
            <a:r>
              <a:rPr lang="es-ES" sz="3200" b="1" dirty="0" err="1" smtClean="0">
                <a:solidFill>
                  <a:schemeClr val="tx1"/>
                </a:solidFill>
              </a:rPr>
              <a:t>considering</a:t>
            </a:r>
            <a:r>
              <a:rPr lang="es-ES" sz="3200" b="1" dirty="0" smtClean="0">
                <a:solidFill>
                  <a:schemeClr val="tx1"/>
                </a:solidFill>
              </a:rPr>
              <a:t> BD </a:t>
            </a:r>
            <a:r>
              <a:rPr lang="es-ES" sz="3200" b="1" dirty="0" err="1" smtClean="0">
                <a:solidFill>
                  <a:schemeClr val="tx1"/>
                </a:solidFill>
              </a:rPr>
              <a:t>patients</a:t>
            </a:r>
            <a:r>
              <a:rPr lang="es-ES" sz="3200" b="1" dirty="0" smtClean="0">
                <a:solidFill>
                  <a:schemeClr val="tx1"/>
                </a:solidFill>
              </a:rPr>
              <a:t>, </a:t>
            </a:r>
            <a:r>
              <a:rPr lang="es-ES" sz="3200" b="1" dirty="0" err="1" smtClean="0">
                <a:solidFill>
                  <a:schemeClr val="tx1"/>
                </a:solidFill>
              </a:rPr>
              <a:t>but</a:t>
            </a:r>
            <a:r>
              <a:rPr lang="es-ES" sz="3200" b="1" dirty="0" smtClean="0">
                <a:solidFill>
                  <a:schemeClr val="tx1"/>
                </a:solidFill>
              </a:rPr>
              <a:t> no </a:t>
            </a:r>
            <a:r>
              <a:rPr lang="es-ES" sz="3200" b="1" dirty="0" err="1" smtClean="0">
                <a:solidFill>
                  <a:schemeClr val="tx1"/>
                </a:solidFill>
              </a:rPr>
              <a:t>controls</a:t>
            </a:r>
            <a:endParaRPr lang="en-GB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9496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81040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s-ES" b="1" dirty="0" err="1" smtClean="0"/>
              <a:t>Conclusions</a:t>
            </a:r>
            <a:endParaRPr lang="en-GB" b="1" dirty="0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83399202"/>
              </p:ext>
            </p:extLst>
          </p:nvPr>
        </p:nvGraphicFramePr>
        <p:xfrm>
          <a:off x="838200" y="1642367"/>
          <a:ext cx="10515600" cy="42879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02755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777528" y="-227950"/>
            <a:ext cx="4624161" cy="1325563"/>
          </a:xfrm>
        </p:spPr>
        <p:txBody>
          <a:bodyPr/>
          <a:lstStyle/>
          <a:p>
            <a:r>
              <a:rPr lang="en-GB" b="1" dirty="0">
                <a:cs typeface="Arial" panose="020B0604020202020204" pitchFamily="34" charset="0"/>
              </a:rPr>
              <a:t>Acknowledgements</a:t>
            </a:r>
          </a:p>
        </p:txBody>
      </p:sp>
      <p:grpSp>
        <p:nvGrpSpPr>
          <p:cNvPr id="30" name="Grupo 29">
            <a:extLst>
              <a:ext uri="{FF2B5EF4-FFF2-40B4-BE49-F238E27FC236}">
                <a16:creationId xmlns:a16="http://schemas.microsoft.com/office/drawing/2014/main" id="{DB5DE485-D2DB-AB35-0158-29D254314FED}"/>
              </a:ext>
            </a:extLst>
          </p:cNvPr>
          <p:cNvGrpSpPr/>
          <p:nvPr/>
        </p:nvGrpSpPr>
        <p:grpSpPr>
          <a:xfrm>
            <a:off x="1531513" y="4704773"/>
            <a:ext cx="3049366" cy="897037"/>
            <a:chOff x="302284" y="5040495"/>
            <a:chExt cx="2537575" cy="699428"/>
          </a:xfrm>
        </p:grpSpPr>
        <p:pic>
          <p:nvPicPr>
            <p:cNvPr id="5" name="Imagen 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03166" y="5084785"/>
              <a:ext cx="1436693" cy="655138"/>
            </a:xfrm>
            <a:prstGeom prst="rect">
              <a:avLst/>
            </a:prstGeom>
          </p:spPr>
        </p:pic>
        <p:pic>
          <p:nvPicPr>
            <p:cNvPr id="6" name="Imagen 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284" y="5040495"/>
              <a:ext cx="1113720" cy="658951"/>
            </a:xfrm>
            <a:prstGeom prst="rect">
              <a:avLst/>
            </a:prstGeom>
          </p:spPr>
        </p:pic>
      </p:grpSp>
      <p:pic>
        <p:nvPicPr>
          <p:cNvPr id="54" name="Picture 97" descr="Fundación Jiménez Díaz – Zitec Consultores">
            <a:extLst>
              <a:ext uri="{FF2B5EF4-FFF2-40B4-BE49-F238E27FC236}">
                <a16:creationId xmlns:a16="http://schemas.microsoft.com/office/drawing/2014/main" id="{F402961C-50AB-4728-BA45-88D74D90836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24" b="36665"/>
          <a:stretch/>
        </p:blipFill>
        <p:spPr bwMode="auto">
          <a:xfrm>
            <a:off x="246308" y="6330300"/>
            <a:ext cx="1928125" cy="387254"/>
          </a:xfrm>
          <a:prstGeom prst="rect">
            <a:avLst/>
          </a:prstGeom>
          <a:noFill/>
          <a:ln>
            <a:solidFill>
              <a:schemeClr val="bg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" name="Picture 42" descr="ModeloAvilés-1999 on Twitter: &quot;millón de personas. También, Adjunct  Associated Professor of Psychiatry en Columbia University (NY, USA). El Dr.  Baca disertará sobre El desafío de la digitalización en la asistencia en  Salud">
            <a:extLst>
              <a:ext uri="{FF2B5EF4-FFF2-40B4-BE49-F238E27FC236}">
                <a16:creationId xmlns:a16="http://schemas.microsoft.com/office/drawing/2014/main" id="{68203F7C-5135-4E47-9924-DB611A104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445" y="5096138"/>
            <a:ext cx="1149677" cy="1178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Google Shape;246;p11">
            <a:extLst>
              <a:ext uri="{FF2B5EF4-FFF2-40B4-BE49-F238E27FC236}">
                <a16:creationId xmlns:a16="http://schemas.microsoft.com/office/drawing/2014/main" id="{1FFB3FC2-95E6-498F-8415-621CAE3F28F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 l="1357" t="5359" r="809" b="3399"/>
          <a:stretch/>
        </p:blipFill>
        <p:spPr>
          <a:xfrm>
            <a:off x="8875488" y="5770811"/>
            <a:ext cx="3195945" cy="9761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Picture 10" descr="Risultato immagini per I-LINK CSIC">
            <a:extLst>
              <a:ext uri="{FF2B5EF4-FFF2-40B4-BE49-F238E27FC236}">
                <a16:creationId xmlns:a16="http://schemas.microsoft.com/office/drawing/2014/main" id="{00FC947F-E51A-432F-97F5-9D01C9949D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5288" y="6054121"/>
            <a:ext cx="2456932" cy="552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0" name="Imagen 59">
            <a:extLst>
              <a:ext uri="{FF2B5EF4-FFF2-40B4-BE49-F238E27FC236}">
                <a16:creationId xmlns:a16="http://schemas.microsoft.com/office/drawing/2014/main" id="{B571D6B6-3DBB-4E99-ABD9-2379E1C3B53B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6584" y="6054122"/>
            <a:ext cx="1930314" cy="552358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AE701BB7-8748-44CE-9F9B-71CCDEDA3F3D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l="17362" t="19104" r="17716" b="33007"/>
          <a:stretch/>
        </p:blipFill>
        <p:spPr>
          <a:xfrm>
            <a:off x="583315" y="1574008"/>
            <a:ext cx="5482956" cy="3033316"/>
          </a:xfrm>
          <a:prstGeom prst="rect">
            <a:avLst/>
          </a:prstGeom>
        </p:spPr>
      </p:pic>
      <p:pic>
        <p:nvPicPr>
          <p:cNvPr id="1026" name="Picture 2" descr="School of Medicine (@StAndMedicine) / X"/>
          <p:cNvPicPr>
            <a:picLocks noChangeAspect="1" noChangeArrowheads="1"/>
          </p:cNvPicPr>
          <p:nvPr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98" t="-1" r="26655" b="43935"/>
          <a:stretch/>
        </p:blipFill>
        <p:spPr bwMode="auto">
          <a:xfrm>
            <a:off x="6849869" y="4652582"/>
            <a:ext cx="605240" cy="807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School of Medicine (@StAndMedicine) / X"/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083"/>
          <a:stretch/>
        </p:blipFill>
        <p:spPr bwMode="auto">
          <a:xfrm>
            <a:off x="7455109" y="4704776"/>
            <a:ext cx="2091717" cy="782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5630" t="37411" r="22935" b="36829"/>
          <a:stretch/>
        </p:blipFill>
        <p:spPr>
          <a:xfrm>
            <a:off x="6849869" y="1546387"/>
            <a:ext cx="4599097" cy="3060937"/>
          </a:xfrm>
          <a:prstGeom prst="rect">
            <a:avLst/>
          </a:prstGeom>
        </p:spPr>
      </p:pic>
      <p:sp>
        <p:nvSpPr>
          <p:cNvPr id="7" name="CuadroTexto 6"/>
          <p:cNvSpPr txBox="1"/>
          <p:nvPr/>
        </p:nvSpPr>
        <p:spPr>
          <a:xfrm>
            <a:off x="4580879" y="4761576"/>
            <a:ext cx="1606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Claudio </a:t>
            </a:r>
            <a:r>
              <a:rPr lang="es-ES" dirty="0" err="1" smtClean="0"/>
              <a:t>Toma’s</a:t>
            </a:r>
            <a:r>
              <a:rPr lang="es-ES" dirty="0" smtClean="0"/>
              <a:t> </a:t>
            </a:r>
            <a:r>
              <a:rPr lang="es-ES" dirty="0" err="1" smtClean="0"/>
              <a:t>lab</a:t>
            </a:r>
            <a:endParaRPr lang="en-GB" dirty="0"/>
          </a:p>
        </p:txBody>
      </p:sp>
      <p:sp>
        <p:nvSpPr>
          <p:cNvPr id="21" name="CuadroTexto 20"/>
          <p:cNvSpPr txBox="1"/>
          <p:nvPr/>
        </p:nvSpPr>
        <p:spPr>
          <a:xfrm>
            <a:off x="9538180" y="4761576"/>
            <a:ext cx="16068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Silvia </a:t>
            </a:r>
            <a:r>
              <a:rPr lang="es-ES" dirty="0" err="1" smtClean="0"/>
              <a:t>Paracchini’s</a:t>
            </a:r>
            <a:r>
              <a:rPr lang="es-ES" dirty="0" smtClean="0"/>
              <a:t> </a:t>
            </a:r>
            <a:r>
              <a:rPr lang="es-ES" dirty="0" err="1" smtClean="0"/>
              <a:t>lab</a:t>
            </a:r>
            <a:endParaRPr lang="en-GB" dirty="0"/>
          </a:p>
        </p:txBody>
      </p:sp>
      <p:sp>
        <p:nvSpPr>
          <p:cNvPr id="8" name="Marcador de número de diapositiva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5E948B-A4EA-4562-B7E6-FE17413622D9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1685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1692</TotalTime>
  <Words>839</Words>
  <Application>Microsoft Office PowerPoint</Application>
  <PresentationFormat>Panorámica</PresentationFormat>
  <Paragraphs>283</Paragraphs>
  <Slides>19</Slides>
  <Notes>5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6" baseType="lpstr">
      <vt:lpstr>Arial</vt:lpstr>
      <vt:lpstr>Arial Black</vt:lpstr>
      <vt:lpstr>Calibri</vt:lpstr>
      <vt:lpstr>Calibri Light</vt:lpstr>
      <vt:lpstr>Cambria</vt:lpstr>
      <vt:lpstr>Didot</vt:lpstr>
      <vt:lpstr>Tema de Office</vt:lpstr>
      <vt:lpstr>Atypical handedness as a marker of altered brain lateralization: genetic and clinical study in bipolar disorder</vt:lpstr>
      <vt:lpstr>Bipolar disorder</vt:lpstr>
      <vt:lpstr>GWAS in BD (PGC-4): 158,000 cases and 2.8 M controls</vt:lpstr>
      <vt:lpstr>Handedness in general population</vt:lpstr>
      <vt:lpstr>GWAS of handedness: 194K left-handers, 1.5 M controls </vt:lpstr>
      <vt:lpstr>Handedness in neurodevelopmental/psychiatric disorders</vt:lpstr>
      <vt:lpstr>Handedness in neurodevelopmental/psychiatric disorders</vt:lpstr>
      <vt:lpstr>MadManic cohort</vt:lpstr>
      <vt:lpstr>Edinburgh Handedness Inventory</vt:lpstr>
      <vt:lpstr>Presentación de PowerPoint</vt:lpstr>
      <vt:lpstr>NRH in Spanish population</vt:lpstr>
      <vt:lpstr>Case-control handedness study</vt:lpstr>
      <vt:lpstr>Stronger lateralization of foot and eye in BD patients</vt:lpstr>
      <vt:lpstr>Sex-stratified analyses</vt:lpstr>
      <vt:lpstr>Mixed-users present higher severity</vt:lpstr>
      <vt:lpstr>Polygenic Risk Score (PRS): individual genetic liability to a trait</vt:lpstr>
      <vt:lpstr>Polygenic Risk Score</vt:lpstr>
      <vt:lpstr>Conclusions</vt:lpstr>
      <vt:lpstr>Acknowledgements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Atypical handedness as a marker of altered brain lateralization: genetic and clinical study in bipolar disorder</dc:title>
  <dc:creator>CBM</dc:creator>
  <cp:lastModifiedBy>CBM</cp:lastModifiedBy>
  <cp:revision>101</cp:revision>
  <dcterms:created xsi:type="dcterms:W3CDTF">2026-06-30T10:32:29Z</dcterms:created>
  <dcterms:modified xsi:type="dcterms:W3CDTF">2026-08-11T11:07:04Z</dcterms:modified>
</cp:coreProperties>
</file>