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7" r:id="rId3"/>
    <p:sldId id="258" r:id="rId4"/>
    <p:sldId id="257" r:id="rId5"/>
    <p:sldId id="259" r:id="rId6"/>
    <p:sldId id="271" r:id="rId7"/>
    <p:sldId id="260" r:id="rId8"/>
    <p:sldId id="270" r:id="rId9"/>
    <p:sldId id="261" r:id="rId10"/>
    <p:sldId id="262" r:id="rId11"/>
    <p:sldId id="263" r:id="rId12"/>
    <p:sldId id="264" r:id="rId13"/>
    <p:sldId id="265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  <a:srgbClr val="E7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2872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Reference EUR </a:t>
            </a:r>
            <a:r>
              <a:rPr lang="es-ES" dirty="0" err="1" smtClean="0"/>
              <a:t>estimates</a:t>
            </a:r>
            <a:r>
              <a:rPr lang="es-ES" dirty="0" smtClean="0"/>
              <a:t>: </a:t>
            </a:r>
            <a:r>
              <a:rPr lang="en-GB" dirty="0" err="1" smtClean="0"/>
              <a:t>Papadatou-Pastou</a:t>
            </a:r>
            <a:r>
              <a:rPr lang="en-GB" dirty="0" smtClean="0"/>
              <a:t> M, </a:t>
            </a:r>
            <a:r>
              <a:rPr lang="en-GB" dirty="0" err="1" smtClean="0"/>
              <a:t>Ntolka</a:t>
            </a:r>
            <a:r>
              <a:rPr lang="en-GB" dirty="0" smtClean="0"/>
              <a:t> E, Schmitz J, et al. Human handedness: A meta-analysis. Psychological Bulletin. 2020;146(6):481–524. doi:10.1037/bul0000229.</a:t>
            </a:r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888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 err="1" smtClean="0"/>
              <a:t>The</a:t>
            </a:r>
            <a:r>
              <a:rPr lang="es-ES" dirty="0" smtClean="0"/>
              <a:t> </a:t>
            </a:r>
            <a:r>
              <a:rPr lang="es-ES" dirty="0" err="1" smtClean="0"/>
              <a:t>age</a:t>
            </a:r>
            <a:r>
              <a:rPr lang="es-ES" dirty="0" smtClean="0"/>
              <a:t> </a:t>
            </a:r>
            <a:r>
              <a:rPr lang="es-ES" dirty="0" err="1" smtClean="0"/>
              <a:t>differences</a:t>
            </a:r>
            <a:r>
              <a:rPr lang="es-ES" dirty="0" smtClean="0"/>
              <a:t> </a:t>
            </a:r>
            <a:r>
              <a:rPr lang="es-ES" dirty="0" err="1" smtClean="0"/>
              <a:t>point</a:t>
            </a:r>
            <a:r>
              <a:rPr lang="es-ES" dirty="0" smtClean="0"/>
              <a:t> to </a:t>
            </a:r>
            <a:r>
              <a:rPr lang="es-ES" dirty="0" err="1" smtClean="0"/>
              <a:t>the</a:t>
            </a:r>
            <a:r>
              <a:rPr lang="es-ES" dirty="0" smtClean="0"/>
              <a:t> </a:t>
            </a:r>
            <a:r>
              <a:rPr lang="es-ES" dirty="0" err="1" smtClean="0"/>
              <a:t>need</a:t>
            </a:r>
            <a:r>
              <a:rPr lang="es-ES" dirty="0" smtClean="0"/>
              <a:t> of </a:t>
            </a:r>
            <a:r>
              <a:rPr lang="es-ES" dirty="0" err="1" smtClean="0"/>
              <a:t>age</a:t>
            </a:r>
            <a:r>
              <a:rPr lang="es-ES" dirty="0" smtClean="0"/>
              <a:t>-match data to </a:t>
            </a:r>
            <a:r>
              <a:rPr lang="es-ES" dirty="0" err="1" smtClean="0"/>
              <a:t>study</a:t>
            </a:r>
            <a:r>
              <a:rPr lang="es-ES" dirty="0" smtClean="0"/>
              <a:t> </a:t>
            </a:r>
            <a:r>
              <a:rPr lang="es-ES" dirty="0" err="1" smtClean="0"/>
              <a:t>comparisons</a:t>
            </a:r>
            <a:r>
              <a:rPr lang="es-ES" dirty="0" smtClean="0"/>
              <a:t> </a:t>
            </a:r>
            <a:r>
              <a:rPr lang="es-ES" dirty="0" err="1" smtClean="0"/>
              <a:t>with</a:t>
            </a:r>
            <a:r>
              <a:rPr lang="es-ES" dirty="0" smtClean="0"/>
              <a:t> </a:t>
            </a:r>
            <a:r>
              <a:rPr lang="es-ES" dirty="0" err="1" smtClean="0"/>
              <a:t>other</a:t>
            </a:r>
            <a:r>
              <a:rPr lang="es-ES" dirty="0" smtClean="0"/>
              <a:t> </a:t>
            </a:r>
            <a:r>
              <a:rPr lang="es-ES" dirty="0" err="1" smtClean="0"/>
              <a:t>groups</a:t>
            </a:r>
            <a:r>
              <a:rPr lang="es-ES" dirty="0" smtClean="0"/>
              <a:t> (BD)</a:t>
            </a:r>
          </a:p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1068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08CE70-8464-4F5E-93AD-97151A563D6A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2642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6AF46-4ED5-4A87-8D9F-D0A79E912F4D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16.png"/><Relationship Id="rId7" Type="http://schemas.openxmlformats.org/officeDocument/2006/relationships/image" Target="../media/image20.jpg"/><Relationship Id="rId12" Type="http://schemas.openxmlformats.org/officeDocument/2006/relationships/image" Target="../media/image2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11" Type="http://schemas.openxmlformats.org/officeDocument/2006/relationships/image" Target="../media/image24.jpe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</a:t>
            </a:r>
            <a:r>
              <a:rPr lang="en-GB" b="1" dirty="0" smtClean="0"/>
              <a:t>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 smtClean="0"/>
              <a:t>Inés García-Ortiz</a:t>
            </a:r>
          </a:p>
          <a:p>
            <a:r>
              <a:rPr lang="en-GB" sz="2000" dirty="0" smtClean="0"/>
              <a:t>10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North Sea Meeting on Laterality</a:t>
            </a:r>
          </a:p>
          <a:p>
            <a:r>
              <a:rPr lang="en-GB" sz="2000" dirty="0" smtClean="0"/>
              <a:t>19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– 22</a:t>
            </a:r>
            <a:r>
              <a:rPr lang="en-GB" sz="2000" baseline="30000" dirty="0" smtClean="0"/>
              <a:t>nd</a:t>
            </a:r>
            <a:r>
              <a:rPr lang="en-GB" sz="2000" dirty="0" smtClean="0"/>
              <a:t> August 2026, Brighton</a:t>
            </a:r>
            <a:endParaRPr lang="en-GB" sz="2000" dirty="0"/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</a:t>
            </a:r>
            <a:r>
              <a:rPr lang="es-ES" sz="4000" b="1" dirty="0" err="1"/>
              <a:t>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956565" y="6256822"/>
            <a:ext cx="1858719" cy="430887"/>
          </a:xfrm>
          <a:prstGeom prst="rect">
            <a:avLst/>
          </a:prstGeom>
          <a:solidFill>
            <a:schemeClr val="tx1"/>
          </a:soli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956565" y="835546"/>
            <a:ext cx="1715864" cy="430887"/>
          </a:xfrm>
          <a:prstGeom prst="rect">
            <a:avLst/>
          </a:prstGeom>
          <a:solidFill>
            <a:srgbClr val="FFC000"/>
          </a:solidFill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67"/>
          <p:cNvSpPr txBox="1"/>
          <p:nvPr/>
        </p:nvSpPr>
        <p:spPr>
          <a:xfrm>
            <a:off x="3936869" y="1061126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513768" y="2925859"/>
            <a:ext cx="3078461" cy="15008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000" b="1" dirty="0">
                <a:solidFill>
                  <a:schemeClr val="tx1"/>
                </a:solidFill>
              </a:rPr>
              <a:t>Heritability: 80</a:t>
            </a:r>
            <a:r>
              <a:rPr lang="es-ES" sz="2000" b="1" dirty="0" smtClean="0">
                <a:solidFill>
                  <a:schemeClr val="tx1"/>
                </a:solidFill>
              </a:rPr>
              <a:t>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err="1" smtClean="0">
                <a:solidFill>
                  <a:schemeClr val="tx1"/>
                </a:solidFill>
              </a:rPr>
              <a:t>Prevalence</a:t>
            </a:r>
            <a:r>
              <a:rPr lang="es-ES" sz="2000" b="1" dirty="0" smtClean="0">
                <a:solidFill>
                  <a:schemeClr val="tx1"/>
                </a:solidFill>
              </a:rPr>
              <a:t> ~1%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smtClean="0">
                <a:solidFill>
                  <a:schemeClr val="tx1"/>
                </a:solidFill>
              </a:rPr>
              <a:t>50% </a:t>
            </a:r>
            <a:r>
              <a:rPr lang="es-ES" sz="2000" b="1" dirty="0" err="1" smtClean="0">
                <a:solidFill>
                  <a:schemeClr val="tx1"/>
                </a:solidFill>
              </a:rPr>
              <a:t>suicidal</a:t>
            </a:r>
            <a:r>
              <a:rPr lang="es-ES" sz="2000" b="1" dirty="0" smtClean="0">
                <a:solidFill>
                  <a:schemeClr val="tx1"/>
                </a:solidFill>
              </a:rPr>
              <a:t> </a:t>
            </a:r>
            <a:r>
              <a:rPr lang="es-ES" sz="2000" b="1" dirty="0" err="1" smtClean="0">
                <a:solidFill>
                  <a:schemeClr val="tx1"/>
                </a:solidFill>
              </a:rPr>
              <a:t>behaviour</a:t>
            </a:r>
            <a:endParaRPr lang="es-ES" sz="2000" b="1" dirty="0">
              <a:solidFill>
                <a:schemeClr val="tx1"/>
              </a:solidFill>
            </a:endParaRPr>
          </a:p>
        </p:txBody>
      </p:sp>
      <p:sp>
        <p:nvSpPr>
          <p:cNvPr id="3" name="Igual que 2"/>
          <p:cNvSpPr/>
          <p:nvPr/>
        </p:nvSpPr>
        <p:spPr>
          <a:xfrm rot="19154186">
            <a:off x="6840650" y="3521141"/>
            <a:ext cx="923277" cy="337351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Igual que 14"/>
          <p:cNvSpPr/>
          <p:nvPr/>
        </p:nvSpPr>
        <p:spPr>
          <a:xfrm rot="19154186">
            <a:off x="4068891" y="4541705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Igual que 15"/>
          <p:cNvSpPr/>
          <p:nvPr/>
        </p:nvSpPr>
        <p:spPr>
          <a:xfrm rot="19154186">
            <a:off x="2061114" y="5231049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Igual que 16"/>
          <p:cNvSpPr/>
          <p:nvPr/>
        </p:nvSpPr>
        <p:spPr>
          <a:xfrm rot="19154186">
            <a:off x="2930600" y="2895937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TextBox 67"/>
          <p:cNvSpPr txBox="1"/>
          <p:nvPr/>
        </p:nvSpPr>
        <p:spPr>
          <a:xfrm>
            <a:off x="6377975" y="4031323"/>
            <a:ext cx="114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/>
              <a:t>Suicide behaviour</a:t>
            </a:r>
            <a:endParaRPr lang="en-AU" b="1" dirty="0"/>
          </a:p>
        </p:txBody>
      </p:sp>
      <p:pic>
        <p:nvPicPr>
          <p:cNvPr id="2050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3872833" y="176043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5538875" y="1046807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 smtClean="0"/>
              <a:t>Handedness</a:t>
            </a:r>
            <a:r>
              <a:rPr lang="es-ES" sz="4000" b="1" dirty="0" smtClean="0"/>
              <a:t> in </a:t>
            </a:r>
            <a:r>
              <a:rPr lang="es-ES" sz="4000" b="1" dirty="0" err="1" smtClean="0"/>
              <a:t>neurodevelopmental</a:t>
            </a:r>
            <a:r>
              <a:rPr lang="es-ES" sz="4000" b="1" dirty="0" smtClean="0"/>
              <a:t>/</a:t>
            </a:r>
            <a:r>
              <a:rPr lang="es-ES" sz="4000" b="1" dirty="0" err="1" smtClean="0"/>
              <a:t>psychiatric</a:t>
            </a:r>
            <a:r>
              <a:rPr lang="es-ES" sz="4000" b="1" dirty="0" smtClean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258618" y="1078972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258618" y="563176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High </a:t>
            </a:r>
            <a:r>
              <a:rPr lang="es-ES" sz="2800" b="1" u="sng" dirty="0" smtClean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 smtClean="0"/>
              <a:t> + </a:t>
            </a:r>
            <a:r>
              <a:rPr lang="es-ES" sz="2800" b="1" u="sng" dirty="0" smtClean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 smtClean="0"/>
              <a:t> overlap in mental disorders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9AC7DFD-5540-8C9B-D578-4C74605103ED}"/>
              </a:ext>
            </a:extLst>
          </p:cNvPr>
          <p:cNvSpPr txBox="1"/>
          <p:nvPr/>
        </p:nvSpPr>
        <p:spPr>
          <a:xfrm>
            <a:off x="5623623" y="4918645"/>
            <a:ext cx="250891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Schizophrenia </a:t>
            </a:r>
            <a:r>
              <a:rPr lang="es-ES" sz="2000" dirty="0"/>
              <a:t>(SCZ)</a:t>
            </a:r>
          </a:p>
          <a:p>
            <a:pPr algn="ctr"/>
            <a:r>
              <a:rPr lang="es-ES" sz="2000" dirty="0"/>
              <a:t>Left-</a:t>
            </a:r>
            <a:r>
              <a:rPr lang="en-US" sz="2000" noProof="0" dirty="0"/>
              <a:t>handed</a:t>
            </a:r>
            <a:r>
              <a:rPr lang="es-ES" sz="2000" dirty="0"/>
              <a:t>: ~20%</a:t>
            </a:r>
          </a:p>
          <a:p>
            <a:pPr algn="ctr"/>
            <a:r>
              <a:rPr lang="es-ES" sz="2000" dirty="0"/>
              <a:t>NRH: ~35%</a:t>
            </a:r>
            <a:r>
              <a:rPr lang="es-ES" sz="2000" b="1" dirty="0"/>
              <a:t>**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5D3924B-DEC9-564D-4C1E-F41BB1233C68}"/>
              </a:ext>
            </a:extLst>
          </p:cNvPr>
          <p:cNvSpPr txBox="1"/>
          <p:nvPr/>
        </p:nvSpPr>
        <p:spPr>
          <a:xfrm>
            <a:off x="9067648" y="4273799"/>
            <a:ext cx="2447221" cy="7078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Bipolar disorder </a:t>
            </a:r>
            <a:r>
              <a:rPr lang="es-ES" sz="2000" dirty="0"/>
              <a:t>(BD)</a:t>
            </a:r>
          </a:p>
          <a:p>
            <a:pPr algn="ctr"/>
            <a:r>
              <a:rPr lang="es-ES" sz="2000" dirty="0"/>
              <a:t>???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B208FE0-A252-3BEE-7248-5F6ECD1E8CE2}"/>
              </a:ext>
            </a:extLst>
          </p:cNvPr>
          <p:cNvSpPr txBox="1"/>
          <p:nvPr/>
        </p:nvSpPr>
        <p:spPr>
          <a:xfrm>
            <a:off x="9180170" y="3161344"/>
            <a:ext cx="22221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Depression</a:t>
            </a:r>
            <a:r>
              <a:rPr lang="es-ES" dirty="0"/>
              <a:t> (DEP)</a:t>
            </a:r>
          </a:p>
          <a:p>
            <a:pPr algn="ctr"/>
            <a:r>
              <a:rPr lang="es-ES" dirty="0"/>
              <a:t>NRH: 18</a:t>
            </a:r>
            <a:r>
              <a:rPr lang="es-ES" dirty="0" smtClean="0"/>
              <a:t>%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B82C21-CFEB-F5F2-0204-426DA9DE4F6F}"/>
              </a:ext>
            </a:extLst>
          </p:cNvPr>
          <p:cNvSpPr txBox="1"/>
          <p:nvPr/>
        </p:nvSpPr>
        <p:spPr>
          <a:xfrm>
            <a:off x="5791436" y="3764137"/>
            <a:ext cx="2173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Autism </a:t>
            </a:r>
            <a:r>
              <a:rPr lang="es-ES" dirty="0"/>
              <a:t>(ASD)</a:t>
            </a:r>
          </a:p>
          <a:p>
            <a:pPr algn="ctr"/>
            <a:r>
              <a:rPr lang="es-ES" dirty="0"/>
              <a:t>NRH: ~35</a:t>
            </a:r>
            <a:r>
              <a:rPr lang="es-ES" dirty="0" smtClean="0"/>
              <a:t>%</a:t>
            </a:r>
            <a:r>
              <a:rPr lang="es-ES" b="1" dirty="0" smtClean="0"/>
              <a:t>**</a:t>
            </a:r>
            <a:endParaRPr lang="es-ES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5927845" y="2923450"/>
            <a:ext cx="1900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ADHD</a:t>
            </a:r>
          </a:p>
          <a:p>
            <a:pPr algn="ctr"/>
            <a:r>
              <a:rPr lang="es-ES" dirty="0"/>
              <a:t>NRH: ~25%</a:t>
            </a:r>
            <a:r>
              <a:rPr lang="es-ES" b="1" dirty="0"/>
              <a:t>*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8990723" y="5241811"/>
            <a:ext cx="2601069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800" u="sng" dirty="0"/>
              <a:t>No concordant pattern:</a:t>
            </a:r>
          </a:p>
          <a:p>
            <a:r>
              <a:rPr lang="es-ES" sz="1800" dirty="0"/>
              <a:t>Small sample sizes</a:t>
            </a:r>
          </a:p>
          <a:p>
            <a:r>
              <a:rPr lang="es-ES" sz="1800" dirty="0"/>
              <a:t>Lack of clinical data</a:t>
            </a:r>
          </a:p>
          <a:p>
            <a:r>
              <a:rPr lang="es-ES" sz="1800" dirty="0"/>
              <a:t>Diverse measurements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6111212" y="1746093"/>
            <a:ext cx="5151175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&gt; NRH in disorders </a:t>
            </a:r>
            <a:r>
              <a:rPr lang="es-ES" sz="2400" b="1" dirty="0" err="1" smtClean="0"/>
              <a:t>with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early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age</a:t>
            </a:r>
            <a:r>
              <a:rPr lang="es-ES" sz="2400" b="1" dirty="0" smtClean="0"/>
              <a:t> of </a:t>
            </a:r>
            <a:r>
              <a:rPr lang="es-ES" sz="2400" b="1" dirty="0" err="1" smtClean="0"/>
              <a:t>onset</a:t>
            </a:r>
            <a:r>
              <a:rPr lang="es-ES" sz="2400" b="1" dirty="0" smtClean="0"/>
              <a:t> and more </a:t>
            </a:r>
            <a:r>
              <a:rPr lang="es-ES" sz="2400" b="1" dirty="0" err="1" smtClean="0"/>
              <a:t>prevalence</a:t>
            </a:r>
            <a:r>
              <a:rPr lang="es-ES" sz="2400" b="1" dirty="0" smtClean="0"/>
              <a:t> in males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Handedness</a:t>
            </a:r>
            <a:r>
              <a:rPr lang="es-ES" b="1" dirty="0" smtClean="0"/>
              <a:t> in general </a:t>
            </a:r>
            <a:r>
              <a:rPr lang="es-ES" b="1" dirty="0" err="1" smtClean="0"/>
              <a:t>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676219" y="1492577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63989" y="2124345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 smtClean="0"/>
              <a:t>Left-handed</a:t>
            </a:r>
            <a:r>
              <a:rPr lang="en-GB" sz="2800" dirty="0" smtClean="0"/>
              <a:t>:  ~ 10%</a:t>
            </a:r>
          </a:p>
          <a:p>
            <a:r>
              <a:rPr lang="en-GB" sz="2800" b="1" dirty="0" smtClean="0"/>
              <a:t>Sex differences</a:t>
            </a:r>
            <a:r>
              <a:rPr lang="en-GB" sz="2800" dirty="0" smtClean="0"/>
              <a:t>: 12% men, 8% women</a:t>
            </a:r>
          </a:p>
          <a:p>
            <a:r>
              <a:rPr lang="en-GB" sz="2800" b="1" dirty="0" smtClean="0"/>
              <a:t>Non-right-handedness (NRH)</a:t>
            </a:r>
            <a:r>
              <a:rPr lang="en-GB" sz="2800" dirty="0" smtClean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 smtClean="0"/>
              <a:t>Different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brain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assymetry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patterns</a:t>
            </a:r>
            <a:r>
              <a:rPr lang="es-ES" sz="3200" b="1" dirty="0" smtClean="0"/>
              <a:t> in NRH </a:t>
            </a:r>
            <a:r>
              <a:rPr lang="es-ES" sz="3200" b="1" dirty="0" err="1" smtClean="0"/>
              <a:t>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2574685" y="4422366"/>
            <a:ext cx="1579419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H</a:t>
            </a:r>
            <a:r>
              <a:rPr lang="es-ES" sz="2800" b="1" i="1" baseline="30000" dirty="0" smtClean="0">
                <a:solidFill>
                  <a:schemeClr val="tx1"/>
                </a:solidFill>
              </a:rPr>
              <a:t>2</a:t>
            </a:r>
            <a:r>
              <a:rPr lang="es-ES" sz="2800" b="1" dirty="0" smtClean="0">
                <a:solidFill>
                  <a:schemeClr val="tx1"/>
                </a:solidFill>
              </a:rPr>
              <a:t> = 25%</a:t>
            </a:r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Edinburgh </a:t>
            </a:r>
            <a:r>
              <a:rPr lang="es-ES" b="1" dirty="0" err="1" smtClean="0"/>
              <a:t>Handedness</a:t>
            </a:r>
            <a:r>
              <a:rPr lang="es-ES" b="1" dirty="0" smtClean="0"/>
              <a:t> </a:t>
            </a:r>
            <a:r>
              <a:rPr lang="es-ES" b="1" dirty="0" err="1" smtClean="0"/>
              <a:t>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 err="1" smtClean="0">
                <a:solidFill>
                  <a:schemeClr val="tx1"/>
                </a:solidFill>
              </a:rPr>
              <a:t>Which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hand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>
                <a:solidFill>
                  <a:schemeClr val="tx1"/>
                </a:solidFill>
              </a:rPr>
              <a:t>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Open 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- Left </a:t>
              </a:r>
              <a:r>
                <a:rPr lang="es-ES" b="1" i="1" dirty="0"/>
                <a:t>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+ Left </a:t>
              </a:r>
              <a:r>
                <a:rPr lang="es-ES" b="1" i="1" dirty="0"/>
                <a:t>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195568"/>
            <a:chOff x="5267325" y="5440659"/>
            <a:chExt cx="6697662" cy="1195568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5876638" y="6113007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9617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37347" y="5447849"/>
                <a:ext cx="327640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 smtClean="0"/>
                  <a:t>Non-</a:t>
                </a:r>
                <a:r>
                  <a:rPr lang="es-ES" sz="2800" dirty="0" err="1" smtClean="0"/>
                  <a:t>lateralized</a:t>
                </a:r>
                <a:endParaRPr lang="es-ES" sz="2800" dirty="0"/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607914" y="6045541"/>
              <a:ext cx="268724" cy="329076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7666269" y="6045541"/>
              <a:ext cx="3936865" cy="402884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37347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</a:t>
              </a:r>
              <a:r>
                <a:rPr lang="es-ES" sz="2800" dirty="0" smtClean="0"/>
                <a:t>100</a:t>
              </a:r>
              <a:endParaRPr lang="es-ES" sz="2800" dirty="0"/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25028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Mixed</a:t>
              </a:r>
              <a:endParaRPr lang="es-ES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37347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</a:t>
              </a:r>
              <a:r>
                <a:rPr lang="es-ES" sz="2800" dirty="0" smtClean="0"/>
                <a:t>100</a:t>
              </a:r>
              <a:endParaRPr lang="es-ES" sz="2800" dirty="0"/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25028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Mixed</a:t>
              </a:r>
              <a:endParaRPr lang="es-ES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9124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MadManic</a:t>
            </a:r>
            <a:r>
              <a:rPr lang="es-ES" b="1" dirty="0" smtClean="0"/>
              <a:t> </a:t>
            </a:r>
            <a:r>
              <a:rPr lang="es-ES" b="1" dirty="0" err="1" smtClean="0"/>
              <a:t>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" name="Imagen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2902" y="148527"/>
            <a:ext cx="2105609" cy="2294635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339081" y="6234004"/>
            <a:ext cx="4136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smtClean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4810" y="2872486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9971415" y="2851021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242300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2423004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287214" y="529493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</a:t>
            </a:r>
            <a:r>
              <a:rPr lang="es-ES" sz="2400" dirty="0" err="1"/>
              <a:t>subtype</a:t>
            </a:r>
            <a:endParaRPr lang="es-ES" sz="2400" dirty="0"/>
          </a:p>
          <a:p>
            <a:r>
              <a:rPr lang="es-ES" sz="2400" dirty="0" err="1"/>
              <a:t>Clinical</a:t>
            </a:r>
            <a:r>
              <a:rPr lang="es-ES" sz="2400" dirty="0"/>
              <a:t> </a:t>
            </a:r>
            <a:r>
              <a:rPr lang="es-ES" sz="2400" dirty="0" err="1"/>
              <a:t>history</a:t>
            </a:r>
            <a:endParaRPr lang="es-ES" sz="2400" dirty="0"/>
          </a:p>
          <a:p>
            <a:r>
              <a:rPr lang="es-ES" sz="2400" dirty="0" err="1"/>
              <a:t>Severity</a:t>
            </a:r>
            <a:r>
              <a:rPr lang="es-ES" sz="2400" dirty="0"/>
              <a:t> </a:t>
            </a:r>
            <a:r>
              <a:rPr lang="es-ES" sz="2400" dirty="0" err="1"/>
              <a:t>scales</a:t>
            </a:r>
            <a:endParaRPr lang="es-ES" sz="2400" dirty="0"/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2024740"/>
            <a:ext cx="294759" cy="38942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Conector recto de flecha 17"/>
          <p:cNvCxnSpPr/>
          <p:nvPr/>
        </p:nvCxnSpPr>
        <p:spPr>
          <a:xfrm>
            <a:off x="10979173" y="3933771"/>
            <a:ext cx="17755" cy="131638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/>
          <p:cNvSpPr txBox="1"/>
          <p:nvPr/>
        </p:nvSpPr>
        <p:spPr>
          <a:xfrm>
            <a:off x="8172859" y="4164024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EHI</a:t>
            </a:r>
          </a:p>
          <a:p>
            <a:pPr algn="ctr"/>
            <a:r>
              <a:rPr lang="es-ES" sz="2400" b="1" dirty="0" err="1" smtClean="0"/>
              <a:t>preferred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foot</a:t>
            </a:r>
            <a:r>
              <a:rPr lang="es-ES" sz="2400" b="1" dirty="0" smtClean="0"/>
              <a:t>/</a:t>
            </a:r>
            <a:r>
              <a:rPr lang="es-ES" sz="2400" b="1" dirty="0" err="1" smtClean="0"/>
              <a:t>eye</a:t>
            </a:r>
            <a:r>
              <a:rPr lang="es-ES" sz="2400" b="1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9"/>
            <a:ext cx="12192000" cy="927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 err="1" smtClean="0"/>
              <a:t>Sample</a:t>
            </a:r>
            <a:r>
              <a:rPr lang="es-ES" b="1" dirty="0" smtClean="0"/>
              <a:t> </a:t>
            </a:r>
            <a:r>
              <a:rPr lang="es-ES" b="1" dirty="0" err="1" smtClean="0"/>
              <a:t>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32097" y="1151419"/>
            <a:ext cx="900486" cy="687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/>
        </p:blipFill>
        <p:spPr>
          <a:xfrm>
            <a:off x="2909412" y="1133740"/>
            <a:ext cx="884242" cy="6876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58745" y="178906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3" name="CuadroTexto 12"/>
          <p:cNvSpPr txBox="1"/>
          <p:nvPr/>
        </p:nvSpPr>
        <p:spPr>
          <a:xfrm>
            <a:off x="6723581" y="1120511"/>
            <a:ext cx="1397344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dirty="0"/>
              <a:t>P &lt;1E-16</a:t>
            </a:r>
            <a:endParaRPr lang="en-GB" sz="2400" dirty="0"/>
          </a:p>
        </p:txBody>
      </p:sp>
      <p:sp>
        <p:nvSpPr>
          <p:cNvPr id="8" name="CuadroTexto 7"/>
          <p:cNvSpPr txBox="1"/>
          <p:nvPr/>
        </p:nvSpPr>
        <p:spPr>
          <a:xfrm>
            <a:off x="688741" y="1796223"/>
            <a:ext cx="1976158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controls</a:t>
            </a:r>
            <a:endParaRPr lang="en-GB" sz="2400" b="1" dirty="0"/>
          </a:p>
        </p:txBody>
      </p:sp>
      <p:sp>
        <p:nvSpPr>
          <p:cNvPr id="14" name="Flecha abajo 13"/>
          <p:cNvSpPr/>
          <p:nvPr/>
        </p:nvSpPr>
        <p:spPr>
          <a:xfrm>
            <a:off x="8680429" y="3471169"/>
            <a:ext cx="422709" cy="700923"/>
          </a:xfrm>
          <a:prstGeom prst="downArrow">
            <a:avLst>
              <a:gd name="adj1" fmla="val 37149"/>
              <a:gd name="adj2" fmla="val 628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uadroTexto 14"/>
          <p:cNvSpPr txBox="1"/>
          <p:nvPr/>
        </p:nvSpPr>
        <p:spPr>
          <a:xfrm>
            <a:off x="5785114" y="981181"/>
            <a:ext cx="105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dirty="0" err="1" smtClean="0"/>
              <a:t>Age</a:t>
            </a:r>
            <a:endParaRPr lang="en-GB" sz="2400" b="1" dirty="0"/>
          </a:p>
        </p:txBody>
      </p:sp>
      <p:grpSp>
        <p:nvGrpSpPr>
          <p:cNvPr id="34" name="Grupo 33"/>
          <p:cNvGrpSpPr/>
          <p:nvPr/>
        </p:nvGrpSpPr>
        <p:grpSpPr>
          <a:xfrm>
            <a:off x="6039485" y="1635924"/>
            <a:ext cx="5347154" cy="1873012"/>
            <a:chOff x="5308776" y="1438698"/>
            <a:chExt cx="5347154" cy="1873012"/>
          </a:xfrm>
        </p:grpSpPr>
        <p:pic>
          <p:nvPicPr>
            <p:cNvPr id="3" name="Imagen 2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915" r="10702" b="14341"/>
            <a:stretch/>
          </p:blipFill>
          <p:spPr>
            <a:xfrm>
              <a:off x="5308776" y="1438698"/>
              <a:ext cx="5347154" cy="1594004"/>
            </a:xfrm>
            <a:prstGeom prst="rect">
              <a:avLst/>
            </a:prstGeom>
          </p:spPr>
        </p:pic>
        <p:sp>
          <p:nvSpPr>
            <p:cNvPr id="16" name="CuadroTexto 15"/>
            <p:cNvSpPr txBox="1"/>
            <p:nvPr/>
          </p:nvSpPr>
          <p:spPr>
            <a:xfrm>
              <a:off x="6437014" y="294237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25</a:t>
              </a:r>
              <a:endParaRPr lang="en-GB" dirty="0"/>
            </a:p>
          </p:txBody>
        </p:sp>
        <p:sp>
          <p:nvSpPr>
            <p:cNvPr id="17" name="CuadroTexto 16"/>
            <p:cNvSpPr txBox="1"/>
            <p:nvPr/>
          </p:nvSpPr>
          <p:spPr>
            <a:xfrm>
              <a:off x="7888690" y="291464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50</a:t>
              </a:r>
            </a:p>
          </p:txBody>
        </p:sp>
        <p:sp>
          <p:nvSpPr>
            <p:cNvPr id="18" name="CuadroTexto 17"/>
            <p:cNvSpPr txBox="1"/>
            <p:nvPr/>
          </p:nvSpPr>
          <p:spPr>
            <a:xfrm>
              <a:off x="9328123" y="292369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75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5969628" y="4172092"/>
            <a:ext cx="5443644" cy="1985933"/>
            <a:chOff x="5308776" y="4010258"/>
            <a:chExt cx="5443644" cy="1985933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65" r="8126" b="12393"/>
            <a:stretch/>
          </p:blipFill>
          <p:spPr>
            <a:xfrm>
              <a:off x="5308776" y="4010258"/>
              <a:ext cx="5443644" cy="1638894"/>
            </a:xfrm>
            <a:prstGeom prst="rect">
              <a:avLst/>
            </a:prstGeom>
          </p:spPr>
        </p:pic>
        <p:sp>
          <p:nvSpPr>
            <p:cNvPr id="19" name="CuadroTexto 18"/>
            <p:cNvSpPr txBox="1"/>
            <p:nvPr/>
          </p:nvSpPr>
          <p:spPr>
            <a:xfrm>
              <a:off x="5649363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20</a:t>
              </a:r>
              <a:endParaRPr lang="en-GB" dirty="0"/>
            </a:p>
          </p:txBody>
        </p:sp>
        <p:sp>
          <p:nvSpPr>
            <p:cNvPr id="20" name="CuadroTexto 19"/>
            <p:cNvSpPr txBox="1"/>
            <p:nvPr/>
          </p:nvSpPr>
          <p:spPr>
            <a:xfrm>
              <a:off x="6934972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4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1" name="CuadroTexto 20"/>
            <p:cNvSpPr txBox="1"/>
            <p:nvPr/>
          </p:nvSpPr>
          <p:spPr>
            <a:xfrm>
              <a:off x="8232689" y="5580693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6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2" name="CuadroTexto 21"/>
            <p:cNvSpPr txBox="1"/>
            <p:nvPr/>
          </p:nvSpPr>
          <p:spPr>
            <a:xfrm>
              <a:off x="9518247" y="5626859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80</a:t>
              </a:r>
              <a:endParaRPr lang="en-GB" dirty="0"/>
            </a:p>
          </p:txBody>
        </p:sp>
      </p:grpSp>
      <p:sp>
        <p:nvSpPr>
          <p:cNvPr id="23" name="CuadroTexto 22"/>
          <p:cNvSpPr txBox="1"/>
          <p:nvPr/>
        </p:nvSpPr>
        <p:spPr>
          <a:xfrm>
            <a:off x="9232777" y="3370775"/>
            <a:ext cx="2959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Age</a:t>
            </a:r>
            <a:r>
              <a:rPr lang="es-ES" dirty="0" smtClean="0"/>
              <a:t> </a:t>
            </a:r>
            <a:r>
              <a:rPr lang="es-ES" dirty="0" err="1" smtClean="0"/>
              <a:t>matching</a:t>
            </a:r>
            <a:r>
              <a:rPr lang="es-ES" dirty="0" smtClean="0"/>
              <a:t> </a:t>
            </a:r>
            <a:r>
              <a:rPr lang="es-ES" dirty="0" err="1" smtClean="0"/>
              <a:t>for</a:t>
            </a:r>
            <a:r>
              <a:rPr lang="es-ES" dirty="0" smtClean="0"/>
              <a:t> case-control </a:t>
            </a:r>
            <a:r>
              <a:rPr lang="es-ES" dirty="0" err="1" smtClean="0"/>
              <a:t>studies</a:t>
            </a:r>
            <a:endParaRPr lang="en-GB" dirty="0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02" b="66514"/>
          <a:stretch/>
        </p:blipFill>
        <p:spPr>
          <a:xfrm>
            <a:off x="4602443" y="3139604"/>
            <a:ext cx="402263" cy="1530982"/>
          </a:xfrm>
          <a:prstGeom prst="rect">
            <a:avLst/>
          </a:prstGeom>
        </p:spPr>
      </p:pic>
      <p:grpSp>
        <p:nvGrpSpPr>
          <p:cNvPr id="35" name="Grupo 34"/>
          <p:cNvGrpSpPr/>
          <p:nvPr/>
        </p:nvGrpSpPr>
        <p:grpSpPr>
          <a:xfrm>
            <a:off x="10583933" y="1789063"/>
            <a:ext cx="1397410" cy="938143"/>
            <a:chOff x="10704056" y="1425775"/>
            <a:chExt cx="1397410" cy="938143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25" name="CuadroTexto 24"/>
            <p:cNvSpPr txBox="1"/>
            <p:nvPr/>
          </p:nvSpPr>
          <p:spPr>
            <a:xfrm>
              <a:off x="11055895" y="1445390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C</a:t>
              </a:r>
              <a:r>
                <a:rPr lang="es-ES" dirty="0" smtClean="0"/>
                <a:t>ontrols</a:t>
              </a:r>
            </a:p>
          </p:txBody>
        </p:sp>
        <p:sp>
          <p:nvSpPr>
            <p:cNvPr id="26" name="CuadroTexto 25"/>
            <p:cNvSpPr txBox="1"/>
            <p:nvPr/>
          </p:nvSpPr>
          <p:spPr>
            <a:xfrm>
              <a:off x="11082251" y="1759724"/>
              <a:ext cx="522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BD</a:t>
              </a:r>
            </a:p>
          </p:txBody>
        </p:sp>
      </p:grpSp>
      <p:grpSp>
        <p:nvGrpSpPr>
          <p:cNvPr id="32" name="Grupo 31"/>
          <p:cNvGrpSpPr/>
          <p:nvPr/>
        </p:nvGrpSpPr>
        <p:grpSpPr>
          <a:xfrm>
            <a:off x="487018" y="2890075"/>
            <a:ext cx="5040228" cy="3458828"/>
            <a:chOff x="248574" y="3692786"/>
            <a:chExt cx="4521865" cy="2865060"/>
          </a:xfrm>
        </p:grpSpPr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8" t="1260" r="22729" b="30094"/>
            <a:stretch/>
          </p:blipFill>
          <p:spPr>
            <a:xfrm>
              <a:off x="248574" y="3692786"/>
              <a:ext cx="3172596" cy="28650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7" name="CuadroTexto 26"/>
            <p:cNvSpPr txBox="1"/>
            <p:nvPr/>
          </p:nvSpPr>
          <p:spPr>
            <a:xfrm>
              <a:off x="3421169" y="3883834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LQ</a:t>
              </a:r>
            </a:p>
          </p:txBody>
        </p:sp>
        <p:sp>
          <p:nvSpPr>
            <p:cNvPr id="28" name="CuadroTexto 27"/>
            <p:cNvSpPr txBox="1"/>
            <p:nvPr/>
          </p:nvSpPr>
          <p:spPr>
            <a:xfrm>
              <a:off x="3421169" y="4605235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Sex</a:t>
              </a:r>
            </a:p>
          </p:txBody>
        </p:sp>
        <p:sp>
          <p:nvSpPr>
            <p:cNvPr id="29" name="CuadroTexto 28"/>
            <p:cNvSpPr txBox="1"/>
            <p:nvPr/>
          </p:nvSpPr>
          <p:spPr>
            <a:xfrm>
              <a:off x="3489694" y="5298332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err="1" smtClean="0"/>
                <a:t>Age</a:t>
              </a:r>
              <a:endParaRPr lang="es-ES" dirty="0" smtClean="0"/>
            </a:p>
          </p:txBody>
        </p:sp>
        <p:sp>
          <p:nvSpPr>
            <p:cNvPr id="30" name="CuadroTexto 29"/>
            <p:cNvSpPr txBox="1"/>
            <p:nvPr/>
          </p:nvSpPr>
          <p:spPr>
            <a:xfrm>
              <a:off x="3489694" y="5998257"/>
              <a:ext cx="12807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BD status</a:t>
              </a:r>
            </a:p>
          </p:txBody>
        </p:sp>
      </p:grpSp>
      <p:sp>
        <p:nvSpPr>
          <p:cNvPr id="31" name="CuadroTexto 30"/>
          <p:cNvSpPr txBox="1"/>
          <p:nvPr/>
        </p:nvSpPr>
        <p:spPr>
          <a:xfrm>
            <a:off x="506918" y="2421193"/>
            <a:ext cx="3688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Correlation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between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traits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2837797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NRH in </a:t>
            </a:r>
            <a:r>
              <a:rPr lang="es-ES" b="1" dirty="0" err="1"/>
              <a:t>Spanish</a:t>
            </a:r>
            <a:r>
              <a:rPr lang="es-ES" b="1" dirty="0"/>
              <a:t> </a:t>
            </a:r>
            <a:r>
              <a:rPr lang="es-ES" b="1" dirty="0" err="1"/>
              <a:t>population</a:t>
            </a:r>
            <a:endParaRPr lang="en-GB" b="1" dirty="0"/>
          </a:p>
        </p:txBody>
      </p:sp>
      <p:sp>
        <p:nvSpPr>
          <p:cNvPr id="9" name="CuadroTexto 8"/>
          <p:cNvSpPr txBox="1"/>
          <p:nvPr/>
        </p:nvSpPr>
        <p:spPr>
          <a:xfrm>
            <a:off x="2614148" y="3120707"/>
            <a:ext cx="23049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8.4 %</a:t>
            </a:r>
          </a:p>
          <a:p>
            <a:pPr algn="ctr"/>
            <a:r>
              <a:rPr lang="es-ES" sz="3600" b="1" dirty="0" smtClean="0"/>
              <a:t>12.03 %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349537" y="1196163"/>
            <a:ext cx="1461106" cy="1219082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412851" y="2459025"/>
            <a:ext cx="1426142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823635" y="2493038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B36E3C5-B02C-6780-8E7A-F770EC47C2F9}"/>
              </a:ext>
            </a:extLst>
          </p:cNvPr>
          <p:cNvSpPr/>
          <p:nvPr/>
        </p:nvSpPr>
        <p:spPr>
          <a:xfrm>
            <a:off x="408015" y="3251337"/>
            <a:ext cx="1425810" cy="482042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77B4F48-3B87-95AD-AC32-86712AA4F8F5}"/>
              </a:ext>
            </a:extLst>
          </p:cNvPr>
          <p:cNvSpPr/>
          <p:nvPr/>
        </p:nvSpPr>
        <p:spPr>
          <a:xfrm>
            <a:off x="413159" y="3247919"/>
            <a:ext cx="708262" cy="480165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0647A86-F9FB-EDD9-6914-F239CCE77608}"/>
              </a:ext>
            </a:extLst>
          </p:cNvPr>
          <p:cNvSpPr txBox="1"/>
          <p:nvPr/>
        </p:nvSpPr>
        <p:spPr>
          <a:xfrm>
            <a:off x="350134" y="3197056"/>
            <a:ext cx="8314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/>
              <a:t>Left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B36E3C5-B02C-6780-8E7A-F770EC47C2F9}"/>
              </a:ext>
            </a:extLst>
          </p:cNvPr>
          <p:cNvSpPr/>
          <p:nvPr/>
        </p:nvSpPr>
        <p:spPr>
          <a:xfrm>
            <a:off x="412750" y="3856023"/>
            <a:ext cx="1425810" cy="482042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72B5177-3B13-D324-B9CF-09388954421C}"/>
              </a:ext>
            </a:extLst>
          </p:cNvPr>
          <p:cNvSpPr/>
          <p:nvPr/>
        </p:nvSpPr>
        <p:spPr>
          <a:xfrm>
            <a:off x="404281" y="3853218"/>
            <a:ext cx="1072850" cy="481430"/>
          </a:xfrm>
          <a:prstGeom prst="rect">
            <a:avLst/>
          </a:prstGeom>
          <a:solidFill>
            <a:srgbClr val="C397F3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0A64A56-EDE1-A6B9-09D0-0308D6867FE7}"/>
              </a:ext>
            </a:extLst>
          </p:cNvPr>
          <p:cNvSpPr txBox="1"/>
          <p:nvPr/>
        </p:nvSpPr>
        <p:spPr>
          <a:xfrm>
            <a:off x="332378" y="3801545"/>
            <a:ext cx="11171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3200" b="1"/>
            </a:lvl1pPr>
          </a:lstStyle>
          <a:p>
            <a:pPr algn="ctr"/>
            <a:r>
              <a:rPr lang="es-ES" dirty="0" smtClean="0"/>
              <a:t>NRH</a:t>
            </a:r>
            <a:endParaRPr lang="es-ES" dirty="0"/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70240" y="1286896"/>
            <a:ext cx="2348857" cy="182009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/>
          <p:cNvSpPr txBox="1"/>
          <p:nvPr/>
        </p:nvSpPr>
        <p:spPr>
          <a:xfrm>
            <a:off x="2219146" y="2017385"/>
            <a:ext cx="3051046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1,480 controls</a:t>
            </a:r>
            <a:endParaRPr lang="en-GB" sz="3200" b="1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041" y="1305005"/>
            <a:ext cx="2194589" cy="1667108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6036" y="1329499"/>
            <a:ext cx="2038635" cy="1619476"/>
          </a:xfrm>
          <a:prstGeom prst="rect">
            <a:avLst/>
          </a:prstGeom>
        </p:spPr>
      </p:pic>
      <p:sp>
        <p:nvSpPr>
          <p:cNvPr id="24" name="CuadroTexto 23"/>
          <p:cNvSpPr txBox="1"/>
          <p:nvPr/>
        </p:nvSpPr>
        <p:spPr>
          <a:xfrm>
            <a:off x="6023000" y="2051426"/>
            <a:ext cx="2331112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857 </a:t>
            </a:r>
            <a:r>
              <a:rPr lang="es-ES" sz="3200" b="1" dirty="0" err="1" smtClean="0"/>
              <a:t>females</a:t>
            </a:r>
            <a:endParaRPr lang="en-GB" sz="3200" b="1" dirty="0"/>
          </a:p>
        </p:txBody>
      </p:sp>
      <p:sp>
        <p:nvSpPr>
          <p:cNvPr id="25" name="CuadroTexto 24"/>
          <p:cNvSpPr txBox="1"/>
          <p:nvPr/>
        </p:nvSpPr>
        <p:spPr>
          <a:xfrm>
            <a:off x="9006412" y="2051426"/>
            <a:ext cx="2217885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623 males</a:t>
            </a:r>
            <a:endParaRPr lang="en-GB" sz="3200" b="1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096000" y="3137277"/>
            <a:ext cx="23049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6.65 %</a:t>
            </a:r>
          </a:p>
          <a:p>
            <a:pPr algn="ctr"/>
            <a:r>
              <a:rPr lang="es-ES" sz="3600" b="1" dirty="0" smtClean="0"/>
              <a:t>10.5 %</a:t>
            </a:r>
          </a:p>
        </p:txBody>
      </p:sp>
      <p:sp>
        <p:nvSpPr>
          <p:cNvPr id="27" name="CuadroTexto 26"/>
          <p:cNvSpPr txBox="1"/>
          <p:nvPr/>
        </p:nvSpPr>
        <p:spPr>
          <a:xfrm>
            <a:off x="8962882" y="3137277"/>
            <a:ext cx="23049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8.83 %</a:t>
            </a:r>
          </a:p>
          <a:p>
            <a:pPr algn="ctr"/>
            <a:r>
              <a:rPr lang="es-ES" sz="3600" b="1" dirty="0" smtClean="0"/>
              <a:t>14.1 %</a:t>
            </a:r>
          </a:p>
        </p:txBody>
      </p:sp>
      <p:sp>
        <p:nvSpPr>
          <p:cNvPr id="28" name="Rectángulo redondeado 27"/>
          <p:cNvSpPr/>
          <p:nvPr/>
        </p:nvSpPr>
        <p:spPr>
          <a:xfrm>
            <a:off x="2006074" y="4415425"/>
            <a:ext cx="3391549" cy="216776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Lower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than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>
                <a:solidFill>
                  <a:schemeClr val="tx1"/>
                </a:solidFill>
              </a:rPr>
              <a:t>EUR </a:t>
            </a:r>
            <a:r>
              <a:rPr lang="es-ES" sz="2800" b="1" dirty="0" err="1" smtClean="0">
                <a:solidFill>
                  <a:schemeClr val="tx1"/>
                </a:solidFill>
              </a:rPr>
              <a:t>population</a:t>
            </a:r>
            <a:r>
              <a:rPr lang="es-ES" sz="2800" b="1" dirty="0" smtClean="0">
                <a:solidFill>
                  <a:schemeClr val="tx1"/>
                </a:solidFill>
              </a:rPr>
              <a:t> (10-11% </a:t>
            </a:r>
            <a:r>
              <a:rPr lang="es-ES" sz="2800" b="1" dirty="0" err="1" smtClean="0">
                <a:solidFill>
                  <a:schemeClr val="tx1"/>
                </a:solidFill>
              </a:rPr>
              <a:t>left-handers</a:t>
            </a:r>
            <a:r>
              <a:rPr lang="es-ES" sz="2800" b="1" dirty="0" smtClean="0">
                <a:solidFill>
                  <a:schemeClr val="tx1"/>
                </a:solidFill>
              </a:rPr>
              <a:t>, 18% NRH)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29" name="Rectángulo redondeado 28"/>
          <p:cNvSpPr/>
          <p:nvPr/>
        </p:nvSpPr>
        <p:spPr>
          <a:xfrm>
            <a:off x="5737160" y="4415425"/>
            <a:ext cx="5963610" cy="1002080"/>
          </a:xfrm>
          <a:prstGeom prst="roundRect">
            <a:avLst/>
          </a:prstGeom>
          <a:solidFill>
            <a:srgbClr val="E7E7FF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Expected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difference</a:t>
            </a:r>
            <a:endParaRPr lang="es-ES" sz="2800" b="1" dirty="0">
              <a:solidFill>
                <a:schemeClr val="tx1"/>
              </a:solidFill>
            </a:endParaRPr>
          </a:p>
          <a:p>
            <a:pPr algn="ctr"/>
            <a:r>
              <a:rPr lang="es-ES" sz="2800" b="1" i="1" dirty="0">
                <a:solidFill>
                  <a:schemeClr val="tx1"/>
                </a:solidFill>
              </a:rPr>
              <a:t>P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smtClean="0">
                <a:solidFill>
                  <a:schemeClr val="tx1"/>
                </a:solidFill>
              </a:rPr>
              <a:t>= 0.039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0" name="CuadroTexto 29"/>
          <p:cNvSpPr txBox="1"/>
          <p:nvPr/>
        </p:nvSpPr>
        <p:spPr>
          <a:xfrm>
            <a:off x="111801" y="4445540"/>
            <a:ext cx="1796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 smtClean="0"/>
              <a:t>NRH </a:t>
            </a:r>
            <a:r>
              <a:rPr lang="es-ES" dirty="0" err="1" smtClean="0"/>
              <a:t>cut</a:t>
            </a:r>
            <a:r>
              <a:rPr lang="es-ES" dirty="0" smtClean="0"/>
              <a:t>-off = 60</a:t>
            </a:r>
            <a:endParaRPr lang="en-GB" dirty="0"/>
          </a:p>
        </p:txBody>
      </p:sp>
      <p:sp>
        <p:nvSpPr>
          <p:cNvPr id="31" name="Rectángulo redondeado 30"/>
          <p:cNvSpPr/>
          <p:nvPr/>
        </p:nvSpPr>
        <p:spPr>
          <a:xfrm>
            <a:off x="5737159" y="5543788"/>
            <a:ext cx="5963610" cy="94488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 smtClean="0">
                <a:solidFill>
                  <a:schemeClr val="tx1"/>
                </a:solidFill>
              </a:rPr>
              <a:t>Less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lateralization</a:t>
            </a:r>
            <a:r>
              <a:rPr lang="es-ES" sz="2800" b="1" dirty="0" smtClean="0">
                <a:solidFill>
                  <a:schemeClr val="tx1"/>
                </a:solidFill>
              </a:rPr>
              <a:t> in </a:t>
            </a:r>
            <a:r>
              <a:rPr lang="es-ES" sz="2800" b="1" dirty="0" err="1" smtClean="0">
                <a:solidFill>
                  <a:schemeClr val="tx1"/>
                </a:solidFill>
              </a:rPr>
              <a:t>younger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individuals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2" name="Rectángulo redondeado 31"/>
          <p:cNvSpPr/>
          <p:nvPr/>
        </p:nvSpPr>
        <p:spPr>
          <a:xfrm>
            <a:off x="97654" y="967666"/>
            <a:ext cx="11603115" cy="3434043"/>
          </a:xfrm>
          <a:prstGeom prst="roundRect">
            <a:avLst>
              <a:gd name="adj" fmla="val 60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ángulo redondeado 32"/>
          <p:cNvSpPr/>
          <p:nvPr/>
        </p:nvSpPr>
        <p:spPr>
          <a:xfrm>
            <a:off x="2006074" y="967666"/>
            <a:ext cx="3391549" cy="5601810"/>
          </a:xfrm>
          <a:prstGeom prst="roundRect">
            <a:avLst>
              <a:gd name="adj" fmla="val 10123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ángulo redondeado 33"/>
          <p:cNvSpPr/>
          <p:nvPr/>
        </p:nvSpPr>
        <p:spPr>
          <a:xfrm>
            <a:off x="5737159" y="967666"/>
            <a:ext cx="5963610" cy="4449839"/>
          </a:xfrm>
          <a:prstGeom prst="roundRect">
            <a:avLst>
              <a:gd name="adj" fmla="val 3952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Case-control </a:t>
            </a:r>
            <a:r>
              <a:rPr lang="es-ES" b="1" dirty="0" err="1"/>
              <a:t>handedness</a:t>
            </a:r>
            <a:r>
              <a:rPr lang="es-ES" b="1" dirty="0"/>
              <a:t> </a:t>
            </a:r>
            <a:r>
              <a:rPr lang="es-ES" b="1" dirty="0" err="1"/>
              <a:t>study</a:t>
            </a:r>
            <a:endParaRPr lang="en-GB" b="1" dirty="0"/>
          </a:p>
        </p:txBody>
      </p:sp>
      <p:pic>
        <p:nvPicPr>
          <p:cNvPr id="4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6074" y="1662914"/>
            <a:ext cx="2348857" cy="1820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2771405" y="3575443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/>
          <p:cNvSpPr txBox="1"/>
          <p:nvPr/>
        </p:nvSpPr>
        <p:spPr>
          <a:xfrm>
            <a:off x="2685833" y="2945203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</a:t>
            </a:r>
            <a:r>
              <a:rPr lang="es-ES" sz="3200" b="1" dirty="0" smtClean="0"/>
              <a:t>controls</a:t>
            </a:r>
            <a:endParaRPr lang="en-GB" sz="3200" b="1" dirty="0"/>
          </a:p>
        </p:txBody>
      </p:sp>
      <p:sp>
        <p:nvSpPr>
          <p:cNvPr id="7" name="CuadroTexto 6"/>
          <p:cNvSpPr txBox="1"/>
          <p:nvPr/>
        </p:nvSpPr>
        <p:spPr>
          <a:xfrm>
            <a:off x="2719711" y="4812268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BD</a:t>
            </a:r>
            <a:endParaRPr lang="en-GB" sz="32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6052751" y="2668920"/>
            <a:ext cx="55337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 smtClean="0"/>
              <a:t>No </a:t>
            </a:r>
            <a:r>
              <a:rPr lang="es-ES" sz="2400" dirty="0" err="1" smtClean="0"/>
              <a:t>differences</a:t>
            </a:r>
            <a:r>
              <a:rPr lang="es-ES" sz="2400" dirty="0" smtClean="0"/>
              <a:t> in </a:t>
            </a:r>
            <a:r>
              <a:rPr lang="es-ES" sz="2400" dirty="0" err="1" smtClean="0"/>
              <a:t>left-hand</a:t>
            </a:r>
            <a:r>
              <a:rPr lang="es-ES" sz="2400" dirty="0" smtClean="0"/>
              <a:t> </a:t>
            </a:r>
            <a:r>
              <a:rPr lang="es-ES" sz="2400" dirty="0" err="1" smtClean="0"/>
              <a:t>prevalence</a:t>
            </a:r>
            <a:r>
              <a:rPr lang="es-ES" sz="2400" dirty="0" smtClean="0"/>
              <a:t> </a:t>
            </a:r>
            <a:r>
              <a:rPr lang="es-ES" sz="2400" dirty="0" err="1" smtClean="0"/>
              <a:t>or</a:t>
            </a:r>
            <a:r>
              <a:rPr lang="es-ES" sz="2400" dirty="0" smtClean="0"/>
              <a:t> NRH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u="sng" dirty="0" err="1" smtClean="0"/>
              <a:t>Subtle</a:t>
            </a:r>
            <a:r>
              <a:rPr lang="es-ES" sz="2400" u="sng" dirty="0" smtClean="0"/>
              <a:t> </a:t>
            </a:r>
            <a:r>
              <a:rPr lang="es-ES" sz="2400" u="sng" dirty="0" err="1" smtClean="0"/>
              <a:t>increase</a:t>
            </a:r>
            <a:r>
              <a:rPr lang="es-ES" sz="2400" u="sng" dirty="0" smtClean="0"/>
              <a:t> in </a:t>
            </a:r>
            <a:r>
              <a:rPr lang="es-ES" sz="2400" u="sng" dirty="0" err="1" smtClean="0"/>
              <a:t>mixed-hand</a:t>
            </a:r>
            <a:r>
              <a:rPr lang="es-ES" sz="2400" u="sng" dirty="0" smtClean="0"/>
              <a:t> use </a:t>
            </a:r>
            <a:r>
              <a:rPr lang="es-ES" sz="2400" dirty="0" smtClean="0"/>
              <a:t>(</a:t>
            </a:r>
            <a:r>
              <a:rPr lang="es-ES" sz="2400" i="1" dirty="0" smtClean="0"/>
              <a:t>P</a:t>
            </a:r>
            <a:r>
              <a:rPr lang="es-ES" sz="2400" dirty="0" smtClean="0"/>
              <a:t> = 0.02)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 err="1" smtClean="0"/>
              <a:t>Greater</a:t>
            </a:r>
            <a:r>
              <a:rPr lang="es-ES" sz="2400" dirty="0" smtClean="0"/>
              <a:t> </a:t>
            </a:r>
            <a:r>
              <a:rPr lang="es-ES" sz="2400" dirty="0" err="1" smtClean="0"/>
              <a:t>preference</a:t>
            </a:r>
            <a:r>
              <a:rPr lang="es-ES" sz="2400" dirty="0" smtClean="0"/>
              <a:t> </a:t>
            </a:r>
            <a:r>
              <a:rPr lang="es-ES" sz="2400" dirty="0" err="1" smtClean="0"/>
              <a:t>for</a:t>
            </a:r>
            <a:r>
              <a:rPr lang="es-ES" sz="2400" dirty="0" smtClean="0"/>
              <a:t> </a:t>
            </a:r>
            <a:r>
              <a:rPr lang="es-ES" sz="2400" dirty="0" err="1" smtClean="0"/>
              <a:t>left</a:t>
            </a:r>
            <a:r>
              <a:rPr lang="es-ES" sz="2400" dirty="0" smtClean="0"/>
              <a:t> </a:t>
            </a:r>
            <a:r>
              <a:rPr lang="es-ES" sz="2400" dirty="0" err="1" smtClean="0"/>
              <a:t>eye</a:t>
            </a:r>
            <a:r>
              <a:rPr lang="es-ES" sz="2400" dirty="0"/>
              <a:t> </a:t>
            </a:r>
            <a:r>
              <a:rPr lang="es-ES" sz="2400" dirty="0" smtClean="0"/>
              <a:t>and </a:t>
            </a:r>
            <a:r>
              <a:rPr lang="es-ES" sz="2400" dirty="0" err="1" smtClean="0"/>
              <a:t>foot</a:t>
            </a:r>
            <a:endParaRPr lang="en-GB" sz="2400" dirty="0"/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349537" y="1196163"/>
            <a:ext cx="1461106" cy="1219082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412851" y="2459025"/>
            <a:ext cx="1426142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823635" y="2493038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B36E3C5-B02C-6780-8E7A-F770EC47C2F9}"/>
              </a:ext>
            </a:extLst>
          </p:cNvPr>
          <p:cNvSpPr/>
          <p:nvPr/>
        </p:nvSpPr>
        <p:spPr>
          <a:xfrm>
            <a:off x="408015" y="3251337"/>
            <a:ext cx="1425810" cy="482042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D77B4F48-3B87-95AD-AC32-86712AA4F8F5}"/>
              </a:ext>
            </a:extLst>
          </p:cNvPr>
          <p:cNvSpPr/>
          <p:nvPr/>
        </p:nvSpPr>
        <p:spPr>
          <a:xfrm>
            <a:off x="413159" y="3247919"/>
            <a:ext cx="708262" cy="480165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0647A86-F9FB-EDD9-6914-F239CCE77608}"/>
              </a:ext>
            </a:extLst>
          </p:cNvPr>
          <p:cNvSpPr txBox="1"/>
          <p:nvPr/>
        </p:nvSpPr>
        <p:spPr>
          <a:xfrm>
            <a:off x="350134" y="3197056"/>
            <a:ext cx="8314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/>
              <a:t>Left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B36E3C5-B02C-6780-8E7A-F770EC47C2F9}"/>
              </a:ext>
            </a:extLst>
          </p:cNvPr>
          <p:cNvSpPr/>
          <p:nvPr/>
        </p:nvSpPr>
        <p:spPr>
          <a:xfrm>
            <a:off x="428702" y="4370003"/>
            <a:ext cx="1425810" cy="482042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72B5177-3B13-D324-B9CF-09388954421C}"/>
              </a:ext>
            </a:extLst>
          </p:cNvPr>
          <p:cNvSpPr/>
          <p:nvPr/>
        </p:nvSpPr>
        <p:spPr>
          <a:xfrm>
            <a:off x="420233" y="4367198"/>
            <a:ext cx="1072850" cy="481430"/>
          </a:xfrm>
          <a:prstGeom prst="rect">
            <a:avLst/>
          </a:prstGeom>
          <a:solidFill>
            <a:srgbClr val="C397F3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0A64A56-EDE1-A6B9-09D0-0308D6867FE7}"/>
              </a:ext>
            </a:extLst>
          </p:cNvPr>
          <p:cNvSpPr txBox="1"/>
          <p:nvPr/>
        </p:nvSpPr>
        <p:spPr>
          <a:xfrm>
            <a:off x="348330" y="4315525"/>
            <a:ext cx="11171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3200" b="1"/>
            </a:lvl1pPr>
          </a:lstStyle>
          <a:p>
            <a:pPr algn="ctr"/>
            <a:r>
              <a:rPr lang="es-ES" dirty="0" smtClean="0"/>
              <a:t>NRH</a:t>
            </a:r>
            <a:endParaRPr lang="es-ES" dirty="0"/>
          </a:p>
        </p:txBody>
      </p:sp>
      <p:sp>
        <p:nvSpPr>
          <p:cNvPr id="18" name="CuadroTexto 17"/>
          <p:cNvSpPr txBox="1"/>
          <p:nvPr/>
        </p:nvSpPr>
        <p:spPr>
          <a:xfrm>
            <a:off x="420233" y="4897613"/>
            <a:ext cx="1434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Cut</a:t>
            </a:r>
            <a:r>
              <a:rPr lang="es-ES" dirty="0" smtClean="0"/>
              <a:t>-off = 60</a:t>
            </a:r>
            <a:endParaRPr lang="en-GB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B36E3C5-B02C-6780-8E7A-F770EC47C2F9}"/>
              </a:ext>
            </a:extLst>
          </p:cNvPr>
          <p:cNvSpPr/>
          <p:nvPr/>
        </p:nvSpPr>
        <p:spPr>
          <a:xfrm>
            <a:off x="408015" y="3778947"/>
            <a:ext cx="1425810" cy="482042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72B5177-3B13-D324-B9CF-09388954421C}"/>
              </a:ext>
            </a:extLst>
          </p:cNvPr>
          <p:cNvSpPr/>
          <p:nvPr/>
        </p:nvSpPr>
        <p:spPr>
          <a:xfrm>
            <a:off x="745724" y="3780695"/>
            <a:ext cx="755828" cy="481430"/>
          </a:xfrm>
          <a:prstGeom prst="rect">
            <a:avLst/>
          </a:prstGeom>
          <a:solidFill>
            <a:srgbClr val="CCCCFF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F0647A86-F9FB-EDD9-6914-F239CCE77608}"/>
              </a:ext>
            </a:extLst>
          </p:cNvPr>
          <p:cNvSpPr txBox="1"/>
          <p:nvPr/>
        </p:nvSpPr>
        <p:spPr>
          <a:xfrm>
            <a:off x="705979" y="3729023"/>
            <a:ext cx="8314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 err="1" smtClean="0"/>
              <a:t>Mix</a:t>
            </a:r>
            <a:endParaRPr lang="es-ES" sz="3200" b="1" dirty="0"/>
          </a:p>
        </p:txBody>
      </p: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Within</a:t>
            </a:r>
            <a:r>
              <a:rPr lang="es-ES" dirty="0" smtClean="0"/>
              <a:t> BD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PRS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Discussion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77528" y="-227950"/>
            <a:ext cx="4624161" cy="1325563"/>
          </a:xfrm>
        </p:spPr>
        <p:txBody>
          <a:bodyPr/>
          <a:lstStyle/>
          <a:p>
            <a:r>
              <a:rPr lang="en-GB" b="1" dirty="0">
                <a:cs typeface="Arial" panose="020B0604020202020204" pitchFamily="34" charset="0"/>
              </a:rPr>
              <a:t>Acknowledgements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DB5DE485-D2DB-AB35-0158-29D254314FED}"/>
              </a:ext>
            </a:extLst>
          </p:cNvPr>
          <p:cNvGrpSpPr/>
          <p:nvPr/>
        </p:nvGrpSpPr>
        <p:grpSpPr>
          <a:xfrm>
            <a:off x="1982237" y="4070763"/>
            <a:ext cx="3841298" cy="903751"/>
            <a:chOff x="302284" y="5040495"/>
            <a:chExt cx="2777258" cy="689375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849" y="5074732"/>
              <a:ext cx="1436693" cy="655138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84" y="5040495"/>
              <a:ext cx="1113720" cy="658951"/>
            </a:xfrm>
            <a:prstGeom prst="rect">
              <a:avLst/>
            </a:prstGeom>
          </p:spPr>
        </p:pic>
      </p:grpSp>
      <p:pic>
        <p:nvPicPr>
          <p:cNvPr id="54" name="Picture 97" descr="Fundación Jiménez Díaz – Zitec Consultores">
            <a:extLst>
              <a:ext uri="{FF2B5EF4-FFF2-40B4-BE49-F238E27FC236}">
                <a16:creationId xmlns:a16="http://schemas.microsoft.com/office/drawing/2014/main" id="{F402961C-50AB-4728-BA45-88D74D9083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24" b="36665"/>
          <a:stretch/>
        </p:blipFill>
        <p:spPr bwMode="auto">
          <a:xfrm>
            <a:off x="246308" y="6330300"/>
            <a:ext cx="1928125" cy="38725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2" descr="ModeloAvilés-1999 on Twitter: &quot;millón de personas. También, Adjunct  Associated Professor of Psychiatry en Columbia University (NY, USA). El Dr.  Baca disertará sobre El desafío de la digitalización en la asistencia en  Salud">
            <a:extLst>
              <a:ext uri="{FF2B5EF4-FFF2-40B4-BE49-F238E27FC236}">
                <a16:creationId xmlns:a16="http://schemas.microsoft.com/office/drawing/2014/main" id="{68203F7C-5135-4E47-9924-DB611A10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124" y="5080482"/>
            <a:ext cx="1149677" cy="117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oogle Shape;246;p11">
            <a:extLst>
              <a:ext uri="{FF2B5EF4-FFF2-40B4-BE49-F238E27FC236}">
                <a16:creationId xmlns:a16="http://schemas.microsoft.com/office/drawing/2014/main" id="{1FFB3FC2-95E6-498F-8415-621CAE3F28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1357" t="5359" r="809" b="3399"/>
          <a:stretch/>
        </p:blipFill>
        <p:spPr>
          <a:xfrm>
            <a:off x="8875488" y="5770811"/>
            <a:ext cx="3195945" cy="976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Picture 10" descr="Risultato immagini per I-LINK CSIC">
            <a:extLst>
              <a:ext uri="{FF2B5EF4-FFF2-40B4-BE49-F238E27FC236}">
                <a16:creationId xmlns:a16="http://schemas.microsoft.com/office/drawing/2014/main" id="{00FC947F-E51A-432F-97F5-9D01C9949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4042" y="5140273"/>
            <a:ext cx="1897391" cy="552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B571D6B6-3DBB-4E99-ABD9-2379E1C3B53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6" y="5262298"/>
            <a:ext cx="1503876" cy="430333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E701BB7-8748-44CE-9F9B-71CCDEDA3F3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7362" t="19104" r="17716" b="33007"/>
          <a:stretch/>
        </p:blipFill>
        <p:spPr>
          <a:xfrm>
            <a:off x="530177" y="1053056"/>
            <a:ext cx="5482956" cy="3033316"/>
          </a:xfrm>
          <a:prstGeom prst="rect">
            <a:avLst/>
          </a:prstGeom>
        </p:spPr>
      </p:pic>
      <p:pic>
        <p:nvPicPr>
          <p:cNvPr id="1026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8" t="-1" r="26655" b="43935"/>
          <a:stretch/>
        </p:blipFill>
        <p:spPr bwMode="auto">
          <a:xfrm>
            <a:off x="6849869" y="4030531"/>
            <a:ext cx="865142" cy="1153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083"/>
          <a:stretch/>
        </p:blipFill>
        <p:spPr bwMode="auto">
          <a:xfrm>
            <a:off x="7668145" y="4192672"/>
            <a:ext cx="2256897" cy="96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0" t="37411" r="22935" b="36829"/>
          <a:stretch/>
        </p:blipFill>
        <p:spPr>
          <a:xfrm>
            <a:off x="6575939" y="1016400"/>
            <a:ext cx="4599097" cy="3060937"/>
          </a:xfrm>
          <a:prstGeom prst="rect">
            <a:avLst/>
          </a:prstGeom>
        </p:spPr>
      </p:pic>
      <p:sp>
        <p:nvSpPr>
          <p:cNvPr id="4" name="CuadroTexto 3"/>
          <p:cNvSpPr txBox="1"/>
          <p:nvPr/>
        </p:nvSpPr>
        <p:spPr>
          <a:xfrm>
            <a:off x="2503504" y="5262298"/>
            <a:ext cx="5898186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 smtClean="0"/>
              <a:t>Espacio extra</a:t>
            </a:r>
          </a:p>
          <a:p>
            <a:endParaRPr lang="es-ES" dirty="0"/>
          </a:p>
          <a:p>
            <a:endParaRPr lang="es-ES" dirty="0" smtClean="0"/>
          </a:p>
          <a:p>
            <a:endParaRPr lang="es-E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51685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863</TotalTime>
  <Words>460</Words>
  <Application>Microsoft Office PowerPoint</Application>
  <PresentationFormat>Panorámica</PresentationFormat>
  <Paragraphs>147</Paragraphs>
  <Slides>14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Atypical handedness as a marker of altered brain lateralization: genetic and clinical study in bipolar disorder</vt:lpstr>
      <vt:lpstr>Bipolar disorder</vt:lpstr>
      <vt:lpstr>Handedness in neurodevelopmental/psychiatric disorders</vt:lpstr>
      <vt:lpstr>Handedness in general population</vt:lpstr>
      <vt:lpstr>Edinburgh Handedness Inventory</vt:lpstr>
      <vt:lpstr>Presentación de PowerPoint</vt:lpstr>
      <vt:lpstr>MadManic cohort</vt:lpstr>
      <vt:lpstr>Presentación de PowerPoint</vt:lpstr>
      <vt:lpstr>NRH in Spanish population</vt:lpstr>
      <vt:lpstr>Case-control handedness study</vt:lpstr>
      <vt:lpstr>Within BD</vt:lpstr>
      <vt:lpstr>PRS</vt:lpstr>
      <vt:lpstr>Discussion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CBM</cp:lastModifiedBy>
  <cp:revision>48</cp:revision>
  <dcterms:created xsi:type="dcterms:W3CDTF">2026-06-30T10:32:29Z</dcterms:created>
  <dcterms:modified xsi:type="dcterms:W3CDTF">2026-08-03T13:24:49Z</dcterms:modified>
</cp:coreProperties>
</file>