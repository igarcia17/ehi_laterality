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8" r:id="rId4"/>
    <p:sldId id="257" r:id="rId5"/>
    <p:sldId id="259" r:id="rId6"/>
    <p:sldId id="260" r:id="rId7"/>
    <p:sldId id="270" r:id="rId8"/>
    <p:sldId id="261" r:id="rId9"/>
    <p:sldId id="262" r:id="rId10"/>
    <p:sldId id="263" r:id="rId11"/>
    <p:sldId id="264" r:id="rId12"/>
    <p:sldId id="265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E3AF"/>
    <a:srgbClr val="FCC8C4"/>
    <a:srgbClr val="CCCCF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2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102" y="11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Reference EUR </a:t>
            </a:r>
            <a:r>
              <a:rPr lang="es-ES" dirty="0" err="1" smtClean="0"/>
              <a:t>estimates</a:t>
            </a:r>
            <a:r>
              <a:rPr lang="es-ES" dirty="0" smtClean="0"/>
              <a:t>: </a:t>
            </a:r>
            <a:r>
              <a:rPr lang="en-GB" dirty="0" err="1" smtClean="0"/>
              <a:t>Papadatou-Pastou</a:t>
            </a:r>
            <a:r>
              <a:rPr lang="en-GB" dirty="0" smtClean="0"/>
              <a:t> M, </a:t>
            </a:r>
            <a:r>
              <a:rPr lang="en-GB" dirty="0" err="1" smtClean="0"/>
              <a:t>Ntolka</a:t>
            </a:r>
            <a:r>
              <a:rPr lang="en-GB" dirty="0" smtClean="0"/>
              <a:t> E, Schmitz J, et al. Human handedness: A meta-analysis. Psychological Bulletin. 2020;146(6):481–524. doi:10.1037/bul0000229.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 err="1" smtClean="0"/>
              <a:t>The</a:t>
            </a:r>
            <a:r>
              <a:rPr lang="es-ES" dirty="0" smtClean="0"/>
              <a:t> </a:t>
            </a:r>
            <a:r>
              <a:rPr lang="es-ES" dirty="0" err="1" smtClean="0"/>
              <a:t>age</a:t>
            </a:r>
            <a:r>
              <a:rPr lang="es-ES" dirty="0" smtClean="0"/>
              <a:t> </a:t>
            </a:r>
            <a:r>
              <a:rPr lang="es-ES" dirty="0" err="1" smtClean="0"/>
              <a:t>differences</a:t>
            </a:r>
            <a:r>
              <a:rPr lang="es-ES" dirty="0" smtClean="0"/>
              <a:t> </a:t>
            </a:r>
            <a:r>
              <a:rPr lang="es-ES" dirty="0" err="1" smtClean="0"/>
              <a:t>point</a:t>
            </a:r>
            <a:r>
              <a:rPr lang="es-ES" dirty="0" smtClean="0"/>
              <a:t> to </a:t>
            </a:r>
            <a:r>
              <a:rPr lang="es-ES" dirty="0" err="1" smtClean="0"/>
              <a:t>the</a:t>
            </a:r>
            <a:r>
              <a:rPr lang="es-ES" dirty="0" smtClean="0"/>
              <a:t> </a:t>
            </a:r>
            <a:r>
              <a:rPr lang="es-ES" dirty="0" err="1" smtClean="0"/>
              <a:t>need</a:t>
            </a:r>
            <a:r>
              <a:rPr lang="es-ES" dirty="0" smtClean="0"/>
              <a:t> of </a:t>
            </a:r>
            <a:r>
              <a:rPr lang="es-ES" dirty="0" err="1" smtClean="0"/>
              <a:t>age</a:t>
            </a:r>
            <a:r>
              <a:rPr lang="es-ES" dirty="0" smtClean="0"/>
              <a:t>-match data to </a:t>
            </a:r>
            <a:r>
              <a:rPr lang="es-ES" dirty="0" err="1" smtClean="0"/>
              <a:t>study</a:t>
            </a:r>
            <a:r>
              <a:rPr lang="es-ES" dirty="0" smtClean="0"/>
              <a:t> </a:t>
            </a:r>
            <a:r>
              <a:rPr lang="es-ES" dirty="0" err="1" smtClean="0"/>
              <a:t>comparisons</a:t>
            </a:r>
            <a:r>
              <a:rPr lang="es-ES" dirty="0" smtClean="0"/>
              <a:t> </a:t>
            </a:r>
            <a:r>
              <a:rPr lang="es-ES" dirty="0" err="1" smtClean="0"/>
              <a:t>with</a:t>
            </a:r>
            <a:r>
              <a:rPr lang="es-ES" dirty="0" smtClean="0"/>
              <a:t> </a:t>
            </a:r>
            <a:r>
              <a:rPr lang="es-ES" dirty="0" err="1" smtClean="0"/>
              <a:t>other</a:t>
            </a:r>
            <a:r>
              <a:rPr lang="es-ES" dirty="0" smtClean="0"/>
              <a:t> </a:t>
            </a:r>
            <a:r>
              <a:rPr lang="es-ES" dirty="0" err="1" smtClean="0"/>
              <a:t>groups</a:t>
            </a:r>
            <a:r>
              <a:rPr lang="es-ES" dirty="0" smtClean="0"/>
              <a:t> (BD)</a:t>
            </a:r>
          </a:p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AF46-4ED5-4A87-8D9F-D0A79E912F4D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3" Type="http://schemas.openxmlformats.org/officeDocument/2006/relationships/image" Target="../media/image20.png"/><Relationship Id="rId7" Type="http://schemas.openxmlformats.org/officeDocument/2006/relationships/image" Target="../media/image24.jpg"/><Relationship Id="rId12" Type="http://schemas.openxmlformats.org/officeDocument/2006/relationships/image" Target="../media/image2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11" Type="http://schemas.openxmlformats.org/officeDocument/2006/relationships/image" Target="../media/image28.jpeg"/><Relationship Id="rId5" Type="http://schemas.openxmlformats.org/officeDocument/2006/relationships/image" Target="../media/image22.jpeg"/><Relationship Id="rId10" Type="http://schemas.openxmlformats.org/officeDocument/2006/relationships/image" Target="../media/image27.png"/><Relationship Id="rId4" Type="http://schemas.openxmlformats.org/officeDocument/2006/relationships/image" Target="../media/image21.jpeg"/><Relationship Id="rId9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Heritability: 80</a:t>
            </a:r>
            <a:r>
              <a:rPr lang="es-ES" sz="2000" b="1" dirty="0" smtClean="0">
                <a:solidFill>
                  <a:schemeClr val="tx1"/>
                </a:solidFill>
              </a:rPr>
              <a:t>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623623" y="4918645"/>
            <a:ext cx="250891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Schizophrenia </a:t>
            </a:r>
            <a:r>
              <a:rPr lang="es-ES" sz="2000" dirty="0"/>
              <a:t>(SCZ)</a:t>
            </a:r>
          </a:p>
          <a:p>
            <a:pPr algn="ctr"/>
            <a:r>
              <a:rPr lang="es-ES" sz="2000" dirty="0"/>
              <a:t>Left-</a:t>
            </a:r>
            <a:r>
              <a:rPr lang="en-US" sz="2000" noProof="0" dirty="0"/>
              <a:t>handed</a:t>
            </a:r>
            <a:r>
              <a:rPr lang="es-ES" sz="2000" dirty="0"/>
              <a:t>: ~20%</a:t>
            </a:r>
          </a:p>
          <a:p>
            <a:pPr algn="ctr"/>
            <a:r>
              <a:rPr lang="es-ES" sz="2000" dirty="0"/>
              <a:t>NRH: ~35%</a:t>
            </a:r>
            <a:r>
              <a:rPr lang="es-ES" sz="20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9067648" y="4273799"/>
            <a:ext cx="2447221" cy="7078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Bipolar disorder </a:t>
            </a:r>
            <a:r>
              <a:rPr lang="es-ES" sz="2000" dirty="0"/>
              <a:t>(BD)</a:t>
            </a:r>
          </a:p>
          <a:p>
            <a:pPr algn="ctr"/>
            <a:r>
              <a:rPr lang="es-ES" sz="20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9180170" y="3161344"/>
            <a:ext cx="2222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Depression</a:t>
            </a:r>
            <a:r>
              <a:rPr lang="es-ES" dirty="0"/>
              <a:t> (DEP)</a:t>
            </a:r>
          </a:p>
          <a:p>
            <a:pPr algn="ctr"/>
            <a:r>
              <a:rPr lang="es-ES" dirty="0"/>
              <a:t>NRH: 18</a:t>
            </a:r>
            <a:r>
              <a:rPr lang="es-ES" dirty="0" smtClean="0"/>
              <a:t>%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791436" y="3764137"/>
            <a:ext cx="2173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Autism </a:t>
            </a:r>
            <a:r>
              <a:rPr lang="es-ES" dirty="0"/>
              <a:t>(ASD)</a:t>
            </a:r>
          </a:p>
          <a:p>
            <a:pPr algn="ctr"/>
            <a:r>
              <a:rPr lang="es-ES" dirty="0"/>
              <a:t>NRH: ~35</a:t>
            </a:r>
            <a:r>
              <a:rPr lang="es-ES" dirty="0" smtClean="0"/>
              <a:t>%</a:t>
            </a:r>
            <a:r>
              <a:rPr lang="es-ES" b="1" dirty="0" smtClean="0"/>
              <a:t>**</a:t>
            </a:r>
            <a:endParaRPr lang="es-ES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927845" y="2923450"/>
            <a:ext cx="1900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ADHD</a:t>
            </a:r>
          </a:p>
          <a:p>
            <a:pPr algn="ctr"/>
            <a:r>
              <a:rPr lang="es-ES" dirty="0"/>
              <a:t>NRH: ~25%</a:t>
            </a:r>
            <a:r>
              <a:rPr lang="es-ES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990723" y="5241811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6111212" y="1746093"/>
            <a:ext cx="51511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&gt; NRH in disorders </a:t>
            </a:r>
            <a:r>
              <a:rPr lang="es-ES" sz="2400" b="1" dirty="0" err="1" smtClean="0"/>
              <a:t>with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early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age</a:t>
            </a:r>
            <a:r>
              <a:rPr lang="es-ES" sz="2400" b="1" dirty="0" smtClean="0"/>
              <a:t> of </a:t>
            </a:r>
            <a:r>
              <a:rPr lang="es-ES" sz="2400" b="1" dirty="0" err="1" smtClean="0"/>
              <a:t>onset</a:t>
            </a:r>
            <a:r>
              <a:rPr lang="es-ES" sz="2400" b="1" dirty="0" smtClean="0"/>
              <a:t> and more </a:t>
            </a:r>
            <a:r>
              <a:rPr lang="es-ES" sz="2400" b="1" dirty="0" err="1" smtClean="0"/>
              <a:t>prevalence</a:t>
            </a:r>
            <a:r>
              <a:rPr lang="es-ES" sz="2400" b="1" dirty="0" smtClean="0"/>
              <a:t> in males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574685" y="4422366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195568"/>
            <a:chOff x="5267325" y="5440659"/>
            <a:chExt cx="6697662" cy="1195568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5876638" y="6113007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9617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37347" y="5447849"/>
                <a:ext cx="327640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607914" y="6045541"/>
              <a:ext cx="268724" cy="329076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7666269" y="6045541"/>
              <a:ext cx="3936865" cy="402884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Imagen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902" y="148527"/>
            <a:ext cx="2105609" cy="2294635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339081" y="6234004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4810" y="2872486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9971415" y="2851021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242300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2423004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287214" y="529493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2024740"/>
            <a:ext cx="294759" cy="38942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Conector recto de flecha 17"/>
          <p:cNvCxnSpPr/>
          <p:nvPr/>
        </p:nvCxnSpPr>
        <p:spPr>
          <a:xfrm>
            <a:off x="10979173" y="3933771"/>
            <a:ext cx="17755" cy="131638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/>
          <p:cNvSpPr txBox="1"/>
          <p:nvPr/>
        </p:nvSpPr>
        <p:spPr>
          <a:xfrm>
            <a:off x="8172859" y="4164024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3" name="CuadroTexto 12"/>
          <p:cNvSpPr txBox="1"/>
          <p:nvPr/>
        </p:nvSpPr>
        <p:spPr>
          <a:xfrm>
            <a:off x="6723581" y="1120511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dirty="0"/>
              <a:t>P &lt;1E-16</a:t>
            </a:r>
            <a:endParaRPr lang="en-GB" sz="2400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680429" y="3471169"/>
            <a:ext cx="422709" cy="700923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5785114" y="981181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 err="1" smtClean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6039485" y="1635924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969628" y="4172092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9232777" y="3370775"/>
            <a:ext cx="2959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Age</a:t>
            </a:r>
            <a:r>
              <a:rPr lang="es-ES" dirty="0" smtClean="0"/>
              <a:t> </a:t>
            </a:r>
            <a:r>
              <a:rPr lang="es-ES" dirty="0" err="1" smtClean="0"/>
              <a:t>matching</a:t>
            </a:r>
            <a:r>
              <a:rPr lang="es-ES" dirty="0" smtClean="0"/>
              <a:t> </a:t>
            </a:r>
            <a:r>
              <a:rPr lang="es-ES" dirty="0" err="1" smtClean="0"/>
              <a:t>for</a:t>
            </a:r>
            <a:r>
              <a:rPr lang="es-ES" dirty="0" smtClean="0"/>
              <a:t> case-control </a:t>
            </a:r>
            <a:r>
              <a:rPr lang="es-ES" dirty="0" err="1" smtClean="0"/>
              <a:t>studies</a:t>
            </a:r>
            <a:endParaRPr lang="en-GB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602443" y="3139604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583933" y="1789063"/>
            <a:ext cx="1397410" cy="938143"/>
            <a:chOff x="10704056" y="1425775"/>
            <a:chExt cx="139741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C</a:t>
              </a:r>
              <a:r>
                <a:rPr lang="es-ES" dirty="0" smtClean="0"/>
                <a:t>ontrols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522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BD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487018" y="2890075"/>
            <a:ext cx="5040228" cy="3458828"/>
            <a:chOff x="248574" y="3692786"/>
            <a:chExt cx="4521865" cy="2865060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22729" b="30094"/>
            <a:stretch/>
          </p:blipFill>
          <p:spPr>
            <a:xfrm>
              <a:off x="248574" y="3692786"/>
              <a:ext cx="3172596" cy="28650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3421169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3421169" y="4605235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3489694" y="5298332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 smtClean="0"/>
                <a:t>Age</a:t>
              </a:r>
              <a:endParaRPr lang="es-ES" dirty="0" smtClean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3489694" y="5998257"/>
              <a:ext cx="1280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BD status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421193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Correlation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between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traits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614148" y="312070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8.4 %</a:t>
            </a:r>
          </a:p>
          <a:p>
            <a:pPr algn="ctr"/>
            <a:r>
              <a:rPr lang="es-ES" sz="3600" b="1" dirty="0" smtClean="0"/>
              <a:t>12.03 %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12851" y="2459025"/>
            <a:ext cx="1426142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23635" y="2493038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08015" y="3251337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77B4F48-3B87-95AD-AC32-86712AA4F8F5}"/>
              </a:ext>
            </a:extLst>
          </p:cNvPr>
          <p:cNvSpPr/>
          <p:nvPr/>
        </p:nvSpPr>
        <p:spPr>
          <a:xfrm>
            <a:off x="413159" y="3247919"/>
            <a:ext cx="708262" cy="480165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0647A86-F9FB-EDD9-6914-F239CCE77608}"/>
              </a:ext>
            </a:extLst>
          </p:cNvPr>
          <p:cNvSpPr txBox="1"/>
          <p:nvPr/>
        </p:nvSpPr>
        <p:spPr>
          <a:xfrm>
            <a:off x="350134" y="3197056"/>
            <a:ext cx="831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/>
              <a:t>Left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B36E3C5-B02C-6780-8E7A-F770EC47C2F9}"/>
              </a:ext>
            </a:extLst>
          </p:cNvPr>
          <p:cNvSpPr/>
          <p:nvPr/>
        </p:nvSpPr>
        <p:spPr>
          <a:xfrm>
            <a:off x="412750" y="3856023"/>
            <a:ext cx="1425810" cy="482042"/>
          </a:xfrm>
          <a:prstGeom prst="rect">
            <a:avLst/>
          </a:prstGeom>
          <a:solidFill>
            <a:srgbClr val="8AD5F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72B5177-3B13-D324-B9CF-09388954421C}"/>
              </a:ext>
            </a:extLst>
          </p:cNvPr>
          <p:cNvSpPr/>
          <p:nvPr/>
        </p:nvSpPr>
        <p:spPr>
          <a:xfrm>
            <a:off x="404281" y="3853218"/>
            <a:ext cx="1072850" cy="481430"/>
          </a:xfrm>
          <a:prstGeom prst="rect">
            <a:avLst/>
          </a:prstGeom>
          <a:solidFill>
            <a:srgbClr val="C397F3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0A64A56-EDE1-A6B9-09D0-0308D6867FE7}"/>
              </a:ext>
            </a:extLst>
          </p:cNvPr>
          <p:cNvSpPr txBox="1"/>
          <p:nvPr/>
        </p:nvSpPr>
        <p:spPr>
          <a:xfrm>
            <a:off x="332378" y="3801545"/>
            <a:ext cx="11171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3200" b="1"/>
            </a:lvl1pPr>
          </a:lstStyle>
          <a:p>
            <a:pPr algn="ctr"/>
            <a:r>
              <a:rPr lang="es-ES" dirty="0" smtClean="0"/>
              <a:t>NRH</a:t>
            </a:r>
            <a:endParaRPr lang="es-ES" dirty="0"/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70240" y="1286896"/>
            <a:ext cx="2348857" cy="182009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219146" y="2017385"/>
            <a:ext cx="3051046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1,480 controls</a:t>
            </a:r>
            <a:endParaRPr lang="en-GB" sz="3200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041" y="1305005"/>
            <a:ext cx="2194589" cy="1667108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6036" y="1329499"/>
            <a:ext cx="2038635" cy="1619476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6023000" y="2051426"/>
            <a:ext cx="2331112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857 </a:t>
            </a:r>
            <a:r>
              <a:rPr lang="es-ES" sz="3200" b="1" dirty="0" err="1" smtClean="0"/>
              <a:t>females</a:t>
            </a:r>
            <a:endParaRPr lang="en-GB" sz="32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9006412" y="2051426"/>
            <a:ext cx="2217885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623 males</a:t>
            </a:r>
            <a:endParaRPr lang="en-GB" sz="3200" b="1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096000" y="313727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6.65 %</a:t>
            </a:r>
          </a:p>
          <a:p>
            <a:pPr algn="ctr"/>
            <a:r>
              <a:rPr lang="es-ES" sz="3600" b="1" dirty="0" smtClean="0"/>
              <a:t>10.5 %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8962882" y="3137277"/>
            <a:ext cx="23049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8.83 %</a:t>
            </a:r>
          </a:p>
          <a:p>
            <a:pPr algn="ctr"/>
            <a:r>
              <a:rPr lang="es-ES" sz="3600" b="1" dirty="0" smtClean="0"/>
              <a:t>14.1 %</a:t>
            </a:r>
          </a:p>
        </p:txBody>
      </p:sp>
      <p:sp>
        <p:nvSpPr>
          <p:cNvPr id="28" name="Rectángulo redondeado 27"/>
          <p:cNvSpPr/>
          <p:nvPr/>
        </p:nvSpPr>
        <p:spPr>
          <a:xfrm>
            <a:off x="2006074" y="4415425"/>
            <a:ext cx="3391549" cy="216776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Lower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than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>
                <a:solidFill>
                  <a:schemeClr val="tx1"/>
                </a:solidFill>
              </a:rPr>
              <a:t>EUR </a:t>
            </a:r>
            <a:r>
              <a:rPr lang="es-ES" sz="2800" b="1" dirty="0" err="1" smtClean="0">
                <a:solidFill>
                  <a:schemeClr val="tx1"/>
                </a:solidFill>
              </a:rPr>
              <a:t>population</a:t>
            </a:r>
            <a:r>
              <a:rPr lang="es-ES" sz="2800" b="1" dirty="0" smtClean="0">
                <a:solidFill>
                  <a:schemeClr val="tx1"/>
                </a:solidFill>
              </a:rPr>
              <a:t> (10-11% </a:t>
            </a:r>
            <a:r>
              <a:rPr lang="es-ES" sz="2800" b="1" dirty="0" err="1" smtClean="0">
                <a:solidFill>
                  <a:schemeClr val="tx1"/>
                </a:solidFill>
              </a:rPr>
              <a:t>left-handers</a:t>
            </a:r>
            <a:r>
              <a:rPr lang="es-ES" sz="2800" b="1" dirty="0" smtClean="0">
                <a:solidFill>
                  <a:schemeClr val="tx1"/>
                </a:solidFill>
              </a:rPr>
              <a:t>, 18% NRH)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9" name="Rectángulo redondeado 28"/>
          <p:cNvSpPr/>
          <p:nvPr/>
        </p:nvSpPr>
        <p:spPr>
          <a:xfrm>
            <a:off x="5737160" y="4415425"/>
            <a:ext cx="5963610" cy="1002080"/>
          </a:xfrm>
          <a:prstGeom prst="roundRect">
            <a:avLst/>
          </a:prstGeom>
          <a:solidFill>
            <a:srgbClr val="E7E7FF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Expected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difference</a:t>
            </a:r>
            <a:endParaRPr lang="es-ES" sz="2800" b="1" dirty="0">
              <a:solidFill>
                <a:schemeClr val="tx1"/>
              </a:solidFill>
            </a:endParaRPr>
          </a:p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smtClean="0">
                <a:solidFill>
                  <a:schemeClr val="tx1"/>
                </a:solidFill>
              </a:rPr>
              <a:t>= 0.039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0" name="CuadroTexto 29"/>
          <p:cNvSpPr txBox="1"/>
          <p:nvPr/>
        </p:nvSpPr>
        <p:spPr>
          <a:xfrm>
            <a:off x="111801" y="4445540"/>
            <a:ext cx="1796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/>
              <a:t>NRH </a:t>
            </a:r>
            <a:r>
              <a:rPr lang="es-ES" dirty="0" err="1" smtClean="0"/>
              <a:t>cut</a:t>
            </a:r>
            <a:r>
              <a:rPr lang="es-ES" dirty="0" smtClean="0"/>
              <a:t>-off = 60</a:t>
            </a:r>
            <a:endParaRPr lang="en-GB" dirty="0"/>
          </a:p>
        </p:txBody>
      </p:sp>
      <p:sp>
        <p:nvSpPr>
          <p:cNvPr id="31" name="Rectángulo redondeado 30"/>
          <p:cNvSpPr/>
          <p:nvPr/>
        </p:nvSpPr>
        <p:spPr>
          <a:xfrm>
            <a:off x="5737159" y="5543788"/>
            <a:ext cx="5963610" cy="94488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Less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lateralization</a:t>
            </a:r>
            <a:r>
              <a:rPr lang="es-ES" sz="2800" b="1" dirty="0" smtClean="0">
                <a:solidFill>
                  <a:schemeClr val="tx1"/>
                </a:solidFill>
              </a:rPr>
              <a:t> in </a:t>
            </a:r>
            <a:r>
              <a:rPr lang="es-ES" sz="2800" b="1" dirty="0" err="1" smtClean="0">
                <a:solidFill>
                  <a:schemeClr val="tx1"/>
                </a:solidFill>
              </a:rPr>
              <a:t>younger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individuals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2" name="Rectángulo redondeado 31"/>
          <p:cNvSpPr/>
          <p:nvPr/>
        </p:nvSpPr>
        <p:spPr>
          <a:xfrm>
            <a:off x="97654" y="967666"/>
            <a:ext cx="11603115" cy="3434043"/>
          </a:xfrm>
          <a:prstGeom prst="roundRect">
            <a:avLst>
              <a:gd name="adj" fmla="val 60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ángulo redondeado 32"/>
          <p:cNvSpPr/>
          <p:nvPr/>
        </p:nvSpPr>
        <p:spPr>
          <a:xfrm>
            <a:off x="2006074" y="967666"/>
            <a:ext cx="3391549" cy="5601810"/>
          </a:xfrm>
          <a:prstGeom prst="roundRect">
            <a:avLst>
              <a:gd name="adj" fmla="val 10123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ángulo redondeado 33"/>
          <p:cNvSpPr/>
          <p:nvPr/>
        </p:nvSpPr>
        <p:spPr>
          <a:xfrm>
            <a:off x="5737159" y="967666"/>
            <a:ext cx="5963610" cy="4449839"/>
          </a:xfrm>
          <a:prstGeom prst="roundRect">
            <a:avLst>
              <a:gd name="adj" fmla="val 3952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4474" y="1515957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1399805" y="3428486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1314233" y="2798246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1348111" y="4665311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4448408" y="2534487"/>
            <a:ext cx="6296042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400" dirty="0" smtClean="0"/>
              <a:t>No </a:t>
            </a:r>
            <a:r>
              <a:rPr lang="es-ES" sz="2400" dirty="0" err="1" smtClean="0"/>
              <a:t>differences</a:t>
            </a:r>
            <a:r>
              <a:rPr lang="es-ES" sz="2400" dirty="0" smtClean="0"/>
              <a:t> in </a:t>
            </a:r>
            <a:r>
              <a:rPr lang="es-ES" sz="2400" dirty="0" err="1" smtClean="0"/>
              <a:t>left-hand</a:t>
            </a:r>
            <a:r>
              <a:rPr lang="es-ES" sz="2400" dirty="0" smtClean="0"/>
              <a:t> </a:t>
            </a:r>
            <a:r>
              <a:rPr lang="es-ES" sz="2400" dirty="0" err="1" smtClean="0"/>
              <a:t>prevalence</a:t>
            </a:r>
            <a:r>
              <a:rPr lang="es-ES" sz="2400" dirty="0" smtClean="0"/>
              <a:t> </a:t>
            </a:r>
            <a:r>
              <a:rPr lang="es-ES" sz="2400" dirty="0" err="1" smtClean="0"/>
              <a:t>or</a:t>
            </a:r>
            <a:r>
              <a:rPr lang="es-ES" sz="2400" dirty="0" smtClean="0"/>
              <a:t> NRH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400" u="sng" dirty="0" err="1" smtClean="0"/>
              <a:t>Subtle</a:t>
            </a:r>
            <a:r>
              <a:rPr lang="es-ES" sz="2400" u="sng" dirty="0" smtClean="0"/>
              <a:t> </a:t>
            </a:r>
            <a:r>
              <a:rPr lang="es-ES" sz="2400" u="sng" dirty="0" err="1" smtClean="0"/>
              <a:t>increase</a:t>
            </a:r>
            <a:r>
              <a:rPr lang="es-ES" sz="2400" u="sng" dirty="0" smtClean="0"/>
              <a:t> in </a:t>
            </a:r>
            <a:r>
              <a:rPr lang="es-ES" sz="2400" u="sng" dirty="0" err="1" smtClean="0"/>
              <a:t>mixed-hand</a:t>
            </a:r>
            <a:r>
              <a:rPr lang="es-ES" sz="2400" u="sng" dirty="0" smtClean="0"/>
              <a:t> use </a:t>
            </a:r>
            <a:r>
              <a:rPr lang="es-ES" sz="2400" dirty="0" smtClean="0"/>
              <a:t>(</a:t>
            </a:r>
            <a:r>
              <a:rPr lang="es-ES" sz="2400" i="1" dirty="0" smtClean="0"/>
              <a:t>P</a:t>
            </a:r>
            <a:r>
              <a:rPr lang="es-ES" sz="2400" dirty="0" smtClean="0"/>
              <a:t> = 0.02)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400" dirty="0" err="1" smtClean="0"/>
              <a:t>Greater</a:t>
            </a:r>
            <a:r>
              <a:rPr lang="es-ES" sz="2400" dirty="0" smtClean="0"/>
              <a:t> </a:t>
            </a:r>
            <a:r>
              <a:rPr lang="es-ES" sz="2400" dirty="0" err="1" smtClean="0"/>
              <a:t>preference</a:t>
            </a:r>
            <a:r>
              <a:rPr lang="es-ES" sz="2400" dirty="0" smtClean="0"/>
              <a:t> </a:t>
            </a:r>
            <a:r>
              <a:rPr lang="es-ES" sz="2400" dirty="0" err="1" smtClean="0"/>
              <a:t>for</a:t>
            </a:r>
            <a:r>
              <a:rPr lang="es-ES" sz="2400" dirty="0" smtClean="0"/>
              <a:t> </a:t>
            </a:r>
            <a:r>
              <a:rPr lang="es-ES" sz="2400" dirty="0" err="1" smtClean="0"/>
              <a:t>left</a:t>
            </a:r>
            <a:r>
              <a:rPr lang="es-ES" sz="2400" dirty="0" smtClean="0"/>
              <a:t> </a:t>
            </a:r>
            <a:r>
              <a:rPr lang="es-ES" sz="2400" dirty="0" err="1" smtClean="0"/>
              <a:t>eye</a:t>
            </a:r>
            <a:r>
              <a:rPr lang="es-ES" sz="2400" dirty="0"/>
              <a:t> </a:t>
            </a:r>
            <a:r>
              <a:rPr lang="es-ES" sz="2400" dirty="0" smtClean="0"/>
              <a:t>and </a:t>
            </a:r>
            <a:r>
              <a:rPr lang="es-ES" sz="2400" dirty="0" err="1" smtClean="0"/>
              <a:t>foot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73710" y="1"/>
            <a:ext cx="10515600" cy="875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Differences</a:t>
            </a:r>
            <a:r>
              <a:rPr lang="es-ES" b="1" dirty="0" smtClean="0"/>
              <a:t> in </a:t>
            </a:r>
            <a:r>
              <a:rPr lang="es-ES" b="1" dirty="0" err="1" smtClean="0"/>
              <a:t>hand</a:t>
            </a:r>
            <a:r>
              <a:rPr lang="es-ES" b="1" dirty="0" smtClean="0"/>
              <a:t> use </a:t>
            </a:r>
            <a:r>
              <a:rPr lang="es-ES" b="1" dirty="0" err="1" smtClean="0"/>
              <a:t>within</a:t>
            </a:r>
            <a:r>
              <a:rPr lang="es-ES" b="1" dirty="0" smtClean="0"/>
              <a:t> BD </a:t>
            </a:r>
            <a:r>
              <a:rPr lang="es-ES" b="1" dirty="0" err="1" smtClean="0"/>
              <a:t>patients</a:t>
            </a:r>
            <a:endParaRPr lang="en-GB" b="1" dirty="0"/>
          </a:p>
        </p:txBody>
      </p:sp>
      <p:pic>
        <p:nvPicPr>
          <p:cNvPr id="3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37374" y="2563277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/>
          <p:cNvSpPr txBox="1"/>
          <p:nvPr/>
        </p:nvSpPr>
        <p:spPr>
          <a:xfrm>
            <a:off x="133132" y="3821600"/>
            <a:ext cx="199989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sp>
        <p:nvSpPr>
          <p:cNvPr id="5" name="Rectángulo redondeado 4"/>
          <p:cNvSpPr/>
          <p:nvPr/>
        </p:nvSpPr>
        <p:spPr>
          <a:xfrm>
            <a:off x="2269257" y="906736"/>
            <a:ext cx="9001957" cy="661867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No </a:t>
            </a:r>
            <a:r>
              <a:rPr lang="es-ES" sz="2400" b="1" dirty="0" err="1" smtClean="0">
                <a:solidFill>
                  <a:schemeClr val="tx1"/>
                </a:solidFill>
              </a:rPr>
              <a:t>differences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between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females</a:t>
            </a:r>
            <a:r>
              <a:rPr lang="es-ES" sz="2400" b="1" dirty="0" smtClean="0">
                <a:solidFill>
                  <a:schemeClr val="tx1"/>
                </a:solidFill>
              </a:rPr>
              <a:t> and males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6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9670" t="6455" b="52035"/>
          <a:stretch/>
        </p:blipFill>
        <p:spPr>
          <a:xfrm>
            <a:off x="3894618" y="1926219"/>
            <a:ext cx="1503671" cy="19151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2133030" y="2244614"/>
            <a:ext cx="20860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WHODAS</a:t>
            </a:r>
          </a:p>
          <a:p>
            <a:pPr algn="ctr"/>
            <a:r>
              <a:rPr lang="es-ES" sz="2000" dirty="0"/>
              <a:t>WHO Disability Assessment Schedule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8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8558" t="6859" r="-1" b="47050"/>
          <a:stretch>
            <a:fillRect/>
          </a:stretch>
        </p:blipFill>
        <p:spPr>
          <a:xfrm>
            <a:off x="3928180" y="4291010"/>
            <a:ext cx="1665701" cy="197189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2269257" y="4461348"/>
            <a:ext cx="18135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GAF</a:t>
            </a:r>
          </a:p>
          <a:p>
            <a:pPr algn="ctr"/>
            <a:r>
              <a:rPr lang="es-ES" sz="2000" dirty="0"/>
              <a:t>Global Assessment of Functioning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373" t="6682" b="51538"/>
          <a:stretch/>
        </p:blipFill>
        <p:spPr>
          <a:xfrm>
            <a:off x="7259430" y="1960714"/>
            <a:ext cx="1813559" cy="188060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5519800" y="2245738"/>
            <a:ext cx="18135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INES</a:t>
            </a:r>
          </a:p>
          <a:p>
            <a:pPr algn="ctr"/>
            <a:r>
              <a:rPr lang="es-ES" sz="2000" dirty="0"/>
              <a:t>Index of Number of Events and Severity</a:t>
            </a:r>
          </a:p>
          <a:p>
            <a:pPr algn="ctr"/>
            <a:r>
              <a:rPr lang="es-ES" sz="2000" b="1" i="1" dirty="0" smtClean="0"/>
              <a:t>P=0.016**</a:t>
            </a:r>
            <a:endParaRPr lang="es-ES" sz="2000" b="1" i="1" dirty="0"/>
          </a:p>
        </p:txBody>
      </p:sp>
      <p:pic>
        <p:nvPicPr>
          <p:cNvPr id="12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7333" t="6781" b="50731"/>
          <a:stretch/>
        </p:blipFill>
        <p:spPr>
          <a:xfrm>
            <a:off x="7315763" y="4338008"/>
            <a:ext cx="1665701" cy="190361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5660564" y="4457807"/>
            <a:ext cx="155583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CGI</a:t>
            </a:r>
          </a:p>
          <a:p>
            <a:pPr algn="ctr"/>
            <a:r>
              <a:rPr lang="es-ES" sz="2000" dirty="0"/>
              <a:t>Clinical Global Impression</a:t>
            </a:r>
          </a:p>
          <a:p>
            <a:pPr algn="ctr"/>
            <a:r>
              <a:rPr lang="es-ES" sz="2000" b="1" i="1" dirty="0" smtClean="0"/>
              <a:t>P=0.04</a:t>
            </a:r>
            <a:endParaRPr lang="es-ES" sz="2000" b="1" i="1" dirty="0"/>
          </a:p>
        </p:txBody>
      </p:sp>
      <p:sp>
        <p:nvSpPr>
          <p:cNvPr id="24" name="Rectángulo redondeado 23"/>
          <p:cNvSpPr/>
          <p:nvPr/>
        </p:nvSpPr>
        <p:spPr>
          <a:xfrm>
            <a:off x="9098249" y="2639952"/>
            <a:ext cx="2076713" cy="3899327"/>
          </a:xfrm>
          <a:prstGeom prst="roundRect">
            <a:avLst>
              <a:gd name="adj" fmla="val 0"/>
            </a:avLst>
          </a:prstGeom>
          <a:noFill/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NRH, and </a:t>
            </a:r>
            <a:r>
              <a:rPr lang="es-ES" sz="2400" b="1" dirty="0" err="1" smtClean="0">
                <a:solidFill>
                  <a:schemeClr val="tx1"/>
                </a:solidFill>
              </a:rPr>
              <a:t>specifically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u="sng" dirty="0" err="1" smtClean="0">
                <a:solidFill>
                  <a:schemeClr val="tx1"/>
                </a:solidFill>
              </a:rPr>
              <a:t>mixed-users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individuals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presented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significantly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higher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severity</a:t>
            </a:r>
            <a:r>
              <a:rPr lang="es-ES" sz="2400" b="1" dirty="0" smtClean="0">
                <a:solidFill>
                  <a:schemeClr val="tx1"/>
                </a:solidFill>
              </a:rPr>
              <a:t> scores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25" name="Rectángulo redondeado 24"/>
          <p:cNvSpPr/>
          <p:nvPr/>
        </p:nvSpPr>
        <p:spPr>
          <a:xfrm>
            <a:off x="2269257" y="1688695"/>
            <a:ext cx="9001957" cy="4850584"/>
          </a:xfrm>
          <a:prstGeom prst="roundRect">
            <a:avLst>
              <a:gd name="adj" fmla="val 4954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43" name="Grupo 42"/>
          <p:cNvGrpSpPr/>
          <p:nvPr/>
        </p:nvGrpSpPr>
        <p:grpSpPr>
          <a:xfrm>
            <a:off x="9558562" y="1926219"/>
            <a:ext cx="1773407" cy="1015663"/>
            <a:chOff x="873710" y="4139739"/>
            <a:chExt cx="1773407" cy="1015663"/>
          </a:xfrm>
        </p:grpSpPr>
        <p:sp>
          <p:nvSpPr>
            <p:cNvPr id="39" name="Rectángulo 38"/>
            <p:cNvSpPr/>
            <p:nvPr/>
          </p:nvSpPr>
          <p:spPr>
            <a:xfrm>
              <a:off x="873710" y="4139739"/>
              <a:ext cx="269290" cy="292135"/>
            </a:xfrm>
            <a:prstGeom prst="rect">
              <a:avLst/>
            </a:prstGeom>
            <a:solidFill>
              <a:srgbClr val="FCC8C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ángulo 39"/>
            <p:cNvSpPr/>
            <p:nvPr/>
          </p:nvSpPr>
          <p:spPr>
            <a:xfrm>
              <a:off x="873710" y="4496606"/>
              <a:ext cx="269290" cy="292135"/>
            </a:xfrm>
            <a:prstGeom prst="rect">
              <a:avLst/>
            </a:prstGeom>
            <a:solidFill>
              <a:srgbClr val="99E3A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ángulo 40"/>
            <p:cNvSpPr/>
            <p:nvPr/>
          </p:nvSpPr>
          <p:spPr>
            <a:xfrm>
              <a:off x="873710" y="4853473"/>
              <a:ext cx="269290" cy="2921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CuadroTexto 41"/>
            <p:cNvSpPr txBox="1"/>
            <p:nvPr/>
          </p:nvSpPr>
          <p:spPr>
            <a:xfrm>
              <a:off x="1273628" y="4139739"/>
              <a:ext cx="137348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000" dirty="0" err="1" smtClean="0"/>
                <a:t>Left</a:t>
              </a:r>
              <a:endParaRPr lang="es-ES" sz="2000" dirty="0" smtClean="0"/>
            </a:p>
            <a:p>
              <a:r>
                <a:rPr lang="es-ES" sz="2000" dirty="0" err="1" smtClean="0"/>
                <a:t>Mixed</a:t>
              </a:r>
              <a:endParaRPr lang="es-ES" sz="2000" dirty="0" smtClean="0"/>
            </a:p>
            <a:p>
              <a:r>
                <a:rPr lang="es-ES" sz="2000" dirty="0" err="1" smtClean="0"/>
                <a:t>Right</a:t>
              </a:r>
              <a:endParaRPr lang="en-GB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Polygenic</a:t>
            </a:r>
            <a:r>
              <a:rPr lang="es-ES" b="1" dirty="0" smtClean="0"/>
              <a:t> </a:t>
            </a:r>
            <a:r>
              <a:rPr lang="es-ES" b="1" dirty="0" err="1" smtClean="0"/>
              <a:t>Risk</a:t>
            </a:r>
            <a:r>
              <a:rPr lang="es-ES" b="1" dirty="0" smtClean="0"/>
              <a:t> Score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8104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Discussion</a:t>
            </a:r>
            <a:endParaRPr lang="en-GB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982237" y="4070763"/>
            <a:ext cx="3841298" cy="903751"/>
            <a:chOff x="302284" y="5040495"/>
            <a:chExt cx="2777258" cy="689375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849" y="5074732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124" y="5080482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4042" y="5140273"/>
            <a:ext cx="1897391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6" y="5262298"/>
            <a:ext cx="1503876" cy="43033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30177" y="1053056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030531"/>
            <a:ext cx="865142" cy="1153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668145" y="4192672"/>
            <a:ext cx="2256897" cy="96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575939" y="1016400"/>
            <a:ext cx="4599097" cy="3060937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2503504" y="5262298"/>
            <a:ext cx="5898186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 smtClean="0"/>
              <a:t>Espacio extra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498</Words>
  <Application>Microsoft Office PowerPoint</Application>
  <PresentationFormat>Panorámica</PresentationFormat>
  <Paragraphs>149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de Office</vt:lpstr>
      <vt:lpstr>Atypical handedness as a marker of altered brain lateralization: genetic and clinical study in bipolar disorder</vt:lpstr>
      <vt:lpstr>Bipolar disorder</vt:lpstr>
      <vt:lpstr>Handedness in neurodevelopmental/psychiatric disorders</vt:lpstr>
      <vt:lpstr>Handedness in general population</vt:lpstr>
      <vt:lpstr>Edinburgh Handedness Inventory</vt:lpstr>
      <vt:lpstr>MadManic cohort</vt:lpstr>
      <vt:lpstr>Presentación de PowerPoint</vt:lpstr>
      <vt:lpstr>NRH in Spanish population</vt:lpstr>
      <vt:lpstr>Case-control handedness study</vt:lpstr>
      <vt:lpstr>Differences in hand use within BD patients</vt:lpstr>
      <vt:lpstr>Polygenic Risk Score</vt:lpstr>
      <vt:lpstr>Discussion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59</cp:revision>
  <dcterms:created xsi:type="dcterms:W3CDTF">2026-06-30T10:32:29Z</dcterms:created>
  <dcterms:modified xsi:type="dcterms:W3CDTF">2026-08-06T11:38:05Z</dcterms:modified>
</cp:coreProperties>
</file>