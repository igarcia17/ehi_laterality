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67" r:id="rId3"/>
    <p:sldId id="274" r:id="rId4"/>
    <p:sldId id="257" r:id="rId5"/>
    <p:sldId id="275" r:id="rId6"/>
    <p:sldId id="258" r:id="rId7"/>
    <p:sldId id="260" r:id="rId8"/>
    <p:sldId id="259" r:id="rId9"/>
    <p:sldId id="270" r:id="rId10"/>
    <p:sldId id="261" r:id="rId11"/>
    <p:sldId id="262" r:id="rId12"/>
    <p:sldId id="278" r:id="rId13"/>
    <p:sldId id="277" r:id="rId14"/>
    <p:sldId id="263" r:id="rId15"/>
    <p:sldId id="276" r:id="rId16"/>
    <p:sldId id="264" r:id="rId17"/>
    <p:sldId id="280" r:id="rId18"/>
    <p:sldId id="281" r:id="rId19"/>
    <p:sldId id="265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E3AF"/>
    <a:srgbClr val="FCC8C4"/>
    <a:srgbClr val="E94999"/>
    <a:srgbClr val="CCCCFF"/>
    <a:srgbClr val="E7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82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102" y="11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CCF0CF-D9EE-4002-865B-7B47988BC41D}" type="doc">
      <dgm:prSet loTypeId="urn:microsoft.com/office/officeart/2005/8/layout/vList2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s-ES"/>
        </a:p>
      </dgm:t>
    </dgm:pt>
    <dgm:pt modelId="{038A4985-DD4B-4EFF-97CD-D00D3F71F521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 smtClean="0"/>
            <a:t>Handedness</a:t>
          </a:r>
          <a:r>
            <a:rPr lang="es-ES" b="1" dirty="0" smtClean="0"/>
            <a:t> </a:t>
          </a:r>
          <a:r>
            <a:rPr lang="es-ES" b="1" dirty="0" err="1" smtClean="0"/>
            <a:t>differences</a:t>
          </a:r>
          <a:r>
            <a:rPr lang="es-ES" b="1" dirty="0" smtClean="0"/>
            <a:t> </a:t>
          </a:r>
          <a:r>
            <a:rPr lang="es-ES" b="1" dirty="0" err="1" smtClean="0"/>
            <a:t>between</a:t>
          </a:r>
          <a:r>
            <a:rPr lang="es-ES" b="1" dirty="0" smtClean="0"/>
            <a:t> BD and </a:t>
          </a:r>
          <a:r>
            <a:rPr lang="es-ES" b="1" dirty="0" err="1" smtClean="0"/>
            <a:t>controls</a:t>
          </a:r>
          <a:r>
            <a:rPr lang="es-ES" b="1" dirty="0" smtClean="0"/>
            <a:t> </a:t>
          </a:r>
          <a:r>
            <a:rPr lang="es-ES" b="1" dirty="0" smtClean="0"/>
            <a:t>are </a:t>
          </a:r>
          <a:r>
            <a:rPr lang="es-ES" b="1" dirty="0" err="1" smtClean="0"/>
            <a:t>subtle</a:t>
          </a:r>
          <a:endParaRPr lang="es-ES" b="1" dirty="0"/>
        </a:p>
      </dgm:t>
    </dgm:pt>
    <dgm:pt modelId="{2701FAE0-6720-4899-AD99-6E9BED6C7995}" type="par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98584E70-9FF9-4D48-B9E8-ED0A48E9B74E}" type="sib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4E94AFD-8536-4967-9B47-CF008682C1B6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 smtClean="0"/>
            <a:t>Mixed-hand</a:t>
          </a:r>
          <a:r>
            <a:rPr lang="es-ES" b="1" dirty="0" smtClean="0"/>
            <a:t> BD </a:t>
          </a:r>
          <a:r>
            <a:rPr lang="es-ES" b="1" dirty="0" err="1" smtClean="0"/>
            <a:t>patients</a:t>
          </a:r>
          <a:r>
            <a:rPr lang="es-ES" b="1" dirty="0" smtClean="0"/>
            <a:t> </a:t>
          </a:r>
          <a:r>
            <a:rPr lang="es-ES" b="1" dirty="0" err="1" smtClean="0"/>
            <a:t>present</a:t>
          </a:r>
          <a:r>
            <a:rPr lang="es-ES" b="1" dirty="0" smtClean="0"/>
            <a:t> </a:t>
          </a:r>
          <a:r>
            <a:rPr lang="es-ES" b="1" dirty="0" err="1" smtClean="0"/>
            <a:t>higher</a:t>
          </a:r>
          <a:r>
            <a:rPr lang="es-ES" b="1" dirty="0" smtClean="0"/>
            <a:t> </a:t>
          </a:r>
          <a:r>
            <a:rPr lang="es-ES" b="1" dirty="0" err="1" smtClean="0"/>
            <a:t>severity</a:t>
          </a:r>
          <a:endParaRPr lang="es-ES" b="1" dirty="0"/>
        </a:p>
      </dgm:t>
    </dgm:pt>
    <dgm:pt modelId="{01B79F96-F2BD-49D2-8BD5-D9D98659AD9F}" type="par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F2777B79-4CC5-4907-B713-3746EDE642E7}" type="sib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0C2C703D-9702-4200-9F0E-7EB0B757BBFD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 smtClean="0"/>
            <a:t>Left-handed</a:t>
          </a:r>
          <a:r>
            <a:rPr lang="es-ES" b="1" dirty="0" smtClean="0"/>
            <a:t> BD </a:t>
          </a:r>
          <a:r>
            <a:rPr lang="es-ES" b="1" dirty="0" err="1" smtClean="0"/>
            <a:t>patients</a:t>
          </a:r>
          <a:r>
            <a:rPr lang="es-ES" b="1" dirty="0" smtClean="0"/>
            <a:t> </a:t>
          </a:r>
          <a:r>
            <a:rPr lang="es-ES" b="1" dirty="0" err="1" smtClean="0"/>
            <a:t>present</a:t>
          </a:r>
          <a:r>
            <a:rPr lang="es-ES" b="1" dirty="0" smtClean="0"/>
            <a:t> </a:t>
          </a:r>
          <a:r>
            <a:rPr lang="es-ES" b="1" dirty="0" err="1" smtClean="0"/>
            <a:t>lower</a:t>
          </a:r>
          <a:r>
            <a:rPr lang="es-ES" b="1" dirty="0" smtClean="0"/>
            <a:t> </a:t>
          </a:r>
          <a:r>
            <a:rPr lang="es-ES" b="1" dirty="0" err="1" smtClean="0"/>
            <a:t>polygenic</a:t>
          </a:r>
          <a:r>
            <a:rPr lang="es-ES" b="1" dirty="0" smtClean="0"/>
            <a:t> </a:t>
          </a:r>
          <a:r>
            <a:rPr lang="es-ES" b="1" dirty="0" err="1" smtClean="0"/>
            <a:t>liability</a:t>
          </a:r>
          <a:r>
            <a:rPr lang="es-ES" b="1" dirty="0" smtClean="0"/>
            <a:t> </a:t>
          </a:r>
          <a:r>
            <a:rPr lang="es-ES" b="1" dirty="0" err="1" smtClean="0"/>
            <a:t>for</a:t>
          </a:r>
          <a:r>
            <a:rPr lang="es-ES" b="1" dirty="0" smtClean="0"/>
            <a:t> BD</a:t>
          </a:r>
          <a:endParaRPr lang="es-ES" b="1" dirty="0"/>
        </a:p>
      </dgm:t>
    </dgm:pt>
    <dgm:pt modelId="{9354A89E-BD41-45C7-B01C-E6CFDAA00054}" type="par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D588980-41C0-4591-B844-E38C975EC639}" type="sib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B4B1D5F2-292C-4B3E-8F85-CC41B41C12E4}" type="pres">
      <dgm:prSet presAssocID="{26CCF0CF-D9EE-4002-865B-7B47988BC41D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23A9201D-7A39-424E-9F89-76D306C379D9}" type="pres">
      <dgm:prSet presAssocID="{038A4985-DD4B-4EFF-97CD-D00D3F71F521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5E9B594-253F-476C-9710-DA98BFCF895C}" type="pres">
      <dgm:prSet presAssocID="{98584E70-9FF9-4D48-B9E8-ED0A48E9B74E}" presName="spacer" presStyleCnt="0"/>
      <dgm:spPr/>
    </dgm:pt>
    <dgm:pt modelId="{4551E88F-15DD-4F15-8CC7-6380587AD5D7}" type="pres">
      <dgm:prSet presAssocID="{44E94AFD-8536-4967-9B47-CF008682C1B6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9A7896E7-DCD7-4BBB-8F4C-C96ED20C64C7}" type="pres">
      <dgm:prSet presAssocID="{F2777B79-4CC5-4907-B713-3746EDE642E7}" presName="spacer" presStyleCnt="0"/>
      <dgm:spPr/>
    </dgm:pt>
    <dgm:pt modelId="{3D86D8CC-FC8B-46CF-BEC6-0D0CA33849DD}" type="pres">
      <dgm:prSet presAssocID="{0C2C703D-9702-4200-9F0E-7EB0B757BBFD}" presName="parentText" presStyleLbl="node1" presStyleIdx="2" presStyleCnt="3" custLinFactNeighborX="-84" custLinFactNeighborY="11416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143AF04C-3D81-42C2-9E04-B0B57A32C30B}" srcId="{26CCF0CF-D9EE-4002-865B-7B47988BC41D}" destId="{44E94AFD-8536-4967-9B47-CF008682C1B6}" srcOrd="1" destOrd="0" parTransId="{01B79F96-F2BD-49D2-8BD5-D9D98659AD9F}" sibTransId="{F2777B79-4CC5-4907-B713-3746EDE642E7}"/>
    <dgm:cxn modelId="{E6CCB7F3-64D6-432F-A8E6-055488814BA0}" srcId="{26CCF0CF-D9EE-4002-865B-7B47988BC41D}" destId="{038A4985-DD4B-4EFF-97CD-D00D3F71F521}" srcOrd="0" destOrd="0" parTransId="{2701FAE0-6720-4899-AD99-6E9BED6C7995}" sibTransId="{98584E70-9FF9-4D48-B9E8-ED0A48E9B74E}"/>
    <dgm:cxn modelId="{5A612E8D-ACB5-468C-BFB5-49B71D70367B}" type="presOf" srcId="{038A4985-DD4B-4EFF-97CD-D00D3F71F521}" destId="{23A9201D-7A39-424E-9F89-76D306C379D9}" srcOrd="0" destOrd="0" presId="urn:microsoft.com/office/officeart/2005/8/layout/vList2"/>
    <dgm:cxn modelId="{7893E806-FA6F-459D-8960-AC8BFA8A3FEC}" type="presOf" srcId="{26CCF0CF-D9EE-4002-865B-7B47988BC41D}" destId="{B4B1D5F2-292C-4B3E-8F85-CC41B41C12E4}" srcOrd="0" destOrd="0" presId="urn:microsoft.com/office/officeart/2005/8/layout/vList2"/>
    <dgm:cxn modelId="{C507E4F2-E9FD-4DC3-A78B-B6DD7B1100D9}" type="presOf" srcId="{0C2C703D-9702-4200-9F0E-7EB0B757BBFD}" destId="{3D86D8CC-FC8B-46CF-BEC6-0D0CA33849DD}" srcOrd="0" destOrd="0" presId="urn:microsoft.com/office/officeart/2005/8/layout/vList2"/>
    <dgm:cxn modelId="{5CF592BB-88BA-4AE6-882A-5B932A850575}" type="presOf" srcId="{44E94AFD-8536-4967-9B47-CF008682C1B6}" destId="{4551E88F-15DD-4F15-8CC7-6380587AD5D7}" srcOrd="0" destOrd="0" presId="urn:microsoft.com/office/officeart/2005/8/layout/vList2"/>
    <dgm:cxn modelId="{67BA2FA5-6585-43F2-A5D7-CF05DC89D6CA}" srcId="{26CCF0CF-D9EE-4002-865B-7B47988BC41D}" destId="{0C2C703D-9702-4200-9F0E-7EB0B757BBFD}" srcOrd="2" destOrd="0" parTransId="{9354A89E-BD41-45C7-B01C-E6CFDAA00054}" sibTransId="{4D588980-41C0-4591-B844-E38C975EC639}"/>
    <dgm:cxn modelId="{9ABAC53B-1BDC-40F0-8E8D-B090F4D009E7}" type="presParOf" srcId="{B4B1D5F2-292C-4B3E-8F85-CC41B41C12E4}" destId="{23A9201D-7A39-424E-9F89-76D306C379D9}" srcOrd="0" destOrd="0" presId="urn:microsoft.com/office/officeart/2005/8/layout/vList2"/>
    <dgm:cxn modelId="{8832E19E-AAAA-4A68-A017-82AAB67A9DB7}" type="presParOf" srcId="{B4B1D5F2-292C-4B3E-8F85-CC41B41C12E4}" destId="{75E9B594-253F-476C-9710-DA98BFCF895C}" srcOrd="1" destOrd="0" presId="urn:microsoft.com/office/officeart/2005/8/layout/vList2"/>
    <dgm:cxn modelId="{FDDED71F-73B7-4B4C-A2A2-12A6189ED660}" type="presParOf" srcId="{B4B1D5F2-292C-4B3E-8F85-CC41B41C12E4}" destId="{4551E88F-15DD-4F15-8CC7-6380587AD5D7}" srcOrd="2" destOrd="0" presId="urn:microsoft.com/office/officeart/2005/8/layout/vList2"/>
    <dgm:cxn modelId="{1F54793E-D173-42B6-84F0-6624A888D22F}" type="presParOf" srcId="{B4B1D5F2-292C-4B3E-8F85-CC41B41C12E4}" destId="{9A7896E7-DCD7-4BBB-8F4C-C96ED20C64C7}" srcOrd="3" destOrd="0" presId="urn:microsoft.com/office/officeart/2005/8/layout/vList2"/>
    <dgm:cxn modelId="{D7343277-A600-4741-B610-9F509562F465}" type="presParOf" srcId="{B4B1D5F2-292C-4B3E-8F85-CC41B41C12E4}" destId="{3D86D8CC-FC8B-46CF-BEC6-0D0CA33849DD}" srcOrd="4" destOrd="0" presId="urn:microsoft.com/office/officeart/2005/8/layout/vList2"/>
  </dgm:cxnLst>
  <dgm:bg/>
  <dgm:whole>
    <a:ln w="76200"/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9201D-7A39-424E-9F89-76D306C379D9}">
      <dsp:nvSpPr>
        <dsp:cNvPr id="0" name=""/>
        <dsp:cNvSpPr/>
      </dsp:nvSpPr>
      <dsp:spPr>
        <a:xfrm>
          <a:off x="0" y="1725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 err="1" smtClean="0"/>
            <a:t>Handedness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differences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between</a:t>
          </a:r>
          <a:r>
            <a:rPr lang="es-ES" sz="3400" b="1" kern="1200" dirty="0" smtClean="0"/>
            <a:t> BD and </a:t>
          </a:r>
          <a:r>
            <a:rPr lang="es-ES" sz="3400" b="1" kern="1200" dirty="0" err="1" smtClean="0"/>
            <a:t>controls</a:t>
          </a:r>
          <a:r>
            <a:rPr lang="es-ES" sz="3400" b="1" kern="1200" dirty="0" smtClean="0"/>
            <a:t> </a:t>
          </a:r>
          <a:r>
            <a:rPr lang="es-ES" sz="3400" b="1" kern="1200" dirty="0" smtClean="0"/>
            <a:t>are </a:t>
          </a:r>
          <a:r>
            <a:rPr lang="es-ES" sz="3400" b="1" kern="1200" dirty="0" err="1" smtClean="0"/>
            <a:t>subtle</a:t>
          </a:r>
          <a:endParaRPr lang="es-ES" sz="3400" b="1" kern="1200" dirty="0"/>
        </a:p>
      </dsp:txBody>
      <dsp:txXfrm>
        <a:off x="66025" y="83282"/>
        <a:ext cx="10383550" cy="1220470"/>
      </dsp:txXfrm>
    </dsp:sp>
    <dsp:sp modelId="{4551E88F-15DD-4F15-8CC7-6380587AD5D7}">
      <dsp:nvSpPr>
        <dsp:cNvPr id="0" name=""/>
        <dsp:cNvSpPr/>
      </dsp:nvSpPr>
      <dsp:spPr>
        <a:xfrm>
          <a:off x="0" y="146769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 err="1" smtClean="0"/>
            <a:t>Mixed-hand</a:t>
          </a:r>
          <a:r>
            <a:rPr lang="es-ES" sz="3400" b="1" kern="1200" dirty="0" smtClean="0"/>
            <a:t> BD </a:t>
          </a:r>
          <a:r>
            <a:rPr lang="es-ES" sz="3400" b="1" kern="1200" dirty="0" err="1" smtClean="0"/>
            <a:t>patients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present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higher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severity</a:t>
          </a:r>
          <a:endParaRPr lang="es-ES" sz="3400" b="1" kern="1200" dirty="0"/>
        </a:p>
      </dsp:txBody>
      <dsp:txXfrm>
        <a:off x="66025" y="1533722"/>
        <a:ext cx="10383550" cy="1220470"/>
      </dsp:txXfrm>
    </dsp:sp>
    <dsp:sp modelId="{3D86D8CC-FC8B-46CF-BEC6-0D0CA33849DD}">
      <dsp:nvSpPr>
        <dsp:cNvPr id="0" name=""/>
        <dsp:cNvSpPr/>
      </dsp:nvSpPr>
      <dsp:spPr>
        <a:xfrm>
          <a:off x="0" y="2929316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 err="1" smtClean="0"/>
            <a:t>Left-handed</a:t>
          </a:r>
          <a:r>
            <a:rPr lang="es-ES" sz="3400" b="1" kern="1200" dirty="0" smtClean="0"/>
            <a:t> BD </a:t>
          </a:r>
          <a:r>
            <a:rPr lang="es-ES" sz="3400" b="1" kern="1200" dirty="0" err="1" smtClean="0"/>
            <a:t>patients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present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lower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polygenic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liability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for</a:t>
          </a:r>
          <a:r>
            <a:rPr lang="es-ES" sz="3400" b="1" kern="1200" dirty="0" smtClean="0"/>
            <a:t> BD</a:t>
          </a:r>
          <a:endParaRPr lang="es-ES" sz="3400" b="1" kern="1200" dirty="0"/>
        </a:p>
      </dsp:txBody>
      <dsp:txXfrm>
        <a:off x="66025" y="2995341"/>
        <a:ext cx="10383550" cy="1220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6562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Reference EUR </a:t>
            </a:r>
            <a:r>
              <a:rPr lang="es-ES" dirty="0" err="1" smtClean="0"/>
              <a:t>estimates</a:t>
            </a:r>
            <a:r>
              <a:rPr lang="es-ES" dirty="0" smtClean="0"/>
              <a:t>: </a:t>
            </a:r>
            <a:r>
              <a:rPr lang="en-GB" dirty="0" err="1" smtClean="0"/>
              <a:t>Papadatou-Pastou</a:t>
            </a:r>
            <a:r>
              <a:rPr lang="en-GB" dirty="0" smtClean="0"/>
              <a:t> M, </a:t>
            </a:r>
            <a:r>
              <a:rPr lang="en-GB" dirty="0" err="1" smtClean="0"/>
              <a:t>Ntolka</a:t>
            </a:r>
            <a:r>
              <a:rPr lang="en-GB" dirty="0" smtClean="0"/>
              <a:t> E, Schmitz J, et al. Human handedness: A meta-analysis. Psychological Bulletin. 2020;146(6):481–524. doi:10.1037/bul0000229.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8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1068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496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36C88-14FE-4590-910E-32AC315C0871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4AB07-332F-4C67-9A40-A71119FA40B7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0D09-73B1-400B-A0DA-B631939D8320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E0C4-90D1-4C45-B93A-37A9F8691C8C}" type="datetime1">
              <a:rPr lang="en-GB" smtClean="0"/>
              <a:t>12/08/2026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78916-976E-40AF-A205-991F683BA890}" type="datetime1">
              <a:rPr lang="en-GB" smtClean="0"/>
              <a:t>12/08/2026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C085C-5C81-434F-A8EA-484D4E830405}" type="datetime1">
              <a:rPr lang="en-GB" smtClean="0"/>
              <a:t>12/08/2026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B8FDE-2A06-4D71-883A-19F73AC6C873}" type="datetime1">
              <a:rPr lang="en-GB" smtClean="0"/>
              <a:t>12/08/2026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5FD4E-E365-42B4-AE08-6A8E1AD1A30A}" type="datetime1">
              <a:rPr lang="en-GB" smtClean="0"/>
              <a:t>12/08/2026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D468E-F943-4648-BCAE-49E38DE2B555}" type="datetime1">
              <a:rPr lang="en-GB" smtClean="0"/>
              <a:t>12/08/2026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8253D-D11D-4844-A5FF-334ED5277ADF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AC705-0EF9-43F8-BB56-2CFB25D1B083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8D115-CA30-41FC-9559-69B0665B674A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8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eg"/><Relationship Id="rId13" Type="http://schemas.microsoft.com/office/2007/relationships/hdphoto" Target="../media/hdphoto5.wdp"/><Relationship Id="rId3" Type="http://schemas.openxmlformats.org/officeDocument/2006/relationships/image" Target="../media/image34.png"/><Relationship Id="rId7" Type="http://schemas.openxmlformats.org/officeDocument/2006/relationships/image" Target="../media/image38.jp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eg"/><Relationship Id="rId11" Type="http://schemas.openxmlformats.org/officeDocument/2006/relationships/image" Target="../media/image42.jpeg"/><Relationship Id="rId5" Type="http://schemas.openxmlformats.org/officeDocument/2006/relationships/image" Target="../media/image36.jpeg"/><Relationship Id="rId10" Type="http://schemas.openxmlformats.org/officeDocument/2006/relationships/image" Target="../media/image41.png"/><Relationship Id="rId4" Type="http://schemas.openxmlformats.org/officeDocument/2006/relationships/image" Target="../media/image35.jpeg"/><Relationship Id="rId9" Type="http://schemas.openxmlformats.org/officeDocument/2006/relationships/image" Target="../media/image4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 err="1" smtClean="0">
                <a:solidFill>
                  <a:schemeClr val="tx1"/>
                </a:solidFill>
              </a:rPr>
              <a:t>Prevalence</a:t>
            </a:r>
            <a:r>
              <a:rPr lang="es-ES" sz="2000" b="1" dirty="0" smtClean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smtClean="0">
                <a:solidFill>
                  <a:schemeClr val="tx1"/>
                </a:solidFill>
              </a:rPr>
              <a:t>50% </a:t>
            </a:r>
            <a:r>
              <a:rPr lang="es-ES" sz="2000" b="1" dirty="0" err="1" smtClean="0">
                <a:solidFill>
                  <a:schemeClr val="tx1"/>
                </a:solidFill>
              </a:rPr>
              <a:t>suicidal</a:t>
            </a:r>
            <a:r>
              <a:rPr lang="es-ES" sz="2000" b="1" dirty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behaviour</a:t>
            </a:r>
            <a:r>
              <a:rPr lang="es-ES" sz="2000" b="1" dirty="0" smtClean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Heritability</a:t>
            </a:r>
            <a:r>
              <a:rPr lang="es-ES" sz="2000" b="1" dirty="0">
                <a:solidFill>
                  <a:schemeClr val="tx1"/>
                </a:solidFill>
              </a:rPr>
              <a:t>: 80%</a:t>
            </a:r>
          </a:p>
          <a:p>
            <a:pPr algn="ctr">
              <a:lnSpc>
                <a:spcPct val="150000"/>
              </a:lnSpc>
            </a:pP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/>
              <a:t>Suicide behaviour</a:t>
            </a:r>
            <a:endParaRPr lang="en-AU" b="1" dirty="0"/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Marcador de número de diapositiva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</a:t>
            </a:fld>
            <a:endParaRPr lang="en-GB"/>
          </a:p>
        </p:txBody>
      </p:sp>
      <p:sp>
        <p:nvSpPr>
          <p:cNvPr id="12" name="CuadroTexto 1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22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2844853" y="448081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animBg="1"/>
      <p:bldP spid="15" grpId="0" animBg="1"/>
      <p:bldP spid="16" grpId="0" animBg="1"/>
      <p:bldP spid="17" grpId="0" animBg="1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63285"/>
            <a:ext cx="12192000" cy="1087522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GWAS in BD (PGC-4): </a:t>
            </a:r>
            <a:r>
              <a:rPr lang="en-US" sz="4000" b="1" dirty="0">
                <a:ea typeface="Cambria" panose="02040503050406030204" pitchFamily="18" charset="0"/>
                <a:cs typeface="Arial" panose="020B0604020202020204" pitchFamily="34" charset="0"/>
              </a:rPr>
              <a:t>158,000 cases and </a:t>
            </a:r>
            <a:r>
              <a:rPr lang="en-US" sz="4000" b="1" dirty="0" smtClean="0">
                <a:ea typeface="Cambria" panose="02040503050406030204" pitchFamily="18" charset="0"/>
                <a:cs typeface="Arial" panose="020B0604020202020204" pitchFamily="34" charset="0"/>
              </a:rPr>
              <a:t>2.8 </a:t>
            </a:r>
            <a:r>
              <a:rPr lang="en-US" sz="4000" b="1" dirty="0">
                <a:ea typeface="Cambria" panose="02040503050406030204" pitchFamily="18" charset="0"/>
                <a:cs typeface="Arial" panose="020B0604020202020204" pitchFamily="34" charset="0"/>
              </a:rPr>
              <a:t>M </a:t>
            </a:r>
            <a:r>
              <a:rPr lang="en-US" sz="4000" b="1" dirty="0" smtClean="0">
                <a:ea typeface="Cambria" panose="02040503050406030204" pitchFamily="18" charset="0"/>
                <a:cs typeface="Arial" panose="020B0604020202020204" pitchFamily="34" charset="0"/>
              </a:rPr>
              <a:t>controls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3</a:t>
            </a:fld>
            <a:endParaRPr lang="en-GB"/>
          </a:p>
        </p:txBody>
      </p:sp>
      <p:pic>
        <p:nvPicPr>
          <p:cNvPr id="6" name="Picture 2" descr="Extended Data Fig.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26" y="1487283"/>
            <a:ext cx="10606598" cy="4897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5A5D37A-792B-A350-3EB4-E0967F65F848}"/>
              </a:ext>
            </a:extLst>
          </p:cNvPr>
          <p:cNvSpPr txBox="1">
            <a:spLocks/>
          </p:cNvSpPr>
          <p:nvPr/>
        </p:nvSpPr>
        <p:spPr>
          <a:xfrm>
            <a:off x="10420051" y="2109829"/>
            <a:ext cx="1183064" cy="429185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cs typeface="Arial"/>
              </a:rPr>
              <a:t>298 loci</a:t>
            </a:r>
            <a:endParaRPr lang="es-ES" sz="2400" b="1" dirty="0">
              <a:cs typeface="Arial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9093735" y="5492446"/>
            <a:ext cx="2343815" cy="8925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300" b="1" dirty="0"/>
              <a:t>European (229 GWS loci)</a:t>
            </a:r>
          </a:p>
          <a:p>
            <a:r>
              <a:rPr lang="en-GB" sz="1300" b="1" dirty="0">
                <a:solidFill>
                  <a:srgbClr val="00B050"/>
                </a:solidFill>
              </a:rPr>
              <a:t>Latino (0 GWS loci)</a:t>
            </a:r>
          </a:p>
          <a:p>
            <a:r>
              <a:rPr lang="en-GB" sz="1300" b="1" dirty="0">
                <a:solidFill>
                  <a:srgbClr val="FF0000"/>
                </a:solidFill>
              </a:rPr>
              <a:t>East Asian (1 GWS loci)</a:t>
            </a:r>
          </a:p>
          <a:p>
            <a:r>
              <a:rPr lang="en-GB" sz="1300" b="1" dirty="0">
                <a:solidFill>
                  <a:srgbClr val="7030A0"/>
                </a:solidFill>
              </a:rPr>
              <a:t>African American (0 GWS loci)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68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 (LH)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1313895" y="4422366"/>
            <a:ext cx="3639845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Twin-</a:t>
            </a:r>
            <a:r>
              <a:rPr lang="es-ES" sz="2800" b="1" dirty="0" err="1" smtClean="0">
                <a:solidFill>
                  <a:schemeClr val="tx1"/>
                </a:solidFill>
              </a:rPr>
              <a:t>based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smtClean="0">
                <a:solidFill>
                  <a:schemeClr val="tx1"/>
                </a:solidFill>
              </a:rPr>
              <a:t>= 25%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4</a:t>
            </a:fld>
            <a:endParaRPr lang="en-GB"/>
          </a:p>
        </p:txBody>
      </p:sp>
      <p:sp>
        <p:nvSpPr>
          <p:cNvPr id="8" name="CuadroTexto 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7900386" y="4870896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100" dirty="0" err="1" smtClean="0"/>
              <a:t>Fernandez</a:t>
            </a:r>
            <a:r>
              <a:rPr lang="es-ES" sz="1100" dirty="0" smtClean="0"/>
              <a:t>-Velasco et al. 2023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47547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GWAS of </a:t>
            </a:r>
            <a:r>
              <a:rPr lang="es-ES" b="1" dirty="0" err="1" smtClean="0"/>
              <a:t>handedness</a:t>
            </a:r>
            <a:r>
              <a:rPr lang="es-ES" b="1" dirty="0" smtClean="0"/>
              <a:t>: </a:t>
            </a:r>
            <a:r>
              <a:rPr lang="en-GB" b="1" dirty="0" smtClean="0"/>
              <a:t>194K left-handers, 1.5 M controls 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5</a:t>
            </a:fld>
            <a:endParaRPr lang="en-GB"/>
          </a:p>
        </p:txBody>
      </p:sp>
      <p:pic>
        <p:nvPicPr>
          <p:cNvPr id="1026" name="Picture 2" descr="Fig.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0225" y="1562474"/>
            <a:ext cx="8734887" cy="529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9099612" y="1946765"/>
            <a:ext cx="2513621" cy="134601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sz="2400" b="1" dirty="0">
                <a:cs typeface="Arial"/>
              </a:rPr>
              <a:t>48 </a:t>
            </a:r>
            <a:r>
              <a:rPr lang="es-ES" sz="2400" b="1" dirty="0" err="1">
                <a:cs typeface="Arial"/>
              </a:rPr>
              <a:t>loci</a:t>
            </a:r>
            <a:endParaRPr lang="en-GB" sz="2400" b="1" dirty="0">
              <a:cs typeface="Arial"/>
            </a:endParaRP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GB" sz="2400" b="1" dirty="0">
                <a:cs typeface="Arial"/>
              </a:rPr>
              <a:t>3.45% SNP-based </a:t>
            </a:r>
            <a:r>
              <a:rPr lang="en-GB" sz="2400" b="1" dirty="0" smtClean="0">
                <a:cs typeface="Arial"/>
              </a:rPr>
              <a:t>heritability</a:t>
            </a:r>
            <a:endParaRPr lang="en-GB" sz="2400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2692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1173018" y="1148139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1169141" y="565284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6</a:t>
            </a:fld>
            <a:endParaRPr lang="en-GB"/>
          </a:p>
        </p:txBody>
      </p:sp>
      <p:sp>
        <p:nvSpPr>
          <p:cNvPr id="29" name="CuadroTexto 2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8993029" y="1148139"/>
            <a:ext cx="190046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s-ES" sz="2400" b="1" dirty="0" smtClean="0"/>
              <a:t>NRH</a:t>
            </a:r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18%</a:t>
            </a:r>
            <a:endParaRPr lang="es-ES" sz="2400" dirty="0"/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25%*</a:t>
            </a:r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35% **</a:t>
            </a:r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18%</a:t>
            </a:r>
          </a:p>
          <a:p>
            <a:pPr algn="ctr">
              <a:lnSpc>
                <a:spcPct val="150000"/>
              </a:lnSpc>
            </a:pPr>
            <a:r>
              <a:rPr lang="es-ES" sz="2400" b="1" dirty="0" smtClean="0"/>
              <a:t>35%**</a:t>
            </a:r>
          </a:p>
          <a:p>
            <a:pPr algn="ctr">
              <a:lnSpc>
                <a:spcPct val="150000"/>
              </a:lnSpc>
            </a:pPr>
            <a:r>
              <a:rPr lang="es-ES" sz="2400" b="1" dirty="0" smtClean="0"/>
              <a:t>???</a:t>
            </a:r>
            <a:endParaRPr lang="es-ES" sz="2400" b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6353427" y="1132565"/>
            <a:ext cx="29482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endParaRPr lang="es-ES" sz="2400" b="1" dirty="0" smtClean="0"/>
          </a:p>
          <a:p>
            <a:pPr algn="r">
              <a:lnSpc>
                <a:spcPct val="150000"/>
              </a:lnSpc>
            </a:pPr>
            <a:r>
              <a:rPr lang="es-ES" sz="2400" dirty="0" err="1" smtClean="0"/>
              <a:t>Controls</a:t>
            </a:r>
            <a:endParaRPr lang="es-ES" sz="2400" dirty="0"/>
          </a:p>
          <a:p>
            <a:pPr algn="r">
              <a:lnSpc>
                <a:spcPct val="150000"/>
              </a:lnSpc>
            </a:pPr>
            <a:r>
              <a:rPr lang="es-ES" sz="2400" dirty="0" smtClean="0"/>
              <a:t>ADHD</a:t>
            </a:r>
          </a:p>
          <a:p>
            <a:pPr algn="r">
              <a:lnSpc>
                <a:spcPct val="150000"/>
              </a:lnSpc>
            </a:pPr>
            <a:r>
              <a:rPr lang="es-ES" sz="2400" dirty="0" err="1" smtClean="0"/>
              <a:t>Autism</a:t>
            </a:r>
            <a:r>
              <a:rPr lang="es-ES" sz="2400" dirty="0" smtClean="0"/>
              <a:t> (ASD)</a:t>
            </a:r>
          </a:p>
          <a:p>
            <a:pPr algn="r">
              <a:lnSpc>
                <a:spcPct val="150000"/>
              </a:lnSpc>
            </a:pPr>
            <a:r>
              <a:rPr lang="es-ES" sz="2400" dirty="0" err="1" smtClean="0"/>
              <a:t>Depression</a:t>
            </a:r>
            <a:r>
              <a:rPr lang="es-ES" sz="2400" dirty="0" smtClean="0"/>
              <a:t> (DEP)</a:t>
            </a:r>
          </a:p>
          <a:p>
            <a:pPr algn="r">
              <a:lnSpc>
                <a:spcPct val="150000"/>
              </a:lnSpc>
            </a:pPr>
            <a:r>
              <a:rPr lang="es-ES" sz="2400" b="1" dirty="0" err="1" smtClean="0"/>
              <a:t>Schizophrenia</a:t>
            </a:r>
            <a:r>
              <a:rPr lang="es-ES" sz="2400" b="1" dirty="0" smtClean="0"/>
              <a:t> (SCZ)</a:t>
            </a:r>
          </a:p>
          <a:p>
            <a:pPr algn="r">
              <a:lnSpc>
                <a:spcPct val="150000"/>
              </a:lnSpc>
            </a:pPr>
            <a:r>
              <a:rPr lang="es-ES" sz="2400" b="1" dirty="0" smtClean="0"/>
              <a:t>BD</a:t>
            </a:r>
            <a:endParaRPr lang="es-ES" sz="2400" b="1" dirty="0"/>
          </a:p>
        </p:txBody>
      </p:sp>
      <p:sp>
        <p:nvSpPr>
          <p:cNvPr id="3" name="Elipse 2"/>
          <p:cNvSpPr/>
          <p:nvPr/>
        </p:nvSpPr>
        <p:spPr>
          <a:xfrm>
            <a:off x="2441360" y="1148139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Elipse 15"/>
          <p:cNvSpPr/>
          <p:nvPr/>
        </p:nvSpPr>
        <p:spPr>
          <a:xfrm>
            <a:off x="4490936" y="2543413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7679781" y="5037294"/>
            <a:ext cx="3213716" cy="15696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u="sng" dirty="0"/>
              <a:t>No </a:t>
            </a:r>
            <a:r>
              <a:rPr lang="es-ES" sz="2400" b="1" u="sng" dirty="0" err="1" smtClean="0"/>
              <a:t>clear</a:t>
            </a:r>
            <a:r>
              <a:rPr lang="es-ES" sz="2400" b="1" u="sng" dirty="0" smtClean="0"/>
              <a:t> </a:t>
            </a:r>
            <a:r>
              <a:rPr lang="es-ES" sz="2400" b="1" u="sng" dirty="0"/>
              <a:t>pattern</a:t>
            </a:r>
            <a:r>
              <a:rPr lang="es-ES" sz="2400" u="sng" dirty="0"/>
              <a:t>:</a:t>
            </a:r>
          </a:p>
          <a:p>
            <a:pPr algn="ctr"/>
            <a:r>
              <a:rPr lang="es-ES" sz="2400" dirty="0"/>
              <a:t>Small sample sizes</a:t>
            </a:r>
          </a:p>
          <a:p>
            <a:pPr algn="ctr"/>
            <a:r>
              <a:rPr lang="es-ES" sz="2400" dirty="0"/>
              <a:t>Lack of clinical data</a:t>
            </a:r>
          </a:p>
          <a:p>
            <a:pPr algn="ctr"/>
            <a:r>
              <a:rPr lang="es-ES" sz="2400" dirty="0"/>
              <a:t>Diverse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3" grpId="0" animBg="1"/>
      <p:bldP spid="16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" name="CuadroTexto 8"/>
          <p:cNvSpPr txBox="1"/>
          <p:nvPr/>
        </p:nvSpPr>
        <p:spPr>
          <a:xfrm>
            <a:off x="339081" y="6234004"/>
            <a:ext cx="15716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4810" y="2206660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/>
        </p:blipFill>
        <p:spPr>
          <a:xfrm>
            <a:off x="9971415" y="2185195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1757177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436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1757178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483372" y="503367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1358914"/>
            <a:ext cx="294759" cy="3894242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CuadroTexto 2"/>
          <p:cNvSpPr txBox="1"/>
          <p:nvPr/>
        </p:nvSpPr>
        <p:spPr>
          <a:xfrm>
            <a:off x="8172859" y="3683833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  <p:sp>
        <p:nvSpPr>
          <p:cNvPr id="10" name="Marcador de número de diapositiva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7</a:t>
            </a:fld>
            <a:endParaRPr lang="en-GB"/>
          </a:p>
        </p:txBody>
      </p:sp>
      <p:sp>
        <p:nvSpPr>
          <p:cNvPr id="19" name="CuadroTexto 1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smtClean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AutoShape 2" descr="DNA Icon SVG Vector &amp; PNG Free Download | UX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Cerrar llave 15"/>
          <p:cNvSpPr/>
          <p:nvPr/>
        </p:nvSpPr>
        <p:spPr>
          <a:xfrm rot="5400000" flipH="1">
            <a:off x="9358459" y="3015877"/>
            <a:ext cx="249827" cy="3708569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CuadroTexto 7"/>
          <p:cNvSpPr txBox="1"/>
          <p:nvPr/>
        </p:nvSpPr>
        <p:spPr>
          <a:xfrm>
            <a:off x="7580842" y="5060272"/>
            <a:ext cx="1509892" cy="1569660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SNP </a:t>
            </a:r>
            <a:r>
              <a:rPr lang="es-ES" dirty="0" smtClean="0"/>
              <a:t>data</a:t>
            </a:r>
          </a:p>
          <a:p>
            <a:endParaRPr lang="es-ES" dirty="0"/>
          </a:p>
          <a:p>
            <a:endParaRPr lang="es-ES" dirty="0" smtClean="0"/>
          </a:p>
          <a:p>
            <a:endParaRPr lang="es-ES" dirty="0" smtClean="0"/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506" y="5552008"/>
            <a:ext cx="952708" cy="94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 smtClean="0">
                <a:solidFill>
                  <a:schemeClr val="tx1"/>
                </a:solidFill>
              </a:rPr>
              <a:t> Open </a:t>
            </a:r>
            <a:r>
              <a:rPr lang="es-ES" sz="2400" dirty="0">
                <a:solidFill>
                  <a:schemeClr val="tx1"/>
                </a:solidFill>
              </a:rPr>
              <a:t>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069972"/>
            <a:chOff x="5267325" y="5440659"/>
            <a:chExt cx="6697662" cy="1069972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7676628" y="5987411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0739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19591" y="5447849"/>
                <a:ext cx="345396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475546" y="6036951"/>
              <a:ext cx="2201082" cy="212070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9472630" y="6045541"/>
              <a:ext cx="2130504" cy="217799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46225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33906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8</a:t>
            </a:fld>
            <a:endParaRPr lang="en-GB"/>
          </a:p>
        </p:txBody>
      </p:sp>
      <p:sp>
        <p:nvSpPr>
          <p:cNvPr id="50" name="CuadroTexto 4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smtClean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ángulo redondeado 17"/>
          <p:cNvSpPr/>
          <p:nvPr/>
        </p:nvSpPr>
        <p:spPr>
          <a:xfrm>
            <a:off x="8629322" y="3391412"/>
            <a:ext cx="221942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>
          <a:xfrm>
            <a:off x="6482113" y="4224035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-60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9" name="Rectángulo redondeado 58"/>
          <p:cNvSpPr/>
          <p:nvPr/>
        </p:nvSpPr>
        <p:spPr>
          <a:xfrm>
            <a:off x="10170610" y="4214442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0" name="Rectángulo redondeado 59"/>
          <p:cNvSpPr/>
          <p:nvPr/>
        </p:nvSpPr>
        <p:spPr>
          <a:xfrm>
            <a:off x="5503776" y="5398374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-90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>
          <a:xfrm>
            <a:off x="11128806" y="5400610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55" grpId="0"/>
      <p:bldP spid="59" grpId="0"/>
      <p:bldP spid="60" grpId="0"/>
      <p:bldP spid="6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436 BD</a:t>
            </a:r>
            <a:endParaRPr lang="en-GB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68874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379616" y="3193230"/>
            <a:ext cx="422709" cy="459156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uadroTexto 14"/>
          <p:cNvSpPr txBox="1"/>
          <p:nvPr/>
        </p:nvSpPr>
        <p:spPr>
          <a:xfrm>
            <a:off x="4704426" y="1089642"/>
            <a:ext cx="105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 err="1" smtClean="0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5754628" y="1369533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800660" y="3692396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6801294" y="3179674"/>
            <a:ext cx="1551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b="1" dirty="0" err="1" smtClean="0"/>
              <a:t>Age</a:t>
            </a:r>
            <a:r>
              <a:rPr lang="es-ES" b="1" dirty="0" smtClean="0"/>
              <a:t> </a:t>
            </a:r>
            <a:r>
              <a:rPr lang="es-ES" b="1" dirty="0" err="1" smtClean="0"/>
              <a:t>matching</a:t>
            </a:r>
            <a:endParaRPr lang="en-GB" b="1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098599" y="2968300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058832" y="1402024"/>
            <a:ext cx="2093380" cy="938143"/>
            <a:chOff x="10704056" y="1425775"/>
            <a:chExt cx="209338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741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err="1" smtClean="0"/>
                <a:t>Controls</a:t>
              </a:r>
              <a:r>
                <a:rPr lang="es-ES" b="1" dirty="0" smtClean="0"/>
                <a:t> = 1,480</a:t>
              </a:r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10752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smtClean="0"/>
                <a:t>BD= 436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529525" y="2775470"/>
            <a:ext cx="4261112" cy="3152600"/>
            <a:chOff x="248574" y="3692786"/>
            <a:chExt cx="3822875" cy="2611401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38223" b="30094"/>
            <a:stretch/>
          </p:blipFill>
          <p:spPr>
            <a:xfrm>
              <a:off x="248574" y="3692786"/>
              <a:ext cx="2525917" cy="261140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2807890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2774491" y="4536070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2765906" y="5193871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err="1" smtClean="0"/>
                <a:t>Age</a:t>
              </a:r>
              <a:endParaRPr lang="es-ES" dirty="0" smtClean="0"/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2790704" y="5791389"/>
              <a:ext cx="1280745" cy="3059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BD/control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314658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Correlation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between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traits</a:t>
            </a:r>
            <a:endParaRPr lang="en-GB" sz="2400" b="1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9</a:t>
            </a:fld>
            <a:endParaRPr lang="en-GB"/>
          </a:p>
        </p:txBody>
      </p:sp>
      <p:sp>
        <p:nvSpPr>
          <p:cNvPr id="36" name="CuadroTexto 3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7" name="Grupo 36"/>
          <p:cNvGrpSpPr/>
          <p:nvPr/>
        </p:nvGrpSpPr>
        <p:grpSpPr>
          <a:xfrm>
            <a:off x="10010131" y="3640867"/>
            <a:ext cx="1931527" cy="938143"/>
            <a:chOff x="10704056" y="1425775"/>
            <a:chExt cx="1931527" cy="938143"/>
          </a:xfrm>
        </p:grpSpPr>
        <p:pic>
          <p:nvPicPr>
            <p:cNvPr id="38" name="Imagen 37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39" name="CuadroTexto 38"/>
            <p:cNvSpPr txBox="1"/>
            <p:nvPr/>
          </p:nvSpPr>
          <p:spPr>
            <a:xfrm>
              <a:off x="11055895" y="1445390"/>
              <a:ext cx="15796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err="1" smtClean="0"/>
                <a:t>Controls</a:t>
              </a:r>
              <a:r>
                <a:rPr lang="es-ES" b="1" dirty="0" smtClean="0"/>
                <a:t> =436</a:t>
              </a:r>
            </a:p>
          </p:txBody>
        </p:sp>
        <p:sp>
          <p:nvSpPr>
            <p:cNvPr id="40" name="CuadroTexto 39"/>
            <p:cNvSpPr txBox="1"/>
            <p:nvPr/>
          </p:nvSpPr>
          <p:spPr>
            <a:xfrm>
              <a:off x="11082251" y="1759724"/>
              <a:ext cx="11102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smtClean="0"/>
                <a:t>BD = 436</a:t>
              </a:r>
            </a:p>
          </p:txBody>
        </p:sp>
      </p:grpSp>
      <p:sp>
        <p:nvSpPr>
          <p:cNvPr id="10" name="Rectángulo redondeado 9"/>
          <p:cNvSpPr/>
          <p:nvPr/>
        </p:nvSpPr>
        <p:spPr>
          <a:xfrm>
            <a:off x="4992243" y="5742894"/>
            <a:ext cx="7029796" cy="7056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 smtClean="0">
                <a:solidFill>
                  <a:schemeClr val="tx1"/>
                </a:solidFill>
              </a:rPr>
              <a:t>Controls for </a:t>
            </a:r>
            <a:r>
              <a:rPr lang="en-GB" sz="2400" dirty="0">
                <a:solidFill>
                  <a:schemeClr val="tx1"/>
                </a:solidFill>
              </a:rPr>
              <a:t>age-dependent changes in handedness and generational effects.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5874093" y="968730"/>
            <a:ext cx="1397344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i="1" dirty="0"/>
              <a:t>P</a:t>
            </a:r>
            <a:r>
              <a:rPr lang="es-ES" sz="2400" dirty="0"/>
              <a:t> &lt;1E-16</a:t>
            </a:r>
            <a:endParaRPr lang="en-GB" sz="2400" dirty="0"/>
          </a:p>
        </p:txBody>
      </p:sp>
      <p:sp>
        <p:nvSpPr>
          <p:cNvPr id="41" name="CuadroTexto 40"/>
          <p:cNvSpPr txBox="1"/>
          <p:nvPr/>
        </p:nvSpPr>
        <p:spPr>
          <a:xfrm rot="19151040">
            <a:off x="2115454" y="6111398"/>
            <a:ext cx="1427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BD/control</a:t>
            </a:r>
          </a:p>
        </p:txBody>
      </p:sp>
      <p:sp>
        <p:nvSpPr>
          <p:cNvPr id="42" name="CuadroTexto 41"/>
          <p:cNvSpPr txBox="1"/>
          <p:nvPr/>
        </p:nvSpPr>
        <p:spPr>
          <a:xfrm rot="18970309">
            <a:off x="1851676" y="6001678"/>
            <a:ext cx="633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Age</a:t>
            </a:r>
            <a:endParaRPr lang="es-ES" dirty="0" smtClean="0"/>
          </a:p>
        </p:txBody>
      </p:sp>
      <p:sp>
        <p:nvSpPr>
          <p:cNvPr id="43" name="CuadroTexto 42"/>
          <p:cNvSpPr txBox="1"/>
          <p:nvPr/>
        </p:nvSpPr>
        <p:spPr>
          <a:xfrm rot="19135071">
            <a:off x="1276953" y="5992517"/>
            <a:ext cx="621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Sex</a:t>
            </a:r>
          </a:p>
        </p:txBody>
      </p:sp>
      <p:sp>
        <p:nvSpPr>
          <p:cNvPr id="44" name="CuadroTexto 43"/>
          <p:cNvSpPr txBox="1"/>
          <p:nvPr/>
        </p:nvSpPr>
        <p:spPr>
          <a:xfrm rot="19135071">
            <a:off x="612187" y="5992517"/>
            <a:ext cx="468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LQ</a:t>
            </a:r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23" grpId="0"/>
      <p:bldP spid="10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</a:t>
            </a:r>
            <a:r>
              <a:rPr lang="es-ES" b="1" dirty="0" err="1"/>
              <a:t>Spanish</a:t>
            </a:r>
            <a:r>
              <a:rPr lang="es-ES" b="1" dirty="0"/>
              <a:t> </a:t>
            </a:r>
            <a:r>
              <a:rPr lang="es-ES" b="1" dirty="0" err="1"/>
              <a:t>population</a:t>
            </a:r>
            <a:endParaRPr lang="en-GB" b="1" dirty="0"/>
          </a:p>
        </p:txBody>
      </p:sp>
      <p:sp>
        <p:nvSpPr>
          <p:cNvPr id="9" name="CuadroTexto 8"/>
          <p:cNvSpPr txBox="1"/>
          <p:nvPr/>
        </p:nvSpPr>
        <p:spPr>
          <a:xfrm>
            <a:off x="2542559" y="2443366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8.04 %</a:t>
            </a:r>
          </a:p>
          <a:p>
            <a:pPr algn="ctr"/>
            <a:r>
              <a:rPr lang="es-ES" sz="3600" b="1" dirty="0" smtClean="0"/>
              <a:t>12.03 %</a:t>
            </a:r>
          </a:p>
          <a:p>
            <a:pPr algn="ctr"/>
            <a:r>
              <a:rPr lang="es-ES" sz="3600" b="1" dirty="0" smtClean="0"/>
              <a:t>49.19%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349537" y="1196163"/>
            <a:ext cx="1461106" cy="1219082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56032" y="1497735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459717" y="1504265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2463" y="1001589"/>
            <a:ext cx="1859717" cy="134921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/>
          <p:cNvSpPr txBox="1"/>
          <p:nvPr/>
        </p:nvSpPr>
        <p:spPr>
          <a:xfrm>
            <a:off x="2304829" y="1858591"/>
            <a:ext cx="2661917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1,480 controls</a:t>
            </a:r>
            <a:endParaRPr lang="en-GB" sz="3200" b="1" dirty="0"/>
          </a:p>
        </p:txBody>
      </p:sp>
      <p:sp>
        <p:nvSpPr>
          <p:cNvPr id="28" name="Rectángulo redondeado 27"/>
          <p:cNvSpPr/>
          <p:nvPr/>
        </p:nvSpPr>
        <p:spPr>
          <a:xfrm>
            <a:off x="2304829" y="4376691"/>
            <a:ext cx="2780406" cy="19887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EUR </a:t>
            </a:r>
            <a:r>
              <a:rPr lang="es-ES" sz="2800" b="1" dirty="0" err="1" smtClean="0">
                <a:solidFill>
                  <a:schemeClr val="tx1"/>
                </a:solidFill>
              </a:rPr>
              <a:t>population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10.6% </a:t>
            </a:r>
          </a:p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18%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1" name="Rectángulo redondeado 30"/>
          <p:cNvSpPr/>
          <p:nvPr/>
        </p:nvSpPr>
        <p:spPr>
          <a:xfrm>
            <a:off x="5773999" y="5483291"/>
            <a:ext cx="5579801" cy="949002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 smtClean="0">
                <a:solidFill>
                  <a:schemeClr val="tx1"/>
                </a:solidFill>
              </a:rPr>
              <a:t>Lateralization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increases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with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age</a:t>
            </a:r>
            <a:endParaRPr lang="es-ES" sz="2800" b="1" dirty="0" smtClean="0">
              <a:solidFill>
                <a:schemeClr val="tx1"/>
              </a:solidFill>
            </a:endParaRPr>
          </a:p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P</a:t>
            </a:r>
            <a:r>
              <a:rPr lang="es-ES" sz="2800" b="1" dirty="0" smtClean="0">
                <a:solidFill>
                  <a:schemeClr val="tx1"/>
                </a:solidFill>
              </a:rPr>
              <a:t> = 1.8E-08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>
          <a:xfrm>
            <a:off x="9285305" y="6498397"/>
            <a:ext cx="2743200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10</a:t>
            </a:fld>
            <a:endParaRPr lang="en-GB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318121" y="2548177"/>
            <a:ext cx="1483691" cy="584775"/>
            <a:chOff x="344755" y="2548177"/>
            <a:chExt cx="1483691" cy="584775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8" name="Grupo 7"/>
          <p:cNvGrpSpPr/>
          <p:nvPr/>
        </p:nvGrpSpPr>
        <p:grpSpPr>
          <a:xfrm>
            <a:off x="304461" y="3064075"/>
            <a:ext cx="1506182" cy="584775"/>
            <a:chOff x="326999" y="3152666"/>
            <a:chExt cx="1506182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96912" y="3577701"/>
            <a:ext cx="1601110" cy="584775"/>
            <a:chOff x="314668" y="3781782"/>
            <a:chExt cx="1601110" cy="584775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Rectángulo 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ángulo 38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grpSp>
        <p:nvGrpSpPr>
          <p:cNvPr id="41" name="Grupo 40"/>
          <p:cNvGrpSpPr/>
          <p:nvPr/>
        </p:nvGrpSpPr>
        <p:grpSpPr>
          <a:xfrm>
            <a:off x="304461" y="5103566"/>
            <a:ext cx="1483691" cy="584775"/>
            <a:chOff x="344755" y="2548177"/>
            <a:chExt cx="1483691" cy="584775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5" name="Grupo 44"/>
          <p:cNvGrpSpPr/>
          <p:nvPr/>
        </p:nvGrpSpPr>
        <p:grpSpPr>
          <a:xfrm>
            <a:off x="290801" y="5619464"/>
            <a:ext cx="1506182" cy="584775"/>
            <a:chOff x="326999" y="3152666"/>
            <a:chExt cx="1506182" cy="584775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" name="Imagen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00" y="675443"/>
            <a:ext cx="5298919" cy="477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8825" y="1542796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5020925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/>
          <p:cNvSpPr txBox="1"/>
          <p:nvPr/>
        </p:nvSpPr>
        <p:spPr>
          <a:xfrm>
            <a:off x="2378584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controls</a:t>
            </a:r>
            <a:endParaRPr lang="en-GB" sz="32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4969231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11</a:t>
            </a:fld>
            <a:endParaRPr lang="en-GB"/>
          </a:p>
        </p:txBody>
      </p:sp>
      <p:sp>
        <p:nvSpPr>
          <p:cNvPr id="9" name="CuadroTexto 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7651812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/>
          <p:cNvSpPr txBox="1"/>
          <p:nvPr/>
        </p:nvSpPr>
        <p:spPr>
          <a:xfrm>
            <a:off x="7600118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157 SCZ</a:t>
            </a:r>
            <a:endParaRPr lang="en-GB" sz="3200" b="1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693974" y="2239088"/>
            <a:ext cx="1461106" cy="1219082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800469" y="2540660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804154" y="2547190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grpSp>
        <p:nvGrpSpPr>
          <p:cNvPr id="15" name="Grupo 14"/>
          <p:cNvGrpSpPr/>
          <p:nvPr/>
        </p:nvGrpSpPr>
        <p:grpSpPr>
          <a:xfrm>
            <a:off x="662558" y="3591102"/>
            <a:ext cx="1483691" cy="584775"/>
            <a:chOff x="344755" y="2548177"/>
            <a:chExt cx="1483691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19" name="Grupo 18"/>
          <p:cNvGrpSpPr/>
          <p:nvPr/>
        </p:nvGrpSpPr>
        <p:grpSpPr>
          <a:xfrm>
            <a:off x="648898" y="4107000"/>
            <a:ext cx="1506182" cy="584775"/>
            <a:chOff x="326999" y="3152666"/>
            <a:chExt cx="1506182" cy="584775"/>
          </a:xfrm>
        </p:grpSpPr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23" name="Grupo 22"/>
          <p:cNvGrpSpPr/>
          <p:nvPr/>
        </p:nvGrpSpPr>
        <p:grpSpPr>
          <a:xfrm>
            <a:off x="641349" y="4620626"/>
            <a:ext cx="1601110" cy="584775"/>
            <a:chOff x="314668" y="3781782"/>
            <a:chExt cx="1601110" cy="584775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Rectángulo 2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ángulo 25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2378584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6.65 %</a:t>
            </a:r>
          </a:p>
          <a:p>
            <a:pPr algn="ctr"/>
            <a:r>
              <a:rPr lang="es-ES" sz="3600" b="1" dirty="0" smtClean="0"/>
              <a:t>10.09 %</a:t>
            </a:r>
          </a:p>
          <a:p>
            <a:pPr algn="ctr"/>
            <a:r>
              <a:rPr lang="es-ES" sz="3600" b="1" dirty="0" smtClean="0"/>
              <a:t>58.26%</a:t>
            </a:r>
          </a:p>
        </p:txBody>
      </p:sp>
      <p:sp>
        <p:nvSpPr>
          <p:cNvPr id="29" name="CuadroTexto 28"/>
          <p:cNvSpPr txBox="1"/>
          <p:nvPr/>
        </p:nvSpPr>
        <p:spPr>
          <a:xfrm>
            <a:off x="5031426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7.34 %</a:t>
            </a:r>
          </a:p>
          <a:p>
            <a:pPr algn="ctr"/>
            <a:r>
              <a:rPr lang="es-ES" sz="3600" b="1" dirty="0" smtClean="0"/>
              <a:t>12.16 %</a:t>
            </a:r>
          </a:p>
          <a:p>
            <a:pPr algn="ctr"/>
            <a:r>
              <a:rPr lang="es-ES" sz="3600" b="1" dirty="0" smtClean="0"/>
              <a:t>67.43%</a:t>
            </a:r>
          </a:p>
        </p:txBody>
      </p:sp>
      <p:sp>
        <p:nvSpPr>
          <p:cNvPr id="30" name="CuadroTexto 29"/>
          <p:cNvSpPr txBox="1"/>
          <p:nvPr/>
        </p:nvSpPr>
        <p:spPr>
          <a:xfrm>
            <a:off x="7600118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10.19 %</a:t>
            </a:r>
          </a:p>
          <a:p>
            <a:pPr algn="ctr"/>
            <a:r>
              <a:rPr lang="es-ES" sz="3600" b="1" dirty="0" smtClean="0"/>
              <a:t>26.11 %</a:t>
            </a:r>
          </a:p>
          <a:p>
            <a:pPr algn="ctr"/>
            <a:r>
              <a:rPr lang="es-ES" sz="3600" b="1" dirty="0" smtClean="0"/>
              <a:t>25.48%</a:t>
            </a:r>
          </a:p>
        </p:txBody>
      </p:sp>
      <p:sp>
        <p:nvSpPr>
          <p:cNvPr id="31" name="Cerrar llave 30"/>
          <p:cNvSpPr/>
          <p:nvPr/>
        </p:nvSpPr>
        <p:spPr>
          <a:xfrm rot="5400000">
            <a:off x="4914766" y="3183332"/>
            <a:ext cx="264255" cy="459996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CuadroTexto 31"/>
          <p:cNvSpPr txBox="1"/>
          <p:nvPr/>
        </p:nvSpPr>
        <p:spPr>
          <a:xfrm>
            <a:off x="4731225" y="5548147"/>
            <a:ext cx="62140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NS</a:t>
            </a:r>
            <a:endParaRPr lang="en-GB" sz="2400" dirty="0"/>
          </a:p>
        </p:txBody>
      </p:sp>
      <p:sp>
        <p:nvSpPr>
          <p:cNvPr id="33" name="Cerrar llave 32"/>
          <p:cNvSpPr/>
          <p:nvPr/>
        </p:nvSpPr>
        <p:spPr>
          <a:xfrm rot="5400000">
            <a:off x="6238522" y="2368540"/>
            <a:ext cx="195936" cy="7282544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CuadroTexto 33"/>
          <p:cNvSpPr txBox="1"/>
          <p:nvPr/>
        </p:nvSpPr>
        <p:spPr>
          <a:xfrm>
            <a:off x="5729155" y="6288379"/>
            <a:ext cx="1214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***</a:t>
            </a:r>
            <a:endParaRPr lang="en-GB" sz="3200" b="1" dirty="0"/>
          </a:p>
        </p:txBody>
      </p:sp>
      <p:sp>
        <p:nvSpPr>
          <p:cNvPr id="8" name="Rectángulo redondeado 7"/>
          <p:cNvSpPr/>
          <p:nvPr/>
        </p:nvSpPr>
        <p:spPr>
          <a:xfrm>
            <a:off x="2695218" y="4596496"/>
            <a:ext cx="4389163" cy="616000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ángulo redondeado 35"/>
          <p:cNvSpPr/>
          <p:nvPr/>
        </p:nvSpPr>
        <p:spPr>
          <a:xfrm>
            <a:off x="9977762" y="4427402"/>
            <a:ext cx="1687497" cy="78509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P </a:t>
            </a:r>
            <a:r>
              <a:rPr lang="es-ES" sz="2800" b="1" dirty="0" smtClean="0">
                <a:solidFill>
                  <a:schemeClr val="tx1"/>
                </a:solidFill>
              </a:rPr>
              <a:t>= 0.012</a:t>
            </a:r>
            <a:endParaRPr lang="en-GB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/>
      <p:bldP spid="8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upo 29"/>
          <p:cNvGrpSpPr/>
          <p:nvPr/>
        </p:nvGrpSpPr>
        <p:grpSpPr>
          <a:xfrm>
            <a:off x="6598763" y="1417009"/>
            <a:ext cx="3517641" cy="4328243"/>
            <a:chOff x="6208144" y="1417009"/>
            <a:chExt cx="3517641" cy="4328243"/>
          </a:xfrm>
        </p:grpSpPr>
        <p:pic>
          <p:nvPicPr>
            <p:cNvPr id="7" name="Imagen 6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856" r="12689" b="5721"/>
            <a:stretch/>
          </p:blipFill>
          <p:spPr>
            <a:xfrm flipH="1">
              <a:off x="6208144" y="1417009"/>
              <a:ext cx="3517641" cy="4328243"/>
            </a:xfrm>
            <a:prstGeom prst="rect">
              <a:avLst/>
            </a:prstGeom>
          </p:spPr>
        </p:pic>
        <p:sp>
          <p:nvSpPr>
            <p:cNvPr id="29" name="Rectángulo redondeado 28"/>
            <p:cNvSpPr/>
            <p:nvPr/>
          </p:nvSpPr>
          <p:spPr>
            <a:xfrm>
              <a:off x="7877656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" name="Grupo 30"/>
          <p:cNvGrpSpPr/>
          <p:nvPr/>
        </p:nvGrpSpPr>
        <p:grpSpPr>
          <a:xfrm>
            <a:off x="2673792" y="1318729"/>
            <a:ext cx="3400619" cy="4426522"/>
            <a:chOff x="2283173" y="1318729"/>
            <a:chExt cx="3400619" cy="4426522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54" r="52991" b="6300"/>
            <a:stretch/>
          </p:blipFill>
          <p:spPr>
            <a:xfrm flipH="1">
              <a:off x="2283173" y="1318729"/>
              <a:ext cx="3400619" cy="4402973"/>
            </a:xfrm>
            <a:prstGeom prst="rect">
              <a:avLst/>
            </a:prstGeom>
          </p:spPr>
        </p:pic>
        <p:sp>
          <p:nvSpPr>
            <p:cNvPr id="28" name="Rectángulo redondeado 27"/>
            <p:cNvSpPr/>
            <p:nvPr/>
          </p:nvSpPr>
          <p:spPr>
            <a:xfrm>
              <a:off x="3755254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-6834"/>
            <a:ext cx="121920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/>
              <a:t>Stronger</a:t>
            </a:r>
            <a:r>
              <a:rPr lang="es-ES" b="1" dirty="0"/>
              <a:t> </a:t>
            </a:r>
            <a:r>
              <a:rPr lang="es-ES" b="1" dirty="0" err="1" smtClean="0"/>
              <a:t>lateralization</a:t>
            </a:r>
            <a:r>
              <a:rPr lang="es-ES" b="1" dirty="0" smtClean="0"/>
              <a:t> of </a:t>
            </a:r>
            <a:r>
              <a:rPr lang="es-ES" b="1" dirty="0" err="1"/>
              <a:t>foot</a:t>
            </a:r>
            <a:r>
              <a:rPr lang="es-ES" b="1" dirty="0"/>
              <a:t> and </a:t>
            </a:r>
            <a:r>
              <a:rPr lang="es-ES" b="1" dirty="0" err="1"/>
              <a:t>eye</a:t>
            </a:r>
            <a:r>
              <a:rPr lang="es-ES" b="1" dirty="0"/>
              <a:t> in BD </a:t>
            </a:r>
            <a:r>
              <a:rPr lang="es-ES" b="1" dirty="0" err="1"/>
              <a:t>patients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12</a:t>
            </a:fld>
            <a:endParaRPr lang="en-GB"/>
          </a:p>
        </p:txBody>
      </p:sp>
      <p:grpSp>
        <p:nvGrpSpPr>
          <p:cNvPr id="13" name="Grupo 12"/>
          <p:cNvGrpSpPr/>
          <p:nvPr/>
        </p:nvGrpSpPr>
        <p:grpSpPr>
          <a:xfrm>
            <a:off x="778308" y="2418568"/>
            <a:ext cx="1636918" cy="1249621"/>
            <a:chOff x="26909" y="1432051"/>
            <a:chExt cx="1636918" cy="1249621"/>
          </a:xfrm>
        </p:grpSpPr>
        <p:pic>
          <p:nvPicPr>
            <p:cNvPr id="8" name="Google Shape;86;p17">
              <a:extLst>
                <a:ext uri="{FF2B5EF4-FFF2-40B4-BE49-F238E27FC236}">
                  <a16:creationId xmlns:a16="http://schemas.microsoft.com/office/drawing/2014/main" id="{C0A78BE3-2958-3745-B10C-C35A9F7F1CB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1827" y="1432051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CuadroTexto 9"/>
            <p:cNvSpPr txBox="1"/>
            <p:nvPr/>
          </p:nvSpPr>
          <p:spPr>
            <a:xfrm>
              <a:off x="26909" y="2281562"/>
              <a:ext cx="1633308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 smtClean="0"/>
                <a:t>436 controls</a:t>
              </a:r>
              <a:endParaRPr lang="en-GB" sz="2000" b="1" dirty="0"/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847927" y="3797878"/>
            <a:ext cx="1532692" cy="1277136"/>
            <a:chOff x="100592" y="3209364"/>
            <a:chExt cx="1532692" cy="1277136"/>
          </a:xfrm>
        </p:grpSpPr>
        <p:pic>
          <p:nvPicPr>
            <p:cNvPr id="9" name="Google Shape;85;p17">
              <a:extLst>
                <a:ext uri="{FF2B5EF4-FFF2-40B4-BE49-F238E27FC236}">
                  <a16:creationId xmlns:a16="http://schemas.microsoft.com/office/drawing/2014/main" id="{74E3E47A-A681-5DA4-D980-43CE26E23F2B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/>
          </p:blipFill>
          <p:spPr>
            <a:xfrm>
              <a:off x="110938" y="3209364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CuadroTexto 10"/>
            <p:cNvSpPr txBox="1"/>
            <p:nvPr/>
          </p:nvSpPr>
          <p:spPr>
            <a:xfrm>
              <a:off x="100592" y="4086390"/>
              <a:ext cx="1532692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 smtClean="0"/>
                <a:t>436 BD</a:t>
              </a:r>
              <a:endParaRPr lang="en-GB" sz="2000" b="1" dirty="0"/>
            </a:p>
          </p:txBody>
        </p:sp>
      </p:grpSp>
      <p:sp>
        <p:nvSpPr>
          <p:cNvPr id="14" name="Rectángulo 13"/>
          <p:cNvSpPr/>
          <p:nvPr/>
        </p:nvSpPr>
        <p:spPr>
          <a:xfrm>
            <a:off x="3277710" y="1275154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 smtClean="0">
                <a:solidFill>
                  <a:schemeClr val="tx1"/>
                </a:solidFill>
              </a:rPr>
              <a:t>Preferred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foot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5" name="Rectángulo 14"/>
          <p:cNvSpPr/>
          <p:nvPr/>
        </p:nvSpPr>
        <p:spPr>
          <a:xfrm>
            <a:off x="7413682" y="1306556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 smtClean="0">
                <a:solidFill>
                  <a:schemeClr val="tx1"/>
                </a:solidFill>
              </a:rPr>
              <a:t>Preferred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eye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22" name="Grupo 21"/>
          <p:cNvGrpSpPr/>
          <p:nvPr/>
        </p:nvGrpSpPr>
        <p:grpSpPr>
          <a:xfrm>
            <a:off x="6770387" y="5375762"/>
            <a:ext cx="3307147" cy="608325"/>
            <a:chOff x="2389251" y="5429314"/>
            <a:chExt cx="3307147" cy="608325"/>
          </a:xfrm>
        </p:grpSpPr>
        <p:grpSp>
          <p:nvGrpSpPr>
            <p:cNvPr id="23" name="Grupo 22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6" name="Rectángulo 25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 err="1" smtClean="0"/>
                <a:t>Right</a:t>
              </a:r>
              <a:endParaRPr lang="es-ES" sz="3200" b="1" dirty="0"/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779870" y="5429314"/>
            <a:ext cx="3307147" cy="608325"/>
            <a:chOff x="2389251" y="5429314"/>
            <a:chExt cx="3307147" cy="608325"/>
          </a:xfrm>
        </p:grpSpPr>
        <p:grpSp>
          <p:nvGrpSpPr>
            <p:cNvPr id="16" name="Grupo 15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 err="1" smtClean="0"/>
                <a:t>Right</a:t>
              </a:r>
              <a:endParaRPr lang="es-ES" sz="3200" b="1" dirty="0"/>
            </a:p>
          </p:txBody>
        </p:sp>
      </p:grpSp>
      <p:sp>
        <p:nvSpPr>
          <p:cNvPr id="32" name="CuadroTexto 31"/>
          <p:cNvSpPr txBox="1"/>
          <p:nvPr/>
        </p:nvSpPr>
        <p:spPr>
          <a:xfrm>
            <a:off x="2779870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Wilcox</a:t>
            </a:r>
            <a:r>
              <a:rPr lang="es-ES" sz="2400" b="1" dirty="0" smtClean="0"/>
              <a:t> </a:t>
            </a:r>
            <a:r>
              <a:rPr lang="es-ES" sz="2400" b="1" i="1" dirty="0" smtClean="0"/>
              <a:t>P</a:t>
            </a:r>
            <a:r>
              <a:rPr lang="es-ES" sz="2400" b="1" dirty="0" smtClean="0"/>
              <a:t> = 6.57E-05</a:t>
            </a:r>
            <a:endParaRPr lang="en-GB" sz="2400" b="1" dirty="0"/>
          </a:p>
        </p:txBody>
      </p:sp>
      <p:sp>
        <p:nvSpPr>
          <p:cNvPr id="34" name="CuadroTexto 33"/>
          <p:cNvSpPr txBox="1"/>
          <p:nvPr/>
        </p:nvSpPr>
        <p:spPr>
          <a:xfrm>
            <a:off x="6935371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Wilcox</a:t>
            </a:r>
            <a:r>
              <a:rPr lang="es-ES" sz="2400" b="1" dirty="0" smtClean="0"/>
              <a:t> </a:t>
            </a:r>
            <a:r>
              <a:rPr lang="es-ES" sz="2400" b="1" i="1" dirty="0" smtClean="0"/>
              <a:t>P</a:t>
            </a:r>
            <a:r>
              <a:rPr lang="es-ES" sz="2400" b="1" dirty="0" smtClean="0"/>
              <a:t> = 0.015</a:t>
            </a:r>
            <a:endParaRPr lang="en-GB" sz="2400" b="1" dirty="0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43952" r="6442" b="48863"/>
          <a:stretch/>
        </p:blipFill>
        <p:spPr>
          <a:xfrm>
            <a:off x="206996" y="2517485"/>
            <a:ext cx="800226" cy="726965"/>
          </a:xfrm>
          <a:prstGeom prst="rect">
            <a:avLst/>
          </a:prstGeom>
        </p:spPr>
      </p:pic>
      <p:pic>
        <p:nvPicPr>
          <p:cNvPr id="36" name="Imagen 3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51157" r="6701" b="42227"/>
          <a:stretch/>
        </p:blipFill>
        <p:spPr>
          <a:xfrm>
            <a:off x="206996" y="3944741"/>
            <a:ext cx="733388" cy="653666"/>
          </a:xfrm>
          <a:prstGeom prst="rect">
            <a:avLst/>
          </a:prstGeom>
        </p:spPr>
      </p:pic>
      <p:sp>
        <p:nvSpPr>
          <p:cNvPr id="37" name="CuadroTexto 3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76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smtClean="0"/>
              <a:t>Sex-</a:t>
            </a:r>
            <a:r>
              <a:rPr lang="es-ES" b="1" dirty="0" err="1" smtClean="0"/>
              <a:t>stratified</a:t>
            </a:r>
            <a:r>
              <a:rPr lang="es-ES" b="1" dirty="0" smtClean="0"/>
              <a:t> </a:t>
            </a:r>
            <a:r>
              <a:rPr lang="es-ES" b="1" dirty="0" err="1" smtClean="0"/>
              <a:t>analyses</a:t>
            </a:r>
            <a:endParaRPr lang="en-GB" b="1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374" y="849130"/>
            <a:ext cx="1547674" cy="1175682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111" y="871851"/>
            <a:ext cx="1481887" cy="1177200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2728816" y="1622995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262 </a:t>
            </a:r>
            <a:r>
              <a:rPr lang="es-ES" sz="2400" b="1" dirty="0" err="1" smtClean="0"/>
              <a:t>females</a:t>
            </a:r>
            <a:endParaRPr lang="en-GB" sz="2400" b="1" dirty="0"/>
          </a:p>
        </p:txBody>
      </p:sp>
      <p:sp>
        <p:nvSpPr>
          <p:cNvPr id="25" name="CuadroTexto 24"/>
          <p:cNvSpPr txBox="1"/>
          <p:nvPr/>
        </p:nvSpPr>
        <p:spPr>
          <a:xfrm>
            <a:off x="5160256" y="1618882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174 males</a:t>
            </a:r>
            <a:endParaRPr lang="en-GB" dirty="0"/>
          </a:p>
        </p:txBody>
      </p:sp>
      <p:sp>
        <p:nvSpPr>
          <p:cNvPr id="26" name="CuadroTexto 25"/>
          <p:cNvSpPr txBox="1"/>
          <p:nvPr/>
        </p:nvSpPr>
        <p:spPr>
          <a:xfrm>
            <a:off x="2675976" y="2153165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4.96 %</a:t>
            </a:r>
          </a:p>
          <a:p>
            <a:pPr algn="ctr"/>
            <a:r>
              <a:rPr lang="es-ES" sz="3200" b="1" dirty="0" smtClean="0"/>
              <a:t>7.25 %</a:t>
            </a:r>
          </a:p>
          <a:p>
            <a:pPr algn="ctr"/>
            <a:r>
              <a:rPr lang="es-ES" sz="3200" b="1" dirty="0" smtClean="0"/>
              <a:t>63.22 %</a:t>
            </a:r>
          </a:p>
        </p:txBody>
      </p:sp>
      <p:sp>
        <p:nvSpPr>
          <p:cNvPr id="27" name="CuadroTexto 26"/>
          <p:cNvSpPr txBox="1"/>
          <p:nvPr/>
        </p:nvSpPr>
        <p:spPr>
          <a:xfrm>
            <a:off x="5098831" y="2100382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9.20 %</a:t>
            </a:r>
          </a:p>
          <a:p>
            <a:pPr algn="ctr"/>
            <a:r>
              <a:rPr lang="es-ES" sz="3200" b="1" dirty="0" smtClean="0"/>
              <a:t>14.37 %</a:t>
            </a:r>
          </a:p>
          <a:p>
            <a:pPr algn="ctr"/>
            <a:r>
              <a:rPr lang="es-ES" sz="3200" b="1" dirty="0" smtClean="0"/>
              <a:t>51.15%</a:t>
            </a: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13</a:t>
            </a:fld>
            <a:endParaRPr lang="en-GB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9" name="Grupo 38"/>
          <p:cNvGrpSpPr/>
          <p:nvPr/>
        </p:nvGrpSpPr>
        <p:grpSpPr>
          <a:xfrm>
            <a:off x="1079433" y="2194467"/>
            <a:ext cx="1483691" cy="584775"/>
            <a:chOff x="344755" y="2548177"/>
            <a:chExt cx="1483691" cy="584775"/>
          </a:xfrm>
        </p:grpSpPr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3" name="Grupo 42"/>
          <p:cNvGrpSpPr/>
          <p:nvPr/>
        </p:nvGrpSpPr>
        <p:grpSpPr>
          <a:xfrm>
            <a:off x="1065773" y="2710365"/>
            <a:ext cx="1506182" cy="584775"/>
            <a:chOff x="326999" y="3152666"/>
            <a:chExt cx="1506182" cy="584775"/>
          </a:xfrm>
        </p:grpSpPr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47" name="Grupo 46"/>
          <p:cNvGrpSpPr/>
          <p:nvPr/>
        </p:nvGrpSpPr>
        <p:grpSpPr>
          <a:xfrm>
            <a:off x="1058224" y="3223991"/>
            <a:ext cx="1601110" cy="584775"/>
            <a:chOff x="314668" y="3781782"/>
            <a:chExt cx="1601110" cy="584775"/>
          </a:xfrm>
        </p:grpSpPr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9" name="Rectángulo 48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ángulo 49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grpSp>
        <p:nvGrpSpPr>
          <p:cNvPr id="52" name="Grupo 51"/>
          <p:cNvGrpSpPr/>
          <p:nvPr/>
        </p:nvGrpSpPr>
        <p:grpSpPr>
          <a:xfrm>
            <a:off x="1079433" y="4859897"/>
            <a:ext cx="1483691" cy="584775"/>
            <a:chOff x="344755" y="2548177"/>
            <a:chExt cx="1483691" cy="584775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56" name="Grupo 55"/>
          <p:cNvGrpSpPr/>
          <p:nvPr/>
        </p:nvGrpSpPr>
        <p:grpSpPr>
          <a:xfrm>
            <a:off x="1065773" y="5375795"/>
            <a:ext cx="1506182" cy="584775"/>
            <a:chOff x="326999" y="3152666"/>
            <a:chExt cx="1506182" cy="584775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60" name="Grupo 59"/>
          <p:cNvGrpSpPr/>
          <p:nvPr/>
        </p:nvGrpSpPr>
        <p:grpSpPr>
          <a:xfrm>
            <a:off x="1058224" y="5889421"/>
            <a:ext cx="1601110" cy="584775"/>
            <a:chOff x="314668" y="3781782"/>
            <a:chExt cx="1601110" cy="584775"/>
          </a:xfrm>
        </p:grpSpPr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2" name="Rectángulo 61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tángulo 62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pic>
        <p:nvPicPr>
          <p:cNvPr id="6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>
          <a:xfrm>
            <a:off x="5509146" y="3663315"/>
            <a:ext cx="1479600" cy="11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68" y="3670042"/>
            <a:ext cx="1479408" cy="1152000"/>
          </a:xfrm>
          <a:prstGeom prst="rect">
            <a:avLst/>
          </a:prstGeom>
        </p:spPr>
      </p:pic>
      <p:sp>
        <p:nvSpPr>
          <p:cNvPr id="67" name="CuadroTexto 66"/>
          <p:cNvSpPr txBox="1"/>
          <p:nvPr/>
        </p:nvSpPr>
        <p:spPr>
          <a:xfrm>
            <a:off x="651485" y="1579082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err="1" smtClean="0"/>
              <a:t>Controls</a:t>
            </a:r>
            <a:endParaRPr lang="en-GB" sz="2800" b="1" dirty="0"/>
          </a:p>
        </p:txBody>
      </p:sp>
      <p:sp>
        <p:nvSpPr>
          <p:cNvPr id="68" name="CuadroTexto 67"/>
          <p:cNvSpPr txBox="1"/>
          <p:nvPr/>
        </p:nvSpPr>
        <p:spPr>
          <a:xfrm>
            <a:off x="254489" y="4309537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BD</a:t>
            </a:r>
            <a:endParaRPr lang="en-GB" sz="2800" b="1" dirty="0"/>
          </a:p>
        </p:txBody>
      </p:sp>
      <p:sp>
        <p:nvSpPr>
          <p:cNvPr id="69" name="CuadroTexto 68"/>
          <p:cNvSpPr txBox="1"/>
          <p:nvPr/>
        </p:nvSpPr>
        <p:spPr>
          <a:xfrm>
            <a:off x="5098831" y="4447175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166 males</a:t>
            </a:r>
            <a:endParaRPr lang="en-GB" dirty="0"/>
          </a:p>
        </p:txBody>
      </p:sp>
      <p:sp>
        <p:nvSpPr>
          <p:cNvPr id="70" name="CuadroTexto 69"/>
          <p:cNvSpPr txBox="1"/>
          <p:nvPr/>
        </p:nvSpPr>
        <p:spPr>
          <a:xfrm>
            <a:off x="2659334" y="4429532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270 </a:t>
            </a:r>
            <a:r>
              <a:rPr lang="es-ES" dirty="0" err="1"/>
              <a:t>females</a:t>
            </a:r>
            <a:endParaRPr lang="en-GB" dirty="0"/>
          </a:p>
        </p:txBody>
      </p:sp>
      <p:sp>
        <p:nvSpPr>
          <p:cNvPr id="71" name="CuadroTexto 70"/>
          <p:cNvSpPr txBox="1"/>
          <p:nvPr/>
        </p:nvSpPr>
        <p:spPr>
          <a:xfrm>
            <a:off x="2713682" y="4910760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6.67 %</a:t>
            </a:r>
          </a:p>
          <a:p>
            <a:pPr algn="ctr"/>
            <a:r>
              <a:rPr lang="es-ES" sz="3200" b="1" dirty="0" smtClean="0"/>
              <a:t>10.37 %</a:t>
            </a:r>
          </a:p>
          <a:p>
            <a:pPr algn="ctr"/>
            <a:r>
              <a:rPr lang="es-ES" sz="3200" b="1" dirty="0" smtClean="0"/>
              <a:t>69.63 %</a:t>
            </a:r>
          </a:p>
        </p:txBody>
      </p:sp>
      <p:sp>
        <p:nvSpPr>
          <p:cNvPr id="72" name="CuadroTexto 71"/>
          <p:cNvSpPr txBox="1"/>
          <p:nvPr/>
        </p:nvSpPr>
        <p:spPr>
          <a:xfrm>
            <a:off x="5078566" y="4893677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8.43 %</a:t>
            </a:r>
          </a:p>
          <a:p>
            <a:pPr algn="ctr"/>
            <a:r>
              <a:rPr lang="es-ES" sz="3200" b="1" dirty="0" smtClean="0"/>
              <a:t>15.06 %</a:t>
            </a:r>
          </a:p>
          <a:p>
            <a:pPr algn="ctr"/>
            <a:r>
              <a:rPr lang="es-ES" sz="3200" b="1" dirty="0" smtClean="0"/>
              <a:t>63.83%</a:t>
            </a:r>
          </a:p>
        </p:txBody>
      </p:sp>
      <p:sp>
        <p:nvSpPr>
          <p:cNvPr id="5" name="Rectángulo redondeado 4"/>
          <p:cNvSpPr/>
          <p:nvPr/>
        </p:nvSpPr>
        <p:spPr>
          <a:xfrm>
            <a:off x="2713682" y="719092"/>
            <a:ext cx="4690096" cy="2932898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uadroTexto 5"/>
          <p:cNvSpPr txBox="1"/>
          <p:nvPr/>
        </p:nvSpPr>
        <p:spPr>
          <a:xfrm>
            <a:off x="7831961" y="1314914"/>
            <a:ext cx="3637989" cy="1384995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 smtClean="0"/>
              <a:t>Higher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prevalence</a:t>
            </a:r>
            <a:r>
              <a:rPr lang="es-ES" sz="2800" b="1" dirty="0" smtClean="0"/>
              <a:t> of </a:t>
            </a:r>
            <a:r>
              <a:rPr lang="es-ES" sz="2800" b="1" dirty="0" err="1" smtClean="0"/>
              <a:t>atypical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handedness</a:t>
            </a:r>
            <a:r>
              <a:rPr lang="es-ES" sz="2800" b="1" dirty="0" smtClean="0"/>
              <a:t> (AH) in males</a:t>
            </a:r>
            <a:endParaRPr lang="en-GB" sz="2800" b="1" dirty="0"/>
          </a:p>
        </p:txBody>
      </p:sp>
      <p:sp>
        <p:nvSpPr>
          <p:cNvPr id="73" name="Rectángulo redondeado 72"/>
          <p:cNvSpPr/>
          <p:nvPr/>
        </p:nvSpPr>
        <p:spPr>
          <a:xfrm>
            <a:off x="2761149" y="3734150"/>
            <a:ext cx="4690096" cy="3023098"/>
          </a:xfrm>
          <a:prstGeom prst="roundRect">
            <a:avLst/>
          </a:prstGeom>
          <a:noFill/>
          <a:ln w="57150">
            <a:solidFill>
              <a:srgbClr val="7030A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CuadroTexto 73"/>
          <p:cNvSpPr txBox="1"/>
          <p:nvPr/>
        </p:nvSpPr>
        <p:spPr>
          <a:xfrm>
            <a:off x="7862602" y="2850661"/>
            <a:ext cx="3607348" cy="95410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 smtClean="0"/>
              <a:t>Higher</a:t>
            </a:r>
            <a:r>
              <a:rPr lang="es-ES" sz="2800" b="1" dirty="0" smtClean="0"/>
              <a:t> AH in males, </a:t>
            </a:r>
            <a:r>
              <a:rPr lang="es-ES" sz="2800" b="1" dirty="0" err="1" smtClean="0"/>
              <a:t>but</a:t>
            </a:r>
            <a:r>
              <a:rPr lang="es-ES" sz="2800" b="1" dirty="0" smtClean="0"/>
              <a:t> NS</a:t>
            </a:r>
            <a:endParaRPr lang="en-GB" sz="2800" b="1" dirty="0"/>
          </a:p>
        </p:txBody>
      </p:sp>
      <p:sp>
        <p:nvSpPr>
          <p:cNvPr id="75" name="CuadroTexto 74"/>
          <p:cNvSpPr txBox="1"/>
          <p:nvPr/>
        </p:nvSpPr>
        <p:spPr>
          <a:xfrm>
            <a:off x="7862602" y="3955520"/>
            <a:ext cx="3607348" cy="954107"/>
          </a:xfrm>
          <a:prstGeom prst="rect">
            <a:avLst/>
          </a:prstGeom>
          <a:noFill/>
          <a:ln w="57150">
            <a:solidFill>
              <a:srgbClr val="E94999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smtClean="0"/>
              <a:t>BD </a:t>
            </a:r>
            <a:r>
              <a:rPr lang="es-ES" sz="2800" b="1" dirty="0" err="1" smtClean="0"/>
              <a:t>females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slighly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higher</a:t>
            </a:r>
            <a:r>
              <a:rPr lang="es-ES" sz="2800" b="1" dirty="0" smtClean="0"/>
              <a:t> AH</a:t>
            </a:r>
            <a:r>
              <a:rPr lang="es-ES" sz="2800" b="1" dirty="0"/>
              <a:t>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6" name="Rectángulo redondeado 75"/>
          <p:cNvSpPr/>
          <p:nvPr/>
        </p:nvSpPr>
        <p:spPr>
          <a:xfrm>
            <a:off x="2804154" y="753668"/>
            <a:ext cx="2178401" cy="6003580"/>
          </a:xfrm>
          <a:prstGeom prst="roundRect">
            <a:avLst/>
          </a:prstGeom>
          <a:noFill/>
          <a:ln w="57150">
            <a:solidFill>
              <a:srgbClr val="E94999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CuadroTexto 76"/>
          <p:cNvSpPr txBox="1"/>
          <p:nvPr/>
        </p:nvSpPr>
        <p:spPr>
          <a:xfrm>
            <a:off x="7847281" y="5141479"/>
            <a:ext cx="3607347" cy="954107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smtClean="0"/>
              <a:t>BD males </a:t>
            </a:r>
            <a:r>
              <a:rPr lang="es-ES" sz="2800" b="1" dirty="0" err="1" smtClean="0"/>
              <a:t>slighly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higher</a:t>
            </a:r>
            <a:r>
              <a:rPr lang="es-ES" sz="2800" b="1" dirty="0" smtClean="0"/>
              <a:t> NRH + LAT,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8" name="Rectángulo redondeado 77"/>
          <p:cNvSpPr/>
          <p:nvPr/>
        </p:nvSpPr>
        <p:spPr>
          <a:xfrm>
            <a:off x="5122650" y="735615"/>
            <a:ext cx="2178401" cy="6003580"/>
          </a:xfrm>
          <a:prstGeom prst="roundRect">
            <a:avLst/>
          </a:prstGeom>
          <a:noFill/>
          <a:ln w="57150">
            <a:solidFill>
              <a:schemeClr val="accent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4810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73710" y="1"/>
            <a:ext cx="10515600" cy="875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Mixed-users</a:t>
            </a:r>
            <a:r>
              <a:rPr lang="es-ES" b="1" dirty="0" smtClean="0"/>
              <a:t> </a:t>
            </a:r>
            <a:r>
              <a:rPr lang="es-ES" b="1" dirty="0" err="1" smtClean="0"/>
              <a:t>present</a:t>
            </a:r>
            <a:r>
              <a:rPr lang="es-ES" b="1" dirty="0" smtClean="0"/>
              <a:t> </a:t>
            </a:r>
            <a:r>
              <a:rPr lang="es-ES" b="1" dirty="0" err="1" smtClean="0"/>
              <a:t>higher</a:t>
            </a:r>
            <a:r>
              <a:rPr lang="es-ES" b="1" dirty="0" smtClean="0"/>
              <a:t> </a:t>
            </a:r>
            <a:r>
              <a:rPr lang="es-ES" b="1" dirty="0" err="1" smtClean="0"/>
              <a:t>severity</a:t>
            </a:r>
            <a:endParaRPr lang="en-GB" b="1" dirty="0"/>
          </a:p>
        </p:txBody>
      </p:sp>
      <p:pic>
        <p:nvPicPr>
          <p:cNvPr id="3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49862" y="2473381"/>
            <a:ext cx="1369981" cy="119600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/>
          <p:cNvSpPr txBox="1"/>
          <p:nvPr/>
        </p:nvSpPr>
        <p:spPr>
          <a:xfrm>
            <a:off x="301993" y="3370501"/>
            <a:ext cx="825349" cy="1077218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pic>
        <p:nvPicPr>
          <p:cNvPr id="6" name="Google Shape;132;p21" title="Boxplot_WHODAS_over_thresholds.png">
            <a:extLst>
              <a:ext uri="{FF2B5EF4-FFF2-40B4-BE49-F238E27FC236}">
                <a16:creationId xmlns:a16="http://schemas.microsoft.com/office/drawing/2014/main" id="{704CC2F5-586D-37F2-0EB1-D7AF6C93E5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9670" t="8643" b="52035"/>
          <a:stretch/>
        </p:blipFill>
        <p:spPr>
          <a:xfrm>
            <a:off x="3247503" y="90421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769DE88-D8DE-877E-2DA6-7B5F6046BC29}"/>
              </a:ext>
            </a:extLst>
          </p:cNvPr>
          <p:cNvSpPr txBox="1"/>
          <p:nvPr/>
        </p:nvSpPr>
        <p:spPr>
          <a:xfrm>
            <a:off x="1433984" y="1366899"/>
            <a:ext cx="163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WHODAS</a:t>
            </a:r>
          </a:p>
          <a:p>
            <a:pPr algn="ctr"/>
            <a:r>
              <a:rPr lang="es-ES" sz="2000" dirty="0"/>
              <a:t>WHO Disability Assessment Schedule</a:t>
            </a:r>
          </a:p>
          <a:p>
            <a:pPr algn="ctr"/>
            <a:r>
              <a:rPr lang="es-ES" sz="2000" b="1" i="1" dirty="0" smtClean="0"/>
              <a:t>P=0.03*</a:t>
            </a:r>
            <a:endParaRPr lang="es-ES" sz="2000" b="1" i="1" dirty="0"/>
          </a:p>
        </p:txBody>
      </p:sp>
      <p:pic>
        <p:nvPicPr>
          <p:cNvPr id="8" name="Google Shape;142;p22" title="Boxplot_GAF_over_thresholds.png">
            <a:extLst>
              <a:ext uri="{FF2B5EF4-FFF2-40B4-BE49-F238E27FC236}">
                <a16:creationId xmlns:a16="http://schemas.microsoft.com/office/drawing/2014/main" id="{6728082F-B8A0-B984-A295-3961F0CA3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8169" t="8747" b="51050"/>
          <a:stretch/>
        </p:blipFill>
        <p:spPr>
          <a:xfrm>
            <a:off x="3270162" y="3863845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BA46921-7C10-2DD9-E752-EFA3010D80E0}"/>
              </a:ext>
            </a:extLst>
          </p:cNvPr>
          <p:cNvSpPr txBox="1"/>
          <p:nvPr/>
        </p:nvSpPr>
        <p:spPr>
          <a:xfrm>
            <a:off x="1405350" y="4208802"/>
            <a:ext cx="16882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GAF</a:t>
            </a:r>
          </a:p>
          <a:p>
            <a:pPr algn="ctr"/>
            <a:r>
              <a:rPr lang="es-ES" sz="2000" dirty="0"/>
              <a:t>Global Assessment of Functioning</a:t>
            </a:r>
          </a:p>
          <a:p>
            <a:pPr algn="ctr"/>
            <a:r>
              <a:rPr lang="es-ES" sz="2000" b="1" i="1" dirty="0" smtClean="0"/>
              <a:t>P=0.03*</a:t>
            </a:r>
            <a:endParaRPr lang="es-ES" sz="2000" b="1" i="1" dirty="0"/>
          </a:p>
        </p:txBody>
      </p:sp>
      <p:pic>
        <p:nvPicPr>
          <p:cNvPr id="10" name="Google Shape;152;p23" title="Boxplot_INES__over_thresholds.png">
            <a:extLst>
              <a:ext uri="{FF2B5EF4-FFF2-40B4-BE49-F238E27FC236}">
                <a16:creationId xmlns:a16="http://schemas.microsoft.com/office/drawing/2014/main" id="{D16FAC4A-EC61-2DFD-D229-1D2382FFC0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68373" t="9054" b="51537"/>
          <a:stretch/>
        </p:blipFill>
        <p:spPr>
          <a:xfrm>
            <a:off x="7069634" y="1190299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A5C8925-CD05-757B-899B-82F113C50BEA}"/>
              </a:ext>
            </a:extLst>
          </p:cNvPr>
          <p:cNvSpPr txBox="1"/>
          <p:nvPr/>
        </p:nvSpPr>
        <p:spPr>
          <a:xfrm>
            <a:off x="5327785" y="1431509"/>
            <a:ext cx="17418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INES</a:t>
            </a:r>
          </a:p>
          <a:p>
            <a:pPr algn="ctr"/>
            <a:r>
              <a:rPr lang="es-ES" sz="2000" dirty="0"/>
              <a:t>Index of Number of Events and Severity</a:t>
            </a:r>
          </a:p>
          <a:p>
            <a:pPr algn="ctr"/>
            <a:r>
              <a:rPr lang="es-ES" sz="2000" b="1" i="1" dirty="0" smtClean="0"/>
              <a:t>P=0.016**</a:t>
            </a:r>
            <a:endParaRPr lang="es-ES" sz="2000" b="1" i="1" dirty="0"/>
          </a:p>
        </p:txBody>
      </p:sp>
      <p:pic>
        <p:nvPicPr>
          <p:cNvPr id="12" name="Google Shape;163;p24" title="Boxplot_CGI_over_thresholds.png">
            <a:extLst>
              <a:ext uri="{FF2B5EF4-FFF2-40B4-BE49-F238E27FC236}">
                <a16:creationId xmlns:a16="http://schemas.microsoft.com/office/drawing/2014/main" id="{CDF80EC1-FF9F-A748-16D8-59E0E59BE8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7333" t="9367" b="50731"/>
          <a:stretch/>
        </p:blipFill>
        <p:spPr>
          <a:xfrm>
            <a:off x="6980858" y="390050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D8D8F779-0EAE-B67A-1386-680A06F44F6C}"/>
              </a:ext>
            </a:extLst>
          </p:cNvPr>
          <p:cNvSpPr txBox="1"/>
          <p:nvPr/>
        </p:nvSpPr>
        <p:spPr>
          <a:xfrm>
            <a:off x="5455606" y="4208802"/>
            <a:ext cx="16140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CGI</a:t>
            </a:r>
          </a:p>
          <a:p>
            <a:pPr algn="ctr"/>
            <a:r>
              <a:rPr lang="es-ES" sz="2000" dirty="0"/>
              <a:t>Clinical Global Impression</a:t>
            </a:r>
          </a:p>
          <a:p>
            <a:pPr algn="ctr"/>
            <a:r>
              <a:rPr lang="es-ES" sz="2000" b="1" i="1" dirty="0" smtClean="0"/>
              <a:t>P=0.04</a:t>
            </a:r>
            <a:endParaRPr lang="es-ES" sz="2000" b="1" i="1" dirty="0"/>
          </a:p>
        </p:txBody>
      </p:sp>
      <p:sp>
        <p:nvSpPr>
          <p:cNvPr id="24" name="Rectángulo redondeado 23"/>
          <p:cNvSpPr/>
          <p:nvPr/>
        </p:nvSpPr>
        <p:spPr>
          <a:xfrm>
            <a:off x="9342326" y="3974453"/>
            <a:ext cx="2655786" cy="2372103"/>
          </a:xfrm>
          <a:prstGeom prst="roundRect">
            <a:avLst>
              <a:gd name="adj" fmla="val 0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NRH, and </a:t>
            </a:r>
            <a:r>
              <a:rPr lang="es-ES" sz="2400" b="1" dirty="0" err="1" smtClean="0">
                <a:solidFill>
                  <a:schemeClr val="tx1"/>
                </a:solidFill>
              </a:rPr>
              <a:t>specifically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u="sng" dirty="0" err="1" smtClean="0">
                <a:solidFill>
                  <a:schemeClr val="tx1"/>
                </a:solidFill>
              </a:rPr>
              <a:t>mixed-users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individuals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presented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higher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severity</a:t>
            </a:r>
            <a:r>
              <a:rPr lang="es-ES" sz="2400" b="1" dirty="0" smtClean="0">
                <a:solidFill>
                  <a:schemeClr val="tx1"/>
                </a:solidFill>
              </a:rPr>
              <a:t> scores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43" name="Grupo 42"/>
          <p:cNvGrpSpPr/>
          <p:nvPr/>
        </p:nvGrpSpPr>
        <p:grpSpPr>
          <a:xfrm>
            <a:off x="9600463" y="2196341"/>
            <a:ext cx="2436912" cy="1323439"/>
            <a:chOff x="905671" y="4154834"/>
            <a:chExt cx="2193041" cy="1323439"/>
          </a:xfrm>
        </p:grpSpPr>
        <p:sp>
          <p:nvSpPr>
            <p:cNvPr id="39" name="Rectángulo 38"/>
            <p:cNvSpPr/>
            <p:nvPr/>
          </p:nvSpPr>
          <p:spPr>
            <a:xfrm>
              <a:off x="905671" y="4193007"/>
              <a:ext cx="269290" cy="292135"/>
            </a:xfrm>
            <a:prstGeom prst="rect">
              <a:avLst/>
            </a:prstGeom>
            <a:solidFill>
              <a:srgbClr val="FCC8C4"/>
            </a:solidFill>
            <a:ln>
              <a:solidFill>
                <a:srgbClr val="FCC8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ángulo 39"/>
            <p:cNvSpPr/>
            <p:nvPr/>
          </p:nvSpPr>
          <p:spPr>
            <a:xfrm>
              <a:off x="913659" y="4505484"/>
              <a:ext cx="269290" cy="292135"/>
            </a:xfrm>
            <a:prstGeom prst="rect">
              <a:avLst/>
            </a:prstGeom>
            <a:solidFill>
              <a:srgbClr val="99E3AF"/>
            </a:solidFill>
            <a:ln>
              <a:solidFill>
                <a:srgbClr val="99E3A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ángulo 40"/>
            <p:cNvSpPr/>
            <p:nvPr/>
          </p:nvSpPr>
          <p:spPr>
            <a:xfrm>
              <a:off x="913660" y="4817961"/>
              <a:ext cx="269290" cy="292135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CuadroTexto 41"/>
            <p:cNvSpPr txBox="1"/>
            <p:nvPr/>
          </p:nvSpPr>
          <p:spPr>
            <a:xfrm>
              <a:off x="1134481" y="4154834"/>
              <a:ext cx="196423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000" dirty="0" err="1" smtClean="0"/>
                <a:t>Left</a:t>
              </a:r>
              <a:r>
                <a:rPr lang="es-ES" sz="2000" dirty="0" smtClean="0"/>
                <a:t> (N=7-14)</a:t>
              </a:r>
            </a:p>
            <a:p>
              <a:r>
                <a:rPr lang="es-ES" sz="2000" dirty="0" err="1" smtClean="0"/>
                <a:t>Mixed</a:t>
              </a:r>
              <a:r>
                <a:rPr lang="es-ES" sz="2000" dirty="0" smtClean="0"/>
                <a:t> </a:t>
              </a:r>
              <a:r>
                <a:rPr lang="es-ES" sz="2000" dirty="0"/>
                <a:t>(N=20-24</a:t>
              </a:r>
              <a:r>
                <a:rPr lang="es-ES" sz="2000" dirty="0" smtClean="0"/>
                <a:t>)</a:t>
              </a:r>
            </a:p>
            <a:p>
              <a:r>
                <a:rPr lang="es-ES" sz="2000" dirty="0" err="1" smtClean="0"/>
                <a:t>Right</a:t>
              </a:r>
              <a:r>
                <a:rPr lang="es-ES" sz="2000" dirty="0" smtClean="0"/>
                <a:t> </a:t>
              </a:r>
              <a:r>
                <a:rPr lang="es-ES" sz="2000" dirty="0"/>
                <a:t>(N=257-304</a:t>
              </a:r>
              <a:r>
                <a:rPr lang="es-ES" sz="2000" dirty="0" smtClean="0"/>
                <a:t>)</a:t>
              </a:r>
              <a:endParaRPr lang="en-GB" sz="2000" dirty="0"/>
            </a:p>
          </p:txBody>
        </p:sp>
      </p:grpSp>
      <p:sp>
        <p:nvSpPr>
          <p:cNvPr id="14" name="Marcador de número de diapositiva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14</a:t>
            </a:fld>
            <a:endParaRPr lang="en-GB"/>
          </a:p>
        </p:txBody>
      </p:sp>
      <p:sp>
        <p:nvSpPr>
          <p:cNvPr id="22" name="CuadroTexto 2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1" y="121220"/>
            <a:ext cx="12192001" cy="682440"/>
          </a:xfrm>
        </p:spPr>
        <p:txBody>
          <a:bodyPr>
            <a:noAutofit/>
          </a:bodyPr>
          <a:lstStyle/>
          <a:p>
            <a:pPr algn="ctr"/>
            <a:r>
              <a:rPr lang="es-ES" sz="4000" b="1" dirty="0" err="1" smtClean="0"/>
              <a:t>Polygenic</a:t>
            </a:r>
            <a:r>
              <a:rPr lang="es-ES" sz="4000" b="1" dirty="0" smtClean="0"/>
              <a:t> Score (PS): </a:t>
            </a:r>
            <a:r>
              <a:rPr lang="es-ES" sz="4000" b="1" dirty="0"/>
              <a:t>individual </a:t>
            </a:r>
            <a:r>
              <a:rPr lang="es-ES" sz="4000" b="1" dirty="0" err="1"/>
              <a:t>genetic</a:t>
            </a:r>
            <a:r>
              <a:rPr lang="es-ES" sz="4000" b="1" dirty="0"/>
              <a:t> </a:t>
            </a:r>
            <a:r>
              <a:rPr lang="es-ES" sz="4000" b="1" dirty="0" err="1"/>
              <a:t>liability</a:t>
            </a:r>
            <a:r>
              <a:rPr lang="es-ES" sz="4000" b="1" dirty="0"/>
              <a:t> to a </a:t>
            </a:r>
            <a:r>
              <a:rPr lang="es-ES" sz="4000" b="1" dirty="0" err="1"/>
              <a:t>trait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15</a:t>
            </a:fld>
            <a:endParaRPr lang="en-GB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95" t="7039" r="8863" b="56352"/>
          <a:stretch/>
        </p:blipFill>
        <p:spPr>
          <a:xfrm>
            <a:off x="902464" y="4062742"/>
            <a:ext cx="5408290" cy="2407759"/>
          </a:xfrm>
          <a:prstGeom prst="rect">
            <a:avLst/>
          </a:prstGeom>
        </p:spPr>
      </p:pic>
      <p:sp>
        <p:nvSpPr>
          <p:cNvPr id="10" name="Left Brace 33"/>
          <p:cNvSpPr/>
          <p:nvPr/>
        </p:nvSpPr>
        <p:spPr>
          <a:xfrm rot="16200000">
            <a:off x="3364182" y="1147723"/>
            <a:ext cx="484855" cy="4982546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uadroTexto 30"/>
          <p:cNvSpPr txBox="1"/>
          <p:nvPr/>
        </p:nvSpPr>
        <p:spPr>
          <a:xfrm>
            <a:off x="3349812" y="2096896"/>
            <a:ext cx="776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 smtClean="0">
                <a:latin typeface="Didot"/>
              </a:rPr>
              <a:t>+</a:t>
            </a:r>
            <a:endParaRPr lang="en-GB" sz="4000" b="1" dirty="0">
              <a:latin typeface="Didot"/>
            </a:endParaRPr>
          </a:p>
        </p:txBody>
      </p:sp>
      <p:sp>
        <p:nvSpPr>
          <p:cNvPr id="13" name="Rectángulo redondeado 12"/>
          <p:cNvSpPr/>
          <p:nvPr/>
        </p:nvSpPr>
        <p:spPr>
          <a:xfrm>
            <a:off x="4345148" y="2914990"/>
            <a:ext cx="1384126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SNP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5" name="Picture 2" descr="Fig.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034" y="1170162"/>
            <a:ext cx="2056043" cy="788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xtended Data Fig. 4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799"/>
          <a:stretch/>
        </p:blipFill>
        <p:spPr bwMode="auto">
          <a:xfrm>
            <a:off x="1371175" y="2014373"/>
            <a:ext cx="1949762" cy="84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ángulo redondeado 16"/>
          <p:cNvSpPr/>
          <p:nvPr/>
        </p:nvSpPr>
        <p:spPr>
          <a:xfrm>
            <a:off x="1497960" y="2891468"/>
            <a:ext cx="1673799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GWAS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45148" y="1345048"/>
            <a:ext cx="1684867" cy="1176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3960771" y="1876952"/>
            <a:ext cx="1668435" cy="117736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Flecha derecha 20"/>
          <p:cNvSpPr/>
          <p:nvPr/>
        </p:nvSpPr>
        <p:spPr>
          <a:xfrm>
            <a:off x="6287524" y="3601193"/>
            <a:ext cx="594610" cy="37089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ángulo redondeado 21"/>
          <p:cNvSpPr/>
          <p:nvPr/>
        </p:nvSpPr>
        <p:spPr>
          <a:xfrm>
            <a:off x="6902662" y="2604288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 smtClean="0">
                <a:solidFill>
                  <a:schemeClr val="tx1"/>
                </a:solidFill>
              </a:rPr>
              <a:t>Is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handedness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influenced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by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genetic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liability</a:t>
            </a:r>
            <a:r>
              <a:rPr lang="es-ES" sz="2800" b="1" dirty="0" smtClean="0">
                <a:solidFill>
                  <a:schemeClr val="tx1"/>
                </a:solidFill>
              </a:rPr>
              <a:t> to BD?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23" name="Rectángulo redondeado 22"/>
          <p:cNvSpPr/>
          <p:nvPr/>
        </p:nvSpPr>
        <p:spPr>
          <a:xfrm>
            <a:off x="6902662" y="3881424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Is</a:t>
            </a:r>
            <a:r>
              <a:rPr lang="es-ES" sz="2800" b="1" dirty="0">
                <a:solidFill>
                  <a:schemeClr val="tx1"/>
                </a:solidFill>
              </a:rPr>
              <a:t> BD </a:t>
            </a:r>
            <a:r>
              <a:rPr lang="es-ES" sz="2800" b="1" dirty="0" err="1">
                <a:solidFill>
                  <a:schemeClr val="tx1"/>
                </a:solidFill>
              </a:rPr>
              <a:t>influenced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by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genetic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liability</a:t>
            </a:r>
            <a:r>
              <a:rPr lang="es-ES" sz="2800" b="1" dirty="0">
                <a:solidFill>
                  <a:schemeClr val="tx1"/>
                </a:solidFill>
              </a:rPr>
              <a:t> to </a:t>
            </a:r>
            <a:r>
              <a:rPr lang="es-ES" sz="2800" b="1" dirty="0" err="1">
                <a:solidFill>
                  <a:schemeClr val="tx1"/>
                </a:solidFill>
              </a:rPr>
              <a:t>handedness</a:t>
            </a:r>
            <a:r>
              <a:rPr lang="es-ES" sz="2800" b="1" dirty="0">
                <a:solidFill>
                  <a:schemeClr val="tx1"/>
                </a:solidFill>
              </a:rPr>
              <a:t>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18" name="CuadroTexto 1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smtClean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9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Polygenic</a:t>
            </a:r>
            <a:r>
              <a:rPr lang="es-ES" b="1" dirty="0" smtClean="0"/>
              <a:t> Score</a:t>
            </a:r>
            <a:endParaRPr lang="en-GB" b="1" dirty="0"/>
          </a:p>
        </p:txBody>
      </p:sp>
      <p:sp>
        <p:nvSpPr>
          <p:cNvPr id="26" name="Marcador de número de diapositiva 25"/>
          <p:cNvSpPr>
            <a:spLocks noGrp="1"/>
          </p:cNvSpPr>
          <p:nvPr>
            <p:ph type="sldNum" sz="quarter" idx="12"/>
          </p:nvPr>
        </p:nvSpPr>
        <p:spPr>
          <a:xfrm>
            <a:off x="10999432" y="6356350"/>
            <a:ext cx="354367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16</a:t>
            </a:fld>
            <a:endParaRPr lang="en-GB" dirty="0"/>
          </a:p>
        </p:txBody>
      </p:sp>
      <p:sp>
        <p:nvSpPr>
          <p:cNvPr id="27" name="CuadroTexto 2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1688049" y="1600383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PS </a:t>
            </a:r>
            <a:r>
              <a:rPr lang="es-ES" sz="2400" b="1" dirty="0" err="1" smtClean="0"/>
              <a:t>handedness</a:t>
            </a:r>
            <a:endParaRPr lang="en-GB" sz="2400" b="1" dirty="0"/>
          </a:p>
        </p:txBody>
      </p:sp>
      <p:sp>
        <p:nvSpPr>
          <p:cNvPr id="21" name="CuadroTexto 20"/>
          <p:cNvSpPr txBox="1"/>
          <p:nvPr/>
        </p:nvSpPr>
        <p:spPr>
          <a:xfrm>
            <a:off x="7084564" y="1600382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PS BD</a:t>
            </a:r>
            <a:endParaRPr lang="en-GB" sz="2400" b="1" dirty="0"/>
          </a:p>
        </p:txBody>
      </p:sp>
      <p:grpSp>
        <p:nvGrpSpPr>
          <p:cNvPr id="3" name="Grupo 2"/>
          <p:cNvGrpSpPr/>
          <p:nvPr/>
        </p:nvGrpSpPr>
        <p:grpSpPr>
          <a:xfrm>
            <a:off x="523783" y="2523713"/>
            <a:ext cx="5353603" cy="1933338"/>
            <a:chOff x="838200" y="2769833"/>
            <a:chExt cx="4632091" cy="1598640"/>
          </a:xfrm>
        </p:grpSpPr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769" b="64904"/>
            <a:stretch/>
          </p:blipFill>
          <p:spPr>
            <a:xfrm>
              <a:off x="838200" y="2769833"/>
              <a:ext cx="4632091" cy="550416"/>
            </a:xfrm>
            <a:prstGeom prst="rect">
              <a:avLst/>
            </a:prstGeom>
          </p:spPr>
        </p:pic>
        <p:pic>
          <p:nvPicPr>
            <p:cNvPr id="10" name="Imagen 9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548"/>
            <a:stretch/>
          </p:blipFill>
          <p:spPr>
            <a:xfrm>
              <a:off x="838200" y="3326051"/>
              <a:ext cx="4632091" cy="1042422"/>
            </a:xfrm>
            <a:prstGeom prst="rect">
              <a:avLst/>
            </a:prstGeom>
          </p:spPr>
        </p:pic>
      </p:grpSp>
      <p:grpSp>
        <p:nvGrpSpPr>
          <p:cNvPr id="4" name="Grupo 3"/>
          <p:cNvGrpSpPr/>
          <p:nvPr/>
        </p:nvGrpSpPr>
        <p:grpSpPr>
          <a:xfrm>
            <a:off x="5877386" y="2062047"/>
            <a:ext cx="5122047" cy="2474441"/>
            <a:chOff x="5877386" y="2062048"/>
            <a:chExt cx="4953372" cy="2334795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5661"/>
            <a:stretch/>
          </p:blipFill>
          <p:spPr>
            <a:xfrm>
              <a:off x="5877386" y="2062048"/>
              <a:ext cx="4953372" cy="1134018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228"/>
            <a:stretch/>
          </p:blipFill>
          <p:spPr>
            <a:xfrm>
              <a:off x="5877386" y="3196066"/>
              <a:ext cx="4953372" cy="1200777"/>
            </a:xfrm>
            <a:prstGeom prst="rect">
              <a:avLst/>
            </a:prstGeom>
          </p:spPr>
        </p:pic>
      </p:grpSp>
      <p:sp>
        <p:nvSpPr>
          <p:cNvPr id="5" name="Rectángulo redondeado 4"/>
          <p:cNvSpPr/>
          <p:nvPr/>
        </p:nvSpPr>
        <p:spPr>
          <a:xfrm>
            <a:off x="838200" y="4780624"/>
            <a:ext cx="10356542" cy="142036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 smtClean="0">
                <a:solidFill>
                  <a:schemeClr val="tx1"/>
                </a:solidFill>
              </a:rPr>
              <a:t>PS to BD </a:t>
            </a:r>
            <a:r>
              <a:rPr lang="es-ES" sz="3200" b="1" dirty="0" err="1" smtClean="0">
                <a:solidFill>
                  <a:schemeClr val="tx1"/>
                </a:solidFill>
              </a:rPr>
              <a:t>contributes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marginally</a:t>
            </a:r>
            <a:r>
              <a:rPr lang="es-ES" sz="3200" b="1" dirty="0" smtClean="0">
                <a:solidFill>
                  <a:schemeClr val="tx1"/>
                </a:solidFill>
              </a:rPr>
              <a:t> in </a:t>
            </a:r>
            <a:r>
              <a:rPr lang="es-ES" sz="3200" b="1" dirty="0" err="1" smtClean="0">
                <a:solidFill>
                  <a:schemeClr val="tx1"/>
                </a:solidFill>
              </a:rPr>
              <a:t>left-handedness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when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considering</a:t>
            </a:r>
            <a:r>
              <a:rPr lang="es-ES" sz="3200" b="1" dirty="0" smtClean="0">
                <a:solidFill>
                  <a:schemeClr val="tx1"/>
                </a:solidFill>
              </a:rPr>
              <a:t> BD </a:t>
            </a:r>
            <a:r>
              <a:rPr lang="es-ES" sz="3200" b="1" dirty="0" err="1" smtClean="0">
                <a:solidFill>
                  <a:schemeClr val="tx1"/>
                </a:solidFill>
              </a:rPr>
              <a:t>patients</a:t>
            </a:r>
            <a:r>
              <a:rPr lang="es-ES" sz="3200" b="1" dirty="0" smtClean="0">
                <a:solidFill>
                  <a:schemeClr val="tx1"/>
                </a:solidFill>
              </a:rPr>
              <a:t>, </a:t>
            </a:r>
            <a:r>
              <a:rPr lang="es-ES" sz="3200" b="1" dirty="0" err="1" smtClean="0">
                <a:solidFill>
                  <a:schemeClr val="tx1"/>
                </a:solidFill>
              </a:rPr>
              <a:t>but</a:t>
            </a:r>
            <a:r>
              <a:rPr lang="es-ES" sz="3200" b="1" dirty="0" smtClean="0">
                <a:solidFill>
                  <a:schemeClr val="tx1"/>
                </a:solidFill>
              </a:rPr>
              <a:t> no </a:t>
            </a:r>
            <a:r>
              <a:rPr lang="es-ES" sz="3200" b="1" dirty="0" err="1" smtClean="0">
                <a:solidFill>
                  <a:schemeClr val="tx1"/>
                </a:solidFill>
              </a:rPr>
              <a:t>controls</a:t>
            </a:r>
            <a:endParaRPr lang="en-GB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17</a:t>
            </a:fld>
            <a:endParaRPr lang="en-GB"/>
          </a:p>
        </p:txBody>
      </p:sp>
      <p:pic>
        <p:nvPicPr>
          <p:cNvPr id="1026" name="Picture 2" descr="Icono Mano Vectores, Iconos, Gráficos y Fondos para ...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0952" y1="44571" x2="40952" y2="44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107" y="3236886"/>
            <a:ext cx="2149935" cy="179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CuadroTexto 14"/>
          <p:cNvSpPr txBox="1"/>
          <p:nvPr/>
        </p:nvSpPr>
        <p:spPr>
          <a:xfrm>
            <a:off x="6880425" y="3721374"/>
            <a:ext cx="1526960" cy="83099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 smtClean="0"/>
              <a:t>Mixed-hand</a:t>
            </a:r>
            <a:r>
              <a:rPr lang="es-ES" sz="2400" b="1" dirty="0" smtClean="0"/>
              <a:t> use</a:t>
            </a:r>
            <a:endParaRPr lang="en-GB" sz="2400" b="1" dirty="0"/>
          </a:p>
        </p:txBody>
      </p:sp>
      <p:cxnSp>
        <p:nvCxnSpPr>
          <p:cNvPr id="17" name="Conector recto de flecha 16"/>
          <p:cNvCxnSpPr/>
          <p:nvPr/>
        </p:nvCxnSpPr>
        <p:spPr>
          <a:xfrm>
            <a:off x="9059663" y="4793441"/>
            <a:ext cx="816745" cy="72963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redondeado 17"/>
          <p:cNvSpPr/>
          <p:nvPr/>
        </p:nvSpPr>
        <p:spPr>
          <a:xfrm>
            <a:off x="6518613" y="5548881"/>
            <a:ext cx="2028179" cy="88743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 smtClean="0">
                <a:solidFill>
                  <a:schemeClr val="tx1"/>
                </a:solidFill>
              </a:rPr>
              <a:t>Cognitive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flexibility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20" name="Conector recto de flecha 19"/>
          <p:cNvCxnSpPr/>
          <p:nvPr/>
        </p:nvCxnSpPr>
        <p:spPr>
          <a:xfrm flipH="1">
            <a:off x="7701633" y="4753859"/>
            <a:ext cx="845160" cy="70396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ángulo redondeado 21"/>
          <p:cNvSpPr/>
          <p:nvPr/>
        </p:nvSpPr>
        <p:spPr>
          <a:xfrm>
            <a:off x="8610600" y="5560489"/>
            <a:ext cx="2250764" cy="87582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 smtClean="0">
                <a:solidFill>
                  <a:schemeClr val="tx1"/>
                </a:solidFill>
              </a:rPr>
              <a:t>Worse</a:t>
            </a:r>
            <a:r>
              <a:rPr lang="es-ES" sz="2400" b="1" dirty="0" smtClean="0">
                <a:solidFill>
                  <a:schemeClr val="tx1"/>
                </a:solidFill>
              </a:rPr>
              <a:t> mental </a:t>
            </a:r>
            <a:r>
              <a:rPr lang="es-ES" sz="2400" b="1" dirty="0" err="1" smtClean="0">
                <a:solidFill>
                  <a:schemeClr val="tx1"/>
                </a:solidFill>
              </a:rPr>
              <a:t>health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44" name="Conector recto de flecha 43"/>
          <p:cNvCxnSpPr/>
          <p:nvPr/>
        </p:nvCxnSpPr>
        <p:spPr>
          <a:xfrm flipV="1">
            <a:off x="4607511" y="2171961"/>
            <a:ext cx="2601157" cy="31618"/>
          </a:xfrm>
          <a:prstGeom prst="straightConnector1">
            <a:avLst/>
          </a:prstGeom>
          <a:ln w="762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uadroTexto 45"/>
          <p:cNvSpPr txBox="1"/>
          <p:nvPr/>
        </p:nvSpPr>
        <p:spPr>
          <a:xfrm>
            <a:off x="1381283" y="3067568"/>
            <a:ext cx="35553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“</a:t>
            </a:r>
            <a:r>
              <a:rPr lang="es-ES" sz="2400" b="1" dirty="0" err="1" smtClean="0"/>
              <a:t>Typical</a:t>
            </a:r>
            <a:r>
              <a:rPr lang="es-ES" sz="2400" b="1" dirty="0" smtClean="0"/>
              <a:t>” </a:t>
            </a:r>
            <a:r>
              <a:rPr lang="es-ES" sz="2400" b="1" dirty="0" err="1" smtClean="0"/>
              <a:t>functional</a:t>
            </a:r>
            <a:r>
              <a:rPr lang="es-ES" sz="2400" b="1" dirty="0" smtClean="0"/>
              <a:t> + </a:t>
            </a:r>
            <a:r>
              <a:rPr lang="es-ES" sz="2400" b="1" dirty="0" err="1" smtClean="0"/>
              <a:t>structural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assymetry</a:t>
            </a:r>
            <a:endParaRPr lang="en-GB" sz="2400" b="1" dirty="0"/>
          </a:p>
        </p:txBody>
      </p:sp>
      <p:sp>
        <p:nvSpPr>
          <p:cNvPr id="48" name="CuadroTexto 47"/>
          <p:cNvSpPr txBox="1"/>
          <p:nvPr/>
        </p:nvSpPr>
        <p:spPr>
          <a:xfrm>
            <a:off x="6629707" y="3018639"/>
            <a:ext cx="355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“</a:t>
            </a:r>
            <a:r>
              <a:rPr lang="es-ES" sz="2400" b="1" dirty="0" err="1" smtClean="0"/>
              <a:t>Atypical</a:t>
            </a:r>
            <a:r>
              <a:rPr lang="es-ES" sz="2400" b="1" dirty="0" smtClean="0"/>
              <a:t>” </a:t>
            </a:r>
            <a:r>
              <a:rPr lang="es-ES" sz="2400" b="1" dirty="0" err="1" smtClean="0"/>
              <a:t>brain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assymetry</a:t>
            </a:r>
            <a:endParaRPr lang="en-GB" sz="2400" b="1" dirty="0"/>
          </a:p>
        </p:txBody>
      </p:sp>
      <p:pic>
        <p:nvPicPr>
          <p:cNvPr id="49" name="Picture 2" descr="Icono Mano Vectores, Iconos, Gráficos y Fondos para ..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0952" y1="44571" x2="40952" y2="44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278"/>
          <a:stretch/>
        </p:blipFill>
        <p:spPr bwMode="auto">
          <a:xfrm>
            <a:off x="1590339" y="3545035"/>
            <a:ext cx="1068981" cy="179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CuadroTexto 46"/>
          <p:cNvSpPr txBox="1"/>
          <p:nvPr/>
        </p:nvSpPr>
        <p:spPr>
          <a:xfrm>
            <a:off x="2514944" y="4025342"/>
            <a:ext cx="2254928" cy="830997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 smtClean="0"/>
              <a:t>Strong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hand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lateralization</a:t>
            </a:r>
            <a:endParaRPr lang="en-GB" sz="2400" b="1" dirty="0"/>
          </a:p>
        </p:txBody>
      </p:sp>
      <p:sp>
        <p:nvSpPr>
          <p:cNvPr id="57" name="CuadroTexto 5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Discussion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830" y="1259370"/>
            <a:ext cx="1817184" cy="180007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4819" y="1244212"/>
            <a:ext cx="2024321" cy="2005259"/>
          </a:xfrm>
          <a:prstGeom prst="rect">
            <a:avLst/>
          </a:prstGeom>
        </p:spPr>
      </p:pic>
      <p:sp>
        <p:nvSpPr>
          <p:cNvPr id="21" name="Título 1"/>
          <p:cNvSpPr txBox="1">
            <a:spLocks/>
          </p:cNvSpPr>
          <p:nvPr/>
        </p:nvSpPr>
        <p:spPr>
          <a:xfrm>
            <a:off x="-9583" y="305074"/>
            <a:ext cx="12192000" cy="859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smtClean="0"/>
              <a:t>Hand lateralization as marker for brain assymetry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340885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9583" y="305074"/>
            <a:ext cx="12192000" cy="85999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s-ES" b="1" dirty="0" smtClean="0"/>
              <a:t>BD </a:t>
            </a:r>
            <a:r>
              <a:rPr lang="es-ES" b="1" dirty="0" err="1" smtClean="0"/>
              <a:t>subgroups</a:t>
            </a:r>
            <a:r>
              <a:rPr lang="es-ES" b="1" dirty="0" smtClean="0"/>
              <a:t> in </a:t>
            </a:r>
            <a:r>
              <a:rPr lang="es-ES" b="1" dirty="0" err="1" smtClean="0"/>
              <a:t>hand</a:t>
            </a:r>
            <a:r>
              <a:rPr lang="es-ES" b="1" dirty="0" smtClean="0"/>
              <a:t> use </a:t>
            </a:r>
            <a:r>
              <a:rPr lang="es-ES" b="1" dirty="0" err="1" smtClean="0"/>
              <a:t>may</a:t>
            </a:r>
            <a:r>
              <a:rPr lang="es-ES" b="1" dirty="0" smtClean="0"/>
              <a:t> </a:t>
            </a:r>
            <a:r>
              <a:rPr lang="es-ES" b="1" dirty="0" err="1" smtClean="0"/>
              <a:t>have</a:t>
            </a:r>
            <a:r>
              <a:rPr lang="es-ES" b="1" dirty="0" smtClean="0"/>
              <a:t> </a:t>
            </a:r>
            <a:r>
              <a:rPr lang="es-ES" b="1" dirty="0" err="1" smtClean="0"/>
              <a:t>clinical</a:t>
            </a:r>
            <a:r>
              <a:rPr lang="es-ES" b="1" dirty="0" smtClean="0"/>
              <a:t> </a:t>
            </a:r>
            <a:r>
              <a:rPr lang="es-ES" b="1" dirty="0" err="1" smtClean="0"/>
              <a:t>implicaitons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18</a:t>
            </a:fld>
            <a:endParaRPr lang="en-GB"/>
          </a:p>
        </p:txBody>
      </p:sp>
      <p:sp>
        <p:nvSpPr>
          <p:cNvPr id="57" name="CuadroTexto 5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Discussion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9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142043" y="1443145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ángulo redondeado 5"/>
          <p:cNvSpPr/>
          <p:nvPr/>
        </p:nvSpPr>
        <p:spPr>
          <a:xfrm>
            <a:off x="2078752" y="2503555"/>
            <a:ext cx="3790765" cy="1287262"/>
          </a:xfrm>
          <a:prstGeom prst="roundRect">
            <a:avLst/>
          </a:pr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 err="1" smtClean="0">
                <a:solidFill>
                  <a:schemeClr val="tx1"/>
                </a:solidFill>
              </a:rPr>
              <a:t>Overall</a:t>
            </a:r>
            <a:r>
              <a:rPr lang="es-ES" sz="3200" b="1" dirty="0" smtClean="0">
                <a:solidFill>
                  <a:schemeClr val="tx1"/>
                </a:solidFill>
              </a:rPr>
              <a:t>, </a:t>
            </a:r>
            <a:r>
              <a:rPr lang="es-ES" sz="3200" b="1" dirty="0" err="1" smtClean="0">
                <a:solidFill>
                  <a:schemeClr val="tx1"/>
                </a:solidFill>
              </a:rPr>
              <a:t>higher</a:t>
            </a:r>
            <a:r>
              <a:rPr lang="es-ES" sz="3200" b="1" dirty="0" smtClean="0">
                <a:solidFill>
                  <a:schemeClr val="tx1"/>
                </a:solidFill>
              </a:rPr>
              <a:t> LAT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21" name="Rectángulo redondeado 20"/>
          <p:cNvSpPr/>
          <p:nvPr/>
        </p:nvSpPr>
        <p:spPr>
          <a:xfrm>
            <a:off x="2078751" y="3940427"/>
            <a:ext cx="3790765" cy="1756944"/>
          </a:xfrm>
          <a:prstGeom prst="round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 err="1" smtClean="0">
                <a:solidFill>
                  <a:schemeClr val="tx1"/>
                </a:solidFill>
              </a:rPr>
              <a:t>When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mixed-handed</a:t>
            </a:r>
            <a:r>
              <a:rPr lang="es-ES" sz="3200" b="1" dirty="0" smtClean="0">
                <a:solidFill>
                  <a:schemeClr val="tx1"/>
                </a:solidFill>
              </a:rPr>
              <a:t>, </a:t>
            </a:r>
            <a:r>
              <a:rPr lang="es-ES" sz="3200" b="1" dirty="0" err="1" smtClean="0">
                <a:solidFill>
                  <a:schemeClr val="tx1"/>
                </a:solidFill>
              </a:rPr>
              <a:t>greater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severity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6329780" y="2416799"/>
            <a:ext cx="5220070" cy="181588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 smtClean="0"/>
              <a:t>Does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medication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increase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lateralization</a:t>
            </a:r>
            <a:r>
              <a:rPr lang="es-ES" sz="2800" b="1" dirty="0" smtClean="0"/>
              <a:t>?</a:t>
            </a:r>
          </a:p>
          <a:p>
            <a:r>
              <a:rPr lang="es-ES" sz="2800" b="1" dirty="0" err="1" smtClean="0"/>
              <a:t>Could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mixed-handedness</a:t>
            </a:r>
            <a:r>
              <a:rPr lang="es-ES" sz="2800" b="1" dirty="0" smtClean="0"/>
              <a:t> be </a:t>
            </a:r>
            <a:r>
              <a:rPr lang="es-ES" sz="2800" b="1" dirty="0" err="1" smtClean="0"/>
              <a:t>used</a:t>
            </a:r>
            <a:r>
              <a:rPr lang="es-ES" sz="2800" b="1" dirty="0" smtClean="0"/>
              <a:t> as proxy </a:t>
            </a:r>
            <a:r>
              <a:rPr lang="es-ES" sz="2800" b="1" dirty="0" err="1" smtClean="0"/>
              <a:t>for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severity</a:t>
            </a:r>
            <a:r>
              <a:rPr lang="es-ES" sz="2800" b="1" dirty="0" smtClean="0"/>
              <a:t>?</a:t>
            </a:r>
            <a:endParaRPr lang="en-GB" sz="2800" b="1" dirty="0"/>
          </a:p>
        </p:txBody>
      </p:sp>
      <p:sp>
        <p:nvSpPr>
          <p:cNvPr id="23" name="CuadroTexto 22"/>
          <p:cNvSpPr txBox="1"/>
          <p:nvPr/>
        </p:nvSpPr>
        <p:spPr>
          <a:xfrm>
            <a:off x="6329780" y="4730671"/>
            <a:ext cx="5220070" cy="954107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 err="1" smtClean="0"/>
              <a:t>Increase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sample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size</a:t>
            </a:r>
            <a:endParaRPr lang="es-ES" sz="2800" b="1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 err="1" smtClean="0"/>
              <a:t>Prevalence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by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subtype</a:t>
            </a:r>
            <a:endParaRPr lang="es-ES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4099260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8104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Conclusions</a:t>
            </a:r>
            <a:endParaRPr lang="en-GB" b="1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6085195"/>
              </p:ext>
            </p:extLst>
          </p:nvPr>
        </p:nvGraphicFramePr>
        <p:xfrm>
          <a:off x="838200" y="1642367"/>
          <a:ext cx="10515600" cy="4287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531513" y="4704773"/>
            <a:ext cx="3049366" cy="897037"/>
            <a:chOff x="302284" y="5040495"/>
            <a:chExt cx="2537575" cy="699428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3166" y="5084785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45" y="5096138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288" y="6054121"/>
            <a:ext cx="2456932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584" y="6054122"/>
            <a:ext cx="1930314" cy="55235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83315" y="1574008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652582"/>
            <a:ext cx="605240" cy="80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455109" y="4704776"/>
            <a:ext cx="2091717" cy="78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849869" y="1546387"/>
            <a:ext cx="4599097" cy="3060937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4580879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Claudio </a:t>
            </a:r>
            <a:r>
              <a:rPr lang="es-ES" dirty="0" err="1" smtClean="0"/>
              <a:t>Toma’s</a:t>
            </a:r>
            <a:r>
              <a:rPr lang="es-ES" dirty="0" smtClean="0"/>
              <a:t> </a:t>
            </a:r>
            <a:r>
              <a:rPr lang="es-ES" dirty="0" err="1" smtClean="0"/>
              <a:t>lab</a:t>
            </a:r>
            <a:endParaRPr lang="en-GB" dirty="0"/>
          </a:p>
        </p:txBody>
      </p:sp>
      <p:sp>
        <p:nvSpPr>
          <p:cNvPr id="21" name="CuadroTexto 20"/>
          <p:cNvSpPr txBox="1"/>
          <p:nvPr/>
        </p:nvSpPr>
        <p:spPr>
          <a:xfrm>
            <a:off x="9538180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Silvia </a:t>
            </a:r>
            <a:r>
              <a:rPr lang="es-ES" dirty="0" err="1" smtClean="0"/>
              <a:t>Paracchini’s</a:t>
            </a:r>
            <a:r>
              <a:rPr lang="es-ES" dirty="0" smtClean="0"/>
              <a:t> </a:t>
            </a:r>
            <a:r>
              <a:rPr lang="es-ES" dirty="0" err="1" smtClean="0"/>
              <a:t>lab</a:t>
            </a:r>
            <a:endParaRPr lang="en-GB" dirty="0"/>
          </a:p>
        </p:txBody>
      </p:sp>
      <p:sp>
        <p:nvSpPr>
          <p:cNvPr id="8" name="Marcador de número de diapositiva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1853</TotalTime>
  <Words>816</Words>
  <Application>Microsoft Office PowerPoint</Application>
  <PresentationFormat>Panorámica</PresentationFormat>
  <Paragraphs>287</Paragraphs>
  <Slides>20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7" baseType="lpstr">
      <vt:lpstr>Arial</vt:lpstr>
      <vt:lpstr>Arial Black</vt:lpstr>
      <vt:lpstr>Calibri</vt:lpstr>
      <vt:lpstr>Calibri Light</vt:lpstr>
      <vt:lpstr>Cambria</vt:lpstr>
      <vt:lpstr>Didot</vt:lpstr>
      <vt:lpstr>Tema de Office</vt:lpstr>
      <vt:lpstr>Atypical handedness as a marker of altered brain lateralization: genetic and clinical study in bipolar disorder</vt:lpstr>
      <vt:lpstr>Bipolar disorder</vt:lpstr>
      <vt:lpstr>GWAS in BD (PGC-4): 158,000 cases and 2.8 M controls</vt:lpstr>
      <vt:lpstr>Handedness in general population</vt:lpstr>
      <vt:lpstr>GWAS of handedness: 194K left-handers, 1.5 M controls </vt:lpstr>
      <vt:lpstr>Handedness in neurodevelopmental/psychiatric disorders</vt:lpstr>
      <vt:lpstr>MadManic cohort</vt:lpstr>
      <vt:lpstr>Edinburgh Handedness Inventory</vt:lpstr>
      <vt:lpstr>Presentación de PowerPoint</vt:lpstr>
      <vt:lpstr>NRH in Spanish population</vt:lpstr>
      <vt:lpstr>Case-control handedness study</vt:lpstr>
      <vt:lpstr>Stronger lateralization of foot and eye in BD patients</vt:lpstr>
      <vt:lpstr>Sex-stratified analyses</vt:lpstr>
      <vt:lpstr>Mixed-users present higher severity</vt:lpstr>
      <vt:lpstr>Polygenic Score (PS): individual genetic liability to a trait</vt:lpstr>
      <vt:lpstr>Polygenic Score</vt:lpstr>
      <vt:lpstr>Presentación de PowerPoint</vt:lpstr>
      <vt:lpstr>BD subgroups in hand use may have clinical implicaitons</vt:lpstr>
      <vt:lpstr>Conclusions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114</cp:revision>
  <dcterms:created xsi:type="dcterms:W3CDTF">2026-06-30T10:32:29Z</dcterms:created>
  <dcterms:modified xsi:type="dcterms:W3CDTF">2026-08-12T09:29:32Z</dcterms:modified>
</cp:coreProperties>
</file>