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428" userDrawn="1">
          <p15:clr>
            <a:srgbClr val="A4A3A4"/>
          </p15:clr>
        </p15:guide>
        <p15:guide id="3" pos="3318" userDrawn="1">
          <p15:clr>
            <a:srgbClr val="A4A3A4"/>
          </p15:clr>
        </p15:guide>
        <p15:guide id="4" pos="75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954" y="264"/>
      </p:cViewPr>
      <p:guideLst>
        <p:guide orient="horz" pos="2160"/>
        <p:guide pos="5428"/>
        <p:guide pos="3318"/>
        <p:guide pos="75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29232-80D2-4D0C-9CF8-9240E390AFC1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45F14-0841-498C-8B3E-B08368038B0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23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045F14-0841-498C-8B3E-B08368038B0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56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AF46-4ED5-4A87-8D9F-D0A79E912F4D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474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AF46-4ED5-4A87-8D9F-D0A79E912F4D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11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AF46-4ED5-4A87-8D9F-D0A79E912F4D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AF46-4ED5-4A87-8D9F-D0A79E912F4D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56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AF46-4ED5-4A87-8D9F-D0A79E912F4D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37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AF46-4ED5-4A87-8D9F-D0A79E912F4D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721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AF46-4ED5-4A87-8D9F-D0A79E912F4D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59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AF46-4ED5-4A87-8D9F-D0A79E912F4D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754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AF46-4ED5-4A87-8D9F-D0A79E912F4D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966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AF46-4ED5-4A87-8D9F-D0A79E912F4D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472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6AF46-4ED5-4A87-8D9F-D0A79E912F4D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948B-A4EA-4562-B7E6-FE17413622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900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6AF46-4ED5-4A87-8D9F-D0A79E912F4D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E948B-A4EA-4562-B7E6-FE17413622D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982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491" y="1034467"/>
            <a:ext cx="10834254" cy="3630035"/>
          </a:xfrm>
        </p:spPr>
        <p:txBody>
          <a:bodyPr>
            <a:noAutofit/>
          </a:bodyPr>
          <a:lstStyle/>
          <a:p>
            <a:r>
              <a:rPr lang="en-AU" b="1" dirty="0"/>
              <a:t>Atypical handedness as a marker of altered brain lateralization</a:t>
            </a:r>
            <a:r>
              <a:rPr lang="en-GB" b="1" dirty="0"/>
              <a:t>: genetic and clinical study in bipolar </a:t>
            </a:r>
            <a:r>
              <a:rPr lang="en-GB" b="1" dirty="0" smtClean="0"/>
              <a:t>disorder</a:t>
            </a:r>
            <a:endParaRPr lang="en-GB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224067" y="5015802"/>
            <a:ext cx="5753101" cy="1433489"/>
          </a:xfrm>
        </p:spPr>
        <p:txBody>
          <a:bodyPr/>
          <a:lstStyle/>
          <a:p>
            <a:r>
              <a:rPr lang="es-ES" dirty="0" smtClean="0"/>
              <a:t>Inés </a:t>
            </a:r>
            <a:r>
              <a:rPr lang="es-ES" dirty="0" smtClean="0"/>
              <a:t>García-Ortiz</a:t>
            </a:r>
            <a:endParaRPr lang="es-ES" dirty="0" smtClean="0"/>
          </a:p>
          <a:p>
            <a:r>
              <a:rPr lang="en-GB" sz="2000" dirty="0" smtClean="0"/>
              <a:t>10</a:t>
            </a:r>
            <a:r>
              <a:rPr lang="en-GB" sz="2000" baseline="30000" dirty="0" smtClean="0"/>
              <a:t>th</a:t>
            </a:r>
            <a:r>
              <a:rPr lang="en-GB" sz="2000" dirty="0" smtClean="0"/>
              <a:t> North Sea Meeting on Laterality</a:t>
            </a:r>
          </a:p>
          <a:p>
            <a:r>
              <a:rPr lang="en-GB" sz="2000" dirty="0" smtClean="0"/>
              <a:t>19</a:t>
            </a:r>
            <a:r>
              <a:rPr lang="en-GB" sz="2000" baseline="30000" dirty="0" smtClean="0"/>
              <a:t>th</a:t>
            </a:r>
            <a:r>
              <a:rPr lang="en-GB" sz="2000" dirty="0" smtClean="0"/>
              <a:t> – 22</a:t>
            </a:r>
            <a:r>
              <a:rPr lang="en-GB" sz="2000" baseline="30000" dirty="0" smtClean="0"/>
              <a:t>nd</a:t>
            </a:r>
            <a:r>
              <a:rPr lang="en-GB" sz="2000" dirty="0" smtClean="0"/>
              <a:t> August 2026, Brighton</a:t>
            </a:r>
            <a:endParaRPr lang="en-GB" sz="2000" dirty="0"/>
          </a:p>
        </p:txBody>
      </p:sp>
      <p:pic>
        <p:nvPicPr>
          <p:cNvPr id="4" name="Google Shape;5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8"/>
            <a:ext cx="1808213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1452" y="109417"/>
            <a:ext cx="1342150" cy="573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229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70727"/>
            <a:ext cx="12192000" cy="1325563"/>
          </a:xfrm>
        </p:spPr>
        <p:txBody>
          <a:bodyPr/>
          <a:lstStyle/>
          <a:p>
            <a:pPr algn="ctr"/>
            <a:r>
              <a:rPr lang="es-ES" b="1" dirty="0" err="1" smtClean="0"/>
              <a:t>Handedness</a:t>
            </a:r>
            <a:r>
              <a:rPr lang="es-ES" b="1" dirty="0" smtClean="0"/>
              <a:t> in general </a:t>
            </a:r>
            <a:r>
              <a:rPr lang="es-ES" b="1" dirty="0" err="1" smtClean="0"/>
              <a:t>population</a:t>
            </a:r>
            <a:endParaRPr lang="en-GB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E9EBB2-6024-EEF2-F9E0-9D00E45D3E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2" t="1546" r="3501"/>
          <a:stretch>
            <a:fillRect/>
          </a:stretch>
        </p:blipFill>
        <p:spPr>
          <a:xfrm>
            <a:off x="5711730" y="1812174"/>
            <a:ext cx="6442671" cy="3378319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99500" y="2443942"/>
            <a:ext cx="55454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/>
              <a:t>Left-handed</a:t>
            </a:r>
            <a:r>
              <a:rPr lang="en-GB" sz="2800" dirty="0" smtClean="0"/>
              <a:t>:  ~ 10%</a:t>
            </a:r>
          </a:p>
          <a:p>
            <a:r>
              <a:rPr lang="en-GB" sz="2800" b="1" dirty="0" smtClean="0"/>
              <a:t>Sex differences</a:t>
            </a:r>
            <a:r>
              <a:rPr lang="en-GB" sz="2800" dirty="0" smtClean="0"/>
              <a:t>: 12% men, 8% women</a:t>
            </a:r>
          </a:p>
          <a:p>
            <a:r>
              <a:rPr lang="en-GB" sz="2800" b="1" dirty="0" smtClean="0"/>
              <a:t>Non-right-handedness (NRH)</a:t>
            </a:r>
            <a:r>
              <a:rPr lang="en-GB" sz="2800" dirty="0" smtClean="0"/>
              <a:t>: ~18% 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599402" y="5672632"/>
            <a:ext cx="10291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 err="1" smtClean="0"/>
              <a:t>Different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brain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assymetry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patterns</a:t>
            </a:r>
            <a:r>
              <a:rPr lang="es-ES" sz="3200" b="1" dirty="0" smtClean="0"/>
              <a:t> in NRH </a:t>
            </a:r>
            <a:r>
              <a:rPr lang="es-ES" sz="3200" b="1" dirty="0" err="1" smtClean="0"/>
              <a:t>individuals</a:t>
            </a:r>
            <a:endParaRPr lang="en-GB" sz="3200" b="1" dirty="0"/>
          </a:p>
        </p:txBody>
      </p:sp>
      <p:sp>
        <p:nvSpPr>
          <p:cNvPr id="3" name="Rectángulo 2"/>
          <p:cNvSpPr/>
          <p:nvPr/>
        </p:nvSpPr>
        <p:spPr>
          <a:xfrm>
            <a:off x="2610196" y="4741963"/>
            <a:ext cx="1579419" cy="7065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i="1" dirty="0" smtClean="0">
                <a:solidFill>
                  <a:schemeClr val="tx1"/>
                </a:solidFill>
              </a:rPr>
              <a:t>H</a:t>
            </a:r>
            <a:r>
              <a:rPr lang="es-ES" sz="2800" b="1" i="1" baseline="30000" dirty="0" smtClean="0">
                <a:solidFill>
                  <a:schemeClr val="tx1"/>
                </a:solidFill>
              </a:rPr>
              <a:t>2</a:t>
            </a:r>
            <a:r>
              <a:rPr lang="es-ES" sz="2800" b="1" dirty="0" smtClean="0">
                <a:solidFill>
                  <a:schemeClr val="tx1"/>
                </a:solidFill>
              </a:rPr>
              <a:t> = 25%</a:t>
            </a:r>
          </a:p>
        </p:txBody>
      </p:sp>
    </p:spTree>
    <p:extLst>
      <p:ext uri="{BB962C8B-B14F-4D97-AF65-F5344CB8AC3E}">
        <p14:creationId xmlns:p14="http://schemas.microsoft.com/office/powerpoint/2010/main" val="239481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33B3AE7-195E-540D-774A-26025E5E9979}"/>
              </a:ext>
            </a:extLst>
          </p:cNvPr>
          <p:cNvCxnSpPr>
            <a:cxnSpLocks/>
            <a:endCxn id="14" idx="2"/>
          </p:cNvCxnSpPr>
          <p:nvPr/>
        </p:nvCxnSpPr>
        <p:spPr>
          <a:xfrm flipH="1">
            <a:off x="8612827" y="1485664"/>
            <a:ext cx="25520" cy="2429462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70" y="32998"/>
            <a:ext cx="12192000" cy="1325563"/>
          </a:xfrm>
        </p:spPr>
        <p:txBody>
          <a:bodyPr/>
          <a:lstStyle/>
          <a:p>
            <a:pPr algn="ctr"/>
            <a:r>
              <a:rPr lang="es-ES" b="1" dirty="0" smtClean="0"/>
              <a:t>Edinburgh </a:t>
            </a:r>
            <a:r>
              <a:rPr lang="es-ES" b="1" dirty="0" err="1" smtClean="0"/>
              <a:t>Handedness</a:t>
            </a:r>
            <a:r>
              <a:rPr lang="es-ES" b="1" dirty="0" smtClean="0"/>
              <a:t> </a:t>
            </a:r>
            <a:r>
              <a:rPr lang="es-ES" b="1" dirty="0" err="1" smtClean="0"/>
              <a:t>Inventory</a:t>
            </a:r>
            <a:endParaRPr lang="en-GB" b="1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29CA9F0-6469-A01C-954C-55E393EE6CAE}"/>
              </a:ext>
            </a:extLst>
          </p:cNvPr>
          <p:cNvCxnSpPr>
            <a:cxnSpLocks/>
          </p:cNvCxnSpPr>
          <p:nvPr/>
        </p:nvCxnSpPr>
        <p:spPr>
          <a:xfrm flipV="1">
            <a:off x="10308102" y="1416560"/>
            <a:ext cx="0" cy="2806802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35E6894-0FA8-69ED-16E8-B76AB9699619}"/>
              </a:ext>
            </a:extLst>
          </p:cNvPr>
          <p:cNvCxnSpPr>
            <a:cxnSpLocks/>
          </p:cNvCxnSpPr>
          <p:nvPr/>
        </p:nvCxnSpPr>
        <p:spPr>
          <a:xfrm flipH="1" flipV="1">
            <a:off x="6989121" y="1485664"/>
            <a:ext cx="2" cy="2785758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577F7F1-0EA0-35C0-1513-DD2622477026}"/>
              </a:ext>
            </a:extLst>
          </p:cNvPr>
          <p:cNvCxnSpPr>
            <a:cxnSpLocks/>
          </p:cNvCxnSpPr>
          <p:nvPr/>
        </p:nvCxnSpPr>
        <p:spPr>
          <a:xfrm flipH="1" flipV="1">
            <a:off x="5600701" y="1358562"/>
            <a:ext cx="11201" cy="4628912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07A7742-AE3A-B1F7-7689-BCECCA0EEDE5}"/>
              </a:ext>
            </a:extLst>
          </p:cNvPr>
          <p:cNvSpPr/>
          <p:nvPr/>
        </p:nvSpPr>
        <p:spPr>
          <a:xfrm>
            <a:off x="454242" y="1485664"/>
            <a:ext cx="3996515" cy="4121609"/>
          </a:xfrm>
          <a:prstGeom prst="rect">
            <a:avLst/>
          </a:prstGeom>
          <a:solidFill>
            <a:srgbClr val="F5FD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400" b="1" dirty="0" err="1" smtClean="0">
                <a:solidFill>
                  <a:schemeClr val="tx1"/>
                </a:solidFill>
              </a:rPr>
              <a:t>Which</a:t>
            </a:r>
            <a:r>
              <a:rPr lang="es-ES" sz="2400" b="1" dirty="0" smtClean="0">
                <a:solidFill>
                  <a:schemeClr val="tx1"/>
                </a:solidFill>
              </a:rPr>
              <a:t> </a:t>
            </a:r>
            <a:r>
              <a:rPr lang="es-ES" sz="2400" b="1" dirty="0" err="1" smtClean="0">
                <a:solidFill>
                  <a:schemeClr val="tx1"/>
                </a:solidFill>
              </a:rPr>
              <a:t>hand</a:t>
            </a:r>
            <a:r>
              <a:rPr lang="es-ES" sz="2400" b="1" dirty="0" smtClean="0">
                <a:solidFill>
                  <a:schemeClr val="tx1"/>
                </a:solidFill>
              </a:rPr>
              <a:t> </a:t>
            </a:r>
            <a:r>
              <a:rPr lang="es-ES" sz="2400" b="1" dirty="0">
                <a:solidFill>
                  <a:schemeClr val="tx1"/>
                </a:solidFill>
              </a:rPr>
              <a:t>do you use for…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Writing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Drawing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Throw an object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Use a toothbrush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Use a knife (without fork)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Use scissors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Use spoon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Upper hand to broom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Strike a match</a:t>
            </a:r>
          </a:p>
          <a:p>
            <a:pPr marL="342900" indent="-342900">
              <a:buAutoNum type="arabicPeriod"/>
            </a:pPr>
            <a:r>
              <a:rPr lang="es-ES" sz="2400" dirty="0">
                <a:solidFill>
                  <a:schemeClr val="tx1"/>
                </a:solidFill>
              </a:rPr>
              <a:t>Open the lid of a box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C806430B-2171-247B-CC65-4978EBD59CFC}"/>
              </a:ext>
            </a:extLst>
          </p:cNvPr>
          <p:cNvGrpSpPr/>
          <p:nvPr/>
        </p:nvGrpSpPr>
        <p:grpSpPr>
          <a:xfrm>
            <a:off x="205370" y="5863814"/>
            <a:ext cx="2717142" cy="880369"/>
            <a:chOff x="0" y="3734287"/>
            <a:chExt cx="2369127" cy="880369"/>
          </a:xfrm>
        </p:grpSpPr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72B2F1DE-462B-DB68-A652-BA36A6BA6C13}"/>
                </a:ext>
              </a:extLst>
            </p:cNvPr>
            <p:cNvSpPr txBox="1"/>
            <p:nvPr/>
          </p:nvSpPr>
          <p:spPr>
            <a:xfrm>
              <a:off x="0" y="3734287"/>
              <a:ext cx="2369127" cy="8803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s-ES" b="1" i="1" dirty="0"/>
                <a:t>Right Score </a:t>
              </a:r>
              <a:r>
                <a:rPr lang="es-ES" b="1" i="1" dirty="0" smtClean="0"/>
                <a:t>- Left </a:t>
              </a:r>
              <a:r>
                <a:rPr lang="es-ES" b="1" i="1" dirty="0"/>
                <a:t>Score</a:t>
              </a:r>
            </a:p>
            <a:p>
              <a:pPr algn="ctr">
                <a:lnSpc>
                  <a:spcPct val="150000"/>
                </a:lnSpc>
              </a:pPr>
              <a:r>
                <a:rPr lang="es-ES" b="1" i="1" dirty="0"/>
                <a:t>Right Score </a:t>
              </a:r>
              <a:r>
                <a:rPr lang="es-ES" b="1" i="1" dirty="0" smtClean="0"/>
                <a:t>+ Left </a:t>
              </a:r>
              <a:r>
                <a:rPr lang="es-ES" b="1" i="1" dirty="0"/>
                <a:t>Score</a:t>
              </a:r>
            </a:p>
          </p:txBody>
        </p: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68E59891-FFE6-8B92-07CD-5469A083C2BF}"/>
                </a:ext>
              </a:extLst>
            </p:cNvPr>
            <p:cNvCxnSpPr/>
            <p:nvPr/>
          </p:nvCxnSpPr>
          <p:spPr>
            <a:xfrm>
              <a:off x="166255" y="4202179"/>
              <a:ext cx="200890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A7BA36BC-075D-864E-4349-F0F716E3E338}"/>
              </a:ext>
            </a:extLst>
          </p:cNvPr>
          <p:cNvGrpSpPr/>
          <p:nvPr/>
        </p:nvGrpSpPr>
        <p:grpSpPr>
          <a:xfrm>
            <a:off x="2757187" y="5888500"/>
            <a:ext cx="2174118" cy="830997"/>
            <a:chOff x="2175164" y="3867801"/>
            <a:chExt cx="1669472" cy="830997"/>
          </a:xfrm>
        </p:grpSpPr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D80C94A5-96C7-62A6-AB79-DBD829CD0D8B}"/>
                </a:ext>
              </a:extLst>
            </p:cNvPr>
            <p:cNvSpPr txBox="1"/>
            <p:nvPr/>
          </p:nvSpPr>
          <p:spPr>
            <a:xfrm>
              <a:off x="2369127" y="3867801"/>
              <a:ext cx="147550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/>
                <a:t>Lateralization Quotient (LQ)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A2CCF3B5-A1BD-3533-357D-8AA2E1FE3933}"/>
                </a:ext>
              </a:extLst>
            </p:cNvPr>
            <p:cNvSpPr txBox="1"/>
            <p:nvPr/>
          </p:nvSpPr>
          <p:spPr>
            <a:xfrm>
              <a:off x="2175164" y="4080164"/>
              <a:ext cx="1939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400" dirty="0"/>
                <a:t>=</a:t>
              </a:r>
            </a:p>
          </p:txBody>
        </p:sp>
      </p:grpSp>
      <p:grpSp>
        <p:nvGrpSpPr>
          <p:cNvPr id="90" name="Grupo 89"/>
          <p:cNvGrpSpPr/>
          <p:nvPr/>
        </p:nvGrpSpPr>
        <p:grpSpPr>
          <a:xfrm>
            <a:off x="5267325" y="5440659"/>
            <a:ext cx="6697662" cy="1195568"/>
            <a:chOff x="5267325" y="5440659"/>
            <a:chExt cx="6697662" cy="1195568"/>
          </a:xfrm>
        </p:grpSpPr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5FBD9CB9-62EE-8A9C-908E-26BB405148A3}"/>
                </a:ext>
              </a:extLst>
            </p:cNvPr>
            <p:cNvSpPr txBox="1"/>
            <p:nvPr/>
          </p:nvSpPr>
          <p:spPr>
            <a:xfrm>
              <a:off x="5876638" y="6113007"/>
              <a:ext cx="28837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r>
                <a:rPr lang="es-ES" sz="2800" dirty="0"/>
                <a:t>Lateralized</a:t>
              </a:r>
            </a:p>
          </p:txBody>
        </p:sp>
        <p:grpSp>
          <p:nvGrpSpPr>
            <p:cNvPr id="89" name="Grupo 88"/>
            <p:cNvGrpSpPr/>
            <p:nvPr/>
          </p:nvGrpSpPr>
          <p:grpSpPr>
            <a:xfrm>
              <a:off x="5267325" y="5440659"/>
              <a:ext cx="6697662" cy="546815"/>
              <a:chOff x="5267325" y="5440659"/>
              <a:chExt cx="6697662" cy="546815"/>
            </a:xfrm>
          </p:grpSpPr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ED0898DA-D1F6-D02E-E3FB-DDAB50534608}"/>
                  </a:ext>
                </a:extLst>
              </p:cNvPr>
              <p:cNvSpPr/>
              <p:nvPr/>
            </p:nvSpPr>
            <p:spPr>
              <a:xfrm>
                <a:off x="5267325" y="5447851"/>
                <a:ext cx="6697662" cy="52524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B6AC062F-BBA4-C19A-E12B-05CF64D97981}"/>
                  </a:ext>
                </a:extLst>
              </p:cNvPr>
              <p:cNvSpPr/>
              <p:nvPr/>
            </p:nvSpPr>
            <p:spPr>
              <a:xfrm>
                <a:off x="5279617" y="5440659"/>
                <a:ext cx="328297" cy="532433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4" name="Rectángulo 63">
                <a:extLst>
                  <a:ext uri="{FF2B5EF4-FFF2-40B4-BE49-F238E27FC236}">
                    <a16:creationId xmlns:a16="http://schemas.microsoft.com/office/drawing/2014/main" id="{B6AC062F-BBA4-C19A-E12B-05CF64D97981}"/>
                  </a:ext>
                </a:extLst>
              </p:cNvPr>
              <p:cNvSpPr/>
              <p:nvPr/>
            </p:nvSpPr>
            <p:spPr>
              <a:xfrm>
                <a:off x="11637347" y="5447849"/>
                <a:ext cx="327640" cy="525243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5FBD9CB9-62EE-8A9C-908E-26BB405148A3}"/>
                  </a:ext>
                </a:extLst>
              </p:cNvPr>
              <p:cNvSpPr txBox="1"/>
              <p:nvPr/>
            </p:nvSpPr>
            <p:spPr>
              <a:xfrm>
                <a:off x="7150597" y="5464254"/>
                <a:ext cx="28837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3200" b="1"/>
                </a:lvl1pPr>
              </a:lstStyle>
              <a:p>
                <a:pPr algn="ctr"/>
                <a:r>
                  <a:rPr lang="es-ES" sz="2800" dirty="0" smtClean="0"/>
                  <a:t>Non-</a:t>
                </a:r>
                <a:r>
                  <a:rPr lang="es-ES" sz="2800" dirty="0" err="1" smtClean="0"/>
                  <a:t>lateralized</a:t>
                </a:r>
                <a:endParaRPr lang="es-ES" sz="2800" dirty="0"/>
              </a:p>
            </p:txBody>
          </p:sp>
        </p:grpSp>
        <p:cxnSp>
          <p:nvCxnSpPr>
            <p:cNvPr id="68" name="Conector recto de flecha 67"/>
            <p:cNvCxnSpPr>
              <a:stCxn id="30" idx="1"/>
            </p:cNvCxnSpPr>
            <p:nvPr/>
          </p:nvCxnSpPr>
          <p:spPr>
            <a:xfrm flipH="1" flipV="1">
              <a:off x="5607914" y="6045541"/>
              <a:ext cx="268724" cy="329076"/>
            </a:xfrm>
            <a:prstGeom prst="straightConnector1">
              <a:avLst/>
            </a:prstGeom>
            <a:ln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/>
            <p:cNvCxnSpPr/>
            <p:nvPr/>
          </p:nvCxnSpPr>
          <p:spPr>
            <a:xfrm flipV="1">
              <a:off x="7666269" y="6045541"/>
              <a:ext cx="3936865" cy="402884"/>
            </a:xfrm>
            <a:prstGeom prst="straightConnector1">
              <a:avLst/>
            </a:prstGeom>
            <a:ln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upo 87"/>
          <p:cNvGrpSpPr/>
          <p:nvPr/>
        </p:nvGrpSpPr>
        <p:grpSpPr>
          <a:xfrm>
            <a:off x="5350655" y="4809860"/>
            <a:ext cx="4957445" cy="667503"/>
            <a:chOff x="5350655" y="4809860"/>
            <a:chExt cx="4957445" cy="667503"/>
          </a:xfrm>
        </p:grpSpPr>
        <p:grpSp>
          <p:nvGrpSpPr>
            <p:cNvPr id="74" name="Grupo 73"/>
            <p:cNvGrpSpPr/>
            <p:nvPr/>
          </p:nvGrpSpPr>
          <p:grpSpPr>
            <a:xfrm>
              <a:off x="5350655" y="4809860"/>
              <a:ext cx="4957445" cy="532703"/>
              <a:chOff x="5350655" y="4809860"/>
              <a:chExt cx="4957445" cy="532703"/>
            </a:xfrm>
          </p:grpSpPr>
          <p:sp>
            <p:nvSpPr>
              <p:cNvPr id="72" name="Cerrar llave 71"/>
              <p:cNvSpPr/>
              <p:nvPr/>
            </p:nvSpPr>
            <p:spPr>
              <a:xfrm rot="5400000">
                <a:off x="7753045" y="2407470"/>
                <a:ext cx="152666" cy="4957445"/>
              </a:xfrm>
              <a:prstGeom prst="rightBrace">
                <a:avLst>
                  <a:gd name="adj1" fmla="val 66093"/>
                  <a:gd name="adj2" fmla="val 51832"/>
                </a:avLst>
              </a:prstGeom>
              <a:ln w="571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Rectángulo 72"/>
              <p:cNvSpPr/>
              <p:nvPr/>
            </p:nvSpPr>
            <p:spPr>
              <a:xfrm>
                <a:off x="7191070" y="5000824"/>
                <a:ext cx="1151965" cy="3417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7176703" y="4892588"/>
              <a:ext cx="10256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 smtClean="0"/>
                <a:t>NRH</a:t>
              </a:r>
              <a:endParaRPr lang="es-ES" dirty="0"/>
            </a:p>
          </p:txBody>
        </p:sp>
      </p:grpSp>
      <p:pic>
        <p:nvPicPr>
          <p:cNvPr id="46" name="Imagen 45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80" t="64646" r="4030" b="8831"/>
          <a:stretch/>
        </p:blipFill>
        <p:spPr>
          <a:xfrm>
            <a:off x="5226337" y="876123"/>
            <a:ext cx="6857184" cy="1219082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D959302-9360-5C33-06B3-D62828EF9A8E}"/>
              </a:ext>
            </a:extLst>
          </p:cNvPr>
          <p:cNvCxnSpPr>
            <a:cxnSpLocks/>
          </p:cNvCxnSpPr>
          <p:nvPr/>
        </p:nvCxnSpPr>
        <p:spPr>
          <a:xfrm flipV="1">
            <a:off x="11637347" y="876123"/>
            <a:ext cx="20700" cy="5111351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o 84"/>
          <p:cNvGrpSpPr/>
          <p:nvPr/>
        </p:nvGrpSpPr>
        <p:grpSpPr>
          <a:xfrm>
            <a:off x="5269325" y="2443785"/>
            <a:ext cx="6875505" cy="591247"/>
            <a:chOff x="5269325" y="2443785"/>
            <a:chExt cx="6875505" cy="591247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B30B59-3710-8408-0FF9-26E4523DE253}"/>
                </a:ext>
              </a:extLst>
            </p:cNvPr>
            <p:cNvSpPr/>
            <p:nvPr/>
          </p:nvSpPr>
          <p:spPr>
            <a:xfrm>
              <a:off x="5271894" y="2443785"/>
              <a:ext cx="6693093" cy="591247"/>
            </a:xfrm>
            <a:prstGeom prst="rect">
              <a:avLst/>
            </a:prstGeom>
            <a:solidFill>
              <a:srgbClr val="A5F1CD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09842625-2368-2298-16FC-95C1E9F693A6}"/>
                </a:ext>
              </a:extLst>
            </p:cNvPr>
            <p:cNvSpPr txBox="1"/>
            <p:nvPr/>
          </p:nvSpPr>
          <p:spPr>
            <a:xfrm>
              <a:off x="5269325" y="2477086"/>
              <a:ext cx="1110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800" dirty="0"/>
                <a:t>-100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CB8A079C-24B4-2542-E955-CFD84E62C0C1}"/>
                </a:ext>
              </a:extLst>
            </p:cNvPr>
            <p:cNvSpPr txBox="1"/>
            <p:nvPr/>
          </p:nvSpPr>
          <p:spPr>
            <a:xfrm>
              <a:off x="8162364" y="2495194"/>
              <a:ext cx="956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LQ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09842625-2368-2298-16FC-95C1E9F693A6}"/>
                </a:ext>
              </a:extLst>
            </p:cNvPr>
            <p:cNvSpPr txBox="1"/>
            <p:nvPr/>
          </p:nvSpPr>
          <p:spPr>
            <a:xfrm>
              <a:off x="11034806" y="2477086"/>
              <a:ext cx="1110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800" dirty="0"/>
                <a:t>+</a:t>
              </a:r>
              <a:r>
                <a:rPr lang="es-ES" sz="2800" dirty="0" smtClean="0"/>
                <a:t>100</a:t>
              </a:r>
              <a:endParaRPr lang="es-ES" sz="2800" dirty="0"/>
            </a:p>
          </p:txBody>
        </p:sp>
      </p:grpSp>
      <p:grpSp>
        <p:nvGrpSpPr>
          <p:cNvPr id="86" name="Grupo 85"/>
          <p:cNvGrpSpPr/>
          <p:nvPr/>
        </p:nvGrpSpPr>
        <p:grpSpPr>
          <a:xfrm>
            <a:off x="5267059" y="3374992"/>
            <a:ext cx="6691536" cy="591381"/>
            <a:chOff x="5267059" y="3374992"/>
            <a:chExt cx="6691536" cy="591381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5267059" y="3433084"/>
              <a:ext cx="6691536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D77B4F48-3B87-95AD-AC32-86712AA4F8F5}"/>
                </a:ext>
              </a:extLst>
            </p:cNvPr>
            <p:cNvSpPr/>
            <p:nvPr/>
          </p:nvSpPr>
          <p:spPr>
            <a:xfrm>
              <a:off x="5281080" y="3425028"/>
              <a:ext cx="3323975" cy="48480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F0647A86-F9FB-EDD9-6914-F239CCE77608}"/>
                </a:ext>
              </a:extLst>
            </p:cNvPr>
            <p:cNvSpPr txBox="1"/>
            <p:nvPr/>
          </p:nvSpPr>
          <p:spPr>
            <a:xfrm>
              <a:off x="5305347" y="3381598"/>
              <a:ext cx="185488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b="1" dirty="0"/>
                <a:t>Left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10024153" y="3374992"/>
              <a:ext cx="19140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r"/>
              <a:r>
                <a:rPr lang="es-ES" dirty="0"/>
                <a:t>Right</a:t>
              </a:r>
            </a:p>
          </p:txBody>
        </p:sp>
      </p:grpSp>
      <p:grpSp>
        <p:nvGrpSpPr>
          <p:cNvPr id="87" name="Grupo 86"/>
          <p:cNvGrpSpPr/>
          <p:nvPr/>
        </p:nvGrpSpPr>
        <p:grpSpPr>
          <a:xfrm>
            <a:off x="5273061" y="4181698"/>
            <a:ext cx="6694004" cy="635530"/>
            <a:chOff x="5273061" y="4181698"/>
            <a:chExt cx="6694004" cy="635530"/>
          </a:xfrm>
        </p:grpSpPr>
        <p:sp>
          <p:nvSpPr>
            <p:cNvPr id="23" name="Abrir llave 22">
              <a:extLst>
                <a:ext uri="{FF2B5EF4-FFF2-40B4-BE49-F238E27FC236}">
                  <a16:creationId xmlns:a16="http://schemas.microsoft.com/office/drawing/2014/main" id="{FB940F5B-6199-A806-DFB2-D96A82B90A90}"/>
                </a:ext>
              </a:extLst>
            </p:cNvPr>
            <p:cNvSpPr/>
            <p:nvPr/>
          </p:nvSpPr>
          <p:spPr>
            <a:xfrm rot="5400000">
              <a:off x="8777083" y="3083180"/>
              <a:ext cx="249382" cy="3032057"/>
            </a:xfrm>
            <a:prstGeom prst="leftBrace">
              <a:avLst>
                <a:gd name="adj1" fmla="val 154961"/>
                <a:gd name="adj2" fmla="val 50525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A29C0580-010B-60E5-F4D1-EE9203A72873}"/>
                </a:ext>
              </a:extLst>
            </p:cNvPr>
            <p:cNvSpPr txBox="1"/>
            <p:nvPr/>
          </p:nvSpPr>
          <p:spPr>
            <a:xfrm>
              <a:off x="8774690" y="4181698"/>
              <a:ext cx="1143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NRH</a:t>
              </a:r>
            </a:p>
          </p:txBody>
        </p: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7B36E3C5-B02C-6780-8E7A-F770EC47C2F9}"/>
                </a:ext>
              </a:extLst>
            </p:cNvPr>
            <p:cNvSpPr/>
            <p:nvPr/>
          </p:nvSpPr>
          <p:spPr>
            <a:xfrm>
              <a:off x="5275529" y="4271421"/>
              <a:ext cx="6691536" cy="482042"/>
            </a:xfrm>
            <a:prstGeom prst="rect">
              <a:avLst/>
            </a:prstGeom>
            <a:solidFill>
              <a:srgbClr val="8AD5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72B5177-3B13-D324-B9CF-09388954421C}"/>
                </a:ext>
              </a:extLst>
            </p:cNvPr>
            <p:cNvSpPr/>
            <p:nvPr/>
          </p:nvSpPr>
          <p:spPr>
            <a:xfrm>
              <a:off x="5273061" y="4269592"/>
              <a:ext cx="5035041" cy="481430"/>
            </a:xfrm>
            <a:prstGeom prst="rect">
              <a:avLst/>
            </a:prstGeom>
            <a:solidFill>
              <a:srgbClr val="C397F3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D35631AB-E241-C271-E196-FB63799FF9EE}"/>
                </a:ext>
              </a:extLst>
            </p:cNvPr>
            <p:cNvSpPr/>
            <p:nvPr/>
          </p:nvSpPr>
          <p:spPr>
            <a:xfrm>
              <a:off x="5288915" y="4279479"/>
              <a:ext cx="1700206" cy="47398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10743141" y="4232453"/>
              <a:ext cx="12052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r"/>
              <a:r>
                <a:rPr lang="es-ES" dirty="0"/>
                <a:t>Right</a:t>
              </a:r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80A64A56-EDE1-A6B9-09D0-0308D6867FE7}"/>
                </a:ext>
              </a:extLst>
            </p:cNvPr>
            <p:cNvSpPr txBox="1"/>
            <p:nvPr/>
          </p:nvSpPr>
          <p:spPr>
            <a:xfrm>
              <a:off x="7666269" y="4223362"/>
              <a:ext cx="19140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3200" b="1"/>
              </a:lvl1pPr>
            </a:lstStyle>
            <a:p>
              <a:pPr algn="ctr"/>
              <a:r>
                <a:rPr lang="es-ES" dirty="0" err="1" smtClean="0"/>
                <a:t>Mixed</a:t>
              </a:r>
              <a:endParaRPr lang="es-ES" dirty="0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F0647A86-F9FB-EDD9-6914-F239CCE77608}"/>
                </a:ext>
              </a:extLst>
            </p:cNvPr>
            <p:cNvSpPr txBox="1"/>
            <p:nvPr/>
          </p:nvSpPr>
          <p:spPr>
            <a:xfrm>
              <a:off x="5285636" y="4232453"/>
              <a:ext cx="10263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3200" b="1" dirty="0"/>
                <a:t>Left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587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s-ES" sz="4000" b="1" dirty="0" err="1" smtClean="0"/>
              <a:t>Handedness</a:t>
            </a:r>
            <a:r>
              <a:rPr lang="es-ES" sz="4000" b="1" dirty="0" smtClean="0"/>
              <a:t> in </a:t>
            </a:r>
            <a:r>
              <a:rPr lang="es-ES" sz="4000" b="1" dirty="0" err="1" smtClean="0"/>
              <a:t>neurodevelopmental</a:t>
            </a:r>
            <a:r>
              <a:rPr lang="es-ES" sz="4000" b="1" dirty="0" smtClean="0"/>
              <a:t>/</a:t>
            </a:r>
            <a:r>
              <a:rPr lang="es-ES" sz="4000" b="1" dirty="0" err="1" smtClean="0"/>
              <a:t>psychiatric</a:t>
            </a:r>
            <a:r>
              <a:rPr lang="es-ES" sz="4000" b="1" dirty="0" smtClean="0"/>
              <a:t> </a:t>
            </a:r>
            <a:r>
              <a:rPr lang="es-ES" sz="4000" b="1" dirty="0" smtClean="0"/>
              <a:t>disorders</a:t>
            </a:r>
            <a:endParaRPr lang="en-GB" sz="4000" b="1" dirty="0"/>
          </a:p>
        </p:txBody>
      </p:sp>
      <p:pic>
        <p:nvPicPr>
          <p:cNvPr id="4" name="Google Shape;76;p15"/>
          <p:cNvPicPr preferRelativeResize="0"/>
          <p:nvPr/>
        </p:nvPicPr>
        <p:blipFill rotWithShape="1">
          <a:blip r:embed="rId2">
            <a:alphaModFix/>
          </a:blip>
          <a:srcRect l="25345" t="5525" b="11274"/>
          <a:stretch/>
        </p:blipFill>
        <p:spPr>
          <a:xfrm>
            <a:off x="258618" y="1078972"/>
            <a:ext cx="4922982" cy="448362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/>
          <p:cNvSpPr txBox="1"/>
          <p:nvPr/>
        </p:nvSpPr>
        <p:spPr>
          <a:xfrm>
            <a:off x="258618" y="5631767"/>
            <a:ext cx="46181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 smtClean="0"/>
              <a:t>High </a:t>
            </a:r>
            <a:r>
              <a:rPr lang="es-ES" sz="2800" b="1" u="sng" dirty="0" smtClean="0">
                <a:uFill>
                  <a:solidFill>
                    <a:srgbClr val="FF0000"/>
                  </a:solidFill>
                </a:uFill>
              </a:rPr>
              <a:t>genetic</a:t>
            </a:r>
            <a:r>
              <a:rPr lang="es-ES" sz="2800" b="1" dirty="0" smtClean="0"/>
              <a:t> + </a:t>
            </a:r>
            <a:r>
              <a:rPr lang="es-ES" sz="2800" b="1" u="sng" dirty="0" smtClean="0">
                <a:uFill>
                  <a:solidFill>
                    <a:schemeClr val="accent1"/>
                  </a:solidFill>
                </a:uFill>
              </a:rPr>
              <a:t>clinical</a:t>
            </a:r>
            <a:r>
              <a:rPr lang="es-ES" sz="2800" b="1" dirty="0" smtClean="0"/>
              <a:t> overlap </a:t>
            </a:r>
            <a:r>
              <a:rPr lang="es-ES" sz="2800" b="1" dirty="0" smtClean="0"/>
              <a:t>in </a:t>
            </a:r>
            <a:r>
              <a:rPr lang="es-ES" sz="2800" b="1" dirty="0" smtClean="0"/>
              <a:t>mental disorders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AC7DFD-5540-8C9B-D578-4C74605103ED}"/>
              </a:ext>
            </a:extLst>
          </p:cNvPr>
          <p:cNvSpPr txBox="1"/>
          <p:nvPr/>
        </p:nvSpPr>
        <p:spPr>
          <a:xfrm>
            <a:off x="5623623" y="2859121"/>
            <a:ext cx="2508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Schizophrenia </a:t>
            </a:r>
            <a:r>
              <a:rPr lang="es-ES" dirty="0"/>
              <a:t>(SCZ)</a:t>
            </a:r>
          </a:p>
          <a:p>
            <a:pPr algn="ctr"/>
            <a:r>
              <a:rPr lang="es-ES" dirty="0"/>
              <a:t>Left-</a:t>
            </a:r>
            <a:r>
              <a:rPr lang="en-US" noProof="0" dirty="0"/>
              <a:t>handed</a:t>
            </a:r>
            <a:r>
              <a:rPr lang="es-ES" dirty="0"/>
              <a:t>: ~20%</a:t>
            </a:r>
          </a:p>
          <a:p>
            <a:pPr algn="ctr"/>
            <a:r>
              <a:rPr lang="es-ES" dirty="0"/>
              <a:t>NRH: ~35%</a:t>
            </a:r>
            <a:r>
              <a:rPr lang="es-ES" b="1" dirty="0"/>
              <a:t>**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5D3924B-DEC9-564D-4C1E-F41BB1233C68}"/>
              </a:ext>
            </a:extLst>
          </p:cNvPr>
          <p:cNvSpPr txBox="1"/>
          <p:nvPr/>
        </p:nvSpPr>
        <p:spPr>
          <a:xfrm>
            <a:off x="9067648" y="4273799"/>
            <a:ext cx="2447221" cy="64633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Bipolar disorder </a:t>
            </a:r>
            <a:r>
              <a:rPr lang="es-ES" dirty="0"/>
              <a:t>(BD)</a:t>
            </a:r>
          </a:p>
          <a:p>
            <a:pPr algn="ctr"/>
            <a:r>
              <a:rPr lang="es-ES" dirty="0"/>
              <a:t>???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B208FE0-A252-3BEE-7248-5F6ECD1E8CE2}"/>
              </a:ext>
            </a:extLst>
          </p:cNvPr>
          <p:cNvSpPr txBox="1"/>
          <p:nvPr/>
        </p:nvSpPr>
        <p:spPr>
          <a:xfrm>
            <a:off x="9180173" y="2997620"/>
            <a:ext cx="2222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Depression</a:t>
            </a:r>
            <a:r>
              <a:rPr lang="es-ES" dirty="0"/>
              <a:t> (DEP)</a:t>
            </a:r>
          </a:p>
          <a:p>
            <a:pPr algn="ctr"/>
            <a:r>
              <a:rPr lang="es-ES" dirty="0"/>
              <a:t>NRH: 18</a:t>
            </a:r>
            <a:r>
              <a:rPr lang="es-ES" dirty="0" smtClean="0"/>
              <a:t>%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AB82C21-CFEB-F5F2-0204-426DA9DE4F6F}"/>
              </a:ext>
            </a:extLst>
          </p:cNvPr>
          <p:cNvSpPr txBox="1"/>
          <p:nvPr/>
        </p:nvSpPr>
        <p:spPr>
          <a:xfrm>
            <a:off x="5791436" y="4920130"/>
            <a:ext cx="2173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Autism </a:t>
            </a:r>
            <a:r>
              <a:rPr lang="es-ES" dirty="0"/>
              <a:t>(ASD)</a:t>
            </a:r>
          </a:p>
          <a:p>
            <a:pPr algn="ctr"/>
            <a:r>
              <a:rPr lang="es-ES" dirty="0"/>
              <a:t>NRH: ~35</a:t>
            </a:r>
            <a:r>
              <a:rPr lang="es-ES" dirty="0" smtClean="0"/>
              <a:t>%</a:t>
            </a:r>
            <a:r>
              <a:rPr lang="es-ES" b="1" dirty="0" smtClean="0"/>
              <a:t>**</a:t>
            </a:r>
            <a:endParaRPr lang="es-ES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D7F7974-D189-5E3B-3511-1044205A7774}"/>
              </a:ext>
            </a:extLst>
          </p:cNvPr>
          <p:cNvSpPr txBox="1"/>
          <p:nvPr/>
        </p:nvSpPr>
        <p:spPr>
          <a:xfrm>
            <a:off x="5927845" y="4060778"/>
            <a:ext cx="1900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ADHD</a:t>
            </a:r>
          </a:p>
          <a:p>
            <a:pPr algn="ctr"/>
            <a:r>
              <a:rPr lang="es-ES" dirty="0"/>
              <a:t>NRH: ~25%</a:t>
            </a:r>
            <a:r>
              <a:rPr lang="es-ES" b="1" dirty="0"/>
              <a:t>*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D0DFF0B-E50B-06BF-66F5-31A1A2654E16}"/>
              </a:ext>
            </a:extLst>
          </p:cNvPr>
          <p:cNvSpPr txBox="1"/>
          <p:nvPr/>
        </p:nvSpPr>
        <p:spPr>
          <a:xfrm>
            <a:off x="9180173" y="5484916"/>
            <a:ext cx="2601069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800" u="sng" dirty="0"/>
              <a:t>No concordant pattern:</a:t>
            </a:r>
          </a:p>
          <a:p>
            <a:r>
              <a:rPr lang="es-ES" sz="1800" dirty="0"/>
              <a:t>Small sample sizes</a:t>
            </a:r>
          </a:p>
          <a:p>
            <a:r>
              <a:rPr lang="es-ES" sz="1800" dirty="0"/>
              <a:t>Lack of clinical data</a:t>
            </a:r>
          </a:p>
          <a:p>
            <a:r>
              <a:rPr lang="es-ES" sz="1800" dirty="0"/>
              <a:t>Diverse measurements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6111212" y="1746093"/>
            <a:ext cx="5151175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&gt; NRH in disorders </a:t>
            </a:r>
            <a:r>
              <a:rPr lang="es-ES" sz="2400" b="1" dirty="0" err="1" smtClean="0"/>
              <a:t>with</a:t>
            </a:r>
            <a:r>
              <a:rPr lang="es-ES" sz="2400" b="1" dirty="0" smtClean="0"/>
              <a:t> </a:t>
            </a:r>
            <a:r>
              <a:rPr lang="es-ES" sz="2400" b="1" dirty="0" err="1" smtClean="0"/>
              <a:t>early</a:t>
            </a:r>
            <a:r>
              <a:rPr lang="es-ES" sz="2400" b="1" dirty="0" smtClean="0"/>
              <a:t> </a:t>
            </a:r>
            <a:r>
              <a:rPr lang="es-ES" sz="2400" b="1" dirty="0" err="1" smtClean="0"/>
              <a:t>age</a:t>
            </a:r>
            <a:r>
              <a:rPr lang="es-ES" sz="2400" b="1" dirty="0" smtClean="0"/>
              <a:t> of </a:t>
            </a:r>
            <a:r>
              <a:rPr lang="es-ES" sz="2400" b="1" dirty="0" err="1" smtClean="0"/>
              <a:t>onset</a:t>
            </a:r>
            <a:r>
              <a:rPr lang="es-ES" sz="2400" b="1" dirty="0" smtClean="0"/>
              <a:t> and more </a:t>
            </a:r>
            <a:r>
              <a:rPr lang="es-ES" sz="2400" b="1" dirty="0" err="1" smtClean="0"/>
              <a:t>prevalence</a:t>
            </a:r>
            <a:r>
              <a:rPr lang="es-ES" sz="2400" b="1" dirty="0" smtClean="0"/>
              <a:t> in males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89937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4288"/>
            <a:ext cx="12192000" cy="1325563"/>
          </a:xfrm>
        </p:spPr>
        <p:txBody>
          <a:bodyPr/>
          <a:lstStyle/>
          <a:p>
            <a:pPr algn="ctr"/>
            <a:r>
              <a:rPr lang="es-ES" b="1" dirty="0" err="1" smtClean="0"/>
              <a:t>MadManic</a:t>
            </a:r>
            <a:r>
              <a:rPr lang="es-ES" b="1" dirty="0" smtClean="0"/>
              <a:t> </a:t>
            </a:r>
            <a:r>
              <a:rPr lang="es-ES" b="1" dirty="0" err="1" smtClean="0"/>
              <a:t>cohort</a:t>
            </a:r>
            <a:endParaRPr lang="en-GB" b="1" dirty="0"/>
          </a:p>
        </p:txBody>
      </p:sp>
      <p:grpSp>
        <p:nvGrpSpPr>
          <p:cNvPr id="7" name="Grupo 6"/>
          <p:cNvGrpSpPr/>
          <p:nvPr/>
        </p:nvGrpSpPr>
        <p:grpSpPr>
          <a:xfrm>
            <a:off x="339081" y="1633538"/>
            <a:ext cx="6882799" cy="4600466"/>
            <a:chOff x="520056" y="1690688"/>
            <a:chExt cx="6882799" cy="4600466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056" y="1690688"/>
              <a:ext cx="6882799" cy="4600466"/>
            </a:xfrm>
            <a:prstGeom prst="rect">
              <a:avLst/>
            </a:prstGeom>
          </p:spPr>
        </p:pic>
        <p:sp>
          <p:nvSpPr>
            <p:cNvPr id="6" name="Rectángulo 5"/>
            <p:cNvSpPr/>
            <p:nvPr/>
          </p:nvSpPr>
          <p:spPr>
            <a:xfrm>
              <a:off x="4229100" y="2257425"/>
              <a:ext cx="1419225" cy="3714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" name="Google Shape;57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43374" y="2009775"/>
              <a:ext cx="1590675" cy="70121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" name="Imagen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902" y="148527"/>
            <a:ext cx="2105609" cy="229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8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NRH in </a:t>
            </a:r>
            <a:r>
              <a:rPr lang="es-ES" dirty="0" err="1" smtClean="0"/>
              <a:t>Spanish</a:t>
            </a:r>
            <a:r>
              <a:rPr lang="es-ES" dirty="0" smtClean="0"/>
              <a:t> </a:t>
            </a:r>
            <a:r>
              <a:rPr lang="es-ES" dirty="0" err="1" smtClean="0"/>
              <a:t>population</a:t>
            </a:r>
            <a:endParaRPr lang="en-GB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73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Case-control </a:t>
            </a:r>
            <a:r>
              <a:rPr lang="es-ES" dirty="0" err="1" smtClean="0"/>
              <a:t>handedness</a:t>
            </a:r>
            <a:r>
              <a:rPr lang="es-ES" dirty="0" smtClean="0"/>
              <a:t> </a:t>
            </a:r>
            <a:r>
              <a:rPr lang="es-ES" dirty="0" err="1" smtClean="0"/>
              <a:t>study</a:t>
            </a:r>
            <a:endParaRPr lang="en-GB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29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Within</a:t>
            </a:r>
            <a:r>
              <a:rPr lang="es-ES" dirty="0" smtClean="0"/>
              <a:t> BD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165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PRS</a:t>
            </a:r>
            <a:endParaRPr lang="en-GB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49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Discussion</a:t>
            </a:r>
            <a:endParaRPr lang="en-GB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7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238</Words>
  <Application>Microsoft Office PowerPoint</Application>
  <PresentationFormat>Panorámica</PresentationFormat>
  <Paragraphs>63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Atypical handedness as a marker of altered brain lateralization: genetic and clinical study in bipolar disorder</vt:lpstr>
      <vt:lpstr>Handedness in general population</vt:lpstr>
      <vt:lpstr>Edinburgh Handedness Inventory</vt:lpstr>
      <vt:lpstr>Handedness in neurodevelopmental/psychiatric disorders</vt:lpstr>
      <vt:lpstr>MadManic cohort</vt:lpstr>
      <vt:lpstr>NRH in Spanish population</vt:lpstr>
      <vt:lpstr>Case-control handedness study</vt:lpstr>
      <vt:lpstr>Within BD</vt:lpstr>
      <vt:lpstr>PRS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Atypical handedness as a marker of altered brain lateralization: genetic and clinical study in bipolar disorder</dc:title>
  <dc:creator>CBM</dc:creator>
  <cp:lastModifiedBy>CBM</cp:lastModifiedBy>
  <cp:revision>12</cp:revision>
  <dcterms:created xsi:type="dcterms:W3CDTF">2026-06-30T10:32:29Z</dcterms:created>
  <dcterms:modified xsi:type="dcterms:W3CDTF">2026-07-03T10:00:01Z</dcterms:modified>
</cp:coreProperties>
</file>