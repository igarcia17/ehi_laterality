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sldIdLst>
    <p:sldId id="256" r:id="rId2"/>
    <p:sldId id="267" r:id="rId3"/>
    <p:sldId id="258" r:id="rId4"/>
    <p:sldId id="257" r:id="rId5"/>
    <p:sldId id="259" r:id="rId6"/>
    <p:sldId id="260" r:id="rId7"/>
    <p:sldId id="270" r:id="rId8"/>
    <p:sldId id="271" r:id="rId9"/>
    <p:sldId id="261" r:id="rId10"/>
    <p:sldId id="266" r:id="rId11"/>
    <p:sldId id="262" r:id="rId12"/>
    <p:sldId id="263" r:id="rId13"/>
    <p:sldId id="264" r:id="rId14"/>
    <p:sldId id="265" r:id="rId15"/>
    <p:sldId id="269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5428" userDrawn="1">
          <p15:clr>
            <a:srgbClr val="A4A3A4"/>
          </p15:clr>
        </p15:guide>
        <p15:guide id="3" pos="3318" userDrawn="1">
          <p15:clr>
            <a:srgbClr val="A4A3A4"/>
          </p15:clr>
        </p15:guide>
        <p15:guide id="4" pos="7537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 varScale="1">
        <p:scale>
          <a:sx n="108" d="100"/>
          <a:sy n="108" d="100"/>
        </p:scale>
        <p:origin x="678" y="108"/>
      </p:cViewPr>
      <p:guideLst>
        <p:guide orient="horz" pos="2160"/>
        <p:guide pos="5428"/>
        <p:guide pos="3318"/>
        <p:guide pos="7537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2429232-80D2-4D0C-9CF8-9240E390AFC1}" type="datetimeFigureOut">
              <a:rPr lang="en-GB" smtClean="0"/>
              <a:t>30/07/2026</a:t>
            </a:fld>
            <a:endParaRPr lang="en-GB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GB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045F14-0841-498C-8B3E-B08368038B08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62363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045F14-0841-498C-8B3E-B08368038B08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6656992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908CE70-8464-4F5E-93AD-97151A563D6A}" type="slidenum">
              <a:rPr kumimoji="0" lang="es-E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es-E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8264213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 smtClean="0"/>
              <a:t>Haga clic para modificar el estilo de título del patrón</a:t>
            </a:r>
            <a:endParaRPr lang="en-GB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 smtClean="0"/>
              <a:t>Haga clic para editar el estilo de subtítulo del patrón</a:t>
            </a:r>
            <a:endParaRPr lang="en-GB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B6AF46-4ED5-4A87-8D9F-D0A79E912F4D}" type="datetimeFigureOut">
              <a:rPr lang="en-GB" smtClean="0"/>
              <a:t>30/07/2026</a:t>
            </a:fld>
            <a:endParaRPr lang="en-GB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5E948B-A4EA-4562-B7E6-FE17413622D9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44742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n-GB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GB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B6AF46-4ED5-4A87-8D9F-D0A79E912F4D}" type="datetimeFigureOut">
              <a:rPr lang="en-GB" smtClean="0"/>
              <a:t>30/07/2026</a:t>
            </a:fld>
            <a:endParaRPr lang="en-GB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5E948B-A4EA-4562-B7E6-FE17413622D9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931190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 smtClean="0"/>
              <a:t>Haga clic para modificar el estilo de título del patrón</a:t>
            </a:r>
            <a:endParaRPr lang="en-GB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smtClean="0"/>
              <a:t>Editar el estilo de texto del patrón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B6AF46-4ED5-4A87-8D9F-D0A79E912F4D}" type="datetimeFigureOut">
              <a:rPr lang="en-GB" smtClean="0"/>
              <a:t>30/07/2026</a:t>
            </a:fld>
            <a:endParaRPr lang="en-GB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5E948B-A4EA-4562-B7E6-FE17413622D9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8285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n-GB"/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GB"/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GB"/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B6AF46-4ED5-4A87-8D9F-D0A79E912F4D}" type="datetimeFigureOut">
              <a:rPr lang="en-GB" smtClean="0"/>
              <a:t>30/07/2026</a:t>
            </a:fld>
            <a:endParaRPr lang="en-GB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5E948B-A4EA-4562-B7E6-FE17413622D9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235657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n-GB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smtClean="0"/>
              <a:t>Editar el estilo de texto del patrón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GB"/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smtClean="0"/>
              <a:t>Editar el estilo de texto del patrón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GB"/>
          </a:p>
        </p:txBody>
      </p:sp>
      <p:sp>
        <p:nvSpPr>
          <p:cNvPr id="7" name="Marcador de fech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B6AF46-4ED5-4A87-8D9F-D0A79E912F4D}" type="datetimeFigureOut">
              <a:rPr lang="en-GB" smtClean="0"/>
              <a:t>30/07/2026</a:t>
            </a:fld>
            <a:endParaRPr lang="en-GB"/>
          </a:p>
        </p:txBody>
      </p:sp>
      <p:sp>
        <p:nvSpPr>
          <p:cNvPr id="8" name="Marcador de pie de página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Marcador de número de diapositiva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5E948B-A4EA-4562-B7E6-FE17413622D9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083778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n-GB"/>
          </a:p>
        </p:txBody>
      </p:sp>
      <p:sp>
        <p:nvSpPr>
          <p:cNvPr id="3" name="Marcador de fech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B6AF46-4ED5-4A87-8D9F-D0A79E912F4D}" type="datetimeFigureOut">
              <a:rPr lang="en-GB" smtClean="0"/>
              <a:t>30/07/2026</a:t>
            </a:fld>
            <a:endParaRPr lang="en-GB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5E948B-A4EA-4562-B7E6-FE17413622D9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947211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B6AF46-4ED5-4A87-8D9F-D0A79E912F4D}" type="datetimeFigureOut">
              <a:rPr lang="en-GB" smtClean="0"/>
              <a:t>30/07/2026</a:t>
            </a:fld>
            <a:endParaRPr lang="en-GB"/>
          </a:p>
        </p:txBody>
      </p:sp>
      <p:sp>
        <p:nvSpPr>
          <p:cNvPr id="3" name="Marcador de pie de página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5E948B-A4EA-4562-B7E6-FE17413622D9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385908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 smtClean="0"/>
              <a:t>Haga clic para modificar el estilo de título del patrón</a:t>
            </a:r>
            <a:endParaRPr lang="en-GB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GB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 smtClean="0"/>
              <a:t>Editar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B6AF46-4ED5-4A87-8D9F-D0A79E912F4D}" type="datetimeFigureOut">
              <a:rPr lang="en-GB" smtClean="0"/>
              <a:t>30/07/2026</a:t>
            </a:fld>
            <a:endParaRPr lang="en-GB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5E948B-A4EA-4562-B7E6-FE17413622D9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397547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 smtClean="0"/>
              <a:t>Haga clic para modificar el estilo de título del patrón</a:t>
            </a:r>
            <a:endParaRPr lang="en-GB"/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 smtClean="0"/>
              <a:t>Editar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B6AF46-4ED5-4A87-8D9F-D0A79E912F4D}" type="datetimeFigureOut">
              <a:rPr lang="en-GB" smtClean="0"/>
              <a:t>30/07/2026</a:t>
            </a:fld>
            <a:endParaRPr lang="en-GB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5E948B-A4EA-4562-B7E6-FE17413622D9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119667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n-GB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GB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B6AF46-4ED5-4A87-8D9F-D0A79E912F4D}" type="datetimeFigureOut">
              <a:rPr lang="en-GB" smtClean="0"/>
              <a:t>30/07/2026</a:t>
            </a:fld>
            <a:endParaRPr lang="en-GB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5E948B-A4EA-4562-B7E6-FE17413622D9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694725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 smtClean="0"/>
              <a:t>Haga clic para modificar el estilo de título del patrón</a:t>
            </a:r>
            <a:endParaRPr lang="en-GB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GB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B6AF46-4ED5-4A87-8D9F-D0A79E912F4D}" type="datetimeFigureOut">
              <a:rPr lang="en-GB" smtClean="0"/>
              <a:t>30/07/2026</a:t>
            </a:fld>
            <a:endParaRPr lang="en-GB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5E948B-A4EA-4562-B7E6-FE17413622D9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709002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 smtClean="0"/>
              <a:t>Haga clic para modificar el estilo de título del patrón</a:t>
            </a:r>
            <a:endParaRPr lang="en-GB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GB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B6AF46-4ED5-4A87-8D9F-D0A79E912F4D}" type="datetimeFigureOut">
              <a:rPr lang="en-GB" smtClean="0"/>
              <a:t>30/07/2026</a:t>
            </a:fld>
            <a:endParaRPr lang="en-GB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F5E948B-A4EA-4562-B7E6-FE17413622D9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539825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microsoft.com/office/2007/relationships/hdphoto" Target="../media/hdphoto2.wdp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jpeg"/><Relationship Id="rId4" Type="http://schemas.openxmlformats.org/officeDocument/2006/relationships/image" Target="../media/image11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2.jpe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jpeg"/><Relationship Id="rId3" Type="http://schemas.openxmlformats.org/officeDocument/2006/relationships/image" Target="../media/image15.png"/><Relationship Id="rId7" Type="http://schemas.openxmlformats.org/officeDocument/2006/relationships/image" Target="../media/image19.jpg"/><Relationship Id="rId12" Type="http://schemas.openxmlformats.org/officeDocument/2006/relationships/image" Target="../media/image24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jpeg"/><Relationship Id="rId11" Type="http://schemas.openxmlformats.org/officeDocument/2006/relationships/image" Target="../media/image23.jpeg"/><Relationship Id="rId5" Type="http://schemas.openxmlformats.org/officeDocument/2006/relationships/image" Target="../media/image17.jpeg"/><Relationship Id="rId10" Type="http://schemas.openxmlformats.org/officeDocument/2006/relationships/image" Target="../media/image22.png"/><Relationship Id="rId4" Type="http://schemas.openxmlformats.org/officeDocument/2006/relationships/image" Target="../media/image16.jpeg"/><Relationship Id="rId9" Type="http://schemas.openxmlformats.org/officeDocument/2006/relationships/image" Target="../media/image21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683491" y="1034467"/>
            <a:ext cx="10834254" cy="3630035"/>
          </a:xfrm>
        </p:spPr>
        <p:txBody>
          <a:bodyPr>
            <a:noAutofit/>
          </a:bodyPr>
          <a:lstStyle/>
          <a:p>
            <a:r>
              <a:rPr lang="en-AU" b="1" dirty="0"/>
              <a:t>Atypical handedness as a marker of altered brain lateralization</a:t>
            </a:r>
            <a:r>
              <a:rPr lang="en-GB" b="1" dirty="0"/>
              <a:t>: genetic and clinical study in bipolar </a:t>
            </a:r>
            <a:r>
              <a:rPr lang="en-GB" b="1" dirty="0" smtClean="0"/>
              <a:t>disorder</a:t>
            </a:r>
            <a:endParaRPr lang="en-GB" dirty="0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3224067" y="5015802"/>
            <a:ext cx="5753101" cy="1433489"/>
          </a:xfrm>
        </p:spPr>
        <p:txBody>
          <a:bodyPr/>
          <a:lstStyle/>
          <a:p>
            <a:r>
              <a:rPr lang="es-ES" dirty="0" smtClean="0"/>
              <a:t>Inés García-Ortiz</a:t>
            </a:r>
          </a:p>
          <a:p>
            <a:r>
              <a:rPr lang="en-GB" sz="2000" dirty="0" smtClean="0"/>
              <a:t>10</a:t>
            </a:r>
            <a:r>
              <a:rPr lang="en-GB" sz="2000" baseline="30000" dirty="0" smtClean="0"/>
              <a:t>th</a:t>
            </a:r>
            <a:r>
              <a:rPr lang="en-GB" sz="2000" dirty="0" smtClean="0"/>
              <a:t> North Sea Meeting on Laterality</a:t>
            </a:r>
          </a:p>
          <a:p>
            <a:r>
              <a:rPr lang="en-GB" sz="2000" dirty="0" smtClean="0"/>
              <a:t>19</a:t>
            </a:r>
            <a:r>
              <a:rPr lang="en-GB" sz="2000" baseline="30000" dirty="0" smtClean="0"/>
              <a:t>th</a:t>
            </a:r>
            <a:r>
              <a:rPr lang="en-GB" sz="2000" dirty="0" smtClean="0"/>
              <a:t> – 22</a:t>
            </a:r>
            <a:r>
              <a:rPr lang="en-GB" sz="2000" baseline="30000" dirty="0" smtClean="0"/>
              <a:t>nd</a:t>
            </a:r>
            <a:r>
              <a:rPr lang="en-GB" sz="2000" dirty="0" smtClean="0"/>
              <a:t> August 2026, Brighton</a:t>
            </a:r>
            <a:endParaRPr lang="en-GB" sz="2000" dirty="0"/>
          </a:p>
        </p:txBody>
      </p:sp>
      <p:pic>
        <p:nvPicPr>
          <p:cNvPr id="4" name="Google Shape;56;p1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-8"/>
            <a:ext cx="1808213" cy="792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Google Shape;57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771452" y="109417"/>
            <a:ext cx="1342150" cy="57375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8422991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47077" y="109048"/>
            <a:ext cx="10515600" cy="986714"/>
          </a:xfrm>
        </p:spPr>
        <p:txBody>
          <a:bodyPr>
            <a:normAutofit/>
          </a:bodyPr>
          <a:lstStyle/>
          <a:p>
            <a:pPr algn="ctr"/>
            <a:r>
              <a:rPr lang="es-ES" sz="4000" b="1" dirty="0"/>
              <a:t>Bipolar </a:t>
            </a:r>
            <a:r>
              <a:rPr lang="es-ES" sz="4000" b="1" dirty="0" err="1"/>
              <a:t>disorder</a:t>
            </a:r>
            <a:endParaRPr lang="en-GB" sz="4000" b="1" dirty="0"/>
          </a:p>
        </p:txBody>
      </p:sp>
      <p:cxnSp>
        <p:nvCxnSpPr>
          <p:cNvPr id="4" name="Straight Connector 4"/>
          <p:cNvCxnSpPr/>
          <p:nvPr/>
        </p:nvCxnSpPr>
        <p:spPr>
          <a:xfrm flipH="1">
            <a:off x="932055" y="1448421"/>
            <a:ext cx="4665" cy="445574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" name="Straight Connector 6"/>
          <p:cNvCxnSpPr/>
          <p:nvPr/>
        </p:nvCxnSpPr>
        <p:spPr>
          <a:xfrm>
            <a:off x="932055" y="3689817"/>
            <a:ext cx="742716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6" name="TextBox 7"/>
          <p:cNvSpPr txBox="1"/>
          <p:nvPr/>
        </p:nvSpPr>
        <p:spPr>
          <a:xfrm>
            <a:off x="956565" y="2802615"/>
            <a:ext cx="918855" cy="43088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AU" sz="2200" b="1" dirty="0"/>
              <a:t>Mood</a:t>
            </a:r>
          </a:p>
        </p:txBody>
      </p:sp>
      <p:sp>
        <p:nvSpPr>
          <p:cNvPr id="7" name="TextBox 8"/>
          <p:cNvSpPr txBox="1"/>
          <p:nvPr/>
        </p:nvSpPr>
        <p:spPr>
          <a:xfrm>
            <a:off x="956565" y="6256822"/>
            <a:ext cx="1858719" cy="430887"/>
          </a:xfrm>
          <a:prstGeom prst="rect">
            <a:avLst/>
          </a:prstGeom>
          <a:solidFill>
            <a:schemeClr val="tx1"/>
          </a:solidFill>
          <a:ln/>
          <a:effectLst/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AU" sz="2200" b="1" dirty="0">
                <a:solidFill>
                  <a:srgbClr val="FFC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Depression</a:t>
            </a:r>
          </a:p>
        </p:txBody>
      </p:sp>
      <p:sp>
        <p:nvSpPr>
          <p:cNvPr id="8" name="TextBox 9"/>
          <p:cNvSpPr txBox="1"/>
          <p:nvPr/>
        </p:nvSpPr>
        <p:spPr>
          <a:xfrm>
            <a:off x="956565" y="835546"/>
            <a:ext cx="1715864" cy="430887"/>
          </a:xfrm>
          <a:prstGeom prst="rect">
            <a:avLst/>
          </a:prstGeom>
          <a:solidFill>
            <a:srgbClr val="FFC000"/>
          </a:solidFill>
          <a:ln/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AU" sz="22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Mania</a:t>
            </a:r>
          </a:p>
        </p:txBody>
      </p:sp>
      <p:sp>
        <p:nvSpPr>
          <p:cNvPr id="9" name="Freeform 22"/>
          <p:cNvSpPr/>
          <p:nvPr/>
        </p:nvSpPr>
        <p:spPr>
          <a:xfrm>
            <a:off x="932055" y="1327373"/>
            <a:ext cx="7152435" cy="4697838"/>
          </a:xfrm>
          <a:custGeom>
            <a:avLst/>
            <a:gdLst>
              <a:gd name="connsiteX0" fmla="*/ 0 w 7124700"/>
              <a:gd name="connsiteY0" fmla="*/ 2007845 h 3964665"/>
              <a:gd name="connsiteX1" fmla="*/ 472440 w 7124700"/>
              <a:gd name="connsiteY1" fmla="*/ 2099285 h 3964665"/>
              <a:gd name="connsiteX2" fmla="*/ 853440 w 7124700"/>
              <a:gd name="connsiteY2" fmla="*/ 3211805 h 3964665"/>
              <a:gd name="connsiteX3" fmla="*/ 1196340 w 7124700"/>
              <a:gd name="connsiteY3" fmla="*/ 3785 h 3964665"/>
              <a:gd name="connsiteX4" fmla="*/ 1645920 w 7124700"/>
              <a:gd name="connsiteY4" fmla="*/ 3958565 h 3964665"/>
              <a:gd name="connsiteX5" fmla="*/ 1950720 w 7124700"/>
              <a:gd name="connsiteY5" fmla="*/ 956285 h 3964665"/>
              <a:gd name="connsiteX6" fmla="*/ 2247900 w 7124700"/>
              <a:gd name="connsiteY6" fmla="*/ 2937485 h 3964665"/>
              <a:gd name="connsiteX7" fmla="*/ 2674620 w 7124700"/>
              <a:gd name="connsiteY7" fmla="*/ 41885 h 3964665"/>
              <a:gd name="connsiteX8" fmla="*/ 2910840 w 7124700"/>
              <a:gd name="connsiteY8" fmla="*/ 3950945 h 3964665"/>
              <a:gd name="connsiteX9" fmla="*/ 3268980 w 7124700"/>
              <a:gd name="connsiteY9" fmla="*/ 941045 h 3964665"/>
              <a:gd name="connsiteX10" fmla="*/ 3703320 w 7124700"/>
              <a:gd name="connsiteY10" fmla="*/ 3851885 h 3964665"/>
              <a:gd name="connsiteX11" fmla="*/ 3947160 w 7124700"/>
              <a:gd name="connsiteY11" fmla="*/ 133325 h 3964665"/>
              <a:gd name="connsiteX12" fmla="*/ 4038600 w 7124700"/>
              <a:gd name="connsiteY12" fmla="*/ 3783305 h 3964665"/>
              <a:gd name="connsiteX13" fmla="*/ 4274820 w 7124700"/>
              <a:gd name="connsiteY13" fmla="*/ 194285 h 3964665"/>
              <a:gd name="connsiteX14" fmla="*/ 4358640 w 7124700"/>
              <a:gd name="connsiteY14" fmla="*/ 3798545 h 3964665"/>
              <a:gd name="connsiteX15" fmla="*/ 4579620 w 7124700"/>
              <a:gd name="connsiteY15" fmla="*/ 232385 h 3964665"/>
              <a:gd name="connsiteX16" fmla="*/ 4648200 w 7124700"/>
              <a:gd name="connsiteY16" fmla="*/ 3783305 h 3964665"/>
              <a:gd name="connsiteX17" fmla="*/ 4899660 w 7124700"/>
              <a:gd name="connsiteY17" fmla="*/ 1322045 h 3964665"/>
              <a:gd name="connsiteX18" fmla="*/ 5273040 w 7124700"/>
              <a:gd name="connsiteY18" fmla="*/ 2228825 h 3964665"/>
              <a:gd name="connsiteX19" fmla="*/ 5905500 w 7124700"/>
              <a:gd name="connsiteY19" fmla="*/ 2007845 h 3964665"/>
              <a:gd name="connsiteX20" fmla="*/ 7124700 w 7124700"/>
              <a:gd name="connsiteY20" fmla="*/ 1977365 h 3964665"/>
              <a:gd name="connsiteX21" fmla="*/ 7124700 w 7124700"/>
              <a:gd name="connsiteY21" fmla="*/ 1977365 h 39646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7124700" h="3964665">
                <a:moveTo>
                  <a:pt x="0" y="2007845"/>
                </a:moveTo>
                <a:cubicBezTo>
                  <a:pt x="165100" y="1953235"/>
                  <a:pt x="330200" y="1898625"/>
                  <a:pt x="472440" y="2099285"/>
                </a:cubicBezTo>
                <a:cubicBezTo>
                  <a:pt x="614680" y="2299945"/>
                  <a:pt x="732790" y="3561055"/>
                  <a:pt x="853440" y="3211805"/>
                </a:cubicBezTo>
                <a:cubicBezTo>
                  <a:pt x="974090" y="2862555"/>
                  <a:pt x="1064260" y="-120675"/>
                  <a:pt x="1196340" y="3785"/>
                </a:cubicBezTo>
                <a:cubicBezTo>
                  <a:pt x="1328420" y="128245"/>
                  <a:pt x="1520190" y="3799815"/>
                  <a:pt x="1645920" y="3958565"/>
                </a:cubicBezTo>
                <a:cubicBezTo>
                  <a:pt x="1771650" y="4117315"/>
                  <a:pt x="1850390" y="1126465"/>
                  <a:pt x="1950720" y="956285"/>
                </a:cubicBezTo>
                <a:cubicBezTo>
                  <a:pt x="2051050" y="786105"/>
                  <a:pt x="2127250" y="3089885"/>
                  <a:pt x="2247900" y="2937485"/>
                </a:cubicBezTo>
                <a:cubicBezTo>
                  <a:pt x="2368550" y="2785085"/>
                  <a:pt x="2564130" y="-127025"/>
                  <a:pt x="2674620" y="41885"/>
                </a:cubicBezTo>
                <a:cubicBezTo>
                  <a:pt x="2785110" y="210795"/>
                  <a:pt x="2811780" y="3801085"/>
                  <a:pt x="2910840" y="3950945"/>
                </a:cubicBezTo>
                <a:cubicBezTo>
                  <a:pt x="3009900" y="4100805"/>
                  <a:pt x="3136900" y="957555"/>
                  <a:pt x="3268980" y="941045"/>
                </a:cubicBezTo>
                <a:cubicBezTo>
                  <a:pt x="3401060" y="924535"/>
                  <a:pt x="3590290" y="3986505"/>
                  <a:pt x="3703320" y="3851885"/>
                </a:cubicBezTo>
                <a:cubicBezTo>
                  <a:pt x="3816350" y="3717265"/>
                  <a:pt x="3891280" y="144755"/>
                  <a:pt x="3947160" y="133325"/>
                </a:cubicBezTo>
                <a:cubicBezTo>
                  <a:pt x="4003040" y="121895"/>
                  <a:pt x="3983990" y="3773145"/>
                  <a:pt x="4038600" y="3783305"/>
                </a:cubicBezTo>
                <a:cubicBezTo>
                  <a:pt x="4093210" y="3793465"/>
                  <a:pt x="4221480" y="191745"/>
                  <a:pt x="4274820" y="194285"/>
                </a:cubicBezTo>
                <a:cubicBezTo>
                  <a:pt x="4328160" y="196825"/>
                  <a:pt x="4307840" y="3792195"/>
                  <a:pt x="4358640" y="3798545"/>
                </a:cubicBezTo>
                <a:cubicBezTo>
                  <a:pt x="4409440" y="3804895"/>
                  <a:pt x="4531360" y="234925"/>
                  <a:pt x="4579620" y="232385"/>
                </a:cubicBezTo>
                <a:cubicBezTo>
                  <a:pt x="4627880" y="229845"/>
                  <a:pt x="4594860" y="3601695"/>
                  <a:pt x="4648200" y="3783305"/>
                </a:cubicBezTo>
                <a:cubicBezTo>
                  <a:pt x="4701540" y="3964915"/>
                  <a:pt x="4795520" y="1581125"/>
                  <a:pt x="4899660" y="1322045"/>
                </a:cubicBezTo>
                <a:cubicBezTo>
                  <a:pt x="5003800" y="1062965"/>
                  <a:pt x="5105400" y="2114525"/>
                  <a:pt x="5273040" y="2228825"/>
                </a:cubicBezTo>
                <a:cubicBezTo>
                  <a:pt x="5440680" y="2343125"/>
                  <a:pt x="5596890" y="2049755"/>
                  <a:pt x="5905500" y="2007845"/>
                </a:cubicBezTo>
                <a:cubicBezTo>
                  <a:pt x="6214110" y="1965935"/>
                  <a:pt x="7124700" y="1977365"/>
                  <a:pt x="7124700" y="1977365"/>
                </a:cubicBezTo>
                <a:lnTo>
                  <a:pt x="7124700" y="1977365"/>
                </a:lnTo>
              </a:path>
            </a:pathLst>
          </a:custGeom>
          <a:noFill/>
          <a:ln w="28575"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cxnSp>
        <p:nvCxnSpPr>
          <p:cNvPr id="10" name="Straight Connector 25"/>
          <p:cNvCxnSpPr/>
          <p:nvPr/>
        </p:nvCxnSpPr>
        <p:spPr>
          <a:xfrm flipH="1">
            <a:off x="936255" y="1972244"/>
            <a:ext cx="21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67"/>
          <p:cNvSpPr txBox="1"/>
          <p:nvPr/>
        </p:nvSpPr>
        <p:spPr>
          <a:xfrm>
            <a:off x="3936869" y="1061126"/>
            <a:ext cx="11428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b="1" dirty="0">
                <a:solidFill>
                  <a:srgbClr val="C00000"/>
                </a:solidFill>
              </a:rPr>
              <a:t>Psychosis</a:t>
            </a:r>
          </a:p>
        </p:txBody>
      </p:sp>
      <p:sp>
        <p:nvSpPr>
          <p:cNvPr id="14" name="Rectángulo: esquinas redondeadas 1">
            <a:extLst>
              <a:ext uri="{FF2B5EF4-FFF2-40B4-BE49-F238E27FC236}">
                <a16:creationId xmlns:a16="http://schemas.microsoft.com/office/drawing/2014/main" id="{A04DDA6C-336C-9838-DCF9-C6858B1D8DAA}"/>
              </a:ext>
            </a:extLst>
          </p:cNvPr>
          <p:cNvSpPr/>
          <p:nvPr/>
        </p:nvSpPr>
        <p:spPr>
          <a:xfrm>
            <a:off x="8513768" y="2925859"/>
            <a:ext cx="3078461" cy="1500865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lnSpc>
                <a:spcPct val="150000"/>
              </a:lnSpc>
            </a:pPr>
            <a:r>
              <a:rPr lang="es-ES" sz="2000" b="1" dirty="0">
                <a:solidFill>
                  <a:schemeClr val="tx1"/>
                </a:solidFill>
              </a:rPr>
              <a:t>Heritability: 80</a:t>
            </a:r>
            <a:r>
              <a:rPr lang="es-ES" sz="2000" b="1" dirty="0" smtClean="0">
                <a:solidFill>
                  <a:schemeClr val="tx1"/>
                </a:solidFill>
              </a:rPr>
              <a:t>%</a:t>
            </a:r>
          </a:p>
          <a:p>
            <a:pPr algn="ctr">
              <a:lnSpc>
                <a:spcPct val="150000"/>
              </a:lnSpc>
            </a:pPr>
            <a:r>
              <a:rPr lang="es-ES" sz="2000" b="1" dirty="0" err="1" smtClean="0">
                <a:solidFill>
                  <a:schemeClr val="tx1"/>
                </a:solidFill>
              </a:rPr>
              <a:t>Prevalence</a:t>
            </a:r>
            <a:r>
              <a:rPr lang="es-ES" sz="2000" b="1" dirty="0" smtClean="0">
                <a:solidFill>
                  <a:schemeClr val="tx1"/>
                </a:solidFill>
              </a:rPr>
              <a:t> ~1%</a:t>
            </a:r>
          </a:p>
          <a:p>
            <a:pPr algn="ctr">
              <a:lnSpc>
                <a:spcPct val="150000"/>
              </a:lnSpc>
            </a:pPr>
            <a:r>
              <a:rPr lang="es-ES" sz="2000" b="1" dirty="0" smtClean="0">
                <a:solidFill>
                  <a:schemeClr val="tx1"/>
                </a:solidFill>
              </a:rPr>
              <a:t>50% </a:t>
            </a:r>
            <a:r>
              <a:rPr lang="es-ES" sz="2000" b="1" dirty="0" err="1" smtClean="0">
                <a:solidFill>
                  <a:schemeClr val="tx1"/>
                </a:solidFill>
              </a:rPr>
              <a:t>suicidal</a:t>
            </a:r>
            <a:r>
              <a:rPr lang="es-ES" sz="2000" b="1" dirty="0" smtClean="0">
                <a:solidFill>
                  <a:schemeClr val="tx1"/>
                </a:solidFill>
              </a:rPr>
              <a:t> </a:t>
            </a:r>
            <a:r>
              <a:rPr lang="es-ES" sz="2000" b="1" dirty="0" err="1" smtClean="0">
                <a:solidFill>
                  <a:schemeClr val="tx1"/>
                </a:solidFill>
              </a:rPr>
              <a:t>behaviour</a:t>
            </a:r>
            <a:endParaRPr lang="es-ES" sz="2000" b="1" dirty="0">
              <a:solidFill>
                <a:schemeClr val="tx1"/>
              </a:solidFill>
            </a:endParaRPr>
          </a:p>
        </p:txBody>
      </p:sp>
      <p:sp>
        <p:nvSpPr>
          <p:cNvPr id="3" name="Igual que 2"/>
          <p:cNvSpPr/>
          <p:nvPr/>
        </p:nvSpPr>
        <p:spPr>
          <a:xfrm rot="19154186">
            <a:off x="6840650" y="3521141"/>
            <a:ext cx="923277" cy="337351"/>
          </a:xfrm>
          <a:prstGeom prst="mathEqual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Igual que 14"/>
          <p:cNvSpPr/>
          <p:nvPr/>
        </p:nvSpPr>
        <p:spPr>
          <a:xfrm rot="19154186">
            <a:off x="4068891" y="4541705"/>
            <a:ext cx="747701" cy="265565"/>
          </a:xfrm>
          <a:prstGeom prst="mathEqual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Igual que 15"/>
          <p:cNvSpPr/>
          <p:nvPr/>
        </p:nvSpPr>
        <p:spPr>
          <a:xfrm rot="19154186">
            <a:off x="2061114" y="5231049"/>
            <a:ext cx="747701" cy="265565"/>
          </a:xfrm>
          <a:prstGeom prst="mathEqual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Igual que 16"/>
          <p:cNvSpPr/>
          <p:nvPr/>
        </p:nvSpPr>
        <p:spPr>
          <a:xfrm rot="19154186">
            <a:off x="2930600" y="2895937"/>
            <a:ext cx="747701" cy="265565"/>
          </a:xfrm>
          <a:prstGeom prst="mathEqual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TextBox 67"/>
          <p:cNvSpPr txBox="1"/>
          <p:nvPr/>
        </p:nvSpPr>
        <p:spPr>
          <a:xfrm>
            <a:off x="6377975" y="4031323"/>
            <a:ext cx="114280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b="1" dirty="0" smtClean="0"/>
              <a:t>Suicide behaviour</a:t>
            </a:r>
            <a:endParaRPr lang="en-AU" b="1" dirty="0"/>
          </a:p>
        </p:txBody>
      </p:sp>
      <p:pic>
        <p:nvPicPr>
          <p:cNvPr id="2050" name="Picture 2" descr="Psychosis linear icon. Paranoid and scared person. Confused mind.  Schizophrenia. Depression. Mental disorder. Thin line illustration. Contour  symbol Stock Vector Image &amp; Art - Alamy"/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0" b="66227" l="12667" r="88000">
                        <a14:foregroundMark x1="34000" y1="23483" x2="34000" y2="23483"/>
                        <a14:foregroundMark x1="45000" y1="19525" x2="45000" y2="19525"/>
                        <a14:foregroundMark x1="51333" y1="18470" x2="51333" y2="18470"/>
                        <a14:foregroundMark x1="50000" y1="26649" x2="50000" y2="26649"/>
                      </a14:backgroundRemoval>
                    </a14:imgEffect>
                    <a14:imgEffect>
                      <a14:sharpenSoften amount="50000"/>
                    </a14:imgEffect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0780" r="10619" b="33764"/>
          <a:stretch/>
        </p:blipFill>
        <p:spPr bwMode="auto">
          <a:xfrm>
            <a:off x="3872833" y="1760432"/>
            <a:ext cx="593999" cy="6323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" name="Picture 2" descr="Psychosis linear icon. Paranoid and scared person. Confused mind.  Schizophrenia. Depression. Mental disorder. Thin line illustration. Contour  symbol Stock Vector Image &amp; Art - Alamy"/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0" b="66227" l="12667" r="88000">
                        <a14:foregroundMark x1="34000" y1="23483" x2="34000" y2="23483"/>
                        <a14:foregroundMark x1="45000" y1="19525" x2="45000" y2="19525"/>
                        <a14:foregroundMark x1="51333" y1="18470" x2="51333" y2="18470"/>
                        <a14:foregroundMark x1="50000" y1="26649" x2="50000" y2="26649"/>
                      </a14:backgroundRemoval>
                    </a14:imgEffect>
                    <a14:imgEffect>
                      <a14:sharpenSoften amount="50000"/>
                    </a14:imgEffect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0780" r="10619" b="33764"/>
          <a:stretch/>
        </p:blipFill>
        <p:spPr bwMode="auto">
          <a:xfrm>
            <a:off x="5538875" y="1046807"/>
            <a:ext cx="593999" cy="6323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5733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325563"/>
          </a:xfrm>
        </p:spPr>
        <p:txBody>
          <a:bodyPr>
            <a:normAutofit/>
          </a:bodyPr>
          <a:lstStyle/>
          <a:p>
            <a:pPr algn="ctr"/>
            <a:r>
              <a:rPr lang="es-ES" sz="4000" b="1" dirty="0" err="1" smtClean="0"/>
              <a:t>Handedness</a:t>
            </a:r>
            <a:r>
              <a:rPr lang="es-ES" sz="4000" b="1" dirty="0" smtClean="0"/>
              <a:t> in </a:t>
            </a:r>
            <a:r>
              <a:rPr lang="es-ES" sz="4000" b="1" dirty="0" err="1" smtClean="0"/>
              <a:t>neurodevelopmental</a:t>
            </a:r>
            <a:r>
              <a:rPr lang="es-ES" sz="4000" b="1" dirty="0" smtClean="0"/>
              <a:t>/</a:t>
            </a:r>
            <a:r>
              <a:rPr lang="es-ES" sz="4000" b="1" dirty="0" err="1" smtClean="0"/>
              <a:t>psychiatric</a:t>
            </a:r>
            <a:r>
              <a:rPr lang="es-ES" sz="4000" b="1" dirty="0" smtClean="0"/>
              <a:t> disorders</a:t>
            </a:r>
            <a:endParaRPr lang="en-GB" sz="4000" b="1" dirty="0"/>
          </a:p>
        </p:txBody>
      </p:sp>
      <p:pic>
        <p:nvPicPr>
          <p:cNvPr id="4" name="Google Shape;76;p15"/>
          <p:cNvPicPr preferRelativeResize="0"/>
          <p:nvPr/>
        </p:nvPicPr>
        <p:blipFill rotWithShape="1">
          <a:blip r:embed="rId2">
            <a:alphaModFix/>
          </a:blip>
          <a:srcRect l="25345" t="5525" b="11274"/>
          <a:stretch/>
        </p:blipFill>
        <p:spPr>
          <a:xfrm>
            <a:off x="258618" y="1078972"/>
            <a:ext cx="4922982" cy="4483628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CuadroTexto 4"/>
          <p:cNvSpPr txBox="1"/>
          <p:nvPr/>
        </p:nvSpPr>
        <p:spPr>
          <a:xfrm>
            <a:off x="258618" y="5631767"/>
            <a:ext cx="461818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800" b="1" dirty="0" smtClean="0"/>
              <a:t>High </a:t>
            </a:r>
            <a:r>
              <a:rPr lang="es-ES" sz="2800" b="1" u="sng" dirty="0" smtClean="0">
                <a:uFill>
                  <a:solidFill>
                    <a:srgbClr val="FF0000"/>
                  </a:solidFill>
                </a:uFill>
              </a:rPr>
              <a:t>genetic</a:t>
            </a:r>
            <a:r>
              <a:rPr lang="es-ES" sz="2800" b="1" dirty="0" smtClean="0"/>
              <a:t> + </a:t>
            </a:r>
            <a:r>
              <a:rPr lang="es-ES" sz="2800" b="1" u="sng" dirty="0" smtClean="0">
                <a:uFill>
                  <a:solidFill>
                    <a:schemeClr val="accent1"/>
                  </a:solidFill>
                </a:uFill>
              </a:rPr>
              <a:t>clinical</a:t>
            </a:r>
            <a:r>
              <a:rPr lang="es-ES" sz="2800" b="1" dirty="0" smtClean="0"/>
              <a:t> overlap in mental disorders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9AC7DFD-5540-8C9B-D578-4C74605103ED}"/>
              </a:ext>
            </a:extLst>
          </p:cNvPr>
          <p:cNvSpPr txBox="1"/>
          <p:nvPr/>
        </p:nvSpPr>
        <p:spPr>
          <a:xfrm>
            <a:off x="5623623" y="4918645"/>
            <a:ext cx="2508912" cy="101566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s-ES" sz="2000" b="1" dirty="0"/>
              <a:t>Schizophrenia </a:t>
            </a:r>
            <a:r>
              <a:rPr lang="es-ES" sz="2000" dirty="0"/>
              <a:t>(SCZ)</a:t>
            </a:r>
          </a:p>
          <a:p>
            <a:pPr algn="ctr"/>
            <a:r>
              <a:rPr lang="es-ES" sz="2000" dirty="0"/>
              <a:t>Left-</a:t>
            </a:r>
            <a:r>
              <a:rPr lang="en-US" sz="2000" noProof="0" dirty="0"/>
              <a:t>handed</a:t>
            </a:r>
            <a:r>
              <a:rPr lang="es-ES" sz="2000" dirty="0"/>
              <a:t>: ~20%</a:t>
            </a:r>
          </a:p>
          <a:p>
            <a:pPr algn="ctr"/>
            <a:r>
              <a:rPr lang="es-ES" sz="2000" dirty="0"/>
              <a:t>NRH: ~35%</a:t>
            </a:r>
            <a:r>
              <a:rPr lang="es-ES" sz="2000" b="1" dirty="0"/>
              <a:t>**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F5D3924B-DEC9-564D-4C1E-F41BB1233C68}"/>
              </a:ext>
            </a:extLst>
          </p:cNvPr>
          <p:cNvSpPr txBox="1"/>
          <p:nvPr/>
        </p:nvSpPr>
        <p:spPr>
          <a:xfrm>
            <a:off x="9067648" y="4273799"/>
            <a:ext cx="2447221" cy="707886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s-ES" sz="2000" b="1" dirty="0"/>
              <a:t>Bipolar disorder </a:t>
            </a:r>
            <a:r>
              <a:rPr lang="es-ES" sz="2000" dirty="0"/>
              <a:t>(BD)</a:t>
            </a:r>
          </a:p>
          <a:p>
            <a:pPr algn="ctr"/>
            <a:r>
              <a:rPr lang="es-ES" sz="2000" dirty="0"/>
              <a:t>???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0B208FE0-A252-3BEE-7248-5F6ECD1E8CE2}"/>
              </a:ext>
            </a:extLst>
          </p:cNvPr>
          <p:cNvSpPr txBox="1"/>
          <p:nvPr/>
        </p:nvSpPr>
        <p:spPr>
          <a:xfrm>
            <a:off x="9180170" y="3161344"/>
            <a:ext cx="222217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b="1" dirty="0"/>
              <a:t>Depression</a:t>
            </a:r>
            <a:r>
              <a:rPr lang="es-ES" dirty="0"/>
              <a:t> (DEP)</a:t>
            </a:r>
          </a:p>
          <a:p>
            <a:pPr algn="ctr"/>
            <a:r>
              <a:rPr lang="es-ES" dirty="0"/>
              <a:t>NRH: 18</a:t>
            </a:r>
            <a:r>
              <a:rPr lang="es-ES" dirty="0" smtClean="0"/>
              <a:t>%</a:t>
            </a:r>
            <a:endParaRPr lang="es-ES" dirty="0"/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5AB82C21-CFEB-F5F2-0204-426DA9DE4F6F}"/>
              </a:ext>
            </a:extLst>
          </p:cNvPr>
          <p:cNvSpPr txBox="1"/>
          <p:nvPr/>
        </p:nvSpPr>
        <p:spPr>
          <a:xfrm>
            <a:off x="5791436" y="3764137"/>
            <a:ext cx="217328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b="1" dirty="0"/>
              <a:t>Autism </a:t>
            </a:r>
            <a:r>
              <a:rPr lang="es-ES" dirty="0"/>
              <a:t>(ASD)</a:t>
            </a:r>
          </a:p>
          <a:p>
            <a:pPr algn="ctr"/>
            <a:r>
              <a:rPr lang="es-ES" dirty="0"/>
              <a:t>NRH: ~35</a:t>
            </a:r>
            <a:r>
              <a:rPr lang="es-ES" dirty="0" smtClean="0"/>
              <a:t>%</a:t>
            </a:r>
            <a:r>
              <a:rPr lang="es-ES" b="1" dirty="0" smtClean="0"/>
              <a:t>**</a:t>
            </a:r>
            <a:endParaRPr lang="es-ES" b="1" dirty="0"/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DD7F7974-D189-5E3B-3511-1044205A7774}"/>
              </a:ext>
            </a:extLst>
          </p:cNvPr>
          <p:cNvSpPr txBox="1"/>
          <p:nvPr/>
        </p:nvSpPr>
        <p:spPr>
          <a:xfrm>
            <a:off x="5927845" y="2923450"/>
            <a:ext cx="190046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b="1" dirty="0"/>
              <a:t>ADHD</a:t>
            </a:r>
          </a:p>
          <a:p>
            <a:pPr algn="ctr"/>
            <a:r>
              <a:rPr lang="es-ES" dirty="0"/>
              <a:t>NRH: ~25%</a:t>
            </a:r>
            <a:r>
              <a:rPr lang="es-ES" b="1" dirty="0"/>
              <a:t>*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2D0DFF0B-E50B-06BF-66F5-31A1A2654E16}"/>
              </a:ext>
            </a:extLst>
          </p:cNvPr>
          <p:cNvSpPr txBox="1"/>
          <p:nvPr/>
        </p:nvSpPr>
        <p:spPr>
          <a:xfrm>
            <a:off x="8990723" y="5241811"/>
            <a:ext cx="2601069" cy="120032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s-ES" sz="1800" u="sng" dirty="0"/>
              <a:t>No concordant pattern:</a:t>
            </a:r>
          </a:p>
          <a:p>
            <a:r>
              <a:rPr lang="es-ES" sz="1800" dirty="0"/>
              <a:t>Small sample sizes</a:t>
            </a:r>
          </a:p>
          <a:p>
            <a:r>
              <a:rPr lang="es-ES" sz="1800" dirty="0"/>
              <a:t>Lack of clinical data</a:t>
            </a:r>
          </a:p>
          <a:p>
            <a:r>
              <a:rPr lang="es-ES" sz="1800" dirty="0"/>
              <a:t>Diverse measurements</a:t>
            </a:r>
          </a:p>
        </p:txBody>
      </p:sp>
      <p:sp>
        <p:nvSpPr>
          <p:cNvPr id="3" name="CuadroTexto 2"/>
          <p:cNvSpPr txBox="1"/>
          <p:nvPr/>
        </p:nvSpPr>
        <p:spPr>
          <a:xfrm>
            <a:off x="6111212" y="1746093"/>
            <a:ext cx="5151175" cy="83099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s-ES" sz="2400" b="1" dirty="0" smtClean="0"/>
              <a:t>&gt; NRH in disorders </a:t>
            </a:r>
            <a:r>
              <a:rPr lang="es-ES" sz="2400" b="1" dirty="0" err="1" smtClean="0"/>
              <a:t>with</a:t>
            </a:r>
            <a:r>
              <a:rPr lang="es-ES" sz="2400" b="1" dirty="0" smtClean="0"/>
              <a:t> </a:t>
            </a:r>
            <a:r>
              <a:rPr lang="es-ES" sz="2400" b="1" dirty="0" err="1" smtClean="0"/>
              <a:t>early</a:t>
            </a:r>
            <a:r>
              <a:rPr lang="es-ES" sz="2400" b="1" dirty="0" smtClean="0"/>
              <a:t> </a:t>
            </a:r>
            <a:r>
              <a:rPr lang="es-ES" sz="2400" b="1" dirty="0" err="1" smtClean="0"/>
              <a:t>age</a:t>
            </a:r>
            <a:r>
              <a:rPr lang="es-ES" sz="2400" b="1" dirty="0" smtClean="0"/>
              <a:t> of </a:t>
            </a:r>
            <a:r>
              <a:rPr lang="es-ES" sz="2400" b="1" dirty="0" err="1" smtClean="0"/>
              <a:t>onset</a:t>
            </a:r>
            <a:r>
              <a:rPr lang="es-ES" sz="2400" b="1" dirty="0" smtClean="0"/>
              <a:t> and more </a:t>
            </a:r>
            <a:r>
              <a:rPr lang="es-ES" sz="2400" b="1" dirty="0" err="1" smtClean="0"/>
              <a:t>prevalence</a:t>
            </a:r>
            <a:r>
              <a:rPr lang="es-ES" sz="2400" b="1" dirty="0" smtClean="0"/>
              <a:t> in males</a:t>
            </a:r>
            <a:endParaRPr lang="en-GB" sz="2400" b="1" dirty="0"/>
          </a:p>
        </p:txBody>
      </p:sp>
    </p:spTree>
    <p:extLst>
      <p:ext uri="{BB962C8B-B14F-4D97-AF65-F5344CB8AC3E}">
        <p14:creationId xmlns:p14="http://schemas.microsoft.com/office/powerpoint/2010/main" val="38993701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0" y="170727"/>
            <a:ext cx="12192000" cy="1325563"/>
          </a:xfrm>
        </p:spPr>
        <p:txBody>
          <a:bodyPr/>
          <a:lstStyle/>
          <a:p>
            <a:pPr algn="ctr"/>
            <a:r>
              <a:rPr lang="es-ES" b="1" dirty="0" err="1" smtClean="0"/>
              <a:t>Handedness</a:t>
            </a:r>
            <a:r>
              <a:rPr lang="es-ES" b="1" dirty="0" smtClean="0"/>
              <a:t> in general </a:t>
            </a:r>
            <a:r>
              <a:rPr lang="es-ES" b="1" dirty="0" err="1" smtClean="0"/>
              <a:t>population</a:t>
            </a:r>
            <a:endParaRPr lang="en-GB" b="1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3CE9EBB2-6024-EEF2-F9E0-9D00E45D3E7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742" t="1546" r="3501"/>
          <a:stretch>
            <a:fillRect/>
          </a:stretch>
        </p:blipFill>
        <p:spPr>
          <a:xfrm>
            <a:off x="5711730" y="1812174"/>
            <a:ext cx="6442671" cy="3378319"/>
          </a:xfrm>
          <a:prstGeom prst="rect">
            <a:avLst/>
          </a:prstGeom>
        </p:spPr>
      </p:pic>
      <p:sp>
        <p:nvSpPr>
          <p:cNvPr id="5" name="CuadroTexto 4"/>
          <p:cNvSpPr txBox="1"/>
          <p:nvPr/>
        </p:nvSpPr>
        <p:spPr>
          <a:xfrm>
            <a:off x="199500" y="2443942"/>
            <a:ext cx="5545480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 smtClean="0"/>
              <a:t>Left-handed</a:t>
            </a:r>
            <a:r>
              <a:rPr lang="en-GB" sz="2800" dirty="0" smtClean="0"/>
              <a:t>:  ~ 10%</a:t>
            </a:r>
          </a:p>
          <a:p>
            <a:r>
              <a:rPr lang="en-GB" sz="2800" b="1" dirty="0" smtClean="0"/>
              <a:t>Sex differences</a:t>
            </a:r>
            <a:r>
              <a:rPr lang="en-GB" sz="2800" dirty="0" smtClean="0"/>
              <a:t>: 12% men, 8% women</a:t>
            </a:r>
          </a:p>
          <a:p>
            <a:r>
              <a:rPr lang="en-GB" sz="2800" b="1" dirty="0" smtClean="0"/>
              <a:t>Non-right-handedness (NRH)</a:t>
            </a:r>
            <a:r>
              <a:rPr lang="en-GB" sz="2800" dirty="0" smtClean="0"/>
              <a:t>: ~18% </a:t>
            </a:r>
          </a:p>
        </p:txBody>
      </p:sp>
      <p:sp>
        <p:nvSpPr>
          <p:cNvPr id="6" name="CuadroTexto 5"/>
          <p:cNvSpPr txBox="1"/>
          <p:nvPr/>
        </p:nvSpPr>
        <p:spPr>
          <a:xfrm>
            <a:off x="599402" y="5672632"/>
            <a:ext cx="1029115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3200" b="1" dirty="0" err="1" smtClean="0"/>
              <a:t>Different</a:t>
            </a:r>
            <a:r>
              <a:rPr lang="es-ES" sz="3200" b="1" dirty="0" smtClean="0"/>
              <a:t> </a:t>
            </a:r>
            <a:r>
              <a:rPr lang="es-ES" sz="3200" b="1" dirty="0" err="1" smtClean="0"/>
              <a:t>brain</a:t>
            </a:r>
            <a:r>
              <a:rPr lang="es-ES" sz="3200" b="1" dirty="0" smtClean="0"/>
              <a:t> </a:t>
            </a:r>
            <a:r>
              <a:rPr lang="es-ES" sz="3200" b="1" dirty="0" err="1" smtClean="0"/>
              <a:t>assymetry</a:t>
            </a:r>
            <a:r>
              <a:rPr lang="es-ES" sz="3200" b="1" dirty="0" smtClean="0"/>
              <a:t> </a:t>
            </a:r>
            <a:r>
              <a:rPr lang="es-ES" sz="3200" b="1" dirty="0" err="1" smtClean="0"/>
              <a:t>patterns</a:t>
            </a:r>
            <a:r>
              <a:rPr lang="es-ES" sz="3200" b="1" dirty="0" smtClean="0"/>
              <a:t> in NRH </a:t>
            </a:r>
            <a:r>
              <a:rPr lang="es-ES" sz="3200" b="1" dirty="0" err="1" smtClean="0"/>
              <a:t>individuals</a:t>
            </a:r>
            <a:endParaRPr lang="en-GB" sz="3200" b="1" dirty="0"/>
          </a:p>
        </p:txBody>
      </p:sp>
      <p:sp>
        <p:nvSpPr>
          <p:cNvPr id="3" name="Rectángulo 2"/>
          <p:cNvSpPr/>
          <p:nvPr/>
        </p:nvSpPr>
        <p:spPr>
          <a:xfrm>
            <a:off x="2610196" y="4741963"/>
            <a:ext cx="1579419" cy="70658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2800" b="1" i="1" dirty="0" smtClean="0">
                <a:solidFill>
                  <a:schemeClr val="tx1"/>
                </a:solidFill>
              </a:rPr>
              <a:t>H</a:t>
            </a:r>
            <a:r>
              <a:rPr lang="es-ES" sz="2800" b="1" i="1" baseline="30000" dirty="0" smtClean="0">
                <a:solidFill>
                  <a:schemeClr val="tx1"/>
                </a:solidFill>
              </a:rPr>
              <a:t>2</a:t>
            </a:r>
            <a:r>
              <a:rPr lang="es-ES" sz="2800" b="1" dirty="0" smtClean="0">
                <a:solidFill>
                  <a:schemeClr val="tx1"/>
                </a:solidFill>
              </a:rPr>
              <a:t> = 25%</a:t>
            </a:r>
          </a:p>
        </p:txBody>
      </p:sp>
    </p:spTree>
    <p:extLst>
      <p:ext uri="{BB962C8B-B14F-4D97-AF65-F5344CB8AC3E}">
        <p14:creationId xmlns:p14="http://schemas.microsoft.com/office/powerpoint/2010/main" val="23948192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B33B3AE7-195E-540D-774A-26025E5E9979}"/>
              </a:ext>
            </a:extLst>
          </p:cNvPr>
          <p:cNvCxnSpPr>
            <a:cxnSpLocks/>
            <a:endCxn id="14" idx="2"/>
          </p:cNvCxnSpPr>
          <p:nvPr/>
        </p:nvCxnSpPr>
        <p:spPr>
          <a:xfrm flipH="1">
            <a:off x="8612827" y="1485664"/>
            <a:ext cx="25520" cy="2429462"/>
          </a:xfrm>
          <a:prstGeom prst="line">
            <a:avLst/>
          </a:prstGeom>
          <a:ln w="38100">
            <a:solidFill>
              <a:schemeClr val="bg2">
                <a:lumMod val="1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205370" y="32998"/>
            <a:ext cx="12192000" cy="1325563"/>
          </a:xfrm>
        </p:spPr>
        <p:txBody>
          <a:bodyPr/>
          <a:lstStyle/>
          <a:p>
            <a:pPr algn="ctr"/>
            <a:r>
              <a:rPr lang="es-ES" b="1" dirty="0" smtClean="0"/>
              <a:t>Edinburgh </a:t>
            </a:r>
            <a:r>
              <a:rPr lang="es-ES" b="1" dirty="0" err="1" smtClean="0"/>
              <a:t>Handedness</a:t>
            </a:r>
            <a:r>
              <a:rPr lang="es-ES" b="1" dirty="0" smtClean="0"/>
              <a:t> </a:t>
            </a:r>
            <a:r>
              <a:rPr lang="es-ES" b="1" dirty="0" err="1" smtClean="0"/>
              <a:t>Inventory</a:t>
            </a:r>
            <a:endParaRPr lang="en-GB" b="1" dirty="0"/>
          </a:p>
        </p:txBody>
      </p:sp>
      <p:cxnSp>
        <p:nvCxnSpPr>
          <p:cNvPr id="6" name="Conector recto 5">
            <a:extLst>
              <a:ext uri="{FF2B5EF4-FFF2-40B4-BE49-F238E27FC236}">
                <a16:creationId xmlns:a16="http://schemas.microsoft.com/office/drawing/2014/main" id="{C29CA9F0-6469-A01C-954C-55E393EE6CAE}"/>
              </a:ext>
            </a:extLst>
          </p:cNvPr>
          <p:cNvCxnSpPr>
            <a:cxnSpLocks/>
          </p:cNvCxnSpPr>
          <p:nvPr/>
        </p:nvCxnSpPr>
        <p:spPr>
          <a:xfrm flipV="1">
            <a:off x="10308102" y="1416560"/>
            <a:ext cx="0" cy="2806802"/>
          </a:xfrm>
          <a:prstGeom prst="line">
            <a:avLst/>
          </a:prstGeom>
          <a:ln w="38100">
            <a:solidFill>
              <a:schemeClr val="bg2">
                <a:lumMod val="1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ector recto 6">
            <a:extLst>
              <a:ext uri="{FF2B5EF4-FFF2-40B4-BE49-F238E27FC236}">
                <a16:creationId xmlns:a16="http://schemas.microsoft.com/office/drawing/2014/main" id="{335E6894-0FA8-69ED-16E8-B76AB9699619}"/>
              </a:ext>
            </a:extLst>
          </p:cNvPr>
          <p:cNvCxnSpPr>
            <a:cxnSpLocks/>
          </p:cNvCxnSpPr>
          <p:nvPr/>
        </p:nvCxnSpPr>
        <p:spPr>
          <a:xfrm flipH="1" flipV="1">
            <a:off x="6989121" y="1485664"/>
            <a:ext cx="2" cy="2785758"/>
          </a:xfrm>
          <a:prstGeom prst="line">
            <a:avLst/>
          </a:prstGeom>
          <a:ln w="38100">
            <a:solidFill>
              <a:schemeClr val="bg2">
                <a:lumMod val="1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ector recto 7">
            <a:extLst>
              <a:ext uri="{FF2B5EF4-FFF2-40B4-BE49-F238E27FC236}">
                <a16:creationId xmlns:a16="http://schemas.microsoft.com/office/drawing/2014/main" id="{B577F7F1-0EA0-35C0-1513-DD2622477026}"/>
              </a:ext>
            </a:extLst>
          </p:cNvPr>
          <p:cNvCxnSpPr>
            <a:cxnSpLocks/>
          </p:cNvCxnSpPr>
          <p:nvPr/>
        </p:nvCxnSpPr>
        <p:spPr>
          <a:xfrm flipH="1" flipV="1">
            <a:off x="5600701" y="1358562"/>
            <a:ext cx="11201" cy="4628912"/>
          </a:xfrm>
          <a:prstGeom prst="line">
            <a:avLst/>
          </a:prstGeom>
          <a:ln w="38100">
            <a:solidFill>
              <a:schemeClr val="bg2">
                <a:lumMod val="1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Rectángulo 38">
            <a:extLst>
              <a:ext uri="{FF2B5EF4-FFF2-40B4-BE49-F238E27FC236}">
                <a16:creationId xmlns:a16="http://schemas.microsoft.com/office/drawing/2014/main" id="{D07A7742-AE3A-B1F7-7689-BCECCA0EEDE5}"/>
              </a:ext>
            </a:extLst>
          </p:cNvPr>
          <p:cNvSpPr/>
          <p:nvPr/>
        </p:nvSpPr>
        <p:spPr>
          <a:xfrm>
            <a:off x="454242" y="1485664"/>
            <a:ext cx="3996515" cy="4121609"/>
          </a:xfrm>
          <a:prstGeom prst="rect">
            <a:avLst/>
          </a:prstGeom>
          <a:solidFill>
            <a:srgbClr val="F5FDF9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ES" sz="2400" b="1" dirty="0" err="1" smtClean="0">
                <a:solidFill>
                  <a:schemeClr val="tx1"/>
                </a:solidFill>
              </a:rPr>
              <a:t>Which</a:t>
            </a:r>
            <a:r>
              <a:rPr lang="es-ES" sz="2400" b="1" dirty="0" smtClean="0">
                <a:solidFill>
                  <a:schemeClr val="tx1"/>
                </a:solidFill>
              </a:rPr>
              <a:t> </a:t>
            </a:r>
            <a:r>
              <a:rPr lang="es-ES" sz="2400" b="1" dirty="0" err="1" smtClean="0">
                <a:solidFill>
                  <a:schemeClr val="tx1"/>
                </a:solidFill>
              </a:rPr>
              <a:t>hand</a:t>
            </a:r>
            <a:r>
              <a:rPr lang="es-ES" sz="2400" b="1" dirty="0" smtClean="0">
                <a:solidFill>
                  <a:schemeClr val="tx1"/>
                </a:solidFill>
              </a:rPr>
              <a:t> </a:t>
            </a:r>
            <a:r>
              <a:rPr lang="es-ES" sz="2400" b="1" dirty="0">
                <a:solidFill>
                  <a:schemeClr val="tx1"/>
                </a:solidFill>
              </a:rPr>
              <a:t>do you use for…</a:t>
            </a:r>
          </a:p>
          <a:p>
            <a:pPr marL="342900" indent="-342900">
              <a:buAutoNum type="arabicPeriod"/>
            </a:pPr>
            <a:r>
              <a:rPr lang="es-ES" sz="2400" dirty="0">
                <a:solidFill>
                  <a:schemeClr val="tx1"/>
                </a:solidFill>
              </a:rPr>
              <a:t>Writing</a:t>
            </a:r>
          </a:p>
          <a:p>
            <a:pPr marL="342900" indent="-342900">
              <a:buAutoNum type="arabicPeriod"/>
            </a:pPr>
            <a:r>
              <a:rPr lang="es-ES" sz="2400" dirty="0">
                <a:solidFill>
                  <a:schemeClr val="tx1"/>
                </a:solidFill>
              </a:rPr>
              <a:t>Drawing</a:t>
            </a:r>
          </a:p>
          <a:p>
            <a:pPr marL="342900" indent="-342900">
              <a:buAutoNum type="arabicPeriod"/>
            </a:pPr>
            <a:r>
              <a:rPr lang="es-ES" sz="2400" dirty="0">
                <a:solidFill>
                  <a:schemeClr val="tx1"/>
                </a:solidFill>
              </a:rPr>
              <a:t>Throw an object</a:t>
            </a:r>
          </a:p>
          <a:p>
            <a:pPr marL="342900" indent="-342900">
              <a:buAutoNum type="arabicPeriod"/>
            </a:pPr>
            <a:r>
              <a:rPr lang="es-ES" sz="2400" dirty="0">
                <a:solidFill>
                  <a:schemeClr val="tx1"/>
                </a:solidFill>
              </a:rPr>
              <a:t>Use a toothbrush</a:t>
            </a:r>
          </a:p>
          <a:p>
            <a:pPr marL="342900" indent="-342900">
              <a:buAutoNum type="arabicPeriod"/>
            </a:pPr>
            <a:r>
              <a:rPr lang="es-ES" sz="2400" dirty="0">
                <a:solidFill>
                  <a:schemeClr val="tx1"/>
                </a:solidFill>
              </a:rPr>
              <a:t>Use a knife (without fork)</a:t>
            </a:r>
          </a:p>
          <a:p>
            <a:pPr marL="342900" indent="-342900">
              <a:buAutoNum type="arabicPeriod"/>
            </a:pPr>
            <a:r>
              <a:rPr lang="es-ES" sz="2400" dirty="0">
                <a:solidFill>
                  <a:schemeClr val="tx1"/>
                </a:solidFill>
              </a:rPr>
              <a:t>Use scissors</a:t>
            </a:r>
          </a:p>
          <a:p>
            <a:pPr marL="342900" indent="-342900">
              <a:buAutoNum type="arabicPeriod"/>
            </a:pPr>
            <a:r>
              <a:rPr lang="es-ES" sz="2400" dirty="0">
                <a:solidFill>
                  <a:schemeClr val="tx1"/>
                </a:solidFill>
              </a:rPr>
              <a:t>Use spoon</a:t>
            </a:r>
          </a:p>
          <a:p>
            <a:pPr marL="342900" indent="-342900">
              <a:buAutoNum type="arabicPeriod"/>
            </a:pPr>
            <a:r>
              <a:rPr lang="es-ES" sz="2400" dirty="0">
                <a:solidFill>
                  <a:schemeClr val="tx1"/>
                </a:solidFill>
              </a:rPr>
              <a:t>Upper hand to broom</a:t>
            </a:r>
          </a:p>
          <a:p>
            <a:pPr marL="342900" indent="-342900">
              <a:buAutoNum type="arabicPeriod"/>
            </a:pPr>
            <a:r>
              <a:rPr lang="es-ES" sz="2400" dirty="0">
                <a:solidFill>
                  <a:schemeClr val="tx1"/>
                </a:solidFill>
              </a:rPr>
              <a:t>Strike a match</a:t>
            </a:r>
          </a:p>
          <a:p>
            <a:pPr marL="342900" indent="-342900">
              <a:buAutoNum type="arabicPeriod"/>
            </a:pPr>
            <a:r>
              <a:rPr lang="es-ES" sz="2400" dirty="0">
                <a:solidFill>
                  <a:schemeClr val="tx1"/>
                </a:solidFill>
              </a:rPr>
              <a:t>Open the lid of a box</a:t>
            </a:r>
          </a:p>
        </p:txBody>
      </p:sp>
      <p:grpSp>
        <p:nvGrpSpPr>
          <p:cNvPr id="40" name="Grupo 39">
            <a:extLst>
              <a:ext uri="{FF2B5EF4-FFF2-40B4-BE49-F238E27FC236}">
                <a16:creationId xmlns:a16="http://schemas.microsoft.com/office/drawing/2014/main" id="{C806430B-2171-247B-CC65-4978EBD59CFC}"/>
              </a:ext>
            </a:extLst>
          </p:cNvPr>
          <p:cNvGrpSpPr/>
          <p:nvPr/>
        </p:nvGrpSpPr>
        <p:grpSpPr>
          <a:xfrm>
            <a:off x="75940" y="5734376"/>
            <a:ext cx="2717142" cy="880369"/>
            <a:chOff x="0" y="3734287"/>
            <a:chExt cx="2369127" cy="880369"/>
          </a:xfrm>
        </p:grpSpPr>
        <p:sp>
          <p:nvSpPr>
            <p:cNvPr id="41" name="CuadroTexto 40">
              <a:extLst>
                <a:ext uri="{FF2B5EF4-FFF2-40B4-BE49-F238E27FC236}">
                  <a16:creationId xmlns:a16="http://schemas.microsoft.com/office/drawing/2014/main" id="{72B2F1DE-462B-DB68-A652-BA36A6BA6C13}"/>
                </a:ext>
              </a:extLst>
            </p:cNvPr>
            <p:cNvSpPr txBox="1"/>
            <p:nvPr/>
          </p:nvSpPr>
          <p:spPr>
            <a:xfrm>
              <a:off x="0" y="3734287"/>
              <a:ext cx="2369127" cy="880369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s-ES" b="1" i="1" dirty="0"/>
                <a:t>Right Score </a:t>
              </a:r>
              <a:r>
                <a:rPr lang="es-ES" b="1" i="1" dirty="0" smtClean="0"/>
                <a:t>- Left </a:t>
              </a:r>
              <a:r>
                <a:rPr lang="es-ES" b="1" i="1" dirty="0"/>
                <a:t>Score</a:t>
              </a:r>
            </a:p>
            <a:p>
              <a:pPr algn="ctr">
                <a:lnSpc>
                  <a:spcPct val="150000"/>
                </a:lnSpc>
              </a:pPr>
              <a:r>
                <a:rPr lang="es-ES" b="1" i="1" dirty="0"/>
                <a:t>Right Score </a:t>
              </a:r>
              <a:r>
                <a:rPr lang="es-ES" b="1" i="1" dirty="0" smtClean="0"/>
                <a:t>+ Left </a:t>
              </a:r>
              <a:r>
                <a:rPr lang="es-ES" b="1" i="1" dirty="0"/>
                <a:t>Score</a:t>
              </a:r>
            </a:p>
          </p:txBody>
        </p:sp>
        <p:cxnSp>
          <p:nvCxnSpPr>
            <p:cNvPr id="42" name="Conector recto 41">
              <a:extLst>
                <a:ext uri="{FF2B5EF4-FFF2-40B4-BE49-F238E27FC236}">
                  <a16:creationId xmlns:a16="http://schemas.microsoft.com/office/drawing/2014/main" id="{68E59891-FFE6-8B92-07CD-5469A083C2BF}"/>
                </a:ext>
              </a:extLst>
            </p:cNvPr>
            <p:cNvCxnSpPr/>
            <p:nvPr/>
          </p:nvCxnSpPr>
          <p:spPr>
            <a:xfrm>
              <a:off x="166255" y="4202179"/>
              <a:ext cx="2008909" cy="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3" name="Grupo 42">
            <a:extLst>
              <a:ext uri="{FF2B5EF4-FFF2-40B4-BE49-F238E27FC236}">
                <a16:creationId xmlns:a16="http://schemas.microsoft.com/office/drawing/2014/main" id="{A7BA36BC-075D-864E-4349-F0F716E3E338}"/>
              </a:ext>
            </a:extLst>
          </p:cNvPr>
          <p:cNvGrpSpPr/>
          <p:nvPr/>
        </p:nvGrpSpPr>
        <p:grpSpPr>
          <a:xfrm>
            <a:off x="2627757" y="5759062"/>
            <a:ext cx="2174118" cy="830997"/>
            <a:chOff x="2175164" y="3867801"/>
            <a:chExt cx="1669472" cy="830997"/>
          </a:xfrm>
        </p:grpSpPr>
        <p:sp>
          <p:nvSpPr>
            <p:cNvPr id="44" name="CuadroTexto 43">
              <a:extLst>
                <a:ext uri="{FF2B5EF4-FFF2-40B4-BE49-F238E27FC236}">
                  <a16:creationId xmlns:a16="http://schemas.microsoft.com/office/drawing/2014/main" id="{D80C94A5-96C7-62A6-AB79-DBD829CD0D8B}"/>
                </a:ext>
              </a:extLst>
            </p:cNvPr>
            <p:cNvSpPr txBox="1"/>
            <p:nvPr/>
          </p:nvSpPr>
          <p:spPr>
            <a:xfrm>
              <a:off x="2369127" y="3867801"/>
              <a:ext cx="1475509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2400" b="1" dirty="0"/>
                <a:t>Lateralization Quotient (LQ)</a:t>
              </a:r>
            </a:p>
          </p:txBody>
        </p:sp>
        <p:sp>
          <p:nvSpPr>
            <p:cNvPr id="45" name="CuadroTexto 44">
              <a:extLst>
                <a:ext uri="{FF2B5EF4-FFF2-40B4-BE49-F238E27FC236}">
                  <a16:creationId xmlns:a16="http://schemas.microsoft.com/office/drawing/2014/main" id="{A2CCF3B5-A1BD-3533-357D-8AA2E1FE3933}"/>
                </a:ext>
              </a:extLst>
            </p:cNvPr>
            <p:cNvSpPr txBox="1"/>
            <p:nvPr/>
          </p:nvSpPr>
          <p:spPr>
            <a:xfrm>
              <a:off x="2175164" y="4080164"/>
              <a:ext cx="19396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sz="2400" dirty="0"/>
                <a:t>=</a:t>
              </a:r>
            </a:p>
          </p:txBody>
        </p:sp>
      </p:grpSp>
      <p:grpSp>
        <p:nvGrpSpPr>
          <p:cNvPr id="90" name="Grupo 89"/>
          <p:cNvGrpSpPr/>
          <p:nvPr/>
        </p:nvGrpSpPr>
        <p:grpSpPr>
          <a:xfrm>
            <a:off x="5267325" y="5440659"/>
            <a:ext cx="6697662" cy="1195568"/>
            <a:chOff x="5267325" y="5440659"/>
            <a:chExt cx="6697662" cy="1195568"/>
          </a:xfrm>
        </p:grpSpPr>
        <p:sp>
          <p:nvSpPr>
            <p:cNvPr id="30" name="CuadroTexto 29">
              <a:extLst>
                <a:ext uri="{FF2B5EF4-FFF2-40B4-BE49-F238E27FC236}">
                  <a16:creationId xmlns:a16="http://schemas.microsoft.com/office/drawing/2014/main" id="{5FBD9CB9-62EE-8A9C-908E-26BB405148A3}"/>
                </a:ext>
              </a:extLst>
            </p:cNvPr>
            <p:cNvSpPr txBox="1"/>
            <p:nvPr/>
          </p:nvSpPr>
          <p:spPr>
            <a:xfrm>
              <a:off x="5876638" y="6113007"/>
              <a:ext cx="288374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>
                <a:defRPr sz="3200" b="1"/>
              </a:lvl1pPr>
            </a:lstStyle>
            <a:p>
              <a:r>
                <a:rPr lang="es-ES" sz="2800" dirty="0"/>
                <a:t>Lateralized</a:t>
              </a:r>
            </a:p>
          </p:txBody>
        </p:sp>
        <p:grpSp>
          <p:nvGrpSpPr>
            <p:cNvPr id="89" name="Grupo 88"/>
            <p:cNvGrpSpPr/>
            <p:nvPr/>
          </p:nvGrpSpPr>
          <p:grpSpPr>
            <a:xfrm>
              <a:off x="5267325" y="5440659"/>
              <a:ext cx="6697662" cy="546815"/>
              <a:chOff x="5267325" y="5440659"/>
              <a:chExt cx="6697662" cy="546815"/>
            </a:xfrm>
          </p:grpSpPr>
          <p:sp>
            <p:nvSpPr>
              <p:cNvPr id="16" name="Rectángulo 15">
                <a:extLst>
                  <a:ext uri="{FF2B5EF4-FFF2-40B4-BE49-F238E27FC236}">
                    <a16:creationId xmlns:a16="http://schemas.microsoft.com/office/drawing/2014/main" id="{ED0898DA-D1F6-D02E-E3FB-DDAB50534608}"/>
                  </a:ext>
                </a:extLst>
              </p:cNvPr>
              <p:cNvSpPr/>
              <p:nvPr/>
            </p:nvSpPr>
            <p:spPr>
              <a:xfrm>
                <a:off x="5267325" y="5447851"/>
                <a:ext cx="6697662" cy="525241"/>
              </a:xfrm>
              <a:prstGeom prst="rect">
                <a:avLst/>
              </a:prstGeom>
              <a:solidFill>
                <a:srgbClr val="FFFF00"/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 dirty="0"/>
              </a:p>
            </p:txBody>
          </p:sp>
          <p:sp>
            <p:nvSpPr>
              <p:cNvPr id="22" name="Rectángulo 21">
                <a:extLst>
                  <a:ext uri="{FF2B5EF4-FFF2-40B4-BE49-F238E27FC236}">
                    <a16:creationId xmlns:a16="http://schemas.microsoft.com/office/drawing/2014/main" id="{B6AC062F-BBA4-C19A-E12B-05CF64D97981}"/>
                  </a:ext>
                </a:extLst>
              </p:cNvPr>
              <p:cNvSpPr/>
              <p:nvPr/>
            </p:nvSpPr>
            <p:spPr>
              <a:xfrm>
                <a:off x="5279617" y="5440659"/>
                <a:ext cx="328297" cy="532433"/>
              </a:xfrm>
              <a:prstGeom prst="rect">
                <a:avLst/>
              </a:prstGeom>
              <a:solidFill>
                <a:srgbClr val="00206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 dirty="0"/>
              </a:p>
            </p:txBody>
          </p:sp>
          <p:sp>
            <p:nvSpPr>
              <p:cNvPr id="64" name="Rectángulo 63">
                <a:extLst>
                  <a:ext uri="{FF2B5EF4-FFF2-40B4-BE49-F238E27FC236}">
                    <a16:creationId xmlns:a16="http://schemas.microsoft.com/office/drawing/2014/main" id="{B6AC062F-BBA4-C19A-E12B-05CF64D97981}"/>
                  </a:ext>
                </a:extLst>
              </p:cNvPr>
              <p:cNvSpPr/>
              <p:nvPr/>
            </p:nvSpPr>
            <p:spPr>
              <a:xfrm>
                <a:off x="11637347" y="5447849"/>
                <a:ext cx="327640" cy="525243"/>
              </a:xfrm>
              <a:prstGeom prst="rect">
                <a:avLst/>
              </a:prstGeom>
              <a:solidFill>
                <a:srgbClr val="00206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 dirty="0"/>
              </a:p>
            </p:txBody>
          </p:sp>
          <p:sp>
            <p:nvSpPr>
              <p:cNvPr id="66" name="CuadroTexto 65">
                <a:extLst>
                  <a:ext uri="{FF2B5EF4-FFF2-40B4-BE49-F238E27FC236}">
                    <a16:creationId xmlns:a16="http://schemas.microsoft.com/office/drawing/2014/main" id="{5FBD9CB9-62EE-8A9C-908E-26BB405148A3}"/>
                  </a:ext>
                </a:extLst>
              </p:cNvPr>
              <p:cNvSpPr txBox="1"/>
              <p:nvPr/>
            </p:nvSpPr>
            <p:spPr>
              <a:xfrm>
                <a:off x="7150597" y="5464254"/>
                <a:ext cx="2883746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>
                  <a:defRPr sz="3200" b="1"/>
                </a:lvl1pPr>
              </a:lstStyle>
              <a:p>
                <a:pPr algn="ctr"/>
                <a:r>
                  <a:rPr lang="es-ES" sz="2800" dirty="0" smtClean="0"/>
                  <a:t>Non-</a:t>
                </a:r>
                <a:r>
                  <a:rPr lang="es-ES" sz="2800" dirty="0" err="1" smtClean="0"/>
                  <a:t>lateralized</a:t>
                </a:r>
                <a:endParaRPr lang="es-ES" sz="2800" dirty="0"/>
              </a:p>
            </p:txBody>
          </p:sp>
        </p:grpSp>
        <p:cxnSp>
          <p:nvCxnSpPr>
            <p:cNvPr id="68" name="Conector recto de flecha 67"/>
            <p:cNvCxnSpPr>
              <a:stCxn id="30" idx="1"/>
            </p:cNvCxnSpPr>
            <p:nvPr/>
          </p:nvCxnSpPr>
          <p:spPr>
            <a:xfrm flipH="1" flipV="1">
              <a:off x="5607914" y="6045541"/>
              <a:ext cx="268724" cy="329076"/>
            </a:xfrm>
            <a:prstGeom prst="straightConnector1">
              <a:avLst/>
            </a:prstGeom>
            <a:ln>
              <a:solidFill>
                <a:schemeClr val="bg2">
                  <a:lumMod val="1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Conector recto de flecha 69"/>
            <p:cNvCxnSpPr/>
            <p:nvPr/>
          </p:nvCxnSpPr>
          <p:spPr>
            <a:xfrm flipV="1">
              <a:off x="7666269" y="6045541"/>
              <a:ext cx="3936865" cy="402884"/>
            </a:xfrm>
            <a:prstGeom prst="straightConnector1">
              <a:avLst/>
            </a:prstGeom>
            <a:ln>
              <a:solidFill>
                <a:schemeClr val="bg2">
                  <a:lumMod val="1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8" name="Grupo 87"/>
          <p:cNvGrpSpPr/>
          <p:nvPr/>
        </p:nvGrpSpPr>
        <p:grpSpPr>
          <a:xfrm>
            <a:off x="5350655" y="4809860"/>
            <a:ext cx="4957445" cy="667503"/>
            <a:chOff x="5350655" y="4809860"/>
            <a:chExt cx="4957445" cy="667503"/>
          </a:xfrm>
        </p:grpSpPr>
        <p:grpSp>
          <p:nvGrpSpPr>
            <p:cNvPr id="74" name="Grupo 73"/>
            <p:cNvGrpSpPr/>
            <p:nvPr/>
          </p:nvGrpSpPr>
          <p:grpSpPr>
            <a:xfrm>
              <a:off x="5350655" y="4809860"/>
              <a:ext cx="4957445" cy="532703"/>
              <a:chOff x="5350655" y="4809860"/>
              <a:chExt cx="4957445" cy="532703"/>
            </a:xfrm>
          </p:grpSpPr>
          <p:sp>
            <p:nvSpPr>
              <p:cNvPr id="72" name="Cerrar llave 71"/>
              <p:cNvSpPr/>
              <p:nvPr/>
            </p:nvSpPr>
            <p:spPr>
              <a:xfrm rot="5400000">
                <a:off x="7753045" y="2407470"/>
                <a:ext cx="152666" cy="4957445"/>
              </a:xfrm>
              <a:prstGeom prst="rightBrace">
                <a:avLst>
                  <a:gd name="adj1" fmla="val 66093"/>
                  <a:gd name="adj2" fmla="val 51832"/>
                </a:avLst>
              </a:prstGeom>
              <a:ln w="57150">
                <a:solidFill>
                  <a:schemeClr val="bg2">
                    <a:lumMod val="1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73" name="Rectángulo 72"/>
              <p:cNvSpPr/>
              <p:nvPr/>
            </p:nvSpPr>
            <p:spPr>
              <a:xfrm>
                <a:off x="7191070" y="5000824"/>
                <a:ext cx="1151965" cy="341739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sp>
          <p:nvSpPr>
            <p:cNvPr id="71" name="CuadroTexto 70">
              <a:extLst>
                <a:ext uri="{FF2B5EF4-FFF2-40B4-BE49-F238E27FC236}">
                  <a16:creationId xmlns:a16="http://schemas.microsoft.com/office/drawing/2014/main" id="{80A64A56-EDE1-A6B9-09D0-0308D6867FE7}"/>
                </a:ext>
              </a:extLst>
            </p:cNvPr>
            <p:cNvSpPr txBox="1"/>
            <p:nvPr/>
          </p:nvSpPr>
          <p:spPr>
            <a:xfrm>
              <a:off x="7176703" y="4892588"/>
              <a:ext cx="1025691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>
                <a:defRPr sz="3200" b="1"/>
              </a:lvl1pPr>
            </a:lstStyle>
            <a:p>
              <a:pPr algn="ctr"/>
              <a:r>
                <a:rPr lang="es-ES" dirty="0" smtClean="0"/>
                <a:t>NRH</a:t>
              </a:r>
              <a:endParaRPr lang="es-ES" dirty="0"/>
            </a:p>
          </p:txBody>
        </p:sp>
      </p:grpSp>
      <p:pic>
        <p:nvPicPr>
          <p:cNvPr id="46" name="Imagen 45"/>
          <p:cNvPicPr>
            <a:picLocks noChangeAspect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5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1580" t="64646" r="4030" b="8831"/>
          <a:stretch/>
        </p:blipFill>
        <p:spPr>
          <a:xfrm>
            <a:off x="5226337" y="876123"/>
            <a:ext cx="6857184" cy="1219082"/>
          </a:xfrm>
          <a:prstGeom prst="rect">
            <a:avLst/>
          </a:prstGeom>
        </p:spPr>
      </p:pic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9D959302-9360-5C33-06B3-D62828EF9A8E}"/>
              </a:ext>
            </a:extLst>
          </p:cNvPr>
          <p:cNvCxnSpPr>
            <a:cxnSpLocks/>
          </p:cNvCxnSpPr>
          <p:nvPr/>
        </p:nvCxnSpPr>
        <p:spPr>
          <a:xfrm flipV="1">
            <a:off x="11637347" y="876123"/>
            <a:ext cx="20700" cy="5111351"/>
          </a:xfrm>
          <a:prstGeom prst="line">
            <a:avLst/>
          </a:prstGeom>
          <a:ln w="38100">
            <a:solidFill>
              <a:schemeClr val="bg2">
                <a:lumMod val="1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5" name="Grupo 84"/>
          <p:cNvGrpSpPr/>
          <p:nvPr/>
        </p:nvGrpSpPr>
        <p:grpSpPr>
          <a:xfrm>
            <a:off x="5269325" y="2443785"/>
            <a:ext cx="6875505" cy="591247"/>
            <a:chOff x="5269325" y="2443785"/>
            <a:chExt cx="6875505" cy="591247"/>
          </a:xfrm>
        </p:grpSpPr>
        <p:sp>
          <p:nvSpPr>
            <p:cNvPr id="10" name="Rectángulo 9">
              <a:extLst>
                <a:ext uri="{FF2B5EF4-FFF2-40B4-BE49-F238E27FC236}">
                  <a16:creationId xmlns:a16="http://schemas.microsoft.com/office/drawing/2014/main" id="{08B30B59-3710-8408-0FF9-26E4523DE253}"/>
                </a:ext>
              </a:extLst>
            </p:cNvPr>
            <p:cNvSpPr/>
            <p:nvPr/>
          </p:nvSpPr>
          <p:spPr>
            <a:xfrm>
              <a:off x="5271894" y="2443785"/>
              <a:ext cx="6693093" cy="591247"/>
            </a:xfrm>
            <a:prstGeom prst="rect">
              <a:avLst/>
            </a:prstGeom>
            <a:solidFill>
              <a:srgbClr val="A5F1CD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11" name="CuadroTexto 10">
              <a:extLst>
                <a:ext uri="{FF2B5EF4-FFF2-40B4-BE49-F238E27FC236}">
                  <a16:creationId xmlns:a16="http://schemas.microsoft.com/office/drawing/2014/main" id="{09842625-2368-2298-16FC-95C1E9F693A6}"/>
                </a:ext>
              </a:extLst>
            </p:cNvPr>
            <p:cNvSpPr txBox="1"/>
            <p:nvPr/>
          </p:nvSpPr>
          <p:spPr>
            <a:xfrm>
              <a:off x="5269325" y="2477086"/>
              <a:ext cx="1110024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sz="2800" dirty="0"/>
                <a:t>-100</a:t>
              </a:r>
            </a:p>
          </p:txBody>
        </p:sp>
        <p:sp>
          <p:nvSpPr>
            <p:cNvPr id="12" name="CuadroTexto 11">
              <a:extLst>
                <a:ext uri="{FF2B5EF4-FFF2-40B4-BE49-F238E27FC236}">
                  <a16:creationId xmlns:a16="http://schemas.microsoft.com/office/drawing/2014/main" id="{CB8A079C-24B4-2542-E955-CFD84E62C0C1}"/>
                </a:ext>
              </a:extLst>
            </p:cNvPr>
            <p:cNvSpPr txBox="1"/>
            <p:nvPr/>
          </p:nvSpPr>
          <p:spPr>
            <a:xfrm>
              <a:off x="8162364" y="2495194"/>
              <a:ext cx="956137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2800" b="1" dirty="0"/>
                <a:t>LQ</a:t>
              </a:r>
            </a:p>
          </p:txBody>
        </p:sp>
        <p:sp>
          <p:nvSpPr>
            <p:cNvPr id="47" name="CuadroTexto 46">
              <a:extLst>
                <a:ext uri="{FF2B5EF4-FFF2-40B4-BE49-F238E27FC236}">
                  <a16:creationId xmlns:a16="http://schemas.microsoft.com/office/drawing/2014/main" id="{09842625-2368-2298-16FC-95C1E9F693A6}"/>
                </a:ext>
              </a:extLst>
            </p:cNvPr>
            <p:cNvSpPr txBox="1"/>
            <p:nvPr/>
          </p:nvSpPr>
          <p:spPr>
            <a:xfrm>
              <a:off x="11034806" y="2477086"/>
              <a:ext cx="1110024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sz="2800" dirty="0"/>
                <a:t>+</a:t>
              </a:r>
              <a:r>
                <a:rPr lang="es-ES" sz="2800" dirty="0" smtClean="0"/>
                <a:t>100</a:t>
              </a:r>
              <a:endParaRPr lang="es-ES" sz="2800" dirty="0"/>
            </a:p>
          </p:txBody>
        </p:sp>
      </p:grpSp>
      <p:grpSp>
        <p:nvGrpSpPr>
          <p:cNvPr id="86" name="Grupo 85"/>
          <p:cNvGrpSpPr/>
          <p:nvPr/>
        </p:nvGrpSpPr>
        <p:grpSpPr>
          <a:xfrm>
            <a:off x="5267059" y="3374992"/>
            <a:ext cx="6691536" cy="591381"/>
            <a:chOff x="5267059" y="3374992"/>
            <a:chExt cx="6691536" cy="591381"/>
          </a:xfrm>
        </p:grpSpPr>
        <p:sp>
          <p:nvSpPr>
            <p:cNvPr id="14" name="Rectángulo 13">
              <a:extLst>
                <a:ext uri="{FF2B5EF4-FFF2-40B4-BE49-F238E27FC236}">
                  <a16:creationId xmlns:a16="http://schemas.microsoft.com/office/drawing/2014/main" id="{7B36E3C5-B02C-6780-8E7A-F770EC47C2F9}"/>
                </a:ext>
              </a:extLst>
            </p:cNvPr>
            <p:cNvSpPr/>
            <p:nvPr/>
          </p:nvSpPr>
          <p:spPr>
            <a:xfrm>
              <a:off x="5267059" y="3433084"/>
              <a:ext cx="6691536" cy="482042"/>
            </a:xfrm>
            <a:prstGeom prst="rect">
              <a:avLst/>
            </a:prstGeom>
            <a:solidFill>
              <a:srgbClr val="8AD5FA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17" name="Rectángulo 16">
              <a:extLst>
                <a:ext uri="{FF2B5EF4-FFF2-40B4-BE49-F238E27FC236}">
                  <a16:creationId xmlns:a16="http://schemas.microsoft.com/office/drawing/2014/main" id="{D77B4F48-3B87-95AD-AC32-86712AA4F8F5}"/>
                </a:ext>
              </a:extLst>
            </p:cNvPr>
            <p:cNvSpPr/>
            <p:nvPr/>
          </p:nvSpPr>
          <p:spPr>
            <a:xfrm>
              <a:off x="5281080" y="3425028"/>
              <a:ext cx="3323975" cy="484804"/>
            </a:xfrm>
            <a:prstGeom prst="rect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25" name="CuadroTexto 24">
              <a:extLst>
                <a:ext uri="{FF2B5EF4-FFF2-40B4-BE49-F238E27FC236}">
                  <a16:creationId xmlns:a16="http://schemas.microsoft.com/office/drawing/2014/main" id="{F0647A86-F9FB-EDD9-6914-F239CCE77608}"/>
                </a:ext>
              </a:extLst>
            </p:cNvPr>
            <p:cNvSpPr txBox="1"/>
            <p:nvPr/>
          </p:nvSpPr>
          <p:spPr>
            <a:xfrm>
              <a:off x="5305347" y="3381598"/>
              <a:ext cx="1854889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sz="3200" b="1" dirty="0"/>
                <a:t>Left</a:t>
              </a:r>
            </a:p>
          </p:txBody>
        </p:sp>
        <p:sp>
          <p:nvSpPr>
            <p:cNvPr id="26" name="CuadroTexto 25">
              <a:extLst>
                <a:ext uri="{FF2B5EF4-FFF2-40B4-BE49-F238E27FC236}">
                  <a16:creationId xmlns:a16="http://schemas.microsoft.com/office/drawing/2014/main" id="{80A64A56-EDE1-A6B9-09D0-0308D6867FE7}"/>
                </a:ext>
              </a:extLst>
            </p:cNvPr>
            <p:cNvSpPr txBox="1"/>
            <p:nvPr/>
          </p:nvSpPr>
          <p:spPr>
            <a:xfrm>
              <a:off x="10024153" y="3374992"/>
              <a:ext cx="1914062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>
                <a:defRPr sz="3200" b="1"/>
              </a:lvl1pPr>
            </a:lstStyle>
            <a:p>
              <a:pPr algn="r"/>
              <a:r>
                <a:rPr lang="es-ES" dirty="0"/>
                <a:t>Right</a:t>
              </a:r>
            </a:p>
          </p:txBody>
        </p:sp>
      </p:grpSp>
      <p:grpSp>
        <p:nvGrpSpPr>
          <p:cNvPr id="87" name="Grupo 86"/>
          <p:cNvGrpSpPr/>
          <p:nvPr/>
        </p:nvGrpSpPr>
        <p:grpSpPr>
          <a:xfrm>
            <a:off x="5273061" y="4181698"/>
            <a:ext cx="6694004" cy="635530"/>
            <a:chOff x="5273061" y="4181698"/>
            <a:chExt cx="6694004" cy="635530"/>
          </a:xfrm>
        </p:grpSpPr>
        <p:sp>
          <p:nvSpPr>
            <p:cNvPr id="23" name="Abrir llave 22">
              <a:extLst>
                <a:ext uri="{FF2B5EF4-FFF2-40B4-BE49-F238E27FC236}">
                  <a16:creationId xmlns:a16="http://schemas.microsoft.com/office/drawing/2014/main" id="{FB940F5B-6199-A806-DFB2-D96A82B90A90}"/>
                </a:ext>
              </a:extLst>
            </p:cNvPr>
            <p:cNvSpPr/>
            <p:nvPr/>
          </p:nvSpPr>
          <p:spPr>
            <a:xfrm rot="5400000">
              <a:off x="8777083" y="3083180"/>
              <a:ext cx="249382" cy="3032057"/>
            </a:xfrm>
            <a:prstGeom prst="leftBrace">
              <a:avLst>
                <a:gd name="adj1" fmla="val 154961"/>
                <a:gd name="adj2" fmla="val 50525"/>
              </a:avLst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24" name="CuadroTexto 23">
              <a:extLst>
                <a:ext uri="{FF2B5EF4-FFF2-40B4-BE49-F238E27FC236}">
                  <a16:creationId xmlns:a16="http://schemas.microsoft.com/office/drawing/2014/main" id="{A29C0580-010B-60E5-F4D1-EE9203A72873}"/>
                </a:ext>
              </a:extLst>
            </p:cNvPr>
            <p:cNvSpPr txBox="1"/>
            <p:nvPr/>
          </p:nvSpPr>
          <p:spPr>
            <a:xfrm>
              <a:off x="8774690" y="4181698"/>
              <a:ext cx="114368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dirty="0"/>
                <a:t>NRH</a:t>
              </a:r>
            </a:p>
          </p:txBody>
        </p:sp>
        <p:sp>
          <p:nvSpPr>
            <p:cNvPr id="52" name="Rectángulo 51">
              <a:extLst>
                <a:ext uri="{FF2B5EF4-FFF2-40B4-BE49-F238E27FC236}">
                  <a16:creationId xmlns:a16="http://schemas.microsoft.com/office/drawing/2014/main" id="{7B36E3C5-B02C-6780-8E7A-F770EC47C2F9}"/>
                </a:ext>
              </a:extLst>
            </p:cNvPr>
            <p:cNvSpPr/>
            <p:nvPr/>
          </p:nvSpPr>
          <p:spPr>
            <a:xfrm>
              <a:off x="5275529" y="4271421"/>
              <a:ext cx="6691536" cy="482042"/>
            </a:xfrm>
            <a:prstGeom prst="rect">
              <a:avLst/>
            </a:prstGeom>
            <a:solidFill>
              <a:srgbClr val="8AD5FA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15" name="Rectángulo 14">
              <a:extLst>
                <a:ext uri="{FF2B5EF4-FFF2-40B4-BE49-F238E27FC236}">
                  <a16:creationId xmlns:a16="http://schemas.microsoft.com/office/drawing/2014/main" id="{672B5177-3B13-D324-B9CF-09388954421C}"/>
                </a:ext>
              </a:extLst>
            </p:cNvPr>
            <p:cNvSpPr/>
            <p:nvPr/>
          </p:nvSpPr>
          <p:spPr>
            <a:xfrm>
              <a:off x="5273061" y="4269592"/>
              <a:ext cx="5035041" cy="481430"/>
            </a:xfrm>
            <a:prstGeom prst="rect">
              <a:avLst/>
            </a:prstGeom>
            <a:solidFill>
              <a:srgbClr val="C397F3"/>
            </a:solidFill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19" name="Rectángulo 18">
              <a:extLst>
                <a:ext uri="{FF2B5EF4-FFF2-40B4-BE49-F238E27FC236}">
                  <a16:creationId xmlns:a16="http://schemas.microsoft.com/office/drawing/2014/main" id="{D35631AB-E241-C271-E196-FB63799FF9EE}"/>
                </a:ext>
              </a:extLst>
            </p:cNvPr>
            <p:cNvSpPr/>
            <p:nvPr/>
          </p:nvSpPr>
          <p:spPr>
            <a:xfrm>
              <a:off x="5288915" y="4279479"/>
              <a:ext cx="1700206" cy="473984"/>
            </a:xfrm>
            <a:prstGeom prst="rect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56" name="CuadroTexto 55">
              <a:extLst>
                <a:ext uri="{FF2B5EF4-FFF2-40B4-BE49-F238E27FC236}">
                  <a16:creationId xmlns:a16="http://schemas.microsoft.com/office/drawing/2014/main" id="{80A64A56-EDE1-A6B9-09D0-0308D6867FE7}"/>
                </a:ext>
              </a:extLst>
            </p:cNvPr>
            <p:cNvSpPr txBox="1"/>
            <p:nvPr/>
          </p:nvSpPr>
          <p:spPr>
            <a:xfrm>
              <a:off x="10743141" y="4232453"/>
              <a:ext cx="1205263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>
                <a:defRPr sz="3200" b="1"/>
              </a:lvl1pPr>
            </a:lstStyle>
            <a:p>
              <a:pPr algn="r"/>
              <a:r>
                <a:rPr lang="es-ES" dirty="0"/>
                <a:t>Right</a:t>
              </a:r>
            </a:p>
          </p:txBody>
        </p:sp>
        <p:sp>
          <p:nvSpPr>
            <p:cNvPr id="57" name="CuadroTexto 56">
              <a:extLst>
                <a:ext uri="{FF2B5EF4-FFF2-40B4-BE49-F238E27FC236}">
                  <a16:creationId xmlns:a16="http://schemas.microsoft.com/office/drawing/2014/main" id="{80A64A56-EDE1-A6B9-09D0-0308D6867FE7}"/>
                </a:ext>
              </a:extLst>
            </p:cNvPr>
            <p:cNvSpPr txBox="1"/>
            <p:nvPr/>
          </p:nvSpPr>
          <p:spPr>
            <a:xfrm>
              <a:off x="7666269" y="4223362"/>
              <a:ext cx="1914062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>
                <a:defRPr sz="3200" b="1"/>
              </a:lvl1pPr>
            </a:lstStyle>
            <a:p>
              <a:pPr algn="ctr"/>
              <a:r>
                <a:rPr lang="es-ES" dirty="0" err="1" smtClean="0"/>
                <a:t>Mixed</a:t>
              </a:r>
              <a:endParaRPr lang="es-ES" dirty="0"/>
            </a:p>
          </p:txBody>
        </p:sp>
        <p:sp>
          <p:nvSpPr>
            <p:cNvPr id="58" name="CuadroTexto 57">
              <a:extLst>
                <a:ext uri="{FF2B5EF4-FFF2-40B4-BE49-F238E27FC236}">
                  <a16:creationId xmlns:a16="http://schemas.microsoft.com/office/drawing/2014/main" id="{F0647A86-F9FB-EDD9-6914-F239CCE77608}"/>
                </a:ext>
              </a:extLst>
            </p:cNvPr>
            <p:cNvSpPr txBox="1"/>
            <p:nvPr/>
          </p:nvSpPr>
          <p:spPr>
            <a:xfrm>
              <a:off x="5285636" y="4232453"/>
              <a:ext cx="1026338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sz="3200" b="1" dirty="0"/>
                <a:t>Left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758747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0" y="14288"/>
            <a:ext cx="12192000" cy="1325563"/>
          </a:xfrm>
        </p:spPr>
        <p:txBody>
          <a:bodyPr/>
          <a:lstStyle/>
          <a:p>
            <a:pPr algn="ctr"/>
            <a:r>
              <a:rPr lang="es-ES" b="1" dirty="0" err="1" smtClean="0"/>
              <a:t>MadManic</a:t>
            </a:r>
            <a:r>
              <a:rPr lang="es-ES" b="1" dirty="0" smtClean="0"/>
              <a:t> </a:t>
            </a:r>
            <a:r>
              <a:rPr lang="es-ES" b="1" dirty="0" err="1" smtClean="0"/>
              <a:t>cohort</a:t>
            </a:r>
            <a:endParaRPr lang="en-GB" b="1" dirty="0"/>
          </a:p>
        </p:txBody>
      </p:sp>
      <p:grpSp>
        <p:nvGrpSpPr>
          <p:cNvPr id="7" name="Grupo 6"/>
          <p:cNvGrpSpPr/>
          <p:nvPr/>
        </p:nvGrpSpPr>
        <p:grpSpPr>
          <a:xfrm>
            <a:off x="339081" y="1633538"/>
            <a:ext cx="6882799" cy="4600466"/>
            <a:chOff x="520056" y="1690688"/>
            <a:chExt cx="6882799" cy="4600466"/>
          </a:xfrm>
        </p:grpSpPr>
        <p:pic>
          <p:nvPicPr>
            <p:cNvPr id="4" name="Imagen 3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20056" y="1690688"/>
              <a:ext cx="6882799" cy="4600466"/>
            </a:xfrm>
            <a:prstGeom prst="rect">
              <a:avLst/>
            </a:prstGeom>
          </p:spPr>
        </p:pic>
        <p:sp>
          <p:nvSpPr>
            <p:cNvPr id="6" name="Rectángulo 5"/>
            <p:cNvSpPr/>
            <p:nvPr/>
          </p:nvSpPr>
          <p:spPr>
            <a:xfrm>
              <a:off x="4229100" y="2257425"/>
              <a:ext cx="1419225" cy="37147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pic>
          <p:nvPicPr>
            <p:cNvPr id="5" name="Google Shape;57;p13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4143374" y="2009775"/>
              <a:ext cx="1590675" cy="701212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8" name="Imagen 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2902" y="148527"/>
            <a:ext cx="2105609" cy="2294635"/>
          </a:xfrm>
          <a:prstGeom prst="rect">
            <a:avLst/>
          </a:prstGeom>
        </p:spPr>
      </p:pic>
      <p:sp>
        <p:nvSpPr>
          <p:cNvPr id="9" name="CuadroTexto 8"/>
          <p:cNvSpPr txBox="1"/>
          <p:nvPr/>
        </p:nvSpPr>
        <p:spPr>
          <a:xfrm>
            <a:off x="339081" y="6234004"/>
            <a:ext cx="413699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100" dirty="0" smtClean="0"/>
              <a:t>García-Ortiz et al. 2026</a:t>
            </a:r>
            <a:endParaRPr lang="en-GB" sz="1100" dirty="0"/>
          </a:p>
        </p:txBody>
      </p:sp>
      <p:pic>
        <p:nvPicPr>
          <p:cNvPr id="11" name="Google Shape;86;p17">
            <a:extLst>
              <a:ext uri="{FF2B5EF4-FFF2-40B4-BE49-F238E27FC236}">
                <a16:creationId xmlns:a16="http://schemas.microsoft.com/office/drawing/2014/main" id="{C0A78BE3-2958-3745-B10C-C35A9F7F1CB6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844810" y="2872486"/>
            <a:ext cx="1503675" cy="114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" name="Google Shape;85;p17">
            <a:extLst>
              <a:ext uri="{FF2B5EF4-FFF2-40B4-BE49-F238E27FC236}">
                <a16:creationId xmlns:a16="http://schemas.microsoft.com/office/drawing/2014/main" id="{74E3E47A-A681-5DA4-D980-43CE26E23F2B}"/>
              </a:ext>
            </a:extLst>
          </p:cNvPr>
          <p:cNvPicPr preferRelativeResize="0"/>
          <p:nvPr/>
        </p:nvPicPr>
        <p:blipFill>
          <a:blip r:embed="rId6">
            <a:alphaModFix/>
          </a:blip>
          <a:stretch/>
        </p:blipFill>
        <p:spPr>
          <a:xfrm>
            <a:off x="9971415" y="2851021"/>
            <a:ext cx="1503671" cy="1149074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CuadroTexto 12"/>
          <p:cNvSpPr txBox="1"/>
          <p:nvPr/>
        </p:nvSpPr>
        <p:spPr>
          <a:xfrm>
            <a:off x="10108842" y="2423003"/>
            <a:ext cx="1228815" cy="46166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s-ES" sz="2400" b="1" dirty="0" smtClean="0"/>
              <a:t>433 BD</a:t>
            </a:r>
            <a:endParaRPr lang="en-GB" sz="2400" b="1" dirty="0"/>
          </a:p>
        </p:txBody>
      </p:sp>
      <p:sp>
        <p:nvSpPr>
          <p:cNvPr id="14" name="CuadroTexto 13"/>
          <p:cNvSpPr txBox="1"/>
          <p:nvPr/>
        </p:nvSpPr>
        <p:spPr>
          <a:xfrm>
            <a:off x="7580843" y="2423004"/>
            <a:ext cx="2079107" cy="46166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s-ES" sz="2400" b="1" dirty="0" smtClean="0"/>
              <a:t>1,480 </a:t>
            </a:r>
            <a:r>
              <a:rPr lang="es-ES" sz="2400" b="1" dirty="0" err="1" smtClean="0"/>
              <a:t>controls</a:t>
            </a:r>
            <a:endParaRPr lang="en-GB" sz="2400" b="1" dirty="0"/>
          </a:p>
        </p:txBody>
      </p:sp>
      <p:sp>
        <p:nvSpPr>
          <p:cNvPr id="15" name="CuadroTexto 14"/>
          <p:cNvSpPr txBox="1"/>
          <p:nvPr/>
        </p:nvSpPr>
        <p:spPr>
          <a:xfrm>
            <a:off x="9287214" y="5294935"/>
            <a:ext cx="2312180" cy="1200329"/>
          </a:xfrm>
          <a:prstGeom prst="rect">
            <a:avLst/>
          </a:prstGeom>
          <a:noFill/>
          <a:ln w="38100">
            <a:solidFill>
              <a:schemeClr val="bg2"/>
            </a:solidFill>
          </a:ln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b="1"/>
            </a:lvl1pPr>
          </a:lstStyle>
          <a:p>
            <a:r>
              <a:rPr lang="es-ES" sz="2400" dirty="0"/>
              <a:t>BD </a:t>
            </a:r>
            <a:r>
              <a:rPr lang="es-ES" sz="2400" dirty="0" err="1"/>
              <a:t>subtype</a:t>
            </a:r>
            <a:endParaRPr lang="es-ES" sz="2400" dirty="0"/>
          </a:p>
          <a:p>
            <a:r>
              <a:rPr lang="es-ES" sz="2400" dirty="0" err="1"/>
              <a:t>Clinical</a:t>
            </a:r>
            <a:r>
              <a:rPr lang="es-ES" sz="2400" dirty="0"/>
              <a:t> </a:t>
            </a:r>
            <a:r>
              <a:rPr lang="es-ES" sz="2400" dirty="0" err="1"/>
              <a:t>history</a:t>
            </a:r>
            <a:endParaRPr lang="es-ES" sz="2400" dirty="0"/>
          </a:p>
          <a:p>
            <a:r>
              <a:rPr lang="es-ES" sz="2400" dirty="0" err="1"/>
              <a:t>Severity</a:t>
            </a:r>
            <a:r>
              <a:rPr lang="es-ES" sz="2400" dirty="0"/>
              <a:t> </a:t>
            </a:r>
            <a:r>
              <a:rPr lang="es-ES" sz="2400" dirty="0" err="1"/>
              <a:t>scales</a:t>
            </a:r>
            <a:endParaRPr lang="es-ES" sz="2400" dirty="0"/>
          </a:p>
        </p:txBody>
      </p:sp>
      <p:sp>
        <p:nvSpPr>
          <p:cNvPr id="16" name="Cerrar llave 15"/>
          <p:cNvSpPr/>
          <p:nvPr/>
        </p:nvSpPr>
        <p:spPr>
          <a:xfrm rot="5400000">
            <a:off x="9380584" y="2024740"/>
            <a:ext cx="294759" cy="3894242"/>
          </a:xfrm>
          <a:prstGeom prst="rightBrac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8" name="Conector recto de flecha 17"/>
          <p:cNvCxnSpPr/>
          <p:nvPr/>
        </p:nvCxnSpPr>
        <p:spPr>
          <a:xfrm>
            <a:off x="10979173" y="3933771"/>
            <a:ext cx="17755" cy="1316381"/>
          </a:xfrm>
          <a:prstGeom prst="straightConnector1">
            <a:avLst/>
          </a:prstGeom>
          <a:ln w="5715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uadroTexto 2"/>
          <p:cNvSpPr txBox="1"/>
          <p:nvPr/>
        </p:nvSpPr>
        <p:spPr>
          <a:xfrm>
            <a:off x="8172859" y="4164024"/>
            <a:ext cx="2710207" cy="830997"/>
          </a:xfrm>
          <a:prstGeom prst="rect">
            <a:avLst/>
          </a:prstGeom>
          <a:solidFill>
            <a:schemeClr val="bg1"/>
          </a:solidFill>
          <a:ln w="38100">
            <a:solidFill>
              <a:schemeClr val="bg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s-ES" sz="2400" b="1" dirty="0" smtClean="0"/>
              <a:t>EHI</a:t>
            </a:r>
          </a:p>
          <a:p>
            <a:pPr algn="ctr"/>
            <a:r>
              <a:rPr lang="es-ES" sz="2400" b="1" dirty="0" err="1" smtClean="0"/>
              <a:t>preferred</a:t>
            </a:r>
            <a:r>
              <a:rPr lang="es-ES" sz="2400" b="1" dirty="0" smtClean="0"/>
              <a:t> </a:t>
            </a:r>
            <a:r>
              <a:rPr lang="es-ES" sz="2400" b="1" dirty="0" err="1" smtClean="0"/>
              <a:t>foot</a:t>
            </a:r>
            <a:r>
              <a:rPr lang="es-ES" sz="2400" b="1" dirty="0" smtClean="0"/>
              <a:t>/</a:t>
            </a:r>
            <a:r>
              <a:rPr lang="es-ES" sz="2400" b="1" dirty="0" err="1" smtClean="0"/>
              <a:t>eye</a:t>
            </a:r>
            <a:r>
              <a:rPr lang="es-ES" sz="2400" b="1" dirty="0" smtClean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507849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/>
          <p:cNvSpPr txBox="1">
            <a:spLocks/>
          </p:cNvSpPr>
          <p:nvPr/>
        </p:nvSpPr>
        <p:spPr>
          <a:xfrm>
            <a:off x="0" y="14288"/>
            <a:ext cx="12192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s-ES" b="1" dirty="0" err="1" smtClean="0"/>
              <a:t>Sample</a:t>
            </a:r>
            <a:r>
              <a:rPr lang="es-ES" b="1" dirty="0" smtClean="0"/>
              <a:t> </a:t>
            </a:r>
            <a:r>
              <a:rPr lang="es-ES" b="1" dirty="0" err="1" smtClean="0"/>
              <a:t>characteristics</a:t>
            </a:r>
            <a:endParaRPr lang="en-GB" b="1" dirty="0"/>
          </a:p>
        </p:txBody>
      </p:sp>
      <p:pic>
        <p:nvPicPr>
          <p:cNvPr id="5" name="Google Shape;86;p17">
            <a:extLst>
              <a:ext uri="{FF2B5EF4-FFF2-40B4-BE49-F238E27FC236}">
                <a16:creationId xmlns:a16="http://schemas.microsoft.com/office/drawing/2014/main" id="{C0A78BE3-2958-3745-B10C-C35A9F7F1CB6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511855" y="2055740"/>
            <a:ext cx="1503675" cy="114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Google Shape;85;p17">
            <a:extLst>
              <a:ext uri="{FF2B5EF4-FFF2-40B4-BE49-F238E27FC236}">
                <a16:creationId xmlns:a16="http://schemas.microsoft.com/office/drawing/2014/main" id="{74E3E47A-A681-5DA4-D980-43CE26E23F2B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/>
        </p:blipFill>
        <p:spPr>
          <a:xfrm>
            <a:off x="2638460" y="2034275"/>
            <a:ext cx="1503671" cy="1149074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CuadroTexto 6"/>
          <p:cNvSpPr txBox="1"/>
          <p:nvPr/>
        </p:nvSpPr>
        <p:spPr>
          <a:xfrm>
            <a:off x="2775887" y="1606257"/>
            <a:ext cx="1228815" cy="46166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s-ES" sz="2400" b="1" dirty="0" smtClean="0"/>
              <a:t>433 BD</a:t>
            </a:r>
            <a:endParaRPr lang="en-GB" sz="2400" b="1" dirty="0"/>
          </a:p>
        </p:txBody>
      </p:sp>
      <p:sp>
        <p:nvSpPr>
          <p:cNvPr id="8" name="CuadroTexto 7"/>
          <p:cNvSpPr txBox="1"/>
          <p:nvPr/>
        </p:nvSpPr>
        <p:spPr>
          <a:xfrm>
            <a:off x="247888" y="1606258"/>
            <a:ext cx="2079107" cy="46166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s-ES" sz="2400" b="1" dirty="0" smtClean="0"/>
              <a:t>1,480 </a:t>
            </a:r>
            <a:r>
              <a:rPr lang="es-ES" sz="2400" b="1" dirty="0" err="1" smtClean="0"/>
              <a:t>controls</a:t>
            </a:r>
            <a:endParaRPr lang="en-GB" sz="2400" b="1" dirty="0"/>
          </a:p>
        </p:txBody>
      </p:sp>
      <p:pic>
        <p:nvPicPr>
          <p:cNvPr id="9" name="Imagen 8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06793" y="2175906"/>
            <a:ext cx="3043561" cy="3043561"/>
          </a:xfrm>
          <a:prstGeom prst="rect">
            <a:avLst/>
          </a:prstGeom>
        </p:spPr>
      </p:pic>
      <p:pic>
        <p:nvPicPr>
          <p:cNvPr id="10" name="Imagen 9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26995" y="3183349"/>
            <a:ext cx="3192498" cy="3192498"/>
          </a:xfrm>
          <a:prstGeom prst="rect">
            <a:avLst/>
          </a:prstGeom>
        </p:spPr>
      </p:pic>
      <p:pic>
        <p:nvPicPr>
          <p:cNvPr id="11" name="Imagen 10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19493" y="2067922"/>
            <a:ext cx="4572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77972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/>
          <p:cNvSpPr txBox="1">
            <a:spLocks/>
          </p:cNvSpPr>
          <p:nvPr/>
        </p:nvSpPr>
        <p:spPr>
          <a:xfrm>
            <a:off x="0" y="14288"/>
            <a:ext cx="12192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s-ES" b="1" dirty="0" err="1" smtClean="0"/>
              <a:t>Sample</a:t>
            </a:r>
            <a:r>
              <a:rPr lang="es-ES" b="1" dirty="0" smtClean="0"/>
              <a:t> </a:t>
            </a:r>
            <a:r>
              <a:rPr lang="es-ES" b="1" dirty="0" err="1" smtClean="0"/>
              <a:t>characteristics</a:t>
            </a:r>
            <a:endParaRPr lang="en-GB" b="1" dirty="0"/>
          </a:p>
        </p:txBody>
      </p:sp>
      <p:pic>
        <p:nvPicPr>
          <p:cNvPr id="5" name="Google Shape;86;p17">
            <a:extLst>
              <a:ext uri="{FF2B5EF4-FFF2-40B4-BE49-F238E27FC236}">
                <a16:creationId xmlns:a16="http://schemas.microsoft.com/office/drawing/2014/main" id="{C0A78BE3-2958-3745-B10C-C35A9F7F1CB6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511855" y="2055740"/>
            <a:ext cx="1503675" cy="114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Google Shape;85;p17">
            <a:extLst>
              <a:ext uri="{FF2B5EF4-FFF2-40B4-BE49-F238E27FC236}">
                <a16:creationId xmlns:a16="http://schemas.microsoft.com/office/drawing/2014/main" id="{74E3E47A-A681-5DA4-D980-43CE26E23F2B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/>
        </p:blipFill>
        <p:spPr>
          <a:xfrm>
            <a:off x="2638460" y="2034275"/>
            <a:ext cx="1503671" cy="1149074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CuadroTexto 6"/>
          <p:cNvSpPr txBox="1"/>
          <p:nvPr/>
        </p:nvSpPr>
        <p:spPr>
          <a:xfrm>
            <a:off x="2775887" y="1606257"/>
            <a:ext cx="1228815" cy="46166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s-ES" sz="2400" b="1" dirty="0" smtClean="0"/>
              <a:t>433 BD</a:t>
            </a:r>
            <a:endParaRPr lang="en-GB" sz="2400" b="1" dirty="0"/>
          </a:p>
        </p:txBody>
      </p:sp>
      <p:sp>
        <p:nvSpPr>
          <p:cNvPr id="8" name="CuadroTexto 7"/>
          <p:cNvSpPr txBox="1"/>
          <p:nvPr/>
        </p:nvSpPr>
        <p:spPr>
          <a:xfrm>
            <a:off x="247888" y="1606258"/>
            <a:ext cx="2079107" cy="46166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s-ES" sz="2400" b="1" dirty="0" smtClean="0"/>
              <a:t>1,480 </a:t>
            </a:r>
            <a:r>
              <a:rPr lang="es-ES" sz="2400" b="1" dirty="0" err="1" smtClean="0"/>
              <a:t>controls</a:t>
            </a:r>
            <a:endParaRPr lang="en-GB" sz="2400" b="1" dirty="0"/>
          </a:p>
        </p:txBody>
      </p:sp>
      <p:pic>
        <p:nvPicPr>
          <p:cNvPr id="10" name="Imagen 9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26995" y="3183349"/>
            <a:ext cx="3192498" cy="3192498"/>
          </a:xfrm>
          <a:prstGeom prst="rect">
            <a:avLst/>
          </a:prstGeom>
        </p:spPr>
      </p:pic>
      <p:grpSp>
        <p:nvGrpSpPr>
          <p:cNvPr id="3" name="Grupo 2"/>
          <p:cNvGrpSpPr/>
          <p:nvPr/>
        </p:nvGrpSpPr>
        <p:grpSpPr>
          <a:xfrm>
            <a:off x="6288858" y="1339851"/>
            <a:ext cx="4913090" cy="4962618"/>
            <a:chOff x="2728913" y="976543"/>
            <a:chExt cx="4913090" cy="4962618"/>
          </a:xfrm>
        </p:grpSpPr>
        <p:pic>
          <p:nvPicPr>
            <p:cNvPr id="2" name="Imagen 1"/>
            <p:cNvPicPr>
              <a:picLocks noChangeAspect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607" r="53515" b="4563"/>
            <a:stretch/>
          </p:blipFill>
          <p:spPr>
            <a:xfrm>
              <a:off x="2728913" y="976544"/>
              <a:ext cx="3130349" cy="4962617"/>
            </a:xfrm>
            <a:prstGeom prst="rect">
              <a:avLst/>
            </a:prstGeom>
          </p:spPr>
        </p:pic>
        <p:pic>
          <p:nvPicPr>
            <p:cNvPr id="12" name="Imagen 11"/>
            <p:cNvPicPr>
              <a:picLocks noChangeAspect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9778" t="5607" r="13329" b="4563"/>
            <a:stretch/>
          </p:blipFill>
          <p:spPr>
            <a:xfrm>
              <a:off x="5830958" y="976543"/>
              <a:ext cx="1811045" cy="496261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3388246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NRH in </a:t>
            </a:r>
            <a:r>
              <a:rPr lang="es-ES" dirty="0" err="1" smtClean="0"/>
              <a:t>Spanish</a:t>
            </a:r>
            <a:r>
              <a:rPr lang="es-ES" dirty="0" smtClean="0"/>
              <a:t> </a:t>
            </a:r>
            <a:r>
              <a:rPr lang="es-ES" dirty="0" err="1" smtClean="0"/>
              <a:t>population</a:t>
            </a:r>
            <a:endParaRPr lang="en-GB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3673007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err="1" smtClean="0"/>
              <a:t>Demographics</a:t>
            </a:r>
            <a:r>
              <a:rPr lang="es-ES" dirty="0" smtClean="0"/>
              <a:t> and </a:t>
            </a:r>
            <a:r>
              <a:rPr lang="es-ES" dirty="0" err="1" smtClean="0"/>
              <a:t>need</a:t>
            </a:r>
            <a:r>
              <a:rPr lang="es-ES" dirty="0" smtClean="0"/>
              <a:t> of </a:t>
            </a:r>
            <a:r>
              <a:rPr lang="es-ES" dirty="0" err="1" smtClean="0"/>
              <a:t>age</a:t>
            </a:r>
            <a:r>
              <a:rPr lang="es-ES" dirty="0" smtClean="0"/>
              <a:t> match</a:t>
            </a:r>
            <a:endParaRPr lang="en-GB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180949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Case-control </a:t>
            </a:r>
            <a:r>
              <a:rPr lang="es-ES" dirty="0" err="1" smtClean="0"/>
              <a:t>handedness</a:t>
            </a:r>
            <a:r>
              <a:rPr lang="es-ES" dirty="0" smtClean="0"/>
              <a:t> </a:t>
            </a:r>
            <a:r>
              <a:rPr lang="es-ES" dirty="0" err="1" smtClean="0"/>
              <a:t>study</a:t>
            </a:r>
            <a:endParaRPr lang="en-GB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322957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err="1" smtClean="0"/>
              <a:t>Within</a:t>
            </a:r>
            <a:r>
              <a:rPr lang="es-ES" dirty="0" smtClean="0"/>
              <a:t> BD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5916585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PRS</a:t>
            </a:r>
            <a:endParaRPr lang="en-GB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894964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err="1" smtClean="0"/>
              <a:t>Discussion</a:t>
            </a:r>
            <a:endParaRPr lang="en-GB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502755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3777528" y="-227950"/>
            <a:ext cx="4624161" cy="1325563"/>
          </a:xfrm>
        </p:spPr>
        <p:txBody>
          <a:bodyPr/>
          <a:lstStyle/>
          <a:p>
            <a:r>
              <a:rPr lang="en-GB" b="1" dirty="0">
                <a:cs typeface="Arial" panose="020B0604020202020204" pitchFamily="34" charset="0"/>
              </a:rPr>
              <a:t>Acknowledgements</a:t>
            </a:r>
          </a:p>
        </p:txBody>
      </p:sp>
      <p:grpSp>
        <p:nvGrpSpPr>
          <p:cNvPr id="30" name="Grupo 29">
            <a:extLst>
              <a:ext uri="{FF2B5EF4-FFF2-40B4-BE49-F238E27FC236}">
                <a16:creationId xmlns:a16="http://schemas.microsoft.com/office/drawing/2014/main" id="{DB5DE485-D2DB-AB35-0158-29D254314FED}"/>
              </a:ext>
            </a:extLst>
          </p:cNvPr>
          <p:cNvGrpSpPr/>
          <p:nvPr/>
        </p:nvGrpSpPr>
        <p:grpSpPr>
          <a:xfrm>
            <a:off x="1982237" y="4070763"/>
            <a:ext cx="3841298" cy="903751"/>
            <a:chOff x="302284" y="5040495"/>
            <a:chExt cx="2777258" cy="689375"/>
          </a:xfrm>
        </p:grpSpPr>
        <p:pic>
          <p:nvPicPr>
            <p:cNvPr id="5" name="Imagen 4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642849" y="5074732"/>
              <a:ext cx="1436693" cy="655138"/>
            </a:xfrm>
            <a:prstGeom prst="rect">
              <a:avLst/>
            </a:prstGeom>
          </p:spPr>
        </p:pic>
        <p:pic>
          <p:nvPicPr>
            <p:cNvPr id="6" name="Imagen 5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2284" y="5040495"/>
              <a:ext cx="1113720" cy="658951"/>
            </a:xfrm>
            <a:prstGeom prst="rect">
              <a:avLst/>
            </a:prstGeom>
          </p:spPr>
        </p:pic>
      </p:grpSp>
      <p:pic>
        <p:nvPicPr>
          <p:cNvPr id="54" name="Picture 97" descr="Fundación Jiménez Díaz – Zitec Consultores">
            <a:extLst>
              <a:ext uri="{FF2B5EF4-FFF2-40B4-BE49-F238E27FC236}">
                <a16:creationId xmlns:a16="http://schemas.microsoft.com/office/drawing/2014/main" id="{F402961C-50AB-4728-BA45-88D74D90836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7224" b="36665"/>
          <a:stretch/>
        </p:blipFill>
        <p:spPr bwMode="auto">
          <a:xfrm>
            <a:off x="246308" y="6330300"/>
            <a:ext cx="1928125" cy="387254"/>
          </a:xfrm>
          <a:prstGeom prst="rect">
            <a:avLst/>
          </a:prstGeom>
          <a:noFill/>
          <a:ln>
            <a:solidFill>
              <a:schemeClr val="bg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6" name="Picture 42" descr="ModeloAvilés-1999 on Twitter: &quot;millón de personas. También, Adjunct  Associated Professor of Psychiatry en Columbia University (NY, USA). El Dr.  Baca disertará sobre El desafío de la digitalización en la asistencia en  Salud">
            <a:extLst>
              <a:ext uri="{FF2B5EF4-FFF2-40B4-BE49-F238E27FC236}">
                <a16:creationId xmlns:a16="http://schemas.microsoft.com/office/drawing/2014/main" id="{68203F7C-5135-4E47-9924-DB611A1047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9124" y="5080482"/>
            <a:ext cx="1149677" cy="11784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7" name="Google Shape;246;p11">
            <a:extLst>
              <a:ext uri="{FF2B5EF4-FFF2-40B4-BE49-F238E27FC236}">
                <a16:creationId xmlns:a16="http://schemas.microsoft.com/office/drawing/2014/main" id="{1FFB3FC2-95E6-498F-8415-621CAE3F28F2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 l="1357" t="5359" r="809" b="3399"/>
          <a:stretch/>
        </p:blipFill>
        <p:spPr>
          <a:xfrm>
            <a:off x="8875488" y="5770811"/>
            <a:ext cx="3195945" cy="976161"/>
          </a:xfrm>
          <a:prstGeom prst="rect">
            <a:avLst/>
          </a:prstGeom>
          <a:noFill/>
          <a:ln>
            <a:noFill/>
          </a:ln>
        </p:spPr>
      </p:pic>
      <p:pic>
        <p:nvPicPr>
          <p:cNvPr id="59" name="Picture 10" descr="Risultato immagini per I-LINK CSIC">
            <a:extLst>
              <a:ext uri="{FF2B5EF4-FFF2-40B4-BE49-F238E27FC236}">
                <a16:creationId xmlns:a16="http://schemas.microsoft.com/office/drawing/2014/main" id="{00FC947F-E51A-432F-97F5-9D01C9949D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74042" y="5140273"/>
            <a:ext cx="1897391" cy="5523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0" name="Imagen 59">
            <a:extLst>
              <a:ext uri="{FF2B5EF4-FFF2-40B4-BE49-F238E27FC236}">
                <a16:creationId xmlns:a16="http://schemas.microsoft.com/office/drawing/2014/main" id="{B571D6B6-3DBB-4E99-ABD9-2379E1C3B53B}"/>
              </a:ext>
            </a:extLst>
          </p:cNvPr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3756" y="5262298"/>
            <a:ext cx="1503876" cy="430333"/>
          </a:xfrm>
          <a:prstGeom prst="rect">
            <a:avLst/>
          </a:prstGeom>
        </p:spPr>
      </p:pic>
      <p:pic>
        <p:nvPicPr>
          <p:cNvPr id="16" name="Imagen 15">
            <a:extLst>
              <a:ext uri="{FF2B5EF4-FFF2-40B4-BE49-F238E27FC236}">
                <a16:creationId xmlns:a16="http://schemas.microsoft.com/office/drawing/2014/main" id="{AE701BB7-8748-44CE-9F9B-71CCDEDA3F3D}"/>
              </a:ext>
            </a:extLst>
          </p:cNvPr>
          <p:cNvPicPr>
            <a:picLocks noChangeAspect="1"/>
          </p:cNvPicPr>
          <p:nvPr/>
        </p:nvPicPr>
        <p:blipFill rotWithShape="1">
          <a:blip r:embed="rId10"/>
          <a:srcRect l="17362" t="19104" r="17716" b="33007"/>
          <a:stretch/>
        </p:blipFill>
        <p:spPr>
          <a:xfrm>
            <a:off x="530177" y="1053056"/>
            <a:ext cx="5482956" cy="3033316"/>
          </a:xfrm>
          <a:prstGeom prst="rect">
            <a:avLst/>
          </a:prstGeom>
        </p:spPr>
      </p:pic>
      <p:pic>
        <p:nvPicPr>
          <p:cNvPr id="1026" name="Picture 2" descr="School of Medicine (@StAndMedicine) / X"/>
          <p:cNvPicPr>
            <a:picLocks noChangeAspect="1" noChangeArrowheads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298" t="-1" r="26655" b="43935"/>
          <a:stretch/>
        </p:blipFill>
        <p:spPr bwMode="auto">
          <a:xfrm>
            <a:off x="6849869" y="4030531"/>
            <a:ext cx="865142" cy="11535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" name="Picture 2" descr="School of Medicine (@StAndMedicine) / X"/>
          <p:cNvPicPr>
            <a:picLocks noChangeAspect="1" noChangeArrowheads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7083"/>
          <a:stretch/>
        </p:blipFill>
        <p:spPr bwMode="auto">
          <a:xfrm>
            <a:off x="7668145" y="4192672"/>
            <a:ext cx="2256897" cy="9685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Imagen 2"/>
          <p:cNvPicPr>
            <a:picLocks noChangeAspect="1"/>
          </p:cNvPicPr>
          <p:nvPr/>
        </p:nvPicPr>
        <p:blipFill rotWithShape="1"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630" t="37411" r="22935" b="36829"/>
          <a:stretch/>
        </p:blipFill>
        <p:spPr>
          <a:xfrm>
            <a:off x="6575939" y="1016400"/>
            <a:ext cx="4599097" cy="3060937"/>
          </a:xfrm>
          <a:prstGeom prst="rect">
            <a:avLst/>
          </a:prstGeom>
        </p:spPr>
      </p:pic>
      <p:sp>
        <p:nvSpPr>
          <p:cNvPr id="4" name="CuadroTexto 3"/>
          <p:cNvSpPr txBox="1"/>
          <p:nvPr/>
        </p:nvSpPr>
        <p:spPr>
          <a:xfrm>
            <a:off x="2503504" y="5262298"/>
            <a:ext cx="5898186" cy="147732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s-ES" dirty="0" smtClean="0"/>
              <a:t>Espacio extra</a:t>
            </a:r>
          </a:p>
          <a:p>
            <a:endParaRPr lang="es-ES" dirty="0"/>
          </a:p>
          <a:p>
            <a:endParaRPr lang="es-ES" dirty="0" smtClean="0"/>
          </a:p>
          <a:p>
            <a:endParaRPr lang="es-ES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95168504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345</TotalTime>
  <Words>298</Words>
  <Application>Microsoft Office PowerPoint</Application>
  <PresentationFormat>Panorámica</PresentationFormat>
  <Paragraphs>92</Paragraphs>
  <Slides>15</Slides>
  <Notes>2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15</vt:i4>
      </vt:variant>
    </vt:vector>
  </HeadingPairs>
  <TitlesOfParts>
    <vt:vector size="19" baseType="lpstr">
      <vt:lpstr>Arial</vt:lpstr>
      <vt:lpstr>Calibri</vt:lpstr>
      <vt:lpstr>Calibri Light</vt:lpstr>
      <vt:lpstr>Tema de Office</vt:lpstr>
      <vt:lpstr>Atypical handedness as a marker of altered brain lateralization: genetic and clinical study in bipolar disorder</vt:lpstr>
      <vt:lpstr>Bipolar disorder</vt:lpstr>
      <vt:lpstr>Handedness in neurodevelopmental/psychiatric disorders</vt:lpstr>
      <vt:lpstr>Handedness in general population</vt:lpstr>
      <vt:lpstr>Edinburgh Handedness Inventory</vt:lpstr>
      <vt:lpstr>MadManic cohort</vt:lpstr>
      <vt:lpstr>Presentación de PowerPoint</vt:lpstr>
      <vt:lpstr>Presentación de PowerPoint</vt:lpstr>
      <vt:lpstr>NRH in Spanish population</vt:lpstr>
      <vt:lpstr>Demographics and need of age match</vt:lpstr>
      <vt:lpstr>Case-control handedness study</vt:lpstr>
      <vt:lpstr>Within BD</vt:lpstr>
      <vt:lpstr>PRS</vt:lpstr>
      <vt:lpstr>Discussion</vt:lpstr>
      <vt:lpstr>Acknowledgements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Atypical handedness as a marker of altered brain lateralization: genetic and clinical study in bipolar disorder</dc:title>
  <dc:creator>CBM</dc:creator>
  <cp:lastModifiedBy>CBM</cp:lastModifiedBy>
  <cp:revision>27</cp:revision>
  <dcterms:created xsi:type="dcterms:W3CDTF">2026-06-30T10:32:29Z</dcterms:created>
  <dcterms:modified xsi:type="dcterms:W3CDTF">2026-07-30T10:58:56Z</dcterms:modified>
</cp:coreProperties>
</file>