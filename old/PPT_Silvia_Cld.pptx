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70" r:id="rId5"/>
    <p:sldId id="277" r:id="rId6"/>
    <p:sldId id="266" r:id="rId7"/>
    <p:sldId id="278" r:id="rId8"/>
    <p:sldId id="279" r:id="rId9"/>
    <p:sldId id="271" r:id="rId10"/>
    <p:sldId id="272" r:id="rId11"/>
    <p:sldId id="273" r:id="rId12"/>
    <p:sldId id="274" r:id="rId13"/>
    <p:sldId id="275" r:id="rId14"/>
    <p:sldId id="276" r:id="rId15"/>
    <p:sldId id="267" r:id="rId16"/>
    <p:sldId id="268" r:id="rId17"/>
  </p:sldIdLst>
  <p:sldSz cx="12192000" cy="6858000"/>
  <p:notesSz cx="6858000" cy="9144000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5" d="100"/>
          <a:sy n="105" d="100"/>
        </p:scale>
        <p:origin x="79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A72240A-DCD0-1058-A8F7-426194DFB0F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9C130CF8-76DE-29E4-625D-72F42D752F2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9406ADD1-907F-EA71-B954-34AD367943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5359BF-8E6C-4C36-9C95-3C97ED27A0FA}" type="datetimeFigureOut">
              <a:rPr lang="es-ES" smtClean="0"/>
              <a:t>08/05/2026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E949C87E-A69D-5B3A-C27B-B2DBEA82A8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A700ABCB-E85D-9632-00E5-53B0FA2D2C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AF9F8D-9EF1-4050-9564-23A5DF9241F0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1116129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0394DD0-D8E0-3448-6EEA-2060F70C38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AB7E2368-743A-6F6D-1276-FAE39F38BD4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8842D30B-F85F-E2BE-5F92-A9348C482F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5359BF-8E6C-4C36-9C95-3C97ED27A0FA}" type="datetimeFigureOut">
              <a:rPr lang="es-ES" smtClean="0"/>
              <a:t>08/05/2026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14CB5F1C-3367-6EBE-0C0F-2CDEC2691F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1590B80A-CACC-24D8-51EC-5B9B423776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AF9F8D-9EF1-4050-9564-23A5DF9241F0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90915617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8EF1D74-A8AE-DDDB-1BA6-96A7693891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EDBC2F69-10F8-776A-C64E-4BF1AB56147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D4341FA7-6628-298D-EC8C-E7B3138DC4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5359BF-8E6C-4C36-9C95-3C97ED27A0FA}" type="datetimeFigureOut">
              <a:rPr lang="es-ES" smtClean="0"/>
              <a:t>08/05/2026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37521539-3D0C-E0F6-9D62-C7C41F900D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4CAAC9F7-3878-014B-3A67-15C835FB33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AF9F8D-9EF1-4050-9564-23A5DF9241F0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71929518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4AA35C5-D2CC-1B7D-DA44-C3E4DA5C54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34F51A92-7EAB-6E7A-5FF1-8C29B4939CB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515F5A57-8A1C-83B9-5E6F-4BD0FEB66F0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59A360F9-DF72-3C10-1A35-2913CA09C8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5359BF-8E6C-4C36-9C95-3C97ED27A0FA}" type="datetimeFigureOut">
              <a:rPr lang="es-ES" smtClean="0"/>
              <a:t>08/05/2026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83435922-3634-25F5-6C80-5974AB3DB3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F07564A7-C807-6A7A-9F8A-9BFF49A8F9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AF9F8D-9EF1-4050-9564-23A5DF9241F0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56230547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1335EE5-78DF-B8BF-2929-0D6C8953AB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A6EDC35D-ECBD-A4A0-28B5-8B88CBEFA75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1ED6CA15-97E0-249F-4059-56D7F9B7270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F648DBB0-EB75-F880-5EDD-708B430A3B4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CB30D96C-175D-C88D-C128-CB5BAE90EB8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64E6B281-A5A7-B6A7-91E7-9A938F1053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5359BF-8E6C-4C36-9C95-3C97ED27A0FA}" type="datetimeFigureOut">
              <a:rPr lang="es-ES" smtClean="0"/>
              <a:t>08/05/2026</a:t>
            </a:fld>
            <a:endParaRPr lang="es-ES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1A9D8C03-0265-D932-DC8A-1910256F71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2FBEE7C4-F8AC-3313-8FEF-4364B91C8E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AF9F8D-9EF1-4050-9564-23A5DF9241F0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20152054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1AD8B3F-4139-9223-2E14-3B9C19A936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55D75F39-98E6-0907-69BD-A24E6887D5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5359BF-8E6C-4C36-9C95-3C97ED27A0FA}" type="datetimeFigureOut">
              <a:rPr lang="es-ES" smtClean="0"/>
              <a:t>08/05/2026</a:t>
            </a:fld>
            <a:endParaRPr lang="es-ES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87B3D60C-F1CB-9F3B-4A27-F394660D37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3080CF71-78D7-CB3C-4703-AFEF243582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AF9F8D-9EF1-4050-9564-23A5DF9241F0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4655097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BA86F9E5-1136-0071-F817-1BFE4B8FBC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5359BF-8E6C-4C36-9C95-3C97ED27A0FA}" type="datetimeFigureOut">
              <a:rPr lang="es-ES" smtClean="0"/>
              <a:t>08/05/2026</a:t>
            </a:fld>
            <a:endParaRPr lang="es-ES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AEF9B08C-9AE8-AFC6-CB35-A02B6C7A7A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C61C98C6-5911-1002-8072-897ABC7756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AF9F8D-9EF1-4050-9564-23A5DF9241F0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36851711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28FBD86-8921-7486-EEAD-1CBE3CD92C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CF368028-912D-9FC3-7733-C83AF95DF9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3081A31E-05EA-7522-497F-2B36B720B58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E5DE0F7D-4041-34BA-B5DF-BA4B341287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5359BF-8E6C-4C36-9C95-3C97ED27A0FA}" type="datetimeFigureOut">
              <a:rPr lang="es-ES" smtClean="0"/>
              <a:t>08/05/2026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ACB926AD-96A0-A264-E4CC-2669E60803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E33F1C12-BC50-86A0-A27F-EC4FCC0350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AF9F8D-9EF1-4050-9564-23A5DF9241F0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25016179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2BCFAB3-97EF-C640-AF50-FC0FC46804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4646BC32-2284-5CF4-D1B0-64422688EA3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ES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8C17F3C3-B4FE-3345-82EA-405259175D0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44F96CEE-5159-C99E-B86A-7CDAD65CC3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5359BF-8E6C-4C36-9C95-3C97ED27A0FA}" type="datetimeFigureOut">
              <a:rPr lang="es-ES" smtClean="0"/>
              <a:t>08/05/2026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B7BC6303-1FDB-DE10-B8A1-503C2275F8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9E4302C4-9DEA-C20A-6647-3AA067B9D7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AF9F8D-9EF1-4050-9564-23A5DF9241F0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78869490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7D5561E-7188-D93B-8956-F440CAE33C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88B01743-EEB8-590F-1B47-3546CFFE3AF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5C684B19-2DFA-31B0-5198-F16FE5BCC3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5359BF-8E6C-4C36-9C95-3C97ED27A0FA}" type="datetimeFigureOut">
              <a:rPr lang="es-ES" smtClean="0"/>
              <a:t>08/05/2026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0B9FEC40-8416-2B3E-81F6-C33605DC44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7CFA9206-7AC1-A829-DBB5-000308E013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AF9F8D-9EF1-4050-9564-23A5DF9241F0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87837852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3B06F37E-7330-BB6A-9ADA-06F10B89F41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D6EA7193-F474-292B-B52C-517C0F47EE9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01BF9FDF-D171-024E-4749-7BBFEDD76B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5359BF-8E6C-4C36-9C95-3C97ED27A0FA}" type="datetimeFigureOut">
              <a:rPr lang="es-ES" smtClean="0"/>
              <a:t>08/05/2026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0F8F2A16-79D2-8CA5-CED5-89A4D356EA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D154FF4D-DB53-C977-373F-B47D8EE9F6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AF9F8D-9EF1-4050-9564-23A5DF9241F0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27367648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2B5FE1A1-F3E1-0D6B-E135-9F874E8CAD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4F7EB2AF-7494-78B2-C5F2-8C3351367EE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96D44094-1CBC-A41D-1532-EB7164A2766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D5359BF-8E6C-4C36-9C95-3C97ED27A0FA}" type="datetimeFigureOut">
              <a:rPr lang="es-ES" smtClean="0"/>
              <a:t>08/05/2026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C85B5668-3930-4914-0A72-E75098DE43F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1B207713-498C-BD28-E682-2E7C399E23C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7AF9F8D-9EF1-4050-9564-23A5DF9241F0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7165108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9A04ED5-CE49-05FA-F9E3-E3F3FC3580C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s-ES" dirty="0" err="1"/>
              <a:t>Laterality</a:t>
            </a:r>
            <a:r>
              <a:rPr lang="es-ES" dirty="0"/>
              <a:t> Project: </a:t>
            </a:r>
            <a:r>
              <a:rPr lang="es-ES" dirty="0" err="1"/>
              <a:t>updates</a:t>
            </a:r>
            <a:r>
              <a:rPr lang="es-ES" dirty="0"/>
              <a:t> 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79512F9B-311E-7109-88B1-7EA978E70F0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s-ES"/>
              <a:t>8th May </a:t>
            </a:r>
            <a:r>
              <a:rPr lang="es-ES" dirty="0"/>
              <a:t>2026</a:t>
            </a:r>
          </a:p>
        </p:txBody>
      </p:sp>
    </p:spTree>
    <p:extLst>
      <p:ext uri="{BB962C8B-B14F-4D97-AF65-F5344CB8AC3E}">
        <p14:creationId xmlns:p14="http://schemas.microsoft.com/office/powerpoint/2010/main" val="383261757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545E8D2-A245-C51D-AD62-EDADC775D9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 err="1"/>
              <a:t>Prevalence</a:t>
            </a:r>
            <a:r>
              <a:rPr lang="es-ES" dirty="0"/>
              <a:t> </a:t>
            </a:r>
            <a:r>
              <a:rPr lang="es-ES" dirty="0" err="1"/>
              <a:t>comparison</a:t>
            </a:r>
            <a:r>
              <a:rPr lang="es-ES" dirty="0"/>
              <a:t> (preliminar, </a:t>
            </a:r>
            <a:r>
              <a:rPr lang="es-ES" dirty="0" err="1"/>
              <a:t>week</a:t>
            </a:r>
            <a:r>
              <a:rPr lang="es-ES" dirty="0"/>
              <a:t> 1)</a:t>
            </a: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45DE8901-706B-9167-8802-B060C3D88C0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455693"/>
            <a:ext cx="12192000" cy="4014867"/>
          </a:xfrm>
          <a:prstGeom prst="rect">
            <a:avLst/>
          </a:prstGeom>
        </p:spPr>
      </p:pic>
      <p:sp>
        <p:nvSpPr>
          <p:cNvPr id="6" name="CuadroTexto 5">
            <a:extLst>
              <a:ext uri="{FF2B5EF4-FFF2-40B4-BE49-F238E27FC236}">
                <a16:creationId xmlns:a16="http://schemas.microsoft.com/office/drawing/2014/main" id="{01BDBAE7-B36E-E0A3-4926-CAA0DEA0C945}"/>
              </a:ext>
            </a:extLst>
          </p:cNvPr>
          <p:cNvSpPr txBox="1"/>
          <p:nvPr/>
        </p:nvSpPr>
        <p:spPr>
          <a:xfrm>
            <a:off x="201168" y="5504688"/>
            <a:ext cx="208483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/>
              <a:t>RS -&gt; Right Score</a:t>
            </a:r>
          </a:p>
          <a:p>
            <a:r>
              <a:rPr lang="es-ES" dirty="0"/>
              <a:t>LS -&gt; Left Score</a:t>
            </a: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8465FAD8-60B2-590A-0CC6-B1BD085A938B}"/>
              </a:ext>
            </a:extLst>
          </p:cNvPr>
          <p:cNvSpPr txBox="1"/>
          <p:nvPr/>
        </p:nvSpPr>
        <p:spPr>
          <a:xfrm>
            <a:off x="2157984" y="5572943"/>
            <a:ext cx="124358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dirty="0"/>
              <a:t>RS - LS</a:t>
            </a:r>
          </a:p>
          <a:p>
            <a:pPr algn="ctr"/>
            <a:r>
              <a:rPr lang="es-ES" dirty="0"/>
              <a:t>RS + LS</a:t>
            </a:r>
          </a:p>
        </p:txBody>
      </p:sp>
      <p:cxnSp>
        <p:nvCxnSpPr>
          <p:cNvPr id="9" name="Conector recto 8">
            <a:extLst>
              <a:ext uri="{FF2B5EF4-FFF2-40B4-BE49-F238E27FC236}">
                <a16:creationId xmlns:a16="http://schemas.microsoft.com/office/drawing/2014/main" id="{48D290F3-CA0D-928D-CF8A-ACDEBD8FDDD5}"/>
              </a:ext>
            </a:extLst>
          </p:cNvPr>
          <p:cNvCxnSpPr>
            <a:stCxn id="7" idx="1"/>
            <a:endCxn id="7" idx="3"/>
          </p:cNvCxnSpPr>
          <p:nvPr/>
        </p:nvCxnSpPr>
        <p:spPr>
          <a:xfrm>
            <a:off x="2157984" y="5896109"/>
            <a:ext cx="1243584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CuadroTexto 9">
            <a:extLst>
              <a:ext uri="{FF2B5EF4-FFF2-40B4-BE49-F238E27FC236}">
                <a16:creationId xmlns:a16="http://schemas.microsoft.com/office/drawing/2014/main" id="{69C73D34-2327-5348-7D76-5B9AF28EBB0D}"/>
              </a:ext>
            </a:extLst>
          </p:cNvPr>
          <p:cNvSpPr txBox="1"/>
          <p:nvPr/>
        </p:nvSpPr>
        <p:spPr>
          <a:xfrm>
            <a:off x="3474720" y="5705856"/>
            <a:ext cx="9052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/>
              <a:t>= LQ</a:t>
            </a:r>
          </a:p>
        </p:txBody>
      </p:sp>
      <p:cxnSp>
        <p:nvCxnSpPr>
          <p:cNvPr id="4" name="Conector recto de flecha 3">
            <a:extLst>
              <a:ext uri="{FF2B5EF4-FFF2-40B4-BE49-F238E27FC236}">
                <a16:creationId xmlns:a16="http://schemas.microsoft.com/office/drawing/2014/main" id="{2CF2104D-FE3B-1D0B-4025-A5A1BCE0E159}"/>
              </a:ext>
            </a:extLst>
          </p:cNvPr>
          <p:cNvCxnSpPr>
            <a:cxnSpLocks/>
          </p:cNvCxnSpPr>
          <p:nvPr/>
        </p:nvCxnSpPr>
        <p:spPr>
          <a:xfrm flipV="1">
            <a:off x="8997696" y="3611880"/>
            <a:ext cx="0" cy="2284229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CuadroTexto 10">
            <a:extLst>
              <a:ext uri="{FF2B5EF4-FFF2-40B4-BE49-F238E27FC236}">
                <a16:creationId xmlns:a16="http://schemas.microsoft.com/office/drawing/2014/main" id="{94C8E12D-587B-24F8-C955-BA87B6F8733B}"/>
              </a:ext>
            </a:extLst>
          </p:cNvPr>
          <p:cNvSpPr txBox="1"/>
          <p:nvPr/>
        </p:nvSpPr>
        <p:spPr>
          <a:xfrm>
            <a:off x="4754880" y="5989320"/>
            <a:ext cx="743712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 err="1"/>
              <a:t>We</a:t>
            </a:r>
            <a:r>
              <a:rPr lang="es-ES" dirty="0"/>
              <a:t> decide </a:t>
            </a:r>
            <a:r>
              <a:rPr lang="es-ES" dirty="0" err="1"/>
              <a:t>to</a:t>
            </a:r>
            <a:r>
              <a:rPr lang="es-ES" dirty="0"/>
              <a:t> </a:t>
            </a:r>
            <a:r>
              <a:rPr lang="es-ES" dirty="0" err="1"/>
              <a:t>go</a:t>
            </a:r>
            <a:r>
              <a:rPr lang="es-ES" dirty="0"/>
              <a:t> </a:t>
            </a:r>
            <a:r>
              <a:rPr lang="es-ES" dirty="0" err="1"/>
              <a:t>for</a:t>
            </a:r>
            <a:r>
              <a:rPr lang="es-ES" dirty="0"/>
              <a:t> </a:t>
            </a:r>
            <a:r>
              <a:rPr lang="es-ES" dirty="0" err="1"/>
              <a:t>this</a:t>
            </a:r>
            <a:r>
              <a:rPr lang="es-ES" dirty="0"/>
              <a:t> and </a:t>
            </a:r>
            <a:r>
              <a:rPr lang="es-ES" dirty="0" err="1"/>
              <a:t>think</a:t>
            </a:r>
            <a:r>
              <a:rPr lang="es-ES" dirty="0"/>
              <a:t> </a:t>
            </a:r>
            <a:r>
              <a:rPr lang="es-ES" dirty="0" err="1"/>
              <a:t>about</a:t>
            </a:r>
            <a:r>
              <a:rPr lang="es-ES" dirty="0"/>
              <a:t> </a:t>
            </a:r>
            <a:r>
              <a:rPr lang="es-ES" dirty="0" err="1"/>
              <a:t>how</a:t>
            </a:r>
            <a:r>
              <a:rPr lang="es-ES" dirty="0"/>
              <a:t> </a:t>
            </a:r>
            <a:r>
              <a:rPr lang="es-ES" dirty="0" err="1"/>
              <a:t>to</a:t>
            </a:r>
            <a:r>
              <a:rPr lang="es-ES" dirty="0"/>
              <a:t> </a:t>
            </a:r>
            <a:r>
              <a:rPr lang="es-ES" dirty="0" err="1"/>
              <a:t>distinguished</a:t>
            </a:r>
            <a:r>
              <a:rPr lang="es-ES" dirty="0"/>
              <a:t> </a:t>
            </a:r>
            <a:r>
              <a:rPr lang="es-ES" dirty="0" err="1"/>
              <a:t>between</a:t>
            </a:r>
            <a:r>
              <a:rPr lang="es-ES" dirty="0"/>
              <a:t> </a:t>
            </a:r>
            <a:r>
              <a:rPr lang="es-ES" dirty="0" err="1"/>
              <a:t>inconsistent</a:t>
            </a:r>
            <a:r>
              <a:rPr lang="es-ES" dirty="0"/>
              <a:t> </a:t>
            </a:r>
            <a:r>
              <a:rPr lang="es-ES" dirty="0" err="1"/>
              <a:t>hand</a:t>
            </a:r>
            <a:r>
              <a:rPr lang="es-ES" dirty="0"/>
              <a:t> </a:t>
            </a:r>
            <a:r>
              <a:rPr lang="es-ES" dirty="0" err="1"/>
              <a:t>users</a:t>
            </a:r>
            <a:r>
              <a:rPr lang="es-ES" dirty="0"/>
              <a:t> and </a:t>
            </a:r>
            <a:r>
              <a:rPr lang="es-ES" dirty="0" err="1"/>
              <a:t>ambidextrous</a:t>
            </a:r>
            <a:r>
              <a:rPr lang="es-ES" dirty="0"/>
              <a:t> </a:t>
            </a:r>
            <a:r>
              <a:rPr lang="es-ES" dirty="0" err="1"/>
              <a:t>by</a:t>
            </a:r>
            <a:r>
              <a:rPr lang="es-ES" dirty="0"/>
              <a:t> </a:t>
            </a:r>
            <a:r>
              <a:rPr lang="es-ES" dirty="0" err="1"/>
              <a:t>thinking</a:t>
            </a:r>
            <a:r>
              <a:rPr lang="es-ES" dirty="0"/>
              <a:t> </a:t>
            </a:r>
            <a:r>
              <a:rPr lang="es-ES" dirty="0" err="1"/>
              <a:t>another</a:t>
            </a:r>
            <a:r>
              <a:rPr lang="es-ES" dirty="0"/>
              <a:t> </a:t>
            </a:r>
            <a:r>
              <a:rPr lang="es-ES" dirty="0" err="1"/>
              <a:t>approach</a:t>
            </a:r>
            <a:r>
              <a:rPr lang="es-E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52204846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988CFE9-2298-2209-3989-121181027A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04576"/>
            <a:ext cx="10515600" cy="1325563"/>
          </a:xfrm>
        </p:spPr>
        <p:txBody>
          <a:bodyPr/>
          <a:lstStyle/>
          <a:p>
            <a:r>
              <a:rPr lang="es-ES" dirty="0" err="1"/>
              <a:t>Correlation</a:t>
            </a:r>
            <a:r>
              <a:rPr lang="es-ES" dirty="0"/>
              <a:t> EHI </a:t>
            </a:r>
            <a:r>
              <a:rPr lang="es-ES" dirty="0" err="1"/>
              <a:t>items</a:t>
            </a:r>
            <a:endParaRPr lang="es-ES" dirty="0"/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AE6525DF-6C67-2246-A0BF-2FA75753F1AE}"/>
              </a:ext>
            </a:extLst>
          </p:cNvPr>
          <p:cNvSpPr txBox="1"/>
          <p:nvPr/>
        </p:nvSpPr>
        <p:spPr>
          <a:xfrm>
            <a:off x="231647" y="5599906"/>
            <a:ext cx="440740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/>
              <a:t>Item1 -&gt; </a:t>
            </a:r>
            <a:r>
              <a:rPr lang="es-ES" dirty="0" err="1"/>
              <a:t>writing</a:t>
            </a:r>
            <a:r>
              <a:rPr lang="es-ES" dirty="0"/>
              <a:t>; Item2 -&gt; </a:t>
            </a:r>
            <a:r>
              <a:rPr lang="es-ES" dirty="0" err="1"/>
              <a:t>drawing</a:t>
            </a:r>
            <a:r>
              <a:rPr lang="es-ES" dirty="0"/>
              <a:t>.</a:t>
            </a:r>
          </a:p>
          <a:p>
            <a:r>
              <a:rPr lang="es-ES" dirty="0"/>
              <a:t>Less </a:t>
            </a:r>
            <a:r>
              <a:rPr lang="es-ES" dirty="0" err="1"/>
              <a:t>correlated</a:t>
            </a:r>
            <a:r>
              <a:rPr lang="es-ES" dirty="0"/>
              <a:t> -&gt; Item8, </a:t>
            </a:r>
            <a:r>
              <a:rPr lang="es-ES" dirty="0" err="1"/>
              <a:t>upper</a:t>
            </a:r>
            <a:r>
              <a:rPr lang="es-ES" dirty="0"/>
              <a:t> </a:t>
            </a:r>
            <a:r>
              <a:rPr lang="es-ES" dirty="0" err="1"/>
              <a:t>hand</a:t>
            </a:r>
            <a:r>
              <a:rPr lang="es-ES" dirty="0"/>
              <a:t> </a:t>
            </a:r>
            <a:r>
              <a:rPr lang="es-ES" dirty="0" err="1"/>
              <a:t>using</a:t>
            </a:r>
            <a:r>
              <a:rPr lang="es-ES" dirty="0"/>
              <a:t> </a:t>
            </a:r>
            <a:r>
              <a:rPr lang="es-ES" dirty="0" err="1"/>
              <a:t>broom</a:t>
            </a:r>
            <a:r>
              <a:rPr lang="es-ES" dirty="0"/>
              <a:t>.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72078496-12BE-EEEC-C527-6EA9EC2883C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75979" y="74685"/>
            <a:ext cx="1781424" cy="2610214"/>
          </a:xfrm>
          <a:prstGeom prst="rect">
            <a:avLst/>
          </a:prstGeom>
        </p:spPr>
      </p:pic>
      <p:sp>
        <p:nvSpPr>
          <p:cNvPr id="14" name="CuadroTexto 13">
            <a:extLst>
              <a:ext uri="{FF2B5EF4-FFF2-40B4-BE49-F238E27FC236}">
                <a16:creationId xmlns:a16="http://schemas.microsoft.com/office/drawing/2014/main" id="{69071F2E-625E-9EED-A915-20EB6D1B2378}"/>
              </a:ext>
            </a:extLst>
          </p:cNvPr>
          <p:cNvSpPr txBox="1"/>
          <p:nvPr/>
        </p:nvSpPr>
        <p:spPr>
          <a:xfrm>
            <a:off x="5699762" y="5728543"/>
            <a:ext cx="641908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/>
              <a:t>Open box lid </a:t>
            </a:r>
            <a:r>
              <a:rPr lang="es-ES" dirty="0" err="1"/>
              <a:t>presents</a:t>
            </a:r>
            <a:r>
              <a:rPr lang="es-ES" dirty="0"/>
              <a:t> more </a:t>
            </a:r>
            <a:r>
              <a:rPr lang="es-ES" dirty="0" err="1"/>
              <a:t>correlation</a:t>
            </a:r>
            <a:r>
              <a:rPr lang="es-ES" dirty="0"/>
              <a:t> </a:t>
            </a:r>
            <a:r>
              <a:rPr lang="es-ES" dirty="0" err="1"/>
              <a:t>to</a:t>
            </a:r>
            <a:r>
              <a:rPr lang="es-ES" dirty="0"/>
              <a:t> </a:t>
            </a:r>
            <a:r>
              <a:rPr lang="es-ES" dirty="0" err="1"/>
              <a:t>preferred</a:t>
            </a:r>
            <a:r>
              <a:rPr lang="es-ES" dirty="0"/>
              <a:t> </a:t>
            </a:r>
            <a:r>
              <a:rPr lang="es-ES" dirty="0" err="1"/>
              <a:t>foot</a:t>
            </a:r>
            <a:r>
              <a:rPr lang="es-ES" dirty="0"/>
              <a:t> </a:t>
            </a:r>
            <a:r>
              <a:rPr lang="es-ES" dirty="0" err="1"/>
              <a:t>than</a:t>
            </a:r>
            <a:r>
              <a:rPr lang="es-ES" dirty="0"/>
              <a:t> </a:t>
            </a:r>
            <a:r>
              <a:rPr lang="es-ES" dirty="0" err="1"/>
              <a:t>to</a:t>
            </a:r>
            <a:r>
              <a:rPr lang="es-ES" dirty="0"/>
              <a:t> </a:t>
            </a:r>
            <a:r>
              <a:rPr lang="es-ES" dirty="0" err="1"/>
              <a:t>other</a:t>
            </a:r>
            <a:r>
              <a:rPr lang="es-ES" dirty="0"/>
              <a:t> </a:t>
            </a:r>
            <a:r>
              <a:rPr lang="es-ES" dirty="0" err="1"/>
              <a:t>hand</a:t>
            </a:r>
            <a:r>
              <a:rPr lang="es-ES" dirty="0"/>
              <a:t> ítems. </a:t>
            </a:r>
          </a:p>
          <a:p>
            <a:r>
              <a:rPr lang="es-ES" dirty="0" err="1"/>
              <a:t>Preferred</a:t>
            </a:r>
            <a:r>
              <a:rPr lang="es-ES" dirty="0"/>
              <a:t> </a:t>
            </a:r>
            <a:r>
              <a:rPr lang="es-ES" dirty="0" err="1"/>
              <a:t>eye</a:t>
            </a:r>
            <a:r>
              <a:rPr lang="es-ES" dirty="0"/>
              <a:t> has </a:t>
            </a:r>
            <a:r>
              <a:rPr lang="es-ES" dirty="0" err="1"/>
              <a:t>the</a:t>
            </a:r>
            <a:r>
              <a:rPr lang="es-ES" dirty="0"/>
              <a:t> </a:t>
            </a:r>
            <a:r>
              <a:rPr lang="es-ES" dirty="0" err="1"/>
              <a:t>least</a:t>
            </a:r>
            <a:r>
              <a:rPr lang="es-ES" dirty="0"/>
              <a:t> </a:t>
            </a:r>
            <a:r>
              <a:rPr lang="es-ES" dirty="0" err="1"/>
              <a:t>correlation</a:t>
            </a:r>
            <a:r>
              <a:rPr lang="es-ES" dirty="0"/>
              <a:t> </a:t>
            </a:r>
            <a:r>
              <a:rPr lang="es-ES" dirty="0" err="1"/>
              <a:t>to</a:t>
            </a:r>
            <a:r>
              <a:rPr lang="es-ES" dirty="0"/>
              <a:t> </a:t>
            </a:r>
            <a:r>
              <a:rPr lang="es-ES" dirty="0" err="1"/>
              <a:t>the</a:t>
            </a:r>
            <a:r>
              <a:rPr lang="es-ES" dirty="0"/>
              <a:t> </a:t>
            </a:r>
            <a:r>
              <a:rPr lang="es-ES" dirty="0" err="1"/>
              <a:t>rest</a:t>
            </a:r>
            <a:r>
              <a:rPr lang="es-ES" dirty="0"/>
              <a:t> </a:t>
            </a:r>
            <a:r>
              <a:rPr lang="es-ES" dirty="0" err="1"/>
              <a:t>of</a:t>
            </a:r>
            <a:r>
              <a:rPr lang="es-ES" dirty="0"/>
              <a:t> </a:t>
            </a:r>
            <a:r>
              <a:rPr lang="es-ES" dirty="0" err="1"/>
              <a:t>the</a:t>
            </a:r>
            <a:r>
              <a:rPr lang="es-ES" dirty="0"/>
              <a:t> </a:t>
            </a:r>
            <a:r>
              <a:rPr lang="es-ES" dirty="0" err="1"/>
              <a:t>items</a:t>
            </a:r>
            <a:endParaRPr lang="es-ES" dirty="0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5791B2FD-90AE-4BF8-595D-12D27B237A0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1647" y="988157"/>
            <a:ext cx="4572000" cy="4572000"/>
          </a:xfrm>
          <a:prstGeom prst="rect">
            <a:avLst/>
          </a:prstGeom>
        </p:spPr>
      </p:pic>
      <p:pic>
        <p:nvPicPr>
          <p:cNvPr id="8" name="Imagen 7">
            <a:extLst>
              <a:ext uri="{FF2B5EF4-FFF2-40B4-BE49-F238E27FC236}">
                <a16:creationId xmlns:a16="http://schemas.microsoft.com/office/drawing/2014/main" id="{0CD6AC7A-0581-9E16-8F5F-7A7A45DEFCF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01640" y="1027906"/>
            <a:ext cx="4572000" cy="4572000"/>
          </a:xfrm>
          <a:prstGeom prst="rect">
            <a:avLst/>
          </a:prstGeom>
        </p:spPr>
      </p:pic>
      <p:sp>
        <p:nvSpPr>
          <p:cNvPr id="15" name="Rectángulo 14">
            <a:extLst>
              <a:ext uri="{FF2B5EF4-FFF2-40B4-BE49-F238E27FC236}">
                <a16:creationId xmlns:a16="http://schemas.microsoft.com/office/drawing/2014/main" id="{052C92F9-ABA4-338F-58FF-72474A9D4A7C}"/>
              </a:ext>
            </a:extLst>
          </p:cNvPr>
          <p:cNvSpPr/>
          <p:nvPr/>
        </p:nvSpPr>
        <p:spPr>
          <a:xfrm>
            <a:off x="5330952" y="3950208"/>
            <a:ext cx="566928" cy="1243584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34149799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19EC74A-10C8-3502-9458-0ED611DBFA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 err="1"/>
              <a:t>Correlation</a:t>
            </a:r>
            <a:r>
              <a:rPr lang="es-ES" dirty="0"/>
              <a:t> </a:t>
            </a:r>
            <a:r>
              <a:rPr lang="es-ES" dirty="0" err="1"/>
              <a:t>with</a:t>
            </a:r>
            <a:r>
              <a:rPr lang="es-ES" dirty="0"/>
              <a:t> LQ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02BF878C-85F4-A616-AE64-504C88EBABE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4425" y="1580960"/>
            <a:ext cx="4572000" cy="4572000"/>
          </a:xfrm>
          <a:prstGeom prst="rect">
            <a:avLst/>
          </a:prstGeom>
        </p:spPr>
      </p:pic>
      <p:pic>
        <p:nvPicPr>
          <p:cNvPr id="6" name="Imagen 5">
            <a:extLst>
              <a:ext uri="{FF2B5EF4-FFF2-40B4-BE49-F238E27FC236}">
                <a16:creationId xmlns:a16="http://schemas.microsoft.com/office/drawing/2014/main" id="{3816F004-7CB1-7A99-191C-BDDAE28A677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75979" y="74685"/>
            <a:ext cx="1781424" cy="2610214"/>
          </a:xfrm>
          <a:prstGeom prst="rect">
            <a:avLst/>
          </a:prstGeom>
        </p:spPr>
      </p:pic>
      <p:pic>
        <p:nvPicPr>
          <p:cNvPr id="8" name="Imagen 7">
            <a:extLst>
              <a:ext uri="{FF2B5EF4-FFF2-40B4-BE49-F238E27FC236}">
                <a16:creationId xmlns:a16="http://schemas.microsoft.com/office/drawing/2014/main" id="{7B058066-CA88-6396-E516-F74A0CBB8E6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03979" y="1635824"/>
            <a:ext cx="4572000" cy="457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921028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BC807E3-3C9D-F06B-418A-FB8EA4EB0E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ES" sz="4000" dirty="0" err="1"/>
              <a:t>Prevalence</a:t>
            </a:r>
            <a:r>
              <a:rPr lang="es-ES" sz="4000" dirty="0"/>
              <a:t> </a:t>
            </a:r>
            <a:r>
              <a:rPr lang="es-ES" sz="4000" dirty="0" err="1"/>
              <a:t>comparison</a:t>
            </a:r>
            <a:r>
              <a:rPr lang="es-ES" sz="4000" dirty="0"/>
              <a:t> (after 1st </a:t>
            </a:r>
            <a:r>
              <a:rPr lang="es-ES" sz="4000" dirty="0" err="1"/>
              <a:t>lab</a:t>
            </a:r>
            <a:r>
              <a:rPr lang="es-ES" sz="4000" dirty="0"/>
              <a:t> meeting )</a:t>
            </a: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54F4A075-63DA-38B4-0E86-04CC0D3F5A9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1732" y="1494558"/>
            <a:ext cx="11908536" cy="3868883"/>
          </a:xfrm>
          <a:prstGeom prst="rect">
            <a:avLst/>
          </a:prstGeom>
        </p:spPr>
      </p:pic>
      <p:sp>
        <p:nvSpPr>
          <p:cNvPr id="6" name="CuadroTexto 5">
            <a:extLst>
              <a:ext uri="{FF2B5EF4-FFF2-40B4-BE49-F238E27FC236}">
                <a16:creationId xmlns:a16="http://schemas.microsoft.com/office/drawing/2014/main" id="{73736F13-E5BA-73BC-CB69-A355110DCB99}"/>
              </a:ext>
            </a:extLst>
          </p:cNvPr>
          <p:cNvSpPr txBox="1"/>
          <p:nvPr/>
        </p:nvSpPr>
        <p:spPr>
          <a:xfrm>
            <a:off x="2638425" y="5867400"/>
            <a:ext cx="72485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/>
              <a:t>Very, </a:t>
            </a:r>
            <a:r>
              <a:rPr lang="es-ES" dirty="0" err="1"/>
              <a:t>very</a:t>
            </a:r>
            <a:r>
              <a:rPr lang="es-ES" dirty="0"/>
              <a:t> similar</a:t>
            </a:r>
          </a:p>
        </p:txBody>
      </p:sp>
    </p:spTree>
    <p:extLst>
      <p:ext uri="{BB962C8B-B14F-4D97-AF65-F5344CB8AC3E}">
        <p14:creationId xmlns:p14="http://schemas.microsoft.com/office/powerpoint/2010/main" val="6362624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A4E669-1478-CEED-6AEE-DBEB7F2F42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7EDEE69-126B-9402-890C-24E333C9D8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38225" y="1"/>
            <a:ext cx="10515600" cy="819150"/>
          </a:xfrm>
        </p:spPr>
        <p:txBody>
          <a:bodyPr/>
          <a:lstStyle/>
          <a:p>
            <a:r>
              <a:rPr lang="es-ES" dirty="0" err="1"/>
              <a:t>What</a:t>
            </a:r>
            <a:r>
              <a:rPr lang="es-ES" dirty="0"/>
              <a:t> </a:t>
            </a:r>
            <a:r>
              <a:rPr lang="es-ES" dirty="0" err="1"/>
              <a:t>happens</a:t>
            </a:r>
            <a:r>
              <a:rPr lang="es-ES" dirty="0"/>
              <a:t> </a:t>
            </a:r>
            <a:r>
              <a:rPr lang="es-ES" dirty="0" err="1"/>
              <a:t>with</a:t>
            </a:r>
            <a:r>
              <a:rPr lang="es-ES" dirty="0"/>
              <a:t> sex</a:t>
            </a: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7E43E153-5310-56BB-0D03-6C7D0C5D616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8225" y="1051899"/>
            <a:ext cx="9659165" cy="5168362"/>
          </a:xfrm>
          <a:prstGeom prst="rect">
            <a:avLst/>
          </a:prstGeom>
        </p:spPr>
      </p:pic>
      <p:sp>
        <p:nvSpPr>
          <p:cNvPr id="6" name="Elipse 5">
            <a:extLst>
              <a:ext uri="{FF2B5EF4-FFF2-40B4-BE49-F238E27FC236}">
                <a16:creationId xmlns:a16="http://schemas.microsoft.com/office/drawing/2014/main" id="{51614AD5-587E-789C-B36B-48F1348BB2B3}"/>
              </a:ext>
            </a:extLst>
          </p:cNvPr>
          <p:cNvSpPr/>
          <p:nvPr/>
        </p:nvSpPr>
        <p:spPr>
          <a:xfrm>
            <a:off x="800100" y="4762500"/>
            <a:ext cx="2428875" cy="1690509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88DBB865-E19C-1471-A2FB-9BA3B5DB0F46}"/>
              </a:ext>
            </a:extLst>
          </p:cNvPr>
          <p:cNvSpPr txBox="1"/>
          <p:nvPr/>
        </p:nvSpPr>
        <p:spPr>
          <a:xfrm>
            <a:off x="3210331" y="6211668"/>
            <a:ext cx="683854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 err="1"/>
              <a:t>Expected</a:t>
            </a:r>
            <a:r>
              <a:rPr lang="es-ES" dirty="0"/>
              <a:t> </a:t>
            </a:r>
            <a:r>
              <a:rPr lang="es-ES" dirty="0" err="1"/>
              <a:t>diff</a:t>
            </a:r>
            <a:r>
              <a:rPr lang="es-ES" dirty="0"/>
              <a:t> </a:t>
            </a:r>
            <a:r>
              <a:rPr lang="es-ES" dirty="0" err="1"/>
              <a:t>between</a:t>
            </a:r>
            <a:r>
              <a:rPr lang="es-ES" dirty="0"/>
              <a:t> males and </a:t>
            </a:r>
            <a:r>
              <a:rPr lang="es-ES" dirty="0" err="1"/>
              <a:t>females</a:t>
            </a:r>
            <a:r>
              <a:rPr lang="es-ES" dirty="0"/>
              <a:t>. </a:t>
            </a:r>
            <a:r>
              <a:rPr lang="es-ES" dirty="0" err="1"/>
              <a:t>If</a:t>
            </a:r>
            <a:r>
              <a:rPr lang="es-ES" dirty="0"/>
              <a:t> </a:t>
            </a:r>
            <a:r>
              <a:rPr lang="es-ES" dirty="0" err="1"/>
              <a:t>considering</a:t>
            </a:r>
            <a:r>
              <a:rPr lang="es-ES" dirty="0"/>
              <a:t> non-</a:t>
            </a:r>
            <a:r>
              <a:rPr lang="es-ES" dirty="0" err="1"/>
              <a:t>right</a:t>
            </a:r>
            <a:r>
              <a:rPr lang="es-ES" dirty="0"/>
              <a:t>-</a:t>
            </a:r>
            <a:r>
              <a:rPr lang="es-ES" dirty="0" err="1"/>
              <a:t>handedness</a:t>
            </a:r>
            <a:r>
              <a:rPr lang="es-ES" dirty="0"/>
              <a:t> (</a:t>
            </a:r>
            <a:r>
              <a:rPr lang="es-ES" dirty="0" err="1"/>
              <a:t>left+mixed</a:t>
            </a:r>
            <a:r>
              <a:rPr lang="es-ES" dirty="0"/>
              <a:t>) </a:t>
            </a:r>
            <a:r>
              <a:rPr lang="es-ES" dirty="0" err="1"/>
              <a:t>would</a:t>
            </a:r>
            <a:r>
              <a:rPr lang="es-ES" dirty="0"/>
              <a:t> </a:t>
            </a:r>
            <a:r>
              <a:rPr lang="es-ES" dirty="0" err="1"/>
              <a:t>still</a:t>
            </a:r>
            <a:r>
              <a:rPr lang="es-ES" dirty="0"/>
              <a:t> be </a:t>
            </a:r>
            <a:r>
              <a:rPr lang="es-ES" dirty="0" err="1"/>
              <a:t>there</a:t>
            </a: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44562356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C73D13-F5E6-74EF-78D8-8804418279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05CE274-A2A1-8C50-FEF7-FCB965094D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38225" y="1"/>
            <a:ext cx="10515600" cy="819150"/>
          </a:xfrm>
        </p:spPr>
        <p:txBody>
          <a:bodyPr/>
          <a:lstStyle/>
          <a:p>
            <a:r>
              <a:rPr lang="es-ES" dirty="0" err="1"/>
              <a:t>What</a:t>
            </a:r>
            <a:r>
              <a:rPr lang="es-ES" dirty="0"/>
              <a:t> </a:t>
            </a:r>
            <a:r>
              <a:rPr lang="es-ES" dirty="0" err="1"/>
              <a:t>happens</a:t>
            </a:r>
            <a:r>
              <a:rPr lang="es-ES" dirty="0"/>
              <a:t> </a:t>
            </a:r>
            <a:r>
              <a:rPr lang="es-ES" dirty="0" err="1"/>
              <a:t>with</a:t>
            </a:r>
            <a:r>
              <a:rPr lang="es-ES" dirty="0"/>
              <a:t> sex</a:t>
            </a: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7ED23ADE-97CC-1A1C-8FA7-1E05655E0AE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8225" y="1051899"/>
            <a:ext cx="9659165" cy="5168362"/>
          </a:xfrm>
          <a:prstGeom prst="rect">
            <a:avLst/>
          </a:prstGeom>
        </p:spPr>
      </p:pic>
      <p:sp>
        <p:nvSpPr>
          <p:cNvPr id="6" name="Elipse 5">
            <a:extLst>
              <a:ext uri="{FF2B5EF4-FFF2-40B4-BE49-F238E27FC236}">
                <a16:creationId xmlns:a16="http://schemas.microsoft.com/office/drawing/2014/main" id="{49F2C07E-B830-ED41-C7A8-24A44A918C1F}"/>
              </a:ext>
            </a:extLst>
          </p:cNvPr>
          <p:cNvSpPr/>
          <p:nvPr/>
        </p:nvSpPr>
        <p:spPr>
          <a:xfrm>
            <a:off x="3590925" y="4657725"/>
            <a:ext cx="2428875" cy="1690509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C750EB17-D696-A8D5-7D80-11BDB85EA69E}"/>
              </a:ext>
            </a:extLst>
          </p:cNvPr>
          <p:cNvSpPr txBox="1"/>
          <p:nvPr/>
        </p:nvSpPr>
        <p:spPr>
          <a:xfrm>
            <a:off x="5058181" y="6348234"/>
            <a:ext cx="68385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/>
              <a:t>No </a:t>
            </a:r>
            <a:r>
              <a:rPr lang="es-ES" dirty="0" err="1"/>
              <a:t>differences</a:t>
            </a:r>
            <a:r>
              <a:rPr lang="es-ES" dirty="0"/>
              <a:t> </a:t>
            </a:r>
            <a:r>
              <a:rPr lang="es-ES" dirty="0" err="1"/>
              <a:t>between</a:t>
            </a:r>
            <a:r>
              <a:rPr lang="es-ES" dirty="0"/>
              <a:t> males and </a:t>
            </a:r>
            <a:r>
              <a:rPr lang="es-ES" dirty="0" err="1"/>
              <a:t>females</a:t>
            </a:r>
            <a:r>
              <a:rPr lang="es-ES" dirty="0"/>
              <a:t> in BD</a:t>
            </a:r>
          </a:p>
        </p:txBody>
      </p:sp>
    </p:spTree>
    <p:extLst>
      <p:ext uri="{BB962C8B-B14F-4D97-AF65-F5344CB8AC3E}">
        <p14:creationId xmlns:p14="http://schemas.microsoft.com/office/powerpoint/2010/main" val="241648883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45E69E-D6D1-4AD3-06B5-5B6A8EB08D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D33C474-2D67-9B56-502E-CB96091AC8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38225" y="1"/>
            <a:ext cx="10515600" cy="819150"/>
          </a:xfrm>
        </p:spPr>
        <p:txBody>
          <a:bodyPr/>
          <a:lstStyle/>
          <a:p>
            <a:r>
              <a:rPr lang="es-ES" dirty="0" err="1"/>
              <a:t>What</a:t>
            </a:r>
            <a:r>
              <a:rPr lang="es-ES" dirty="0"/>
              <a:t> </a:t>
            </a:r>
            <a:r>
              <a:rPr lang="es-ES" dirty="0" err="1"/>
              <a:t>happens</a:t>
            </a:r>
            <a:r>
              <a:rPr lang="es-ES" dirty="0"/>
              <a:t> </a:t>
            </a:r>
            <a:r>
              <a:rPr lang="es-ES" dirty="0" err="1"/>
              <a:t>with</a:t>
            </a:r>
            <a:r>
              <a:rPr lang="es-ES" dirty="0"/>
              <a:t> sex</a:t>
            </a: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6B11D5FD-2E80-9ACA-B59D-3C7320B87C0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8225" y="1051899"/>
            <a:ext cx="9659165" cy="5168362"/>
          </a:xfrm>
          <a:prstGeom prst="rect">
            <a:avLst/>
          </a:prstGeom>
        </p:spPr>
      </p:pic>
      <p:sp>
        <p:nvSpPr>
          <p:cNvPr id="6" name="Elipse 5">
            <a:extLst>
              <a:ext uri="{FF2B5EF4-FFF2-40B4-BE49-F238E27FC236}">
                <a16:creationId xmlns:a16="http://schemas.microsoft.com/office/drawing/2014/main" id="{165A52C4-A52F-14F9-439C-0AF41AC8DAFB}"/>
              </a:ext>
            </a:extLst>
          </p:cNvPr>
          <p:cNvSpPr/>
          <p:nvPr/>
        </p:nvSpPr>
        <p:spPr>
          <a:xfrm>
            <a:off x="8867775" y="1047929"/>
            <a:ext cx="2428875" cy="3990796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A89E7F36-A2C7-9150-B682-F0852D91DB55}"/>
              </a:ext>
            </a:extLst>
          </p:cNvPr>
          <p:cNvSpPr txBox="1"/>
          <p:nvPr/>
        </p:nvSpPr>
        <p:spPr>
          <a:xfrm>
            <a:off x="8496301" y="5267503"/>
            <a:ext cx="364807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/>
              <a:t>More </a:t>
            </a:r>
            <a:r>
              <a:rPr lang="es-ES" dirty="0" err="1"/>
              <a:t>differences</a:t>
            </a:r>
            <a:r>
              <a:rPr lang="es-ES" dirty="0"/>
              <a:t> in </a:t>
            </a:r>
            <a:r>
              <a:rPr lang="es-ES" dirty="0" err="1"/>
              <a:t>mixed</a:t>
            </a:r>
            <a:r>
              <a:rPr lang="es-ES" dirty="0"/>
              <a:t> </a:t>
            </a:r>
            <a:r>
              <a:rPr lang="es-ES" dirty="0" err="1"/>
              <a:t>handedness</a:t>
            </a:r>
            <a:r>
              <a:rPr lang="es-ES" dirty="0"/>
              <a:t> in males </a:t>
            </a:r>
            <a:r>
              <a:rPr lang="es-ES" dirty="0" err="1"/>
              <a:t>when</a:t>
            </a:r>
            <a:r>
              <a:rPr lang="es-ES" dirty="0"/>
              <a:t> </a:t>
            </a:r>
            <a:r>
              <a:rPr lang="es-ES" dirty="0" err="1"/>
              <a:t>comparing</a:t>
            </a:r>
            <a:r>
              <a:rPr lang="es-ES" dirty="0"/>
              <a:t> BD and </a:t>
            </a:r>
            <a:r>
              <a:rPr lang="es-ES" dirty="0" err="1"/>
              <a:t>controls</a:t>
            </a:r>
            <a:r>
              <a:rPr lang="es-ES" dirty="0"/>
              <a:t>, </a:t>
            </a:r>
            <a:r>
              <a:rPr lang="es-ES" dirty="0" err="1"/>
              <a:t>but</a:t>
            </a:r>
            <a:r>
              <a:rPr lang="es-ES" dirty="0"/>
              <a:t> </a:t>
            </a:r>
            <a:r>
              <a:rPr lang="es-ES" dirty="0" err="1"/>
              <a:t>still</a:t>
            </a:r>
            <a:r>
              <a:rPr lang="es-ES" dirty="0"/>
              <a:t> </a:t>
            </a:r>
            <a:r>
              <a:rPr lang="es-ES" dirty="0" err="1"/>
              <a:t>some</a:t>
            </a:r>
            <a:r>
              <a:rPr lang="es-ES" dirty="0"/>
              <a:t> in </a:t>
            </a:r>
            <a:r>
              <a:rPr lang="es-ES" dirty="0" err="1"/>
              <a:t>females</a:t>
            </a: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91188124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12B7AEC-912E-E537-49CF-8AB9562C28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 err="1"/>
              <a:t>Integrating</a:t>
            </a:r>
            <a:r>
              <a:rPr lang="es-ES" dirty="0"/>
              <a:t> </a:t>
            </a:r>
            <a:r>
              <a:rPr lang="es-ES" dirty="0" err="1"/>
              <a:t>age</a:t>
            </a:r>
            <a:endParaRPr lang="es-ES" dirty="0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B5195715-B22A-C533-80D7-65A0F98881C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4337" y="1408703"/>
            <a:ext cx="4572000" cy="4572000"/>
          </a:xfrm>
          <a:prstGeom prst="rect">
            <a:avLst/>
          </a:prstGeom>
        </p:spPr>
      </p:pic>
      <p:sp>
        <p:nvSpPr>
          <p:cNvPr id="6" name="CuadroTexto 5">
            <a:extLst>
              <a:ext uri="{FF2B5EF4-FFF2-40B4-BE49-F238E27FC236}">
                <a16:creationId xmlns:a16="http://schemas.microsoft.com/office/drawing/2014/main" id="{DC4DEDBA-266C-01CA-C825-0FCF0A413E91}"/>
              </a:ext>
            </a:extLst>
          </p:cNvPr>
          <p:cNvSpPr txBox="1"/>
          <p:nvPr/>
        </p:nvSpPr>
        <p:spPr>
          <a:xfrm>
            <a:off x="4600575" y="800675"/>
            <a:ext cx="44196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/>
              <a:t>Wild </a:t>
            </a:r>
            <a:r>
              <a:rPr lang="es-ES" dirty="0" err="1"/>
              <a:t>difference</a:t>
            </a:r>
            <a:r>
              <a:rPr lang="es-ES" dirty="0"/>
              <a:t> in </a:t>
            </a:r>
            <a:r>
              <a:rPr lang="es-ES" dirty="0" err="1"/>
              <a:t>age</a:t>
            </a:r>
            <a:r>
              <a:rPr lang="es-ES" dirty="0"/>
              <a:t> </a:t>
            </a:r>
            <a:r>
              <a:rPr lang="es-ES" dirty="0" err="1"/>
              <a:t>distribution</a:t>
            </a:r>
            <a:r>
              <a:rPr lang="es-ES" dirty="0"/>
              <a:t> </a:t>
            </a:r>
            <a:r>
              <a:rPr lang="es-ES" dirty="0" err="1"/>
              <a:t>between</a:t>
            </a:r>
            <a:r>
              <a:rPr lang="es-ES" dirty="0"/>
              <a:t> cases and </a:t>
            </a:r>
            <a:r>
              <a:rPr lang="es-ES" dirty="0" err="1"/>
              <a:t>controls</a:t>
            </a:r>
            <a:r>
              <a:rPr lang="es-ES" dirty="0"/>
              <a:t>.</a:t>
            </a:r>
          </a:p>
        </p:txBody>
      </p:sp>
      <p:pic>
        <p:nvPicPr>
          <p:cNvPr id="8" name="Imagen 7">
            <a:extLst>
              <a:ext uri="{FF2B5EF4-FFF2-40B4-BE49-F238E27FC236}">
                <a16:creationId xmlns:a16="http://schemas.microsoft.com/office/drawing/2014/main" id="{774BE5A2-54E1-008F-D2E2-E5167E1A892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81800" y="1447006"/>
            <a:ext cx="4572000" cy="4572000"/>
          </a:xfrm>
          <a:prstGeom prst="rect">
            <a:avLst/>
          </a:prstGeom>
        </p:spPr>
      </p:pic>
      <p:sp>
        <p:nvSpPr>
          <p:cNvPr id="9" name="Flecha: a la derecha 8">
            <a:extLst>
              <a:ext uri="{FF2B5EF4-FFF2-40B4-BE49-F238E27FC236}">
                <a16:creationId xmlns:a16="http://schemas.microsoft.com/office/drawing/2014/main" id="{658A29A5-CAC4-1790-15E0-F363957C8876}"/>
              </a:ext>
            </a:extLst>
          </p:cNvPr>
          <p:cNvSpPr/>
          <p:nvPr/>
        </p:nvSpPr>
        <p:spPr>
          <a:xfrm>
            <a:off x="5067300" y="4381500"/>
            <a:ext cx="1628775" cy="13335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E7BEC117-03FE-FEDE-2893-7D8BCD55977F}"/>
              </a:ext>
            </a:extLst>
          </p:cNvPr>
          <p:cNvSpPr txBox="1"/>
          <p:nvPr/>
        </p:nvSpPr>
        <p:spPr>
          <a:xfrm>
            <a:off x="114300" y="5808479"/>
            <a:ext cx="34956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/>
              <a:t>436 BD, 1,493 </a:t>
            </a:r>
            <a:r>
              <a:rPr lang="es-ES" dirty="0" err="1"/>
              <a:t>controls</a:t>
            </a:r>
            <a:endParaRPr lang="es-ES" dirty="0"/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78550E95-A3C5-0E2F-406C-F3B826B19225}"/>
              </a:ext>
            </a:extLst>
          </p:cNvPr>
          <p:cNvSpPr txBox="1"/>
          <p:nvPr/>
        </p:nvSpPr>
        <p:spPr>
          <a:xfrm>
            <a:off x="6848285" y="6094202"/>
            <a:ext cx="34956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/>
              <a:t>433 BD, 433 </a:t>
            </a:r>
            <a:r>
              <a:rPr lang="es-ES" dirty="0" err="1"/>
              <a:t>controls</a:t>
            </a:r>
            <a:endParaRPr lang="es-ES" dirty="0"/>
          </a:p>
        </p:txBody>
      </p:sp>
      <p:pic>
        <p:nvPicPr>
          <p:cNvPr id="13" name="Imagen 12">
            <a:extLst>
              <a:ext uri="{FF2B5EF4-FFF2-40B4-BE49-F238E27FC236}">
                <a16:creationId xmlns:a16="http://schemas.microsoft.com/office/drawing/2014/main" id="{2F465F3F-A552-3C79-0A04-D6BCD2636E3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62873" y="5850520"/>
            <a:ext cx="2715004" cy="800212"/>
          </a:xfrm>
          <a:prstGeom prst="rect">
            <a:avLst/>
          </a:prstGeom>
        </p:spPr>
      </p:pic>
      <p:pic>
        <p:nvPicPr>
          <p:cNvPr id="15" name="Imagen 14">
            <a:extLst>
              <a:ext uri="{FF2B5EF4-FFF2-40B4-BE49-F238E27FC236}">
                <a16:creationId xmlns:a16="http://schemas.microsoft.com/office/drawing/2014/main" id="{8C1A78F7-817A-9690-396C-1EE16677B88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175793" y="6152927"/>
            <a:ext cx="2743583" cy="6477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540771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8F04E80-F3F9-B73D-F4D7-21B314FC80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LQ </a:t>
            </a:r>
            <a:r>
              <a:rPr lang="es-ES" dirty="0" err="1"/>
              <a:t>dist</a:t>
            </a:r>
            <a:r>
              <a:rPr lang="es-ES" dirty="0"/>
              <a:t> in </a:t>
            </a:r>
            <a:r>
              <a:rPr lang="es-ES" dirty="0" err="1"/>
              <a:t>all</a:t>
            </a:r>
            <a:endParaRPr lang="es-ES" dirty="0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49A1E4D9-82F2-67CA-E789-8EF1CBE0B93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1816" y="1926554"/>
            <a:ext cx="5719360" cy="4239465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1E0556F5-2FE0-7200-2248-ED34C79BF9E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49453" y="1836019"/>
            <a:ext cx="4572000" cy="4572000"/>
          </a:xfrm>
          <a:prstGeom prst="rect">
            <a:avLst/>
          </a:prstGeom>
        </p:spPr>
      </p:pic>
      <p:sp>
        <p:nvSpPr>
          <p:cNvPr id="8" name="CuadroTexto 7">
            <a:extLst>
              <a:ext uri="{FF2B5EF4-FFF2-40B4-BE49-F238E27FC236}">
                <a16:creationId xmlns:a16="http://schemas.microsoft.com/office/drawing/2014/main" id="{0D781989-FD45-6309-49DC-7AF3E6560E2C}"/>
              </a:ext>
            </a:extLst>
          </p:cNvPr>
          <p:cNvSpPr txBox="1"/>
          <p:nvPr/>
        </p:nvSpPr>
        <p:spPr>
          <a:xfrm>
            <a:off x="1886552" y="6362299"/>
            <a:ext cx="339771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/>
              <a:t>Unbalanced</a:t>
            </a: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A03924BC-8173-6F02-DEAB-71264667233F}"/>
              </a:ext>
            </a:extLst>
          </p:cNvPr>
          <p:cNvSpPr txBox="1"/>
          <p:nvPr/>
        </p:nvSpPr>
        <p:spPr>
          <a:xfrm>
            <a:off x="7823736" y="6376737"/>
            <a:ext cx="339771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 err="1"/>
              <a:t>Balanced</a:t>
            </a: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75840758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3CD659E-4D6D-4319-DE56-24895C13FF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0941" y="98976"/>
            <a:ext cx="10515600" cy="1325563"/>
          </a:xfrm>
        </p:spPr>
        <p:txBody>
          <a:bodyPr/>
          <a:lstStyle/>
          <a:p>
            <a:r>
              <a:rPr lang="es-ES" dirty="0"/>
              <a:t>LQ </a:t>
            </a:r>
            <a:r>
              <a:rPr lang="es-ES" dirty="0" err="1"/>
              <a:t>dist</a:t>
            </a:r>
            <a:r>
              <a:rPr lang="es-ES" dirty="0"/>
              <a:t> </a:t>
            </a:r>
            <a:r>
              <a:rPr lang="es-ES" dirty="0" err="1"/>
              <a:t>by</a:t>
            </a:r>
            <a:r>
              <a:rPr lang="es-ES" dirty="0"/>
              <a:t> BD</a:t>
            </a: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A5BE3DDE-1516-F1DC-A3B3-013F6562360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61605" y="842845"/>
            <a:ext cx="5519454" cy="5519454"/>
          </a:xfrm>
          <a:prstGeom prst="rect">
            <a:avLst/>
          </a:prstGeom>
        </p:spPr>
      </p:pic>
      <p:pic>
        <p:nvPicPr>
          <p:cNvPr id="9" name="Imagen 8">
            <a:extLst>
              <a:ext uri="{FF2B5EF4-FFF2-40B4-BE49-F238E27FC236}">
                <a16:creationId xmlns:a16="http://schemas.microsoft.com/office/drawing/2014/main" id="{E22F7A77-99D9-E860-9CE6-F671DC6FBD2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2740" y="1086211"/>
            <a:ext cx="5358865" cy="5358865"/>
          </a:xfrm>
          <a:prstGeom prst="rect">
            <a:avLst/>
          </a:prstGeom>
        </p:spPr>
      </p:pic>
      <p:sp>
        <p:nvSpPr>
          <p:cNvPr id="10" name="CuadroTexto 9">
            <a:extLst>
              <a:ext uri="{FF2B5EF4-FFF2-40B4-BE49-F238E27FC236}">
                <a16:creationId xmlns:a16="http://schemas.microsoft.com/office/drawing/2014/main" id="{8E8C694F-E9D5-BD4B-87DA-95624DCA1E31}"/>
              </a:ext>
            </a:extLst>
          </p:cNvPr>
          <p:cNvSpPr txBox="1"/>
          <p:nvPr/>
        </p:nvSpPr>
        <p:spPr>
          <a:xfrm>
            <a:off x="1886552" y="6362299"/>
            <a:ext cx="339771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/>
              <a:t>Unbalanced</a:t>
            </a:r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3B5EC3C7-77FD-989B-6C20-47600771EABE}"/>
              </a:ext>
            </a:extLst>
          </p:cNvPr>
          <p:cNvSpPr txBox="1"/>
          <p:nvPr/>
        </p:nvSpPr>
        <p:spPr>
          <a:xfrm>
            <a:off x="7823736" y="6376737"/>
            <a:ext cx="339771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 err="1"/>
              <a:t>Balanced</a:t>
            </a: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01949670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B19C4AF-152C-E324-FA93-775F22161D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 err="1"/>
              <a:t>Comparison</a:t>
            </a:r>
            <a:r>
              <a:rPr lang="es-ES" dirty="0"/>
              <a:t> </a:t>
            </a:r>
            <a:r>
              <a:rPr lang="es-ES" dirty="0" err="1"/>
              <a:t>with</a:t>
            </a:r>
            <a:r>
              <a:rPr lang="es-ES" dirty="0"/>
              <a:t> </a:t>
            </a:r>
            <a:r>
              <a:rPr lang="es-ES" dirty="0" err="1"/>
              <a:t>previous</a:t>
            </a:r>
            <a:r>
              <a:rPr lang="es-ES" dirty="0"/>
              <a:t> data</a:t>
            </a: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8C68EE68-FE74-155D-F181-A34970365FD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333562"/>
            <a:ext cx="10067544" cy="5159313"/>
          </a:xfrm>
          <a:prstGeom prst="rect">
            <a:avLst/>
          </a:prstGeom>
        </p:spPr>
      </p:pic>
      <p:sp>
        <p:nvSpPr>
          <p:cNvPr id="6" name="CuadroTexto 5">
            <a:extLst>
              <a:ext uri="{FF2B5EF4-FFF2-40B4-BE49-F238E27FC236}">
                <a16:creationId xmlns:a16="http://schemas.microsoft.com/office/drawing/2014/main" id="{D55E2213-9BEA-7974-7184-48D946B3C2DF}"/>
              </a:ext>
            </a:extLst>
          </p:cNvPr>
          <p:cNvSpPr txBox="1"/>
          <p:nvPr/>
        </p:nvSpPr>
        <p:spPr>
          <a:xfrm>
            <a:off x="10250424" y="741412"/>
            <a:ext cx="1572768" cy="56323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 err="1"/>
              <a:t>There</a:t>
            </a:r>
            <a:r>
              <a:rPr lang="es-ES" dirty="0"/>
              <a:t> </a:t>
            </a:r>
            <a:r>
              <a:rPr lang="es-ES" dirty="0" err="1"/>
              <a:t>is</a:t>
            </a:r>
            <a:r>
              <a:rPr lang="es-ES" dirty="0"/>
              <a:t> more </a:t>
            </a:r>
            <a:r>
              <a:rPr lang="es-ES" dirty="0" err="1"/>
              <a:t>mixed</a:t>
            </a:r>
            <a:r>
              <a:rPr lang="es-ES" dirty="0"/>
              <a:t> </a:t>
            </a:r>
            <a:r>
              <a:rPr lang="es-ES" dirty="0" err="1"/>
              <a:t>handedness</a:t>
            </a:r>
            <a:r>
              <a:rPr lang="es-ES" dirty="0"/>
              <a:t> </a:t>
            </a:r>
            <a:r>
              <a:rPr lang="es-ES" dirty="0" err="1"/>
              <a:t>among</a:t>
            </a:r>
            <a:r>
              <a:rPr lang="es-ES" dirty="0"/>
              <a:t> </a:t>
            </a:r>
            <a:r>
              <a:rPr lang="es-ES" dirty="0" err="1"/>
              <a:t>younger</a:t>
            </a:r>
            <a:r>
              <a:rPr lang="es-ES" dirty="0"/>
              <a:t> </a:t>
            </a:r>
            <a:r>
              <a:rPr lang="es-ES" dirty="0" err="1"/>
              <a:t>people</a:t>
            </a:r>
            <a:r>
              <a:rPr lang="es-ES" dirty="0"/>
              <a:t>.</a:t>
            </a:r>
          </a:p>
          <a:p>
            <a:endParaRPr lang="es-ES" dirty="0"/>
          </a:p>
          <a:p>
            <a:r>
              <a:rPr lang="es-ES" dirty="0"/>
              <a:t>Proper </a:t>
            </a:r>
            <a:r>
              <a:rPr lang="es-ES" dirty="0" err="1"/>
              <a:t>effect</a:t>
            </a:r>
            <a:r>
              <a:rPr lang="es-ES" dirty="0"/>
              <a:t> </a:t>
            </a:r>
            <a:r>
              <a:rPr lang="es-ES" dirty="0" err="1"/>
              <a:t>should</a:t>
            </a:r>
            <a:r>
              <a:rPr lang="es-ES" dirty="0"/>
              <a:t> be </a:t>
            </a:r>
            <a:r>
              <a:rPr lang="es-ES" dirty="0" err="1"/>
              <a:t>calculated</a:t>
            </a:r>
            <a:r>
              <a:rPr lang="es-ES" dirty="0"/>
              <a:t> </a:t>
            </a:r>
            <a:r>
              <a:rPr lang="es-ES" dirty="0" err="1"/>
              <a:t>over</a:t>
            </a:r>
            <a:r>
              <a:rPr lang="es-ES" dirty="0"/>
              <a:t> </a:t>
            </a:r>
            <a:r>
              <a:rPr lang="es-ES" dirty="0" err="1"/>
              <a:t>oldies</a:t>
            </a:r>
            <a:r>
              <a:rPr lang="es-ES" dirty="0"/>
              <a:t> vs </a:t>
            </a:r>
            <a:r>
              <a:rPr lang="es-ES" dirty="0" err="1"/>
              <a:t>youngies</a:t>
            </a:r>
            <a:r>
              <a:rPr lang="es-ES" dirty="0"/>
              <a:t>. In </a:t>
            </a:r>
            <a:r>
              <a:rPr lang="es-ES" dirty="0" err="1"/>
              <a:t>this</a:t>
            </a:r>
            <a:r>
              <a:rPr lang="es-ES" dirty="0"/>
              <a:t> cases, </a:t>
            </a:r>
            <a:r>
              <a:rPr lang="es-ES" dirty="0" err="1"/>
              <a:t>the</a:t>
            </a:r>
            <a:r>
              <a:rPr lang="es-ES" dirty="0"/>
              <a:t> </a:t>
            </a:r>
            <a:r>
              <a:rPr lang="es-ES" dirty="0" err="1"/>
              <a:t>comparison</a:t>
            </a:r>
            <a:r>
              <a:rPr lang="es-ES" dirty="0"/>
              <a:t> </a:t>
            </a:r>
            <a:r>
              <a:rPr lang="es-ES" dirty="0" err="1"/>
              <a:t>is</a:t>
            </a:r>
            <a:r>
              <a:rPr lang="es-ES" dirty="0"/>
              <a:t> </a:t>
            </a:r>
            <a:r>
              <a:rPr lang="es-ES" dirty="0" err="1"/>
              <a:t>oldies</a:t>
            </a:r>
            <a:r>
              <a:rPr lang="es-ES" dirty="0"/>
              <a:t> vs </a:t>
            </a:r>
            <a:r>
              <a:rPr lang="es-ES" dirty="0" err="1"/>
              <a:t>all</a:t>
            </a:r>
            <a:r>
              <a:rPr lang="es-ES" dirty="0"/>
              <a:t> </a:t>
            </a:r>
            <a:r>
              <a:rPr lang="es-ES" dirty="0" err="1"/>
              <a:t>sample</a:t>
            </a:r>
            <a:r>
              <a:rPr lang="es-ES" dirty="0"/>
              <a:t>, </a:t>
            </a:r>
            <a:r>
              <a:rPr lang="es-ES" dirty="0" err="1"/>
              <a:t>which</a:t>
            </a:r>
            <a:r>
              <a:rPr lang="es-ES" dirty="0"/>
              <a:t> </a:t>
            </a:r>
            <a:r>
              <a:rPr lang="es-ES" dirty="0" err="1"/>
              <a:t>is</a:t>
            </a:r>
            <a:r>
              <a:rPr lang="es-ES" dirty="0"/>
              <a:t> </a:t>
            </a:r>
            <a:r>
              <a:rPr lang="es-ES" dirty="0" err="1"/>
              <a:t>not</a:t>
            </a:r>
            <a:r>
              <a:rPr lang="es-ES" dirty="0"/>
              <a:t> </a:t>
            </a:r>
            <a:r>
              <a:rPr lang="es-ES" dirty="0" err="1"/>
              <a:t>correct</a:t>
            </a:r>
            <a:r>
              <a:rPr lang="es-ES" dirty="0"/>
              <a:t> </a:t>
            </a:r>
            <a:r>
              <a:rPr lang="es-ES" dirty="0" err="1"/>
              <a:t>for</a:t>
            </a:r>
            <a:r>
              <a:rPr lang="es-ES" dirty="0"/>
              <a:t> </a:t>
            </a:r>
            <a:r>
              <a:rPr lang="es-ES" dirty="0" err="1"/>
              <a:t>sharing</a:t>
            </a: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27187001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03C7790-A3B2-1E22-6428-4C9C535E54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 err="1"/>
              <a:t>Stratification</a:t>
            </a:r>
            <a:r>
              <a:rPr lang="es-ES" dirty="0"/>
              <a:t> </a:t>
            </a:r>
            <a:r>
              <a:rPr lang="es-ES" dirty="0" err="1"/>
              <a:t>by</a:t>
            </a:r>
            <a:r>
              <a:rPr lang="es-ES" dirty="0"/>
              <a:t> sex</a:t>
            </a:r>
          </a:p>
        </p:txBody>
      </p:sp>
      <p:pic>
        <p:nvPicPr>
          <p:cNvPr id="5" name="Marcador de contenido 4">
            <a:extLst>
              <a:ext uri="{FF2B5EF4-FFF2-40B4-BE49-F238E27FC236}">
                <a16:creationId xmlns:a16="http://schemas.microsoft.com/office/drawing/2014/main" id="{EAA4F788-C4FF-3329-B76F-874AA9A4AB0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9065" y="1533016"/>
            <a:ext cx="9535964" cy="5078095"/>
          </a:xfrm>
          <a:prstGeom prst="rect">
            <a:avLst/>
          </a:prstGeom>
        </p:spPr>
      </p:pic>
      <p:sp>
        <p:nvSpPr>
          <p:cNvPr id="6" name="CuadroTexto 5">
            <a:extLst>
              <a:ext uri="{FF2B5EF4-FFF2-40B4-BE49-F238E27FC236}">
                <a16:creationId xmlns:a16="http://schemas.microsoft.com/office/drawing/2014/main" id="{DAEB5D03-6182-D0DA-E2CD-6B69A34245A6}"/>
              </a:ext>
            </a:extLst>
          </p:cNvPr>
          <p:cNvSpPr txBox="1"/>
          <p:nvPr/>
        </p:nvSpPr>
        <p:spPr>
          <a:xfrm>
            <a:off x="10213848" y="777240"/>
            <a:ext cx="1609344" cy="56323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/>
              <a:t>Similar </a:t>
            </a:r>
            <a:r>
              <a:rPr lang="es-ES" dirty="0" err="1"/>
              <a:t>patterns</a:t>
            </a:r>
            <a:r>
              <a:rPr lang="es-ES" dirty="0"/>
              <a:t> as </a:t>
            </a:r>
            <a:r>
              <a:rPr lang="es-ES" dirty="0" err="1"/>
              <a:t>with</a:t>
            </a:r>
            <a:r>
              <a:rPr lang="es-ES" dirty="0"/>
              <a:t> </a:t>
            </a:r>
            <a:r>
              <a:rPr lang="es-ES" dirty="0" err="1"/>
              <a:t>unbalanced</a:t>
            </a:r>
            <a:r>
              <a:rPr lang="es-ES" dirty="0"/>
              <a:t> data, </a:t>
            </a:r>
            <a:r>
              <a:rPr lang="es-ES" dirty="0" err="1"/>
              <a:t>but</a:t>
            </a:r>
            <a:r>
              <a:rPr lang="es-ES" dirty="0"/>
              <a:t> </a:t>
            </a:r>
            <a:r>
              <a:rPr lang="es-ES" dirty="0" err="1"/>
              <a:t>subtler</a:t>
            </a:r>
            <a:r>
              <a:rPr lang="es-ES" dirty="0"/>
              <a:t>.</a:t>
            </a:r>
          </a:p>
          <a:p>
            <a:endParaRPr lang="es-ES" dirty="0"/>
          </a:p>
          <a:p>
            <a:r>
              <a:rPr lang="es-ES" dirty="0" err="1"/>
              <a:t>Interesting</a:t>
            </a:r>
            <a:r>
              <a:rPr lang="es-ES" dirty="0"/>
              <a:t> </a:t>
            </a:r>
            <a:r>
              <a:rPr lang="es-ES" dirty="0" err="1"/>
              <a:t>how</a:t>
            </a:r>
            <a:r>
              <a:rPr lang="es-ES" dirty="0"/>
              <a:t>, in </a:t>
            </a:r>
            <a:r>
              <a:rPr lang="es-ES" dirty="0" err="1"/>
              <a:t>left</a:t>
            </a:r>
            <a:r>
              <a:rPr lang="es-ES" dirty="0"/>
              <a:t> </a:t>
            </a:r>
            <a:r>
              <a:rPr lang="es-ES" dirty="0" err="1"/>
              <a:t>handers</a:t>
            </a:r>
            <a:r>
              <a:rPr lang="es-ES" dirty="0"/>
              <a:t> </a:t>
            </a:r>
            <a:r>
              <a:rPr lang="es-ES" dirty="0" err="1"/>
              <a:t>when</a:t>
            </a:r>
            <a:r>
              <a:rPr lang="es-ES" dirty="0"/>
              <a:t> </a:t>
            </a:r>
            <a:r>
              <a:rPr lang="es-ES" dirty="0" err="1"/>
              <a:t>thr</a:t>
            </a:r>
            <a:r>
              <a:rPr lang="es-ES" dirty="0"/>
              <a:t> = 0, % </a:t>
            </a:r>
            <a:r>
              <a:rPr lang="es-ES" dirty="0" err="1"/>
              <a:t>of</a:t>
            </a:r>
            <a:r>
              <a:rPr lang="es-ES" dirty="0"/>
              <a:t> </a:t>
            </a:r>
            <a:r>
              <a:rPr lang="es-ES" dirty="0" err="1"/>
              <a:t>females</a:t>
            </a:r>
            <a:r>
              <a:rPr lang="es-ES" dirty="0"/>
              <a:t> </a:t>
            </a:r>
            <a:r>
              <a:rPr lang="es-ES" dirty="0" err="1"/>
              <a:t>is</a:t>
            </a:r>
            <a:r>
              <a:rPr lang="es-ES" dirty="0"/>
              <a:t> 5.49% and males </a:t>
            </a:r>
            <a:r>
              <a:rPr lang="es-ES" dirty="0" err="1"/>
              <a:t>is</a:t>
            </a:r>
            <a:r>
              <a:rPr lang="es-ES" dirty="0"/>
              <a:t> 8.63%. </a:t>
            </a:r>
            <a:r>
              <a:rPr lang="es-ES" dirty="0" err="1"/>
              <a:t>When</a:t>
            </a:r>
            <a:r>
              <a:rPr lang="es-ES" dirty="0"/>
              <a:t> BD are removed, males </a:t>
            </a:r>
            <a:r>
              <a:rPr lang="es-ES" dirty="0" err="1"/>
              <a:t>reach</a:t>
            </a:r>
            <a:r>
              <a:rPr lang="es-ES" dirty="0"/>
              <a:t> 9.36% </a:t>
            </a:r>
            <a:r>
              <a:rPr lang="es-ES" dirty="0" err="1"/>
              <a:t>of</a:t>
            </a:r>
            <a:r>
              <a:rPr lang="es-ES" dirty="0"/>
              <a:t> </a:t>
            </a:r>
            <a:r>
              <a:rPr lang="es-ES" dirty="0" err="1"/>
              <a:t>left</a:t>
            </a:r>
            <a:r>
              <a:rPr lang="es-ES" dirty="0"/>
              <a:t> </a:t>
            </a:r>
            <a:r>
              <a:rPr lang="es-ES" dirty="0" err="1"/>
              <a:t>handedness</a:t>
            </a: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49165017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0AE218E-6817-3D67-B637-7C6AA7C33B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C7BDD952-3118-9BDD-68E1-884469A80E5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69112680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F00679-0CBD-F398-8213-33139EC090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9FB4A44-A2A8-769C-B3C3-A270A0E766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40BAF840-9665-4322-EE98-88A09BC6E4D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88650794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C6B414-9D7B-1E9B-09A6-F0146145CA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549AE10-55DF-CBBD-73B5-BA617816E7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7F21859-D994-A015-79F7-1102E9BE9E8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829978397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646</TotalTime>
  <Words>296</Words>
  <Application>Microsoft Office PowerPoint</Application>
  <PresentationFormat>Panorámica</PresentationFormat>
  <Paragraphs>41</Paragraphs>
  <Slides>16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16</vt:i4>
      </vt:variant>
    </vt:vector>
  </HeadingPairs>
  <TitlesOfParts>
    <vt:vector size="20" baseType="lpstr">
      <vt:lpstr>Aptos</vt:lpstr>
      <vt:lpstr>Aptos Display</vt:lpstr>
      <vt:lpstr>Arial</vt:lpstr>
      <vt:lpstr>Tema de Office</vt:lpstr>
      <vt:lpstr>Laterality Project: updates </vt:lpstr>
      <vt:lpstr>Prevalence comparison (preliminar, week 1)</vt:lpstr>
      <vt:lpstr>Correlation EHI items</vt:lpstr>
      <vt:lpstr>Correlation with LQ</vt:lpstr>
      <vt:lpstr>Prevalence comparison (after 1st lab meeting )</vt:lpstr>
      <vt:lpstr>What happens with sex</vt:lpstr>
      <vt:lpstr>What happens with sex</vt:lpstr>
      <vt:lpstr>What happens with sex</vt:lpstr>
      <vt:lpstr>Integrating age</vt:lpstr>
      <vt:lpstr>LQ dist in all</vt:lpstr>
      <vt:lpstr>LQ dist by BD</vt:lpstr>
      <vt:lpstr>Comparison with previous data</vt:lpstr>
      <vt:lpstr>Stratification by sex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Ines Knot</dc:creator>
  <cp:lastModifiedBy>Ines Knot</cp:lastModifiedBy>
  <cp:revision>10</cp:revision>
  <dcterms:created xsi:type="dcterms:W3CDTF">2026-05-06T08:22:28Z</dcterms:created>
  <dcterms:modified xsi:type="dcterms:W3CDTF">2026-05-08T14:54:32Z</dcterms:modified>
</cp:coreProperties>
</file>