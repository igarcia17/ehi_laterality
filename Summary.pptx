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0" r:id="rId3"/>
    <p:sldId id="259" r:id="rId4"/>
    <p:sldId id="261" r:id="rId5"/>
    <p:sldId id="262" r:id="rId6"/>
    <p:sldId id="269" r:id="rId7"/>
    <p:sldId id="263" r:id="rId8"/>
    <p:sldId id="264" r:id="rId9"/>
    <p:sldId id="265" r:id="rId10"/>
    <p:sldId id="280" r:id="rId11"/>
    <p:sldId id="281" r:id="rId12"/>
    <p:sldId id="282" r:id="rId13"/>
    <p:sldId id="257" r:id="rId14"/>
    <p:sldId id="258" r:id="rId15"/>
    <p:sldId id="270" r:id="rId16"/>
    <p:sldId id="277" r:id="rId17"/>
    <p:sldId id="266" r:id="rId18"/>
    <p:sldId id="278" r:id="rId19"/>
    <p:sldId id="279" r:id="rId20"/>
    <p:sldId id="271" r:id="rId21"/>
    <p:sldId id="272" r:id="rId22"/>
    <p:sldId id="273" r:id="rId23"/>
    <p:sldId id="274" r:id="rId24"/>
    <p:sldId id="275" r:id="rId25"/>
    <p:sldId id="276" r:id="rId26"/>
    <p:sldId id="267" r:id="rId27"/>
    <p:sldId id="268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8D89E-93E6-4A17-A5FA-EDA1DD3FB786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D524D-AD59-46CB-890E-ECD0863AB5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220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D524D-AD59-46CB-890E-ECD0863AB58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401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538AC-80A9-5EE6-0720-43F0C320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401C96-1DA8-2215-702B-E333DFF8F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C779AE-6D86-F1D7-5BF9-CE2E15452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D076A3-E12A-D4F8-BCD9-9EEC7F369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D524D-AD59-46CB-890E-ECD0863AB58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7798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4EF1-D217-ADFC-C1D8-F2DF8F39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9EB59C-EE99-62C8-501F-433CFD22E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DF3D72-1EE9-0C12-1D13-B3B51272B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03B16C-2ACE-7463-B2C5-B21E9F30A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D524D-AD59-46CB-890E-ECD0863AB58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678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2240A-DCD0-1058-A8F7-426194DFB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130CF8-76DE-29E4-625D-72F42D752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06ADD1-907F-EA71-B954-34AD3679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49C87E-A69D-5B3A-C27B-B2DBEA82A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00ABCB-E85D-9632-00E5-53B0FA2D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16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94DD0-D8E0-3448-6EEA-2060F70C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7E2368-743A-6F6D-1276-FAE39F38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42D30B-F85F-E2BE-5F92-A9348C48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B5F1C-3367-6EBE-0C0F-2CDEC269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90B80A-CACC-24D8-51EC-5B9B4237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915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F1D74-A8AE-DDDB-1BA6-96A76938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BC2F69-10F8-776A-C64E-4BF1AB561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341FA7-6628-298D-EC8C-E7B3138D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521539-3D0C-E0F6-9D62-C7C41F90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AAC9F7-3878-014B-3A67-15C835FB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29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A35C5-D2CC-1B7D-DA44-C3E4DA5C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F51A92-7EAB-6E7A-5FF1-8C29B4939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5F5A57-8A1C-83B9-5E6F-4BD0FEB66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A360F9-DF72-3C10-1A35-2913CA09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435922-3634-25F5-6C80-5974AB3D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7564A7-C807-6A7A-9F8A-9BFF49A8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30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35EE5-78DF-B8BF-2929-0D6C8953A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EDC35D-ECBD-A4A0-28B5-8B88CBEFA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D6CA15-97E0-249F-4059-56D7F9B72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48DBB0-EB75-F880-5EDD-708B430A3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30D96C-175D-C88D-C128-CB5BAE90E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E6B281-A5A7-B6A7-91E7-9A938F105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9D8C03-0265-D932-DC8A-1910256F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BEE7C4-F8AC-3313-8FEF-4364B91C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152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D8B3F-4139-9223-2E14-3B9C19A9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5D75F39-98E6-0907-69BD-A24E6887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B3D60C-F1CB-9F3B-4A27-F394660D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80CF71-78D7-CB3C-4703-AFEF2435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50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86F9E5-1136-0071-F817-1BFE4B8F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F9B08C-9AE8-AFC6-CB35-A02B6C7A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1C98C6-5911-1002-8072-897ABC77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851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FBD86-8921-7486-EEAD-1CBE3CD9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368028-912D-9FC3-7733-C83AF95DF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81A31E-05EA-7522-497F-2B36B720B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DE0F7D-4041-34BA-B5DF-BA4B3412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B926AD-96A0-A264-E4CC-2669E60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3F1C12-BC50-86A0-A27F-EC4FCC03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016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CFAB3-97EF-C640-AF50-FC0FC468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46BC32-2284-5CF4-D1B0-64422688E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17F3C3-B4FE-3345-82EA-405259175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F96CEE-5159-C99E-B86A-7CDAD65C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BC6303-1FDB-DE10-B8A1-503C2275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302C4-9DEA-C20A-6647-3AA067B9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869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5561E-7188-D93B-8956-F440CAE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B01743-EEB8-590F-1B47-3546CFFE3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684B19-2DFA-31B0-5198-F16FE5BC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9FEC40-8416-2B3E-81F6-C33605DC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FA9206-7AC1-A829-DBB5-000308E0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37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06F37E-7330-BB6A-9ADA-06F10B89F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EA7193-F474-292B-B52C-517C0F47E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BF9FDF-D171-024E-4749-7BBFEDD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8F2A16-79D2-8CA5-CED5-89A4D356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4FF4D-DB53-C977-373F-B47D8EE9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67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5FE1A1-F3E1-0D6B-E135-9F874E8CA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7EB2AF-7494-78B2-C5F2-8C3351367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D44094-1CBC-A41D-1532-EB7164A27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359BF-8E6C-4C36-9C95-3C97ED27A0FA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B5668-3930-4914-0A72-E75098DE4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207713-498C-BD28-E682-2E7C399E2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51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i.org/10.1016/j.bandc.2015.01.00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04ED5-CE49-05FA-F9E3-E3F3FC3580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Laterality</a:t>
            </a:r>
            <a:r>
              <a:rPr lang="es-ES" dirty="0"/>
              <a:t> Project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512F9B-311E-7109-88B1-7EA978E70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383261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6D52E-C582-5610-5F55-C680D340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42DFA-7875-B2A4-50D3-03BECAA82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threshold</a:t>
            </a:r>
            <a:r>
              <a:rPr lang="es-ES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8E8DA-0730-FD86-1581-B5D3A962A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8520" cy="22263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s-ES" dirty="0">
                <a:hlinkClick r:id="rId2"/>
              </a:rPr>
              <a:t>https://doi.org/10.1016/j.bandc.2015.01.003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1CAE9D-2DB0-0C57-74F6-A5F765C9F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15" y="3163824"/>
            <a:ext cx="6266960" cy="350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C4F1DF5-ED4F-C9F2-B3CC-34DE46D23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759" y="1205686"/>
            <a:ext cx="6597455" cy="252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511-FE94-29AC-9B84-20AAAABFF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Left-</a:t>
            </a:r>
            <a:r>
              <a:rPr lang="es-ES" dirty="0" err="1"/>
              <a:t>handers</a:t>
            </a:r>
            <a:r>
              <a:rPr lang="es-ES" dirty="0"/>
              <a:t> </a:t>
            </a:r>
            <a:r>
              <a:rPr lang="es-ES" dirty="0" err="1"/>
              <a:t>prop</a:t>
            </a:r>
            <a:r>
              <a:rPr lang="es-ES" dirty="0"/>
              <a:t> in Spain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A0E36B-B6E0-D694-A839-08399D8C3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34" y="3637701"/>
            <a:ext cx="5785616" cy="29902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7464E42-7D2F-A46E-E042-2D3EE8120B0A}"/>
              </a:ext>
            </a:extLst>
          </p:cNvPr>
          <p:cNvSpPr txBox="1"/>
          <p:nvPr/>
        </p:nvSpPr>
        <p:spPr>
          <a:xfrm>
            <a:off x="274320" y="1810512"/>
            <a:ext cx="437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https://doi.org/10.1007/BF01067189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742962-B652-C69F-BBCF-C22DD28C4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34" y="2293155"/>
            <a:ext cx="4069080" cy="1231234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B1A5DDD-F296-57DE-F74B-614D470E572E}"/>
              </a:ext>
            </a:extLst>
          </p:cNvPr>
          <p:cNvCxnSpPr/>
          <p:nvPr/>
        </p:nvCxnSpPr>
        <p:spPr>
          <a:xfrm>
            <a:off x="6227064" y="1499616"/>
            <a:ext cx="0" cy="5128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4AECCF-1A48-0B90-9DB0-90DE33AE74F5}"/>
              </a:ext>
            </a:extLst>
          </p:cNvPr>
          <p:cNvSpPr/>
          <p:nvPr/>
        </p:nvSpPr>
        <p:spPr>
          <a:xfrm>
            <a:off x="4261104" y="4325112"/>
            <a:ext cx="384048" cy="230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DFDDAC2-3DAB-3052-53EF-B6FDE2868BF4}"/>
              </a:ext>
            </a:extLst>
          </p:cNvPr>
          <p:cNvSpPr txBox="1"/>
          <p:nvPr/>
        </p:nvSpPr>
        <p:spPr>
          <a:xfrm>
            <a:off x="6377079" y="152544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https://doi.org/10.1098/rspb.2023.1514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3155855-F632-044C-3669-3F86DD88D903}"/>
              </a:ext>
            </a:extLst>
          </p:cNvPr>
          <p:cNvGrpSpPr/>
          <p:nvPr/>
        </p:nvGrpSpPr>
        <p:grpSpPr>
          <a:xfrm>
            <a:off x="6377079" y="1885548"/>
            <a:ext cx="5141883" cy="1325563"/>
            <a:chOff x="6377079" y="1885548"/>
            <a:chExt cx="5141883" cy="1325563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07DF81B-9F92-4522-D2BD-0176E238B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6930"/>
            <a:stretch>
              <a:fillRect/>
            </a:stretch>
          </p:blipFill>
          <p:spPr>
            <a:xfrm>
              <a:off x="6377079" y="1885548"/>
              <a:ext cx="5141883" cy="1325563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6C8B4CB-D39C-74C0-7DC3-E2E2761CA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2141" r="79384" b="-1380"/>
            <a:stretch>
              <a:fillRect/>
            </a:stretch>
          </p:blipFill>
          <p:spPr>
            <a:xfrm>
              <a:off x="6490367" y="2624438"/>
              <a:ext cx="1060041" cy="284334"/>
            </a:xfrm>
            <a:prstGeom prst="rect">
              <a:avLst/>
            </a:prstGeom>
          </p:spPr>
        </p:pic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2795ED04-F8E0-5BAC-B3A0-52B7FECD1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502" y="3524388"/>
            <a:ext cx="3798756" cy="313775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DBBD708-C930-C4F3-4CF4-F233DA882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410" y="4063786"/>
            <a:ext cx="1008218" cy="24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4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908E-16C3-AA4F-2B49-91488040B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C098B-7D19-8F01-776C-E1F5DFC5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GWAS </a:t>
            </a:r>
            <a:r>
              <a:rPr lang="es-ES" dirty="0" err="1"/>
              <a:t>handedness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6FBD4C-A242-A96E-D029-9AEBA1F85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Page 9: </a:t>
            </a:r>
            <a:r>
              <a:rPr lang="en-US" dirty="0"/>
              <a:t>Sex and age were included as covariates in all models. We performed four analyses: (1) right- versus lefthanded; (2) right versus ambidextrous; (3) right- versus left-handed (male only); and (4) right- versus left-handed (female only)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5924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66DD-5521-F182-463E-12B0C7A0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2E66D-4521-0ADC-A4E0-24ACEC8D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: ALSPAC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C08F40-9EC4-56A4-C30F-C69E177A8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843" y="1591056"/>
            <a:ext cx="6430085" cy="500022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68D1D7E-9F3C-9982-D945-36B5656481F2}"/>
              </a:ext>
            </a:extLst>
          </p:cNvPr>
          <p:cNvSpPr txBox="1"/>
          <p:nvPr/>
        </p:nvSpPr>
        <p:spPr>
          <a:xfrm>
            <a:off x="1197864" y="2084832"/>
            <a:ext cx="2404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84 ítems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consider</a:t>
            </a:r>
            <a:r>
              <a:rPr lang="es-ES" dirty="0"/>
              <a:t> </a:t>
            </a:r>
            <a:r>
              <a:rPr lang="es-ES" dirty="0" err="1"/>
              <a:t>regarding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markers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FBBF0EB-E31F-EF91-4923-0D149BE8F7EE}"/>
              </a:ext>
            </a:extLst>
          </p:cNvPr>
          <p:cNvSpPr txBox="1"/>
          <p:nvPr/>
        </p:nvSpPr>
        <p:spPr>
          <a:xfrm>
            <a:off x="838200" y="3810000"/>
            <a:ext cx="2939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UPDATE: </a:t>
            </a:r>
            <a:r>
              <a:rPr lang="es-ES" dirty="0" err="1"/>
              <a:t>Matched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available</a:t>
            </a:r>
            <a:r>
              <a:rPr lang="es-ES" dirty="0"/>
              <a:t> </a:t>
            </a:r>
            <a:r>
              <a:rPr lang="es-ES" dirty="0" err="1"/>
              <a:t>info</a:t>
            </a:r>
            <a:r>
              <a:rPr lang="es-ES" dirty="0"/>
              <a:t> in Silvias Excel </a:t>
            </a:r>
            <a:r>
              <a:rPr lang="es-ES" dirty="0" err="1"/>
              <a:t>workbook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108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11947-A436-6812-5DAB-F2B88342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: NIHR </a:t>
            </a:r>
            <a:r>
              <a:rPr lang="es-ES" dirty="0" err="1"/>
              <a:t>Bioresource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C0C5C-4B98-C635-F54C-6E390268E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https://www.bioresource.nihr.ac.uk/media/4url1uzq/hlq_generic-health-and-lifestyle-questionnaire_20210902_1-6.pdf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05DF49-1350-2B1C-C0AE-E1E1EEF36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3197" y="2811122"/>
            <a:ext cx="13754109" cy="470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7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5B8C9-2B98-9E36-FF91-5D4B6E6D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828AA-9069-14E2-5EFA-0A726DBC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: </a:t>
            </a:r>
            <a:r>
              <a:rPr lang="es-ES" dirty="0" err="1"/>
              <a:t>Twins</a:t>
            </a:r>
            <a:r>
              <a:rPr lang="es-ES" dirty="0"/>
              <a:t> UK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20682D-069F-12BF-EB10-EC1EF11D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3858"/>
            <a:ext cx="12192000" cy="77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4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86454-82C0-2E94-3B82-A7DCDD45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5AD99-97F8-655B-653F-BBCB5A77C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: NHSD -&gt; Main </a:t>
            </a:r>
            <a:r>
              <a:rPr lang="es-ES" dirty="0" err="1"/>
              <a:t>questionnaire</a:t>
            </a:r>
            <a:r>
              <a:rPr lang="es-ES" dirty="0"/>
              <a:t> 1989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F0E06D-3E7C-4E76-FA32-5D7ADE9B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1301271"/>
            <a:ext cx="9692640" cy="23072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07B8B3E-4DD8-51D7-65FF-8AF8622AA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7053"/>
            <a:ext cx="12192000" cy="231402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BCAEA82-681A-31C7-1A6B-E78D91931D79}"/>
              </a:ext>
            </a:extLst>
          </p:cNvPr>
          <p:cNvSpPr/>
          <p:nvPr/>
        </p:nvSpPr>
        <p:spPr>
          <a:xfrm>
            <a:off x="2139696" y="2084832"/>
            <a:ext cx="3017520" cy="338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2FEBAB5-4062-9A75-B2C7-C0A99270D74E}"/>
              </a:ext>
            </a:extLst>
          </p:cNvPr>
          <p:cNvSpPr/>
          <p:nvPr/>
        </p:nvSpPr>
        <p:spPr>
          <a:xfrm>
            <a:off x="2679192" y="4473597"/>
            <a:ext cx="3261360" cy="338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B862A6-8F5F-A83C-670C-244BD4AD42B3}"/>
              </a:ext>
            </a:extLst>
          </p:cNvPr>
          <p:cNvSpPr txBox="1"/>
          <p:nvPr/>
        </p:nvSpPr>
        <p:spPr>
          <a:xfrm>
            <a:off x="9811512" y="1854150"/>
            <a:ext cx="21762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Question</a:t>
            </a:r>
            <a:r>
              <a:rPr lang="es-ES" dirty="0"/>
              <a:t> </a:t>
            </a:r>
            <a:r>
              <a:rPr lang="es-ES" dirty="0" err="1"/>
              <a:t>associated</a:t>
            </a:r>
            <a:r>
              <a:rPr lang="es-ES" dirty="0"/>
              <a:t> </a:t>
            </a:r>
            <a:r>
              <a:rPr lang="es-ES" dirty="0" err="1"/>
              <a:t>doesn’t</a:t>
            </a:r>
            <a:r>
              <a:rPr lang="es-ES" dirty="0"/>
              <a:t> </a:t>
            </a:r>
            <a:r>
              <a:rPr lang="es-ES" dirty="0" err="1"/>
              <a:t>always</a:t>
            </a:r>
            <a:r>
              <a:rPr lang="es-ES" dirty="0"/>
              <a:t> match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label</a:t>
            </a:r>
            <a:r>
              <a:rPr lang="es-ES" dirty="0"/>
              <a:t>. Label </a:t>
            </a:r>
            <a:r>
              <a:rPr lang="es-ES" dirty="0" err="1"/>
              <a:t>matches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posible </a:t>
            </a:r>
            <a:r>
              <a:rPr lang="es-ES" dirty="0" err="1"/>
              <a:t>answers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389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7674-702E-6368-EC90-EFD1A4A4D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F0B60-14F5-6D4F-EFEB-4871CD4F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 NHSD: </a:t>
            </a:r>
            <a:r>
              <a:rPr lang="es-ES" dirty="0" err="1"/>
              <a:t>Handedness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96B80C-B1CF-F955-86F4-6B7F7CAFF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4" y="1923813"/>
            <a:ext cx="3557017" cy="7084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F0FE38F-3345-1CAE-E0A5-183CDE8B0F10}"/>
              </a:ext>
            </a:extLst>
          </p:cNvPr>
          <p:cNvSpPr txBox="1"/>
          <p:nvPr/>
        </p:nvSpPr>
        <p:spPr>
          <a:xfrm>
            <a:off x="8275320" y="1495434"/>
            <a:ext cx="440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Grip </a:t>
            </a:r>
            <a:r>
              <a:rPr lang="es-ES" dirty="0" err="1"/>
              <a:t>strength</a:t>
            </a:r>
            <a:r>
              <a:rPr lang="es-ES" dirty="0"/>
              <a:t> </a:t>
            </a:r>
            <a:r>
              <a:rPr lang="es-ES" dirty="0" err="1"/>
              <a:t>assessed</a:t>
            </a:r>
            <a:r>
              <a:rPr lang="es-ES" dirty="0"/>
              <a:t>  </a:t>
            </a:r>
            <a:r>
              <a:rPr lang="es-ES" dirty="0" err="1"/>
              <a:t>later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life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CCEB7F-3839-6358-0DB7-9F7630515871}"/>
              </a:ext>
            </a:extLst>
          </p:cNvPr>
          <p:cNvSpPr txBox="1"/>
          <p:nvPr/>
        </p:nvSpPr>
        <p:spPr>
          <a:xfrm>
            <a:off x="212852" y="2038844"/>
            <a:ext cx="440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Details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use </a:t>
            </a:r>
            <a:r>
              <a:rPr lang="es-ES" dirty="0" err="1"/>
              <a:t>were</a:t>
            </a:r>
            <a:r>
              <a:rPr lang="es-ES" dirty="0"/>
              <a:t> </a:t>
            </a:r>
            <a:r>
              <a:rPr lang="es-ES" dirty="0" err="1"/>
              <a:t>assessed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1989 (</a:t>
            </a:r>
            <a:r>
              <a:rPr lang="es-ES" dirty="0" err="1"/>
              <a:t>age</a:t>
            </a:r>
            <a:r>
              <a:rPr lang="es-ES" dirty="0"/>
              <a:t> 43).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6B92333-6ED6-72C1-7DDD-CCB1A6106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548240"/>
              </p:ext>
            </p:extLst>
          </p:nvPr>
        </p:nvGraphicFramePr>
        <p:xfrm>
          <a:off x="212852" y="2781173"/>
          <a:ext cx="8547100" cy="343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50497415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74617408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47655723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47198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9214294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20614315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2330655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627396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163962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14237667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Name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question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either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left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right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Total for this question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% either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% left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Average either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Average left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525814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hdwr89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handedness writes with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19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293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2,921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3233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0.5876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9.062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1.948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9.03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1528950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hdmt89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strikes a match with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61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273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2,886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3220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1.894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8.478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9118485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hdth89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throws a ball with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99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259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2,862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3220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3.074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8.043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449853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hdbt89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bats a ball with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80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274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2,861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3215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2.48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8.522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26307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hdte89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handedness brushes teeth with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60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264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2,894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3218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1.86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8.203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1009366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hdha89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handedness hammers a nail with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72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254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2,891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3217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2.23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7.895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732356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hdde89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handedness deals cards with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48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419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2,751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3218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1.49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13.020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19568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996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8A80-BEC5-540A-7E42-3E787C86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74C2D-46DE-1D03-C3DF-FD7A8D8E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 NHSD: Mental </a:t>
            </a:r>
            <a:r>
              <a:rPr lang="es-ES" dirty="0" err="1"/>
              <a:t>health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436171-EF09-A9B6-D68D-78C297A919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252"/>
          <a:stretch>
            <a:fillRect/>
          </a:stretch>
        </p:blipFill>
        <p:spPr>
          <a:xfrm>
            <a:off x="654932" y="2840466"/>
            <a:ext cx="3610479" cy="6144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651BA5A-F70A-2AEB-EFC4-EC595845C9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896"/>
          <a:stretch>
            <a:fillRect/>
          </a:stretch>
        </p:blipFill>
        <p:spPr>
          <a:xfrm>
            <a:off x="110647" y="3430158"/>
            <a:ext cx="3610479" cy="18882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2B2C28E-2DD3-72D4-44D8-EA6CCC6E3B1F}"/>
              </a:ext>
            </a:extLst>
          </p:cNvPr>
          <p:cNvSpPr txBox="1"/>
          <p:nvPr/>
        </p:nvSpPr>
        <p:spPr>
          <a:xfrm>
            <a:off x="751114" y="2111829"/>
            <a:ext cx="2536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2023 Cost </a:t>
            </a:r>
            <a:r>
              <a:rPr lang="es-ES" dirty="0" err="1"/>
              <a:t>of</a:t>
            </a:r>
            <a:r>
              <a:rPr lang="es-ES" dirty="0"/>
              <a:t> living </a:t>
            </a:r>
            <a:r>
              <a:rPr lang="es-ES" dirty="0" err="1"/>
              <a:t>questionnaire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833E2C8-E878-65AF-0BDD-F49388BAC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411" y="2204075"/>
            <a:ext cx="3427211" cy="42888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1339A53-F6D9-1367-9CFF-0BF726E3A4F6}"/>
              </a:ext>
            </a:extLst>
          </p:cNvPr>
          <p:cNvSpPr txBox="1"/>
          <p:nvPr/>
        </p:nvSpPr>
        <p:spPr>
          <a:xfrm>
            <a:off x="4265411" y="1491343"/>
            <a:ext cx="2276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2025: 2 </a:t>
            </a:r>
            <a:r>
              <a:rPr lang="es-ES" dirty="0" err="1"/>
              <a:t>pages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mental </a:t>
            </a:r>
            <a:r>
              <a:rPr lang="es-ES" dirty="0" err="1"/>
              <a:t>health</a:t>
            </a:r>
            <a:r>
              <a:rPr lang="es-ES" dirty="0"/>
              <a:t>, </a:t>
            </a:r>
            <a:r>
              <a:rPr lang="es-ES" dirty="0" err="1"/>
              <a:t>but</a:t>
            </a:r>
            <a:r>
              <a:rPr lang="es-ES" dirty="0"/>
              <a:t> no </a:t>
            </a:r>
            <a:r>
              <a:rPr lang="es-ES" dirty="0" err="1"/>
              <a:t>diagnostics</a:t>
            </a:r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22751F2-446C-1566-7961-A728031C8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622" y="2758160"/>
            <a:ext cx="4220925" cy="26932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C314B21-49DE-81AE-53A5-93578DD3F70A}"/>
              </a:ext>
            </a:extLst>
          </p:cNvPr>
          <p:cNvSpPr txBox="1"/>
          <p:nvPr/>
        </p:nvSpPr>
        <p:spPr>
          <a:xfrm>
            <a:off x="7692622" y="2091507"/>
            <a:ext cx="253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2020 </a:t>
            </a:r>
            <a:r>
              <a:rPr lang="es-ES" dirty="0" err="1"/>
              <a:t>Covid</a:t>
            </a:r>
            <a:r>
              <a:rPr lang="es-ES" dirty="0"/>
              <a:t> </a:t>
            </a:r>
            <a:r>
              <a:rPr lang="es-ES" dirty="0" err="1"/>
              <a:t>year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53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9BA4-0C7C-A981-F8EF-08A91A2E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7A571-9F28-7968-D105-99009BB6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82"/>
            <a:ext cx="7380514" cy="1325563"/>
          </a:xfrm>
        </p:spPr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 NHSD: Mental </a:t>
            </a:r>
            <a:r>
              <a:rPr lang="es-ES" dirty="0" err="1"/>
              <a:t>health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D22D99-D96E-9095-FF26-4DFCEACC73FF}"/>
              </a:ext>
            </a:extLst>
          </p:cNvPr>
          <p:cNvSpPr txBox="1"/>
          <p:nvPr/>
        </p:nvSpPr>
        <p:spPr>
          <a:xfrm>
            <a:off x="174170" y="1108371"/>
            <a:ext cx="7739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1999 Self </a:t>
            </a:r>
            <a:r>
              <a:rPr lang="es-ES" dirty="0" err="1"/>
              <a:t>completion</a:t>
            </a:r>
            <a:r>
              <a:rPr lang="es-ES" dirty="0"/>
              <a:t> </a:t>
            </a:r>
            <a:r>
              <a:rPr lang="es-ES" dirty="0" err="1"/>
              <a:t>questionnaire</a:t>
            </a:r>
            <a:r>
              <a:rPr lang="es-ES" dirty="0"/>
              <a:t>: general </a:t>
            </a:r>
            <a:r>
              <a:rPr lang="es-ES" dirty="0" err="1"/>
              <a:t>health</a:t>
            </a:r>
            <a:r>
              <a:rPr lang="es-ES" dirty="0"/>
              <a:t> </a:t>
            </a:r>
            <a:r>
              <a:rPr lang="es-ES" dirty="0" err="1"/>
              <a:t>questionnaire</a:t>
            </a:r>
            <a:r>
              <a:rPr lang="es-ES" dirty="0"/>
              <a:t> (mental </a:t>
            </a:r>
            <a:r>
              <a:rPr lang="es-ES" dirty="0" err="1"/>
              <a:t>wellbeing</a:t>
            </a:r>
            <a:r>
              <a:rPr lang="es-ES" dirty="0"/>
              <a:t>) and </a:t>
            </a:r>
            <a:r>
              <a:rPr lang="es-ES" dirty="0" err="1"/>
              <a:t>Psychosis</a:t>
            </a:r>
            <a:r>
              <a:rPr lang="es-ES" dirty="0"/>
              <a:t> screening </a:t>
            </a:r>
            <a:r>
              <a:rPr lang="es-ES" dirty="0" err="1"/>
              <a:t>questions</a:t>
            </a:r>
            <a:endParaRPr lang="es-ES" dirty="0"/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6A6996-3049-F1FF-72E7-9086AA85C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6" y="2191446"/>
            <a:ext cx="3396357" cy="39045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7F5831-178B-C0F2-F976-885036AED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247" y="2852597"/>
            <a:ext cx="3291140" cy="33934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38EEBCF-9F51-BF07-386C-861082416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3253" y="5024799"/>
            <a:ext cx="2695351" cy="4198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9C520DD-0749-4C88-EAC9-93B1FCA07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259" y="199361"/>
            <a:ext cx="3421738" cy="46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9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0E79-DD59-6568-DCC4-DE159AE4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4F948-E9DB-C342-DBA8-E095BFEC8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82"/>
            <a:ext cx="7380514" cy="1325563"/>
          </a:xfrm>
        </p:spPr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 NHSD: Mental </a:t>
            </a:r>
            <a:r>
              <a:rPr lang="es-ES" dirty="0" err="1"/>
              <a:t>health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E7C16A-3729-1A45-0472-E6D24DAC6224}"/>
              </a:ext>
            </a:extLst>
          </p:cNvPr>
          <p:cNvSpPr txBox="1"/>
          <p:nvPr/>
        </p:nvSpPr>
        <p:spPr>
          <a:xfrm>
            <a:off x="174170" y="1108371"/>
            <a:ext cx="7739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1989 Main </a:t>
            </a:r>
            <a:r>
              <a:rPr lang="es-ES" dirty="0" err="1"/>
              <a:t>questionnaire</a:t>
            </a:r>
            <a:r>
              <a:rPr lang="es-ES" dirty="0"/>
              <a:t>: </a:t>
            </a:r>
            <a:r>
              <a:rPr lang="es-ES" dirty="0" err="1"/>
              <a:t>Psychiatric</a:t>
            </a:r>
            <a:r>
              <a:rPr lang="es-ES" dirty="0"/>
              <a:t> </a:t>
            </a:r>
            <a:r>
              <a:rPr lang="es-ES" dirty="0" err="1"/>
              <a:t>Symptom</a:t>
            </a:r>
            <a:r>
              <a:rPr lang="es-ES" dirty="0"/>
              <a:t> </a:t>
            </a:r>
            <a:r>
              <a:rPr lang="es-ES" dirty="0" err="1"/>
              <a:t>Frequncy</a:t>
            </a:r>
            <a:r>
              <a:rPr lang="es-ES" dirty="0"/>
              <a:t> </a:t>
            </a:r>
            <a:r>
              <a:rPr lang="es-ES" dirty="0" err="1"/>
              <a:t>Inventory</a:t>
            </a:r>
            <a:endParaRPr lang="es-ES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CEBDCD-376A-646E-16C0-A2C0A4F944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056"/>
          <a:stretch>
            <a:fillRect/>
          </a:stretch>
        </p:blipFill>
        <p:spPr>
          <a:xfrm>
            <a:off x="6244394" y="473529"/>
            <a:ext cx="5860522" cy="591094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D7CC827-40A0-3E94-AF4C-5CD35A6A86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444" r="44330"/>
          <a:stretch>
            <a:fillRect/>
          </a:stretch>
        </p:blipFill>
        <p:spPr>
          <a:xfrm>
            <a:off x="252230" y="1545902"/>
            <a:ext cx="4433611" cy="439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74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5E8D2-A245-C51D-AD62-EDADC775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Prevalence</a:t>
            </a:r>
            <a:r>
              <a:rPr lang="es-ES" dirty="0"/>
              <a:t> </a:t>
            </a:r>
            <a:r>
              <a:rPr lang="es-ES" dirty="0" err="1"/>
              <a:t>comparison</a:t>
            </a:r>
            <a:r>
              <a:rPr lang="es-ES" dirty="0"/>
              <a:t> (preliminar, </a:t>
            </a:r>
            <a:r>
              <a:rPr lang="es-ES" dirty="0" err="1"/>
              <a:t>week</a:t>
            </a:r>
            <a:r>
              <a:rPr lang="es-ES" dirty="0"/>
              <a:t> 1)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DE8901-706B-9167-8802-B060C3D88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693"/>
            <a:ext cx="12192000" cy="401486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1BDBAE7-B36E-E0A3-4926-CAA0DEA0C945}"/>
              </a:ext>
            </a:extLst>
          </p:cNvPr>
          <p:cNvSpPr txBox="1"/>
          <p:nvPr/>
        </p:nvSpPr>
        <p:spPr>
          <a:xfrm>
            <a:off x="201168" y="5504688"/>
            <a:ext cx="2084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RS -&gt; Right Score</a:t>
            </a:r>
          </a:p>
          <a:p>
            <a:r>
              <a:rPr lang="es-ES" dirty="0"/>
              <a:t>LS -&gt; Left Score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65FAD8-60B2-590A-0CC6-B1BD085A938B}"/>
              </a:ext>
            </a:extLst>
          </p:cNvPr>
          <p:cNvSpPr txBox="1"/>
          <p:nvPr/>
        </p:nvSpPr>
        <p:spPr>
          <a:xfrm>
            <a:off x="2157984" y="5572943"/>
            <a:ext cx="1243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RS - LS</a:t>
            </a:r>
          </a:p>
          <a:p>
            <a:pPr algn="ctr"/>
            <a:r>
              <a:rPr lang="es-ES" dirty="0"/>
              <a:t>RS + LS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8D290F3-CA0D-928D-CF8A-ACDEBD8FDDD5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2157984" y="5896109"/>
            <a:ext cx="12435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9C73D34-2327-5348-7D76-5B9AF28EBB0D}"/>
              </a:ext>
            </a:extLst>
          </p:cNvPr>
          <p:cNvSpPr txBox="1"/>
          <p:nvPr/>
        </p:nvSpPr>
        <p:spPr>
          <a:xfrm>
            <a:off x="3474720" y="5705856"/>
            <a:ext cx="90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 LQ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CF2104D-FE3B-1D0B-4025-A5A1BCE0E159}"/>
              </a:ext>
            </a:extLst>
          </p:cNvPr>
          <p:cNvCxnSpPr>
            <a:cxnSpLocks/>
          </p:cNvCxnSpPr>
          <p:nvPr/>
        </p:nvCxnSpPr>
        <p:spPr>
          <a:xfrm flipV="1">
            <a:off x="8997696" y="3611880"/>
            <a:ext cx="0" cy="22842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4C8E12D-587B-24F8-C955-BA87B6F8733B}"/>
              </a:ext>
            </a:extLst>
          </p:cNvPr>
          <p:cNvSpPr txBox="1"/>
          <p:nvPr/>
        </p:nvSpPr>
        <p:spPr>
          <a:xfrm>
            <a:off x="4754880" y="5989320"/>
            <a:ext cx="743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We</a:t>
            </a:r>
            <a:r>
              <a:rPr lang="es-ES" dirty="0"/>
              <a:t> decide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go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and </a:t>
            </a:r>
            <a:r>
              <a:rPr lang="es-ES" dirty="0" err="1"/>
              <a:t>think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</a:t>
            </a:r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distinguished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</a:t>
            </a:r>
            <a:r>
              <a:rPr lang="es-ES" dirty="0" err="1"/>
              <a:t>inconsistent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 and </a:t>
            </a:r>
            <a:r>
              <a:rPr lang="es-ES" dirty="0" err="1"/>
              <a:t>ambidextrous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thinking</a:t>
            </a:r>
            <a:r>
              <a:rPr lang="es-ES" dirty="0"/>
              <a:t> </a:t>
            </a:r>
            <a:r>
              <a:rPr lang="es-ES" dirty="0" err="1"/>
              <a:t>another</a:t>
            </a:r>
            <a:r>
              <a:rPr lang="es-ES" dirty="0"/>
              <a:t> </a:t>
            </a:r>
            <a:r>
              <a:rPr lang="es-ES" dirty="0" err="1"/>
              <a:t>approach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204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8CFE9-2298-2209-3989-12118102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4576"/>
            <a:ext cx="10515600" cy="1325563"/>
          </a:xfrm>
        </p:spPr>
        <p:txBody>
          <a:bodyPr/>
          <a:lstStyle/>
          <a:p>
            <a:r>
              <a:rPr lang="es-ES" dirty="0" err="1"/>
              <a:t>Correlation</a:t>
            </a:r>
            <a:r>
              <a:rPr lang="es-ES" dirty="0"/>
              <a:t> EHI </a:t>
            </a:r>
            <a:r>
              <a:rPr lang="es-ES" dirty="0" err="1"/>
              <a:t>items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6525DF-6C67-2246-A0BF-2FA75753F1AE}"/>
              </a:ext>
            </a:extLst>
          </p:cNvPr>
          <p:cNvSpPr txBox="1"/>
          <p:nvPr/>
        </p:nvSpPr>
        <p:spPr>
          <a:xfrm>
            <a:off x="231647" y="5599906"/>
            <a:ext cx="4407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Item1 -&gt; </a:t>
            </a:r>
            <a:r>
              <a:rPr lang="es-ES" dirty="0" err="1"/>
              <a:t>writing</a:t>
            </a:r>
            <a:r>
              <a:rPr lang="es-ES" dirty="0"/>
              <a:t>; Item2 -&gt; </a:t>
            </a:r>
            <a:r>
              <a:rPr lang="es-ES" dirty="0" err="1"/>
              <a:t>drawing</a:t>
            </a:r>
            <a:r>
              <a:rPr lang="es-ES" dirty="0"/>
              <a:t>.</a:t>
            </a:r>
          </a:p>
          <a:p>
            <a:r>
              <a:rPr lang="es-ES" dirty="0"/>
              <a:t>Less </a:t>
            </a:r>
            <a:r>
              <a:rPr lang="es-ES" dirty="0" err="1"/>
              <a:t>correlated</a:t>
            </a:r>
            <a:r>
              <a:rPr lang="es-ES" dirty="0"/>
              <a:t> -&gt; Item8, </a:t>
            </a:r>
            <a:r>
              <a:rPr lang="es-ES" dirty="0" err="1"/>
              <a:t>upper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using</a:t>
            </a:r>
            <a:r>
              <a:rPr lang="es-ES" dirty="0"/>
              <a:t> </a:t>
            </a:r>
            <a:r>
              <a:rPr lang="es-ES" dirty="0" err="1"/>
              <a:t>broom</a:t>
            </a:r>
            <a:r>
              <a:rPr lang="es-ES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078496-12BE-EEEC-C527-6EA9EC288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979" y="74685"/>
            <a:ext cx="1781424" cy="261021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9071F2E-625E-9EED-A915-20EB6D1B2378}"/>
              </a:ext>
            </a:extLst>
          </p:cNvPr>
          <p:cNvSpPr txBox="1"/>
          <p:nvPr/>
        </p:nvSpPr>
        <p:spPr>
          <a:xfrm>
            <a:off x="5699762" y="5728543"/>
            <a:ext cx="6419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Open box lid </a:t>
            </a:r>
            <a:r>
              <a:rPr lang="es-ES" dirty="0" err="1"/>
              <a:t>presents</a:t>
            </a:r>
            <a:r>
              <a:rPr lang="es-ES" dirty="0"/>
              <a:t> more </a:t>
            </a:r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preferred</a:t>
            </a:r>
            <a:r>
              <a:rPr lang="es-ES" dirty="0"/>
              <a:t> </a:t>
            </a:r>
            <a:r>
              <a:rPr lang="es-ES" dirty="0" err="1"/>
              <a:t>foot</a:t>
            </a:r>
            <a:r>
              <a:rPr lang="es-ES" dirty="0"/>
              <a:t> </a:t>
            </a:r>
            <a:r>
              <a:rPr lang="es-ES" dirty="0" err="1"/>
              <a:t>than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ítems. </a:t>
            </a:r>
          </a:p>
          <a:p>
            <a:r>
              <a:rPr lang="es-ES" dirty="0" err="1"/>
              <a:t>Preferred</a:t>
            </a:r>
            <a:r>
              <a:rPr lang="es-ES" dirty="0"/>
              <a:t> </a:t>
            </a:r>
            <a:r>
              <a:rPr lang="es-ES" dirty="0" err="1"/>
              <a:t>eye</a:t>
            </a:r>
            <a:r>
              <a:rPr lang="es-ES" dirty="0"/>
              <a:t> has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least</a:t>
            </a:r>
            <a:r>
              <a:rPr lang="es-ES" dirty="0"/>
              <a:t> </a:t>
            </a:r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rest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items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91B2FD-90AE-4BF8-595D-12D27B237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7" y="988157"/>
            <a:ext cx="4572000" cy="4572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CD6AC7A-0581-9E16-8F5F-7A7A45DEF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640" y="1027906"/>
            <a:ext cx="4572000" cy="45720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052C92F9-ABA4-338F-58FF-72474A9D4A7C}"/>
              </a:ext>
            </a:extLst>
          </p:cNvPr>
          <p:cNvSpPr/>
          <p:nvPr/>
        </p:nvSpPr>
        <p:spPr>
          <a:xfrm>
            <a:off x="5330952" y="3950208"/>
            <a:ext cx="566928" cy="12435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1497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EC74A-10C8-3502-9458-0ED611DB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LQ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BF878C-85F4-A616-AE64-504C88EBA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1580960"/>
            <a:ext cx="4572000" cy="4572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16F004-7CB1-7A99-191C-BDDAE28A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979" y="74685"/>
            <a:ext cx="1781424" cy="26102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B058066-CA88-6396-E516-F74A0CBB8E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79" y="1635824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10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807E3-3C9D-F06B-418A-FB8EA4EB0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Prevalence</a:t>
            </a:r>
            <a:r>
              <a:rPr lang="es-ES" sz="4000" dirty="0"/>
              <a:t> </a:t>
            </a:r>
            <a:r>
              <a:rPr lang="es-ES" sz="4000" dirty="0" err="1"/>
              <a:t>comparison</a:t>
            </a:r>
            <a:r>
              <a:rPr lang="es-ES" sz="4000" dirty="0"/>
              <a:t> (after 1st </a:t>
            </a:r>
            <a:r>
              <a:rPr lang="es-ES" sz="4000" dirty="0" err="1"/>
              <a:t>lab</a:t>
            </a:r>
            <a:r>
              <a:rPr lang="es-ES" sz="4000" dirty="0"/>
              <a:t> meeting 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F4A075-63DA-38B4-0E86-04CC0D3F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" y="1494558"/>
            <a:ext cx="11908536" cy="386888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3736F13-E5BA-73BC-CB69-A355110DCB99}"/>
              </a:ext>
            </a:extLst>
          </p:cNvPr>
          <p:cNvSpPr txBox="1"/>
          <p:nvPr/>
        </p:nvSpPr>
        <p:spPr>
          <a:xfrm>
            <a:off x="2638425" y="5867400"/>
            <a:ext cx="724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Very, </a:t>
            </a:r>
            <a:r>
              <a:rPr lang="es-ES" dirty="0" err="1"/>
              <a:t>very</a:t>
            </a:r>
            <a:r>
              <a:rPr lang="es-ES" dirty="0"/>
              <a:t> similar</a:t>
            </a:r>
          </a:p>
        </p:txBody>
      </p:sp>
    </p:spTree>
    <p:extLst>
      <p:ext uri="{BB962C8B-B14F-4D97-AF65-F5344CB8AC3E}">
        <p14:creationId xmlns:p14="http://schemas.microsoft.com/office/powerpoint/2010/main" val="63626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E669-1478-CEED-6AEE-DBEB7F2F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DEE69-126B-9402-890C-24E333C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43E153-5310-56BB-0D03-6C7D0C5D6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1614AD5-587E-789C-B36B-48F1348BB2B3}"/>
              </a:ext>
            </a:extLst>
          </p:cNvPr>
          <p:cNvSpPr/>
          <p:nvPr/>
        </p:nvSpPr>
        <p:spPr>
          <a:xfrm>
            <a:off x="800100" y="4762500"/>
            <a:ext cx="2428875" cy="16905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DBB865-E19C-1471-A2FB-9BA3B5DB0F46}"/>
              </a:ext>
            </a:extLst>
          </p:cNvPr>
          <p:cNvSpPr txBox="1"/>
          <p:nvPr/>
        </p:nvSpPr>
        <p:spPr>
          <a:xfrm>
            <a:off x="3210331" y="6211668"/>
            <a:ext cx="683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Expected</a:t>
            </a:r>
            <a:r>
              <a:rPr lang="es-ES" dirty="0"/>
              <a:t> </a:t>
            </a:r>
            <a:r>
              <a:rPr lang="es-ES" dirty="0" err="1"/>
              <a:t>diff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males and </a:t>
            </a:r>
            <a:r>
              <a:rPr lang="es-ES" dirty="0" err="1"/>
              <a:t>females</a:t>
            </a:r>
            <a:r>
              <a:rPr lang="es-ES" dirty="0"/>
              <a:t>.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considering</a:t>
            </a:r>
            <a:r>
              <a:rPr lang="es-ES" dirty="0"/>
              <a:t> non-</a:t>
            </a:r>
            <a:r>
              <a:rPr lang="es-ES" dirty="0" err="1"/>
              <a:t>right</a:t>
            </a:r>
            <a:r>
              <a:rPr lang="es-ES" dirty="0"/>
              <a:t>-</a:t>
            </a:r>
            <a:r>
              <a:rPr lang="es-ES" dirty="0" err="1"/>
              <a:t>handedness</a:t>
            </a:r>
            <a:r>
              <a:rPr lang="es-ES" dirty="0"/>
              <a:t> (</a:t>
            </a:r>
            <a:r>
              <a:rPr lang="es-ES" dirty="0" err="1"/>
              <a:t>left+mixed</a:t>
            </a:r>
            <a:r>
              <a:rPr lang="es-ES" dirty="0"/>
              <a:t>) </a:t>
            </a:r>
            <a:r>
              <a:rPr lang="es-ES" dirty="0" err="1"/>
              <a:t>would</a:t>
            </a:r>
            <a:r>
              <a:rPr lang="es-ES" dirty="0"/>
              <a:t> </a:t>
            </a:r>
            <a:r>
              <a:rPr lang="es-ES" dirty="0" err="1"/>
              <a:t>still</a:t>
            </a:r>
            <a:r>
              <a:rPr lang="es-ES" dirty="0"/>
              <a:t> be </a:t>
            </a:r>
            <a:r>
              <a:rPr lang="es-ES" dirty="0" err="1"/>
              <a:t>there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5623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3D13-F5E6-74EF-78D8-88044182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CE274-A2A1-8C50-FEF7-FCB965094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D23ADE-97CC-1A1C-8FA7-1E05655E0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49F2C07E-B830-ED41-C7A8-24A44A918C1F}"/>
              </a:ext>
            </a:extLst>
          </p:cNvPr>
          <p:cNvSpPr/>
          <p:nvPr/>
        </p:nvSpPr>
        <p:spPr>
          <a:xfrm>
            <a:off x="3590925" y="4657725"/>
            <a:ext cx="2428875" cy="16905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50EB17-D696-A8D5-7D80-11BDB85EA69E}"/>
              </a:ext>
            </a:extLst>
          </p:cNvPr>
          <p:cNvSpPr txBox="1"/>
          <p:nvPr/>
        </p:nvSpPr>
        <p:spPr>
          <a:xfrm>
            <a:off x="5058181" y="6348234"/>
            <a:ext cx="683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 </a:t>
            </a:r>
            <a:r>
              <a:rPr lang="es-ES" dirty="0" err="1"/>
              <a:t>differences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males and </a:t>
            </a:r>
            <a:r>
              <a:rPr lang="es-ES" dirty="0" err="1"/>
              <a:t>females</a:t>
            </a:r>
            <a:r>
              <a:rPr lang="es-ES" dirty="0"/>
              <a:t> in BD</a:t>
            </a:r>
          </a:p>
        </p:txBody>
      </p:sp>
    </p:spTree>
    <p:extLst>
      <p:ext uri="{BB962C8B-B14F-4D97-AF65-F5344CB8AC3E}">
        <p14:creationId xmlns:p14="http://schemas.microsoft.com/office/powerpoint/2010/main" val="2416488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E69E-D6D1-4AD3-06B5-5B6A8EB0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3C474-2D67-9B56-502E-CB96091A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11D5FD-2E80-9ACA-B59D-3C7320B8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65A52C4-A52F-14F9-439C-0AF41AC8DAFB}"/>
              </a:ext>
            </a:extLst>
          </p:cNvPr>
          <p:cNvSpPr/>
          <p:nvPr/>
        </p:nvSpPr>
        <p:spPr>
          <a:xfrm>
            <a:off x="8867775" y="1047929"/>
            <a:ext cx="2428875" cy="39907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9E7F36-A2C7-9150-B682-F0852D91DB55}"/>
              </a:ext>
            </a:extLst>
          </p:cNvPr>
          <p:cNvSpPr txBox="1"/>
          <p:nvPr/>
        </p:nvSpPr>
        <p:spPr>
          <a:xfrm>
            <a:off x="8496301" y="5267503"/>
            <a:ext cx="3648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More </a:t>
            </a:r>
            <a:r>
              <a:rPr lang="es-ES" dirty="0" err="1"/>
              <a:t>differences</a:t>
            </a:r>
            <a:r>
              <a:rPr lang="es-ES" dirty="0"/>
              <a:t> in </a:t>
            </a:r>
            <a:r>
              <a:rPr lang="es-ES" dirty="0" err="1"/>
              <a:t>mixed</a:t>
            </a:r>
            <a:r>
              <a:rPr lang="es-ES" dirty="0"/>
              <a:t> </a:t>
            </a:r>
            <a:r>
              <a:rPr lang="es-ES" dirty="0" err="1"/>
              <a:t>handedness</a:t>
            </a:r>
            <a:r>
              <a:rPr lang="es-ES" dirty="0"/>
              <a:t> in males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comparing</a:t>
            </a:r>
            <a:r>
              <a:rPr lang="es-ES" dirty="0"/>
              <a:t> BD and </a:t>
            </a:r>
            <a:r>
              <a:rPr lang="es-ES" dirty="0" err="1"/>
              <a:t>controls</a:t>
            </a:r>
            <a:r>
              <a:rPr lang="es-ES" dirty="0"/>
              <a:t>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still</a:t>
            </a:r>
            <a:r>
              <a:rPr lang="es-ES" dirty="0"/>
              <a:t> </a:t>
            </a:r>
            <a:r>
              <a:rPr lang="es-ES" dirty="0" err="1"/>
              <a:t>some</a:t>
            </a:r>
            <a:r>
              <a:rPr lang="es-ES" dirty="0"/>
              <a:t> in </a:t>
            </a:r>
            <a:r>
              <a:rPr lang="es-ES" dirty="0" err="1"/>
              <a:t>females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1881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B7AEC-912E-E537-49CF-8AB9562C2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Integrating</a:t>
            </a:r>
            <a:r>
              <a:rPr lang="es-ES" dirty="0"/>
              <a:t> </a:t>
            </a:r>
            <a:r>
              <a:rPr lang="es-ES" dirty="0" err="1"/>
              <a:t>age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195715-B22A-C533-80D7-65A0F9888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37" y="1408703"/>
            <a:ext cx="4572000" cy="4572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C4DEDBA-266C-01CA-C825-0FCF0A413E91}"/>
              </a:ext>
            </a:extLst>
          </p:cNvPr>
          <p:cNvSpPr txBox="1"/>
          <p:nvPr/>
        </p:nvSpPr>
        <p:spPr>
          <a:xfrm>
            <a:off x="4600575" y="800675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Wild </a:t>
            </a:r>
            <a:r>
              <a:rPr lang="es-ES" dirty="0" err="1"/>
              <a:t>difference</a:t>
            </a:r>
            <a:r>
              <a:rPr lang="es-ES" dirty="0"/>
              <a:t> in </a:t>
            </a:r>
            <a:r>
              <a:rPr lang="es-ES" dirty="0" err="1"/>
              <a:t>age</a:t>
            </a:r>
            <a:r>
              <a:rPr lang="es-ES" dirty="0"/>
              <a:t> </a:t>
            </a:r>
            <a:r>
              <a:rPr lang="es-ES" dirty="0" err="1"/>
              <a:t>distribution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cases and </a:t>
            </a:r>
            <a:r>
              <a:rPr lang="es-ES" dirty="0" err="1"/>
              <a:t>controls</a:t>
            </a:r>
            <a:r>
              <a:rPr lang="es-ES" dirty="0"/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74BE5A2-54E1-008F-D2E2-E5167E1A8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447006"/>
            <a:ext cx="4572000" cy="4572000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658A29A5-CAC4-1790-15E0-F363957C8876}"/>
              </a:ext>
            </a:extLst>
          </p:cNvPr>
          <p:cNvSpPr/>
          <p:nvPr/>
        </p:nvSpPr>
        <p:spPr>
          <a:xfrm>
            <a:off x="5067300" y="4381500"/>
            <a:ext cx="1628775" cy="1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7BEC117-03FE-FEDE-2893-7D8BCD55977F}"/>
              </a:ext>
            </a:extLst>
          </p:cNvPr>
          <p:cNvSpPr txBox="1"/>
          <p:nvPr/>
        </p:nvSpPr>
        <p:spPr>
          <a:xfrm>
            <a:off x="114300" y="5808479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436 BD, 1,493 </a:t>
            </a:r>
            <a:r>
              <a:rPr lang="es-ES" dirty="0" err="1"/>
              <a:t>controls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550E95-A3C5-0E2F-406C-F3B826B19225}"/>
              </a:ext>
            </a:extLst>
          </p:cNvPr>
          <p:cNvSpPr txBox="1"/>
          <p:nvPr/>
        </p:nvSpPr>
        <p:spPr>
          <a:xfrm>
            <a:off x="6848285" y="6094202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433 BD, 433 </a:t>
            </a:r>
            <a:r>
              <a:rPr lang="es-ES" dirty="0" err="1"/>
              <a:t>controls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F465F3F-A552-3C79-0A04-D6BCD2636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3" y="5850520"/>
            <a:ext cx="2715004" cy="8002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C1A78F7-817A-9690-396C-1EE16677B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5793" y="6152927"/>
            <a:ext cx="2743583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07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04E80-F3F9-B73D-F4D7-21B314FC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LQ </a:t>
            </a:r>
            <a:r>
              <a:rPr lang="es-ES" dirty="0" err="1"/>
              <a:t>dist</a:t>
            </a:r>
            <a:r>
              <a:rPr lang="es-ES" dirty="0"/>
              <a:t> in </a:t>
            </a:r>
            <a:r>
              <a:rPr lang="es-ES" dirty="0" err="1"/>
              <a:t>all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A1E4D9-82F2-67CA-E789-8EF1CBE0B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6" y="1926554"/>
            <a:ext cx="5719360" cy="42394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E0556F5-2FE0-7200-2248-ED34C79BF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53" y="1836019"/>
            <a:ext cx="4572000" cy="4572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D781989-FD45-6309-49DC-7AF3E6560E2C}"/>
              </a:ext>
            </a:extLst>
          </p:cNvPr>
          <p:cNvSpPr txBox="1"/>
          <p:nvPr/>
        </p:nvSpPr>
        <p:spPr>
          <a:xfrm>
            <a:off x="1886552" y="6362299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Unbalanced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3924BC-8173-6F02-DEAB-71264667233F}"/>
              </a:ext>
            </a:extLst>
          </p:cNvPr>
          <p:cNvSpPr txBox="1"/>
          <p:nvPr/>
        </p:nvSpPr>
        <p:spPr>
          <a:xfrm>
            <a:off x="7823736" y="6376737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Balanced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8407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D659E-4D6D-4319-DE56-24895C13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41" y="98976"/>
            <a:ext cx="10515600" cy="1325563"/>
          </a:xfrm>
        </p:spPr>
        <p:txBody>
          <a:bodyPr/>
          <a:lstStyle/>
          <a:p>
            <a:r>
              <a:rPr lang="es-ES" dirty="0"/>
              <a:t>LQ </a:t>
            </a:r>
            <a:r>
              <a:rPr lang="es-ES" dirty="0" err="1"/>
              <a:t>dist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BD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BE3DDE-1516-F1DC-A3B3-013F65623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605" y="842845"/>
            <a:ext cx="5519454" cy="551945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2F7A77-99D9-E860-9CE6-F671DC6FB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40" y="1086211"/>
            <a:ext cx="5358865" cy="53588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E8C694F-E9D5-BD4B-87DA-95624DCA1E31}"/>
              </a:ext>
            </a:extLst>
          </p:cNvPr>
          <p:cNvSpPr txBox="1"/>
          <p:nvPr/>
        </p:nvSpPr>
        <p:spPr>
          <a:xfrm>
            <a:off x="1886552" y="6362299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Unbalanced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5EC3C7-77FD-989B-6C20-47600771EABE}"/>
              </a:ext>
            </a:extLst>
          </p:cNvPr>
          <p:cNvSpPr txBox="1"/>
          <p:nvPr/>
        </p:nvSpPr>
        <p:spPr>
          <a:xfrm>
            <a:off x="7823736" y="6376737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Balanced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9496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9C4AF-152C-E324-FA93-775F2216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Comparison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data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68EE68-FE74-155D-F181-A34970365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33562"/>
            <a:ext cx="10067544" cy="515931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55E2213-9BEA-7974-7184-48D946B3C2DF}"/>
              </a:ext>
            </a:extLst>
          </p:cNvPr>
          <p:cNvSpPr txBox="1"/>
          <p:nvPr/>
        </p:nvSpPr>
        <p:spPr>
          <a:xfrm>
            <a:off x="10250424" y="741412"/>
            <a:ext cx="15727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There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more </a:t>
            </a:r>
            <a:r>
              <a:rPr lang="es-ES" dirty="0" err="1"/>
              <a:t>mixed</a:t>
            </a:r>
            <a:r>
              <a:rPr lang="es-ES" dirty="0"/>
              <a:t> </a:t>
            </a:r>
            <a:r>
              <a:rPr lang="es-ES" dirty="0" err="1"/>
              <a:t>handedness</a:t>
            </a:r>
            <a:r>
              <a:rPr lang="es-ES" dirty="0"/>
              <a:t> </a:t>
            </a:r>
            <a:r>
              <a:rPr lang="es-ES" dirty="0" err="1"/>
              <a:t>among</a:t>
            </a:r>
            <a:r>
              <a:rPr lang="es-ES" dirty="0"/>
              <a:t> </a:t>
            </a:r>
            <a:r>
              <a:rPr lang="es-ES" dirty="0" err="1"/>
              <a:t>younger</a:t>
            </a:r>
            <a:r>
              <a:rPr lang="es-ES" dirty="0"/>
              <a:t> </a:t>
            </a:r>
            <a:r>
              <a:rPr lang="es-ES" dirty="0" err="1"/>
              <a:t>people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Proper </a:t>
            </a:r>
            <a:r>
              <a:rPr lang="es-ES" dirty="0" err="1"/>
              <a:t>effect</a:t>
            </a:r>
            <a:r>
              <a:rPr lang="es-ES" dirty="0"/>
              <a:t> </a:t>
            </a:r>
            <a:r>
              <a:rPr lang="es-ES" dirty="0" err="1"/>
              <a:t>should</a:t>
            </a:r>
            <a:r>
              <a:rPr lang="es-ES" dirty="0"/>
              <a:t> be </a:t>
            </a:r>
            <a:r>
              <a:rPr lang="es-ES" dirty="0" err="1"/>
              <a:t>calculated</a:t>
            </a:r>
            <a:r>
              <a:rPr lang="es-ES" dirty="0"/>
              <a:t> </a:t>
            </a:r>
            <a:r>
              <a:rPr lang="es-ES" dirty="0" err="1"/>
              <a:t>over</a:t>
            </a:r>
            <a:r>
              <a:rPr lang="es-ES" dirty="0"/>
              <a:t> </a:t>
            </a:r>
            <a:r>
              <a:rPr lang="es-ES" dirty="0" err="1"/>
              <a:t>oldies</a:t>
            </a:r>
            <a:r>
              <a:rPr lang="es-ES" dirty="0"/>
              <a:t> vs </a:t>
            </a:r>
            <a:r>
              <a:rPr lang="es-ES" dirty="0" err="1"/>
              <a:t>youngies</a:t>
            </a:r>
            <a:r>
              <a:rPr lang="es-ES" dirty="0"/>
              <a:t>. In </a:t>
            </a:r>
            <a:r>
              <a:rPr lang="es-ES" dirty="0" err="1"/>
              <a:t>this</a:t>
            </a:r>
            <a:r>
              <a:rPr lang="es-ES" dirty="0"/>
              <a:t> cases,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comparison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oldies</a:t>
            </a:r>
            <a:r>
              <a:rPr lang="es-ES" dirty="0"/>
              <a:t> vs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sample</a:t>
            </a:r>
            <a:r>
              <a:rPr lang="es-ES" dirty="0"/>
              <a:t>,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correct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sharing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1870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C7790-A3B2-1E22-6428-4C9C535E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Stratification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sex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A4F788-C4FF-3329-B76F-874AA9A4A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65" y="1533016"/>
            <a:ext cx="9535964" cy="507809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AEB5D03-6182-D0DA-E2CD-6B69A34245A6}"/>
              </a:ext>
            </a:extLst>
          </p:cNvPr>
          <p:cNvSpPr txBox="1"/>
          <p:nvPr/>
        </p:nvSpPr>
        <p:spPr>
          <a:xfrm>
            <a:off x="10213848" y="777240"/>
            <a:ext cx="16093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Similar </a:t>
            </a:r>
            <a:r>
              <a:rPr lang="es-ES" dirty="0" err="1"/>
              <a:t>patterns</a:t>
            </a:r>
            <a:r>
              <a:rPr lang="es-ES" dirty="0"/>
              <a:t> as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unbalanced</a:t>
            </a:r>
            <a:r>
              <a:rPr lang="es-ES" dirty="0"/>
              <a:t> data,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subtler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 err="1"/>
              <a:t>Interesting</a:t>
            </a:r>
            <a:r>
              <a:rPr lang="es-ES" dirty="0"/>
              <a:t> </a:t>
            </a:r>
            <a:r>
              <a:rPr lang="es-ES" dirty="0" err="1"/>
              <a:t>how</a:t>
            </a:r>
            <a:r>
              <a:rPr lang="es-ES" dirty="0"/>
              <a:t>, in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handers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thr</a:t>
            </a:r>
            <a:r>
              <a:rPr lang="es-ES" dirty="0"/>
              <a:t> = 0, %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females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5.49% and males </a:t>
            </a:r>
            <a:r>
              <a:rPr lang="es-ES" dirty="0" err="1"/>
              <a:t>is</a:t>
            </a:r>
            <a:r>
              <a:rPr lang="es-ES" dirty="0"/>
              <a:t> 8.63%. </a:t>
            </a:r>
            <a:r>
              <a:rPr lang="es-ES" dirty="0" err="1"/>
              <a:t>When</a:t>
            </a:r>
            <a:r>
              <a:rPr lang="es-ES" dirty="0"/>
              <a:t> BD are removed, males </a:t>
            </a:r>
            <a:r>
              <a:rPr lang="es-ES" dirty="0" err="1"/>
              <a:t>reach</a:t>
            </a:r>
            <a:r>
              <a:rPr lang="es-ES" dirty="0"/>
              <a:t> 9.36%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handedness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1650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E218E-6817-3D67-B637-7C6AA7C3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77875"/>
          </a:xfrm>
        </p:spPr>
        <p:txBody>
          <a:bodyPr/>
          <a:lstStyle/>
          <a:p>
            <a:r>
              <a:rPr lang="es-ES" dirty="0" err="1"/>
              <a:t>Ambidextrous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mixed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?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A0D4BDE-C5E6-C864-EC76-6CCF433BB346}"/>
              </a:ext>
            </a:extLst>
          </p:cNvPr>
          <p:cNvGrpSpPr/>
          <p:nvPr/>
        </p:nvGrpSpPr>
        <p:grpSpPr>
          <a:xfrm>
            <a:off x="530707" y="2644170"/>
            <a:ext cx="3494315" cy="1569660"/>
            <a:chOff x="0" y="914400"/>
            <a:chExt cx="3494315" cy="1569660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E656D6F7-79B9-1E2A-7AC3-CFF28DE388E6}"/>
                </a:ext>
              </a:extLst>
            </p:cNvPr>
            <p:cNvSpPr txBox="1"/>
            <p:nvPr/>
          </p:nvSpPr>
          <p:spPr>
            <a:xfrm>
              <a:off x="1" y="914400"/>
              <a:ext cx="349431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dirty="0"/>
                <a:t>1</a:t>
              </a:r>
            </a:p>
            <a:p>
              <a:pPr algn="ctr"/>
              <a:r>
                <a:rPr lang="es-ES" sz="3200" dirty="0"/>
                <a:t>Standard </a:t>
              </a:r>
              <a:r>
                <a:rPr lang="es-ES" sz="3200" dirty="0" err="1"/>
                <a:t>deviation</a:t>
              </a:r>
              <a:r>
                <a:rPr lang="es-ES" sz="3200" dirty="0"/>
                <a:t> (EHI ítems)^2 </a:t>
              </a:r>
              <a:r>
                <a:rPr lang="es-ES" sz="3200" i="1" dirty="0"/>
                <a:t>+ 1</a:t>
              </a:r>
            </a:p>
          </p:txBody>
        </p: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E74CDC8C-BB85-AA4B-7802-6BA79C751FF9}"/>
                </a:ext>
              </a:extLst>
            </p:cNvPr>
            <p:cNvCxnSpPr/>
            <p:nvPr/>
          </p:nvCxnSpPr>
          <p:spPr>
            <a:xfrm>
              <a:off x="0" y="1436914"/>
              <a:ext cx="33963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1A297B76-F0F1-AB44-51C3-2696D531B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957" y="914400"/>
            <a:ext cx="6614336" cy="567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26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0679-0CBD-F398-8213-33139EC0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B4A44-A2A8-769C-B3C3-A270A0E7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BAF840-9665-4322-EE98-88A09BC6E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6507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6B414-9D7B-1E9B-09A6-F0146145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9AE10-55DF-CBBD-73B5-BA617816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F21859-D994-A015-79F7-1102E9BE9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9978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681</Words>
  <Application>Microsoft Office PowerPoint</Application>
  <PresentationFormat>Panorámica</PresentationFormat>
  <Paragraphs>153</Paragraphs>
  <Slides>27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Aptos Narrow</vt:lpstr>
      <vt:lpstr>Arial</vt:lpstr>
      <vt:lpstr>Verdana</vt:lpstr>
      <vt:lpstr>Tema de Office</vt:lpstr>
      <vt:lpstr>Laterality Project</vt:lpstr>
      <vt:lpstr>Where to set the threshold?</vt:lpstr>
      <vt:lpstr>Left-handers prop in Spain</vt:lpstr>
      <vt:lpstr>GWAS handedness</vt:lpstr>
      <vt:lpstr>Cohorts: ALSPAC</vt:lpstr>
      <vt:lpstr>Cohorts: NIHR Bioresource</vt:lpstr>
      <vt:lpstr>Cohorts: Twins UK</vt:lpstr>
      <vt:lpstr>Cohorts: NHSD -&gt; Main questionnaire 1989</vt:lpstr>
      <vt:lpstr>Cohorts NHSD: Handedness</vt:lpstr>
      <vt:lpstr>Cohorts NHSD: Mental health</vt:lpstr>
      <vt:lpstr>Cohorts NHSD: Mental health</vt:lpstr>
      <vt:lpstr>Cohorts NHSD: Mental health</vt:lpstr>
      <vt:lpstr>Prevalence comparison (preliminar, week 1)</vt:lpstr>
      <vt:lpstr>Correlation EHI items</vt:lpstr>
      <vt:lpstr>Correlation with LQ</vt:lpstr>
      <vt:lpstr>Prevalence comparison (after 1st lab meeting )</vt:lpstr>
      <vt:lpstr>What happens with sex</vt:lpstr>
      <vt:lpstr>What happens with sex</vt:lpstr>
      <vt:lpstr>What happens with sex</vt:lpstr>
      <vt:lpstr>Integrating age</vt:lpstr>
      <vt:lpstr>LQ dist in all</vt:lpstr>
      <vt:lpstr>LQ dist by BD</vt:lpstr>
      <vt:lpstr>Comparison with previous data</vt:lpstr>
      <vt:lpstr>Stratification by sex</vt:lpstr>
      <vt:lpstr>Ambidextrous or mixed hand users?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Knot</dc:creator>
  <cp:lastModifiedBy>Ines Knot</cp:lastModifiedBy>
  <cp:revision>13</cp:revision>
  <dcterms:created xsi:type="dcterms:W3CDTF">2026-05-06T08:22:28Z</dcterms:created>
  <dcterms:modified xsi:type="dcterms:W3CDTF">2026-05-11T14:49:29Z</dcterms:modified>
</cp:coreProperties>
</file>